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media/image3.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9" r:id="rId9"/>
    <p:sldId id="258" r:id="rId8"/>
    <p:sldId id="261" r:id="rId11"/>
    <p:sldId id="269" r:id="rId22"/>
    <p:sldId id="266" r:id="rId18"/>
    <p:sldId id="262" r:id="rId12"/>
    <p:sldId id="260" r:id="rId10"/>
    <p:sldId id="267" r:id="rId19"/>
    <p:sldId id="270" r:id="rId23"/>
    <p:sldId id="271" r:id="rId24"/>
    <p:sldId id="268" r:id="rId20"/>
    <p:sldId id="263" r:id="rId13"/>
    <p:sldId id="264" r:id="rId14"/>
    <p:sldId id="265" r:id="rId15"/>
  </p:sldIdLst>
  <p:sldSz cx="18288000" cy="10287000"/>
  <p:notesSz cx="6858000" cy="9144000"/>
  <p:embeddedFontLst>
    <p:embeddedFont>
      <p:font typeface="Poppins Bold" charset="1" panose="00000800000000000000"/>
      <p:regular r:id="rId16"/>
    </p:embeddedFont>
    <p:embeddedFont>
      <p:font typeface="Poppins" charset="1" panose="00000500000000000000"/>
      <p:regular r:id="rId17"/>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esProps" Target="presProps.xml"/><Relationship Id="rId3" Type="http://schemas.openxmlformats.org/officeDocument/2006/relationships/viewProps" Target="viewProps.xml"/><Relationship Id="rId4" Type="http://schemas.openxmlformats.org/officeDocument/2006/relationships/theme" Target="theme/theme1.xml"/><Relationship Id="rId5" Type="http://schemas.openxmlformats.org/officeDocument/2006/relationships/tableStyles" Target="tableStyles.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4.xml"/><Relationship Id="rId9" Type="http://schemas.openxmlformats.org/officeDocument/2006/relationships/slide" Target="slides/slide3.xml"/><Relationship Id="rId10" Type="http://schemas.openxmlformats.org/officeDocument/2006/relationships/slide" Target="slides/slide8.xml"/><Relationship Id="rId11" Type="http://schemas.openxmlformats.org/officeDocument/2006/relationships/slide" Target="slides/slide5.xml"/><Relationship Id="rId12" Type="http://schemas.openxmlformats.org/officeDocument/2006/relationships/slide" Target="slides/slide7.xml"/><Relationship Id="rId13" Type="http://schemas.openxmlformats.org/officeDocument/2006/relationships/slide" Target="slides/slide11.xml"/><Relationship Id="rId14" Type="http://schemas.openxmlformats.org/officeDocument/2006/relationships/slide" Target="slides/slide12.xml"/><Relationship Id="rId15" Type="http://schemas.openxmlformats.org/officeDocument/2006/relationships/slide" Target="slides/slide13.xml"/><Relationship Id="rId16" Type="http://schemas.openxmlformats.org/officeDocument/2006/relationships/font" Target="fonts/font16.fntdata"/><Relationship Id="rId17" Type="http://schemas.openxmlformats.org/officeDocument/2006/relationships/font" Target="fonts/font17.fntdata"/><Relationship Id="rId18" Type="http://schemas.openxmlformats.org/officeDocument/2006/relationships/slide" Target="slides/slide6.xml"/><Relationship Id="rId19" Type="http://schemas.openxmlformats.org/officeDocument/2006/relationships/slide" Target="slides/slide9.xml"/><Relationship Id="rId20" Type="http://schemas.openxmlformats.org/officeDocument/2006/relationships/slide" Target="slides/slide10.xml"/><Relationship Id="rId21" Type="http://schemas.openxmlformats.org/officeDocument/2006/relationships/notesMaster" Target="notesMasters/notesMaster1.xml"/><Relationship Id="rId22" Type="http://schemas.openxmlformats.org/officeDocument/2006/relationships/slide" Target="slides/slide14.xml"/><Relationship Id="rId23" Type="http://schemas.openxmlformats.org/officeDocument/2006/relationships/slide" Target="slides/slide15.xml"/><Relationship Id="rId24"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0"/>
  <c:style val="10"/>
  <c:chart>
    <c:autoTitleDeleted val="1"/>
    <c:plotArea>
      <c:layout/>
      <c:doughnutChart>
        <c:varyColors val="1"/>
        <c:ser>
          <c:idx val="0"/>
          <c:order val="0"/>
          <c:tx>
            <c:strRef>
              <c:f>Sheet1!$B$1</c:f>
              <c:strCache>
                <c:ptCount val="1"/>
                <c:pt idx="0">
                  <c:v>Illustrative framework mix</c:v>
                </c:pt>
              </c:strCache>
            </c:strRef>
          </c:tx>
          <c:dPt>
            <c:idx val="0"/>
            <c:spPr>
              <a:solidFill>
                <a:srgbClr val="D2D2D2"/>
              </a:solidFill>
              <a:ln>
                <a:noFill/>
              </a:ln>
            </c:spPr>
          </c:dPt>
          <c:dPt>
            <c:idx val="1"/>
            <c:spPr>
              <a:solidFill>
                <a:srgbClr val="949494"/>
              </a:solidFill>
              <a:ln>
                <a:noFill/>
              </a:ln>
            </c:spPr>
          </c:dPt>
          <c:dPt>
            <c:idx val="2"/>
            <c:spPr>
              <a:solidFill>
                <a:srgbClr val="5E5E5E"/>
              </a:solidFill>
              <a:ln>
                <a:noFill/>
              </a:ln>
            </c:spPr>
          </c:dPt>
          <c:dPt>
            <c:idx val="3"/>
            <c:spPr>
              <a:solidFill>
                <a:srgbClr val="2B2B2B"/>
              </a:solidFill>
              <a:ln>
                <a:noFill/>
              </a:ln>
            </c:spPr>
          </c:dPt>
          <c:cat>
            <c:strRef>
              <c:f>Sheet1!$A$2:$A$5</c:f>
              <c:strCache>
                <c:ptCount val="4"/>
                <c:pt idx="0">
                  <c:v>GDPR</c:v>
                </c:pt>
                <c:pt idx="1">
                  <c:v>EU AI Act</c:v>
                </c:pt>
                <c:pt idx="2">
                  <c:v>NIS2</c:v>
                </c:pt>
                <c:pt idx="3">
                  <c:v>DORA</c:v>
                </c:pt>
              </c:strCache>
            </c:strRef>
          </c:cat>
          <c:val>
            <c:numRef>
              <c:f>Sheet1!$B$2:$B$5</c:f>
              <c:numCache>
                <c:formatCode>General</c:formatCode>
                <c:ptCount val="4"/>
                <c:pt idx="0">
                  <c:v>25</c:v>
                </c:pt>
                <c:pt idx="1">
                  <c:v>25</c:v>
                </c:pt>
                <c:pt idx="2">
                  <c:v>25</c:v>
                </c:pt>
                <c:pt idx="3">
                  <c:v>25</c:v>
                </c:pt>
              </c:numCache>
            </c:numRef>
          </c:val>
        </c:ser>
        <c:dLbls>
          <c:showLegendKey val="0"/>
          <c:showVal val="0"/>
          <c:showCatName val="0"/>
          <c:showSerName val="0"/>
          <c:showPercent val="0"/>
          <c:showBubbleSize val="0"/>
          <c:showLeaderLines val="1"/>
        </c:dLbls>
        <c:firstSliceAng val="0"/>
        <c:holeSize val="50"/>
      </c:doughnutChart>
      <c:spPr>
        <a:noFill/>
      </c:spPr>
    </c:plotArea>
    <c:plotVisOnly val="1"/>
    <c:dispBlanksAs val="gap"/>
    <c:showDLblsOverMax val="0"/>
  </c:chart>
  <c:txPr>
    <a:bodyPr/>
    <a:lstStyle/>
    <a:p>
      <a:pPr>
        <a:defRPr sz="1800"/>
      </a:pPr>
      <a:endParaRPr/>
    </a:p>
  </c:txPr>
  <c:externalData r:id="rId1">
    <c:autoUpdate val="0"/>
  </c:externalData>
  <c:spPr>
    <a:noFill/>
  </c:spPr>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Transferred from old presentation slide 6: Context leaves. Your data stays.</a:t>
            </a:r>
          </a:p>
          <a:p>
            <a:r>
              <a:t>The collector writes a report about what you run and where data flows, never the records themselves. Your representative approves it. Only then does it reach the Regulift platform, which builds the inventory, the gap list and the evidence pack for your lawyer.</a:t>
            </a:r>
          </a:p>
          <a:p>
            <a:r>
              <a:t>Diagram from the Regulift website. The approval step is a product rule, not an option.</a:t>
            </a:r>
          </a:p>
          <a:p>
            <a:r>
              <a:t>Speaker note from original: This answers the first CTO question: what leaves my company. A report about technologies, flows and vendors. No records, no file contents, no credentials, and nothing until one person on their side approves.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Transferred from old presentation slide 7: A European market built by regulation.</a:t>
            </a:r>
          </a:p>
          <a:p>
            <a:r>
              <a:t>TAM: global GRC software, $4.98 billion in 2023 to $9.08 billion by 2029 (Verdantix). Security spending overall reaches $240 billion in 2026 (Gartner).</a:t>
            </a:r>
          </a:p>
          <a:p>
            <a:r>
              <a:t>SAM: 23,370 EU software firms with 20 to 249 staff (Eurostat NACE J62, 2024) at our €10,000 average yearly price.</a:t>
            </a:r>
          </a:p>
          <a:p>
            <a:r>
              <a:t>SOM: 1,200 companies by 2029, one percent of the 119,784 firms with 50 or more staff in Austria, Germany and Italy, at €14,000 a year.</a:t>
            </a:r>
          </a:p>
          <a:p>
            <a:r>
              <a:t>SAM and SOM are our estimates from Eurostat counts and our price bands, to validate in pilots.</a:t>
            </a:r>
          </a:p>
          <a:p>
            <a:r>
              <a:t>Sources: Verdantix GRC software forecast, Jan 2025. Gartner, Jul 2025. Eurostat sbs_sc_ovw 2024 (J62 and all sectors, Austria, Germany, Italy). Price bands from the pricing research, Oct 2026.</a:t>
            </a:r>
          </a:p>
          <a:p>
            <a:r>
              <a:t>Speaker note from original: The TAM is a named analyst figure. SAM and SOM are counts times our price, labelled as estimates.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Transferred from old presentation slide 9: Business model.</a:t>
            </a:r>
          </a:p>
          <a:p>
            <a:r>
              <a:t>Three layers. The company pays a yearly platform fee by size, adds a module per regulation, and picks a partner law firm from a list. The firm bills its own work. Per-framework pricing is the market norm; a fee per legal mandate is unlawful in our first markets, so there is none.</a:t>
            </a:r>
          </a:p>
          <a:p>
            <a:r>
              <a:t>Platform: €3,600 to €14,400/year. 10-49 staff €3,600, 50-249 €7,200, 250-1,000 €14,400. Read-only connectors, context report, inventory, GDPR module and evidence pack.</a:t>
            </a:r>
          </a:p>
          <a:p>
            <a:r>
              <a:t>Modules: €1,800-€6,000 per regulation/year. AI Act, NIS2, DORA, CRA. Each adds its gap list and evidence pack. Mid-sized company with three modules: €14,400 to €18,000. StartComply charges €4,500 per framework; Drata USD 7,500.</a:t>
            </a:r>
          </a:p>
          <a:p>
            <a:r>
              <a:t>Partner law firms: Flat yearly workspace fee; same for every firm, never per mandate. Client chooses firm; firm bills directly. No share of fees in DE, AT, IT, FR (BGH IX ZR 89/23). Firms author rules and confirm in writing.</a:t>
            </a:r>
          </a:p>
          <a:p>
            <a:r>
              <a:t>Sources: Vendr, Feb 2026. Vanta and Drata AWS Marketplace listings and StartComply pricing, Oct 2026. BRAO §49b(3), BGH IX ZR 89/23, ÖRAK RL-BA §47, Italian CDF art. 37, French RIN art. 11.3. Tier prices are our proposal.</a:t>
            </a:r>
          </a:p>
          <a:p>
            <a:r>
              <a:t>Speaker note from original: Mid-tier 9 to 18 thousand euros sits between StartComply at 10,500 for two frameworks and Vanta at 20 to 40 thousand dollars for one framework at this size. Client chooses the firm; firm pays a flat fee. The level of that fee comes from pilot talks.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1.xml"/><Relationship Id="rId6" Type="http://schemas.openxmlformats.org/officeDocument/2006/relationships/slide" Target="slide4.xml"/><Relationship Id="rId7" Type="http://schemas.openxmlformats.org/officeDocument/2006/relationships/slide" Target="slide11.xml"/><Relationship Id="rId8" Type="http://schemas.openxmlformats.org/officeDocument/2006/relationships/slide" Target="slide1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1.xml"/><Relationship Id="rId6" Type="http://schemas.openxmlformats.org/officeDocument/2006/relationships/slide" Target="slide4.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image" Target="../media/image1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chart" Target="../charts/chart1.xml"/><Relationship Id="rId6" Type="http://schemas.openxmlformats.org/officeDocument/2006/relationships/slide" Target="slide1.xml"/><Relationship Id="rId7" Type="http://schemas.openxmlformats.org/officeDocument/2006/relationships/slide" Target="slide4.xml"/><Relationship Id="rId8" Type="http://schemas.openxmlformats.org/officeDocument/2006/relationships/slide" Target="slide11.xml"/><Relationship Id="rId9" Type="http://schemas.openxmlformats.org/officeDocument/2006/relationships/slide" Target="slide1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1.xml"/><Relationship Id="rId6" Type="http://schemas.openxmlformats.org/officeDocument/2006/relationships/slide" Target="slide4.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image" Target="../media/image15.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1.xml"/><Relationship Id="rId6" Type="http://schemas.openxmlformats.org/officeDocument/2006/relationships/slide" Target="slide4.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image" Target="../media/image20.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slide" Target="slide1.xml"/><Relationship Id="rId5" Type="http://schemas.openxmlformats.org/officeDocument/2006/relationships/slide" Target="slide4.xml"/><Relationship Id="rId6" Type="http://schemas.openxmlformats.org/officeDocument/2006/relationships/slide" Target="slide11.xml"/><Relationship Id="rId7" Type="http://schemas.openxmlformats.org/officeDocument/2006/relationships/slide" Target="slide12.xml"/><Relationship Id="rId8" Type="http://schemas.openxmlformats.org/officeDocument/2006/relationships/notesSlide" Target="../notesSlides/notesSlide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1.xml"/><Relationship Id="rId6" Type="http://schemas.openxmlformats.org/officeDocument/2006/relationships/slide" Target="slide4.xml"/><Relationship Id="rId7" Type="http://schemas.openxmlformats.org/officeDocument/2006/relationships/slide" Target="slide11.xml"/><Relationship Id="rId8" Type="http://schemas.openxmlformats.org/officeDocument/2006/relationships/slide" Target="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 Id="rId3" Type="http://schemas.openxmlformats.org/officeDocument/2006/relationships/image" Target="../media/image8.png"/><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1.xml"/><Relationship Id="rId7" Type="http://schemas.openxmlformats.org/officeDocument/2006/relationships/slide" Target="slide4.xml"/><Relationship Id="rId8" Type="http://schemas.openxmlformats.org/officeDocument/2006/relationships/slide" Target="slide11.xml"/><Relationship Id="rId9" Type="http://schemas.openxmlformats.org/officeDocument/2006/relationships/slide" Target="slide1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slide" Target="slide1.xml"/><Relationship Id="rId5" Type="http://schemas.openxmlformats.org/officeDocument/2006/relationships/slide" Target="slide4.xml"/><Relationship Id="rId6" Type="http://schemas.openxmlformats.org/officeDocument/2006/relationships/slide" Target="slide11.xml"/><Relationship Id="rId7" Type="http://schemas.openxmlformats.org/officeDocument/2006/relationships/slide" Target="slide12.xml"/><Relationship Id="rId8"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svg"/><Relationship Id="rId4" Type="http://schemas.openxmlformats.org/officeDocument/2006/relationships/slide" Target="slide1.xml"/><Relationship Id="rId5" Type="http://schemas.openxmlformats.org/officeDocument/2006/relationships/slide" Target="slide4.xml"/><Relationship Id="rId6" Type="http://schemas.openxmlformats.org/officeDocument/2006/relationships/slide" Target="slide11.xml"/><Relationship Id="rId7" Type="http://schemas.openxmlformats.org/officeDocument/2006/relationships/slide" Target="slide12.xml"/><Relationship Id="rId8" Type="http://schemas.openxmlformats.org/officeDocument/2006/relationships/notesSlide" Target="../notesSlides/notesSlide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1.xml"/><Relationship Id="rId6" Type="http://schemas.openxmlformats.org/officeDocument/2006/relationships/slide" Target="slide4.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image" Target="../media/image16.png"/><Relationship Id="rId10" Type="http://schemas.openxmlformats.org/officeDocument/2006/relationships/image" Target="../media/image1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2.png"/><Relationship Id="rId5" Type="http://schemas.openxmlformats.org/officeDocument/2006/relationships/image" Target="../media/image3.svg"/><Relationship Id="rId6" Type="http://schemas.openxmlformats.org/officeDocument/2006/relationships/slide" Target="slide1.xml"/><Relationship Id="rId7" Type="http://schemas.openxmlformats.org/officeDocument/2006/relationships/slide" Target="slide4.xml"/><Relationship Id="rId8" Type="http://schemas.openxmlformats.org/officeDocument/2006/relationships/slide" Target="slide11.xml"/><Relationship Id="rId9" Type="http://schemas.openxmlformats.org/officeDocument/2006/relationships/slide" Target="slide12.xml"/><Relationship Id="rId10" Type="http://schemas.openxmlformats.org/officeDocument/2006/relationships/hyperlink" Target="https://simo-hue.github.io/regulift/" TargetMode="External"/><Relationship Id="rId11"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1.xml"/><Relationship Id="rId6" Type="http://schemas.openxmlformats.org/officeDocument/2006/relationships/slide" Target="slide4.xml"/><Relationship Id="rId7" Type="http://schemas.openxmlformats.org/officeDocument/2006/relationships/slide" Target="slide11.xml"/><Relationship Id="rId8" Type="http://schemas.openxmlformats.org/officeDocument/2006/relationships/slide" Target="slide12.xml"/><Relationship Id="rId9" Type="http://schemas.openxmlformats.org/officeDocument/2006/relationships/hyperlink" Target="https://simo-hue.github.io/regulift/" TargetMode="External"/></Relationships>
</file>

<file path=ppt/slides/_rels/slide14.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7.xml"/><Relationship Id="rId3" Type="http://schemas.openxmlformats.org/officeDocument/2006/relationships/image" Target="../media/image2.png"/><Relationship Id="rId4" Type="http://schemas.openxmlformats.org/officeDocument/2006/relationships/image" Target="../media/image3.svg"/><Relationship Id="rId5" Type="http://schemas.openxmlformats.org/officeDocument/2006/relationships/slide" Target="slide1.xml"/><Relationship Id="rId6" Type="http://schemas.openxmlformats.org/officeDocument/2006/relationships/slide" Target="slide4.xml"/><Relationship Id="rId7" Type="http://schemas.openxmlformats.org/officeDocument/2006/relationships/slide" Target="slide11.xml"/><Relationship Id="rId8" Type="http://schemas.openxmlformats.org/officeDocument/2006/relationships/slide" Target="slide12.xml"/></Relationships>
</file>

<file path=ppt/slides/_rels/slide15.xml.rels><?xml version='1.0' encoding='UTF-8' standalone='yes'?>
<Relationships xmlns="http://schemas.openxmlformats.org/package/2006/relationships"><Relationship Id="rId1" Type="http://schemas.openxmlformats.org/officeDocument/2006/relationships/hyperlink" Target="https://wetten.overheid.nl/BWBR0002093/2026-01-01" TargetMode="External"/><Relationship Id="rId2" Type="http://schemas.openxmlformats.org/officeDocument/2006/relationships/hyperlink" Target="https://www.riksdagen.se/sv/dokument-och-lagar/dokument/svensk-forfattningssamling/lag-1985354-om-forbud-mot-juridiskt-eller_sfs-1985-354/" TargetMode="External"/><Relationship Id="rId3" Type="http://schemas.openxmlformats.org/officeDocument/2006/relationships/hyperlink" Target="https://www.retsinformation.dk/eli/lta/2025/1298/pdf" TargetMode="External"/><Relationship Id="rId4" Type="http://schemas.openxmlformats.org/officeDocument/2006/relationships/hyperlink" Target="https://opendata.finlex.fi/finlex/avoindata/v1/akn/fi/act/statute-consolidated/1958/496/fin@20250543" TargetMode="External"/><Relationship Id="rId5" Type="http://schemas.openxmlformats.org/officeDocument/2006/relationships/hyperlink" Target="https://api.sejm.gov.pl/eli/acts/DU/2026/1290/text.pdf" TargetMode="External"/><Relationship Id="rId6" Type="http://schemas.openxmlformats.org/officeDocument/2006/relationships/hyperlink" Target="https://www.ejustice.just.fgov.be/eli/loi/1967/10/10/1967101053/justel" TargetMode="External"/><Relationship Id="rId7" Type="http://schemas.openxmlformats.org/officeDocument/2006/relationships/hyperlink" Target="https://www.fedlex.admin.ch/eli/cc/2002/153/de" TargetMode="External"/><Relationship Id="rId8" Type="http://schemas.openxmlformats.org/officeDocument/2006/relationships/hyperlink" Target="https://www.gesetze-im-internet.de/rdg/" TargetMode="External"/><Relationship Id="rId9" Type="http://schemas.openxmlformats.org/officeDocument/2006/relationships/hyperlink" Target="https://www.bundesgerichtshof.de/SharedDocs/Pressemitteilungen/DE/2021/2021171.html" TargetMode="External"/><Relationship Id="rId10" Type="http://schemas.openxmlformats.org/officeDocument/2006/relationships/hyperlink" Target="https://www.normattiva.it/uri-res/N2Ls?urn:nir:stato:legge:2012-12-31;247~art2" TargetMode="External"/><Relationship Id="rId11" Type="http://schemas.openxmlformats.org/officeDocument/2006/relationships/hyperlink" Target="https://www.ris.bka.gv.at/NormDokument.wxe?Abfrage=Bundesnormen&amp;Gesetzesnummer=10001673&amp;Paragraf=8" TargetMode="External"/><Relationship Id="rId12" Type="http://schemas.openxmlformats.org/officeDocument/2006/relationships/hyperlink" Target="https://ec.europa.eu/eurostat/databrowser/view/sbs_sc_ovw/default/table" TargetMode="External"/><Relationship Id="rId13" Type="http://schemas.openxmlformats.org/officeDocument/2006/relationships/hyperlink" Target="https://dam-api.bfs.admin.ch/hub/api/dam/assets/36734571/master" TargetMode="External"/><Relationship Id="rId14" Type="http://schemas.openxmlformats.org/officeDocument/2006/relationships/hyperlink" Target="https://ec.europa.eu/eurostat/databrowser/view/sbs_ovw_act/default/table" TargetMode="External"/><Relationship Id="rId15" Type="http://schemas.openxmlformats.org/officeDocument/2006/relationships/hyperlink" Target="https://e-justice.europa.eu/topics/taking-legal-action/where-and-how/costs_en" TargetMode="External"/><Relationship Id="rId16" Type="http://schemas.openxmlformats.org/officeDocument/2006/relationships/hyperlink" Target="https://www.rdi.nl/actueel/nieuws/2026/08/15/de-cyberbeveiligingswet-treedt-in-werking" TargetMode="External"/><Relationship Id="rId17" Type="http://schemas.openxmlformats.org/officeDocument/2006/relationships/hyperlink" Target="https://www.riksdagen.se/sv/dokument-och-lagar/dokument/svensk-forfattningssamling/cybersakerhetslag-20251506_sfs-2025-1506/" TargetMode="External"/><Relationship Id="rId18" Type="http://schemas.openxmlformats.org/officeDocument/2006/relationships/hyperlink" Target="https://www.retsinformation.dk/eli/lta/2025/434" TargetMode="External"/><Relationship Id="rId19" Type="http://schemas.openxmlformats.org/officeDocument/2006/relationships/hyperlink" Target="https://www.finlex.fi/fi/lainsaadanto/2025/124" TargetMode="External"/><Relationship Id="rId20" Type="http://schemas.openxmlformats.org/officeDocument/2006/relationships/hyperlink" Target="https://api.sejm.gov.pl/eli/acts/DU/2026/252" TargetMode="External"/><Relationship Id="rId21" Type="http://schemas.openxmlformats.org/officeDocument/2006/relationships/hyperlink" Target="https://www.bsi.bund.de/DE/Service-Navi/Presse/Pressemitteilungen/Presse2025/251205_NIS-2-Umsetzungsgesetz_in_Kraft.html" TargetMode="External"/><Relationship Id="rId22" Type="http://schemas.openxmlformats.org/officeDocument/2006/relationships/hyperlink" Target="https://www.gazzettaufficiale.it/eli/id/2024/10/01/24G00155/sg" TargetMode="External"/><Relationship Id="rId23" Type="http://schemas.openxmlformats.org/officeDocument/2006/relationships/hyperlink" Target="https://www.ris.bka.gv.at/Dokumente/Bundesnormen/NOR40273890/NOR40273890.pdf" TargetMode="External"/><Relationship Id="rId24" Type="http://schemas.openxmlformats.org/officeDocument/2006/relationships/hyperlink" Target="https://digital-strategy.ec.europa.eu/en/policies/nis-transposition" TargetMode="External"/><Relationship Id="rId25" Type="http://schemas.openxmlformats.org/officeDocument/2006/relationships/slideLayout" Target="../slideLayouts/slideLayout7.xml"/><Relationship Id="rId26" Type="http://schemas.openxmlformats.org/officeDocument/2006/relationships/image" Target="../media/image2.png"/><Relationship Id="rId27" Type="http://schemas.openxmlformats.org/officeDocument/2006/relationships/image" Target="../media/image3.svg"/><Relationship Id="rId28" Type="http://schemas.openxmlformats.org/officeDocument/2006/relationships/slide" Target="slide1.xml"/><Relationship Id="rId29" Type="http://schemas.openxmlformats.org/officeDocument/2006/relationships/slide" Target="slide4.xml"/><Relationship Id="rId30" Type="http://schemas.openxmlformats.org/officeDocument/2006/relationships/slide" Target="slide11.xml"/><Relationship Id="rId31" Type="http://schemas.openxmlformats.org/officeDocument/2006/relationships/slide" Target="slide12.xml"/></Relationships>
</file>

<file path=ppt/slides/_rels/slide16.xml.rels><?xml version='1.0' encoding='UTF-8' standalone='yes'?>
<Relationships xmlns="http://schemas.openxmlformats.org/package/2006/relationships"><Relationship Id="rId1" Type="http://schemas.openxmlformats.org/officeDocument/2006/relationships/hyperlink" Target="https://www.rdi.nl/actueel/nieuws/2026/08/15/de-cyberbeveiligingswet-treedt-in-werking" TargetMode="External"/><Relationship Id="rId2" Type="http://schemas.openxmlformats.org/officeDocument/2006/relationships/hyperlink" Target="https://wetten.overheid.nl/BWBR0002093/2026-01-01" TargetMode="External"/><Relationship Id="rId3" Type="http://schemas.openxmlformats.org/officeDocument/2006/relationships/hyperlink" Target="https://www.riksdagen.se/sv/dokument-och-lagar/dokument/svensk-forfattningssamling/cybersakerhetslag-20251506_sfs-2025-1506/" TargetMode="External"/><Relationship Id="rId4" Type="http://schemas.openxmlformats.org/officeDocument/2006/relationships/hyperlink" Target="https://www.bsi.bund.de/DE/Service-Navi/Presse/Pressemitteilungen/Presse2025/251205_NIS-2-Umsetzungsgesetz_in_Kraft.html" TargetMode="External"/><Relationship Id="rId5" Type="http://schemas.openxmlformats.org/officeDocument/2006/relationships/hyperlink" Target="https://www.bundesgerichtshof.de/SharedDocs/Pressemitteilungen/DE/2021/2021171.html" TargetMode="External"/><Relationship Id="rId6" Type="http://schemas.openxmlformats.org/officeDocument/2006/relationships/hyperlink" Target="https://www.gesetze-im-internet.de/rdg/" TargetMode="External"/><Relationship Id="rId7" Type="http://schemas.openxmlformats.org/officeDocument/2006/relationships/hyperlink" Target="https://ec.europa.eu/eurostat/databrowser/view/sbs_sc_ovw/default/table" TargetMode="External"/><Relationship Id="rId8" Type="http://schemas.openxmlformats.org/officeDocument/2006/relationships/slideLayout" Target="../slideLayouts/slideLayout7.xml"/><Relationship Id="rId9" Type="http://schemas.openxmlformats.org/officeDocument/2006/relationships/image" Target="../media/image2.png"/><Relationship Id="rId10" Type="http://schemas.openxmlformats.org/officeDocument/2006/relationships/image" Target="../media/image3.svg"/><Relationship Id="rId11" Type="http://schemas.openxmlformats.org/officeDocument/2006/relationships/slide" Target="slide1.xml"/><Relationship Id="rId12" Type="http://schemas.openxmlformats.org/officeDocument/2006/relationships/slide" Target="slide4.xml"/><Relationship Id="rId13" Type="http://schemas.openxmlformats.org/officeDocument/2006/relationships/slide" Target="slide11.xml"/><Relationship Id="rId14" Type="http://schemas.openxmlformats.org/officeDocument/2006/relationships/slide" Target="slide12.xml"/></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1124309" y="2275579"/>
            <a:ext cx="20536617" cy="3902315"/>
          </a:xfrm>
          <a:prstGeom prst="rect">
            <a:avLst/>
          </a:prstGeom>
        </p:spPr>
        <p:txBody>
          <a:bodyPr anchor="t" rtlCol="false" tIns="0" lIns="0" bIns="0" rIns="0">
            <a:spAutoFit/>
          </a:bodyPr>
          <a:lstStyle/>
          <a:p>
            <a:pPr algn="ctr" marL="0" indent="0" lvl="0">
              <a:lnSpc>
                <a:spcPts val="26658"/>
              </a:lnSpc>
            </a:pPr>
            <a:r>
              <a:rPr lang="en-GB" b="true" sz="28976" spc="-2318">
                <a:solidFill>
                  <a:srgbClr val="171717"/>
                </a:solidFill>
                <a:latin typeface="Poppins Bold"/>
                <a:ea typeface="Poppins Bold"/>
                <a:cs typeface="Poppins Bold"/>
                <a:sym typeface="Poppins Bold"/>
              </a:rPr>
              <a:t>REGULIFT</a:t>
            </a:r>
          </a:p>
        </p:txBody>
      </p:sp>
      <p:sp>
        <p:nvSpPr>
          <p:cNvPr name="Freeform 3" id="3"/>
          <p:cNvSpPr/>
          <p:nvPr/>
        </p:nvSpPr>
        <p:spPr>
          <a:xfrm flipH="false" flipV="false" rot="0">
            <a:off x="2257392" y="4384124"/>
            <a:ext cx="12962423" cy="5930308"/>
          </a:xfrm>
          <a:custGeom>
            <a:avLst/>
            <a:gdLst/>
            <a:ahLst/>
            <a:cxnLst/>
            <a:rect r="r" b="b" t="t" l="l"/>
            <a:pathLst>
              <a:path h="5930308" w="12962423">
                <a:moveTo>
                  <a:pt x="0" y="0"/>
                </a:moveTo>
                <a:lnTo>
                  <a:pt x="12962423" y="0"/>
                </a:lnTo>
                <a:lnTo>
                  <a:pt x="12962423" y="5930308"/>
                </a:lnTo>
                <a:lnTo>
                  <a:pt x="0" y="5930308"/>
                </a:lnTo>
                <a:lnTo>
                  <a:pt x="0" y="0"/>
                </a:lnTo>
                <a:close/>
              </a:path>
            </a:pathLst>
          </a:custGeom>
          <a:blipFill>
            <a:blip r:embed="rId2"/>
            <a:stretch>
              <a:fillRect l="0" t="0" r="0" b="0"/>
            </a:stretch>
          </a:blipFill>
        </p:spPr>
        <p:txBody>
          <a:bodyPr/>
          <a:p/>
        </p:txBody>
      </p:sp>
      <p:grpSp>
        <p:nvGrpSpPr>
          <p:cNvPr name="Group 9" id="9"/>
          <p:cNvGrpSpPr/>
          <p:nvPr/>
        </p:nvGrpSpPr>
        <p:grpSpPr>
          <a:xfrm rot="0">
            <a:off x="4027427" y="1117625"/>
            <a:ext cx="10233146" cy="530810"/>
            <a:chOff x="0" y="0"/>
            <a:chExt cx="2988982" cy="155043"/>
          </a:xfrm>
        </p:grpSpPr>
        <p:sp>
          <p:nvSpPr>
            <p:cNvPr name="Freeform 10" id="10"/>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1" id="11"/>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27" id="27"/>
          <p:cNvGrpSpPr/>
          <p:nvPr/>
        </p:nvGrpSpPr>
        <p:grpSpPr>
          <a:xfrm rot="0">
            <a:off x="4100894" y="1190732"/>
            <a:ext cx="2511996" cy="384596"/>
            <a:chOff x="0" y="0"/>
            <a:chExt cx="3349328" cy="512795"/>
          </a:xfrm>
        </p:grpSpPr>
        <p:grpSp>
          <p:nvGrpSpPr>
            <p:cNvPr name="Group 28" id="28"/>
            <p:cNvGrpSpPr/>
            <p:nvPr/>
          </p:nvGrpSpPr>
          <p:grpSpPr>
            <a:xfrm rot="0">
              <a:off x="0" y="0"/>
              <a:ext cx="512795" cy="512795"/>
              <a:chOff x="0" y="0"/>
              <a:chExt cx="812800" cy="812800"/>
            </a:xfrm>
          </p:grpSpPr>
          <p:sp>
            <p:nvSpPr>
              <p:cNvPr name="Freeform 29" id="29"/>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0" id="30"/>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1" id="31"/>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TextBox 32" id="32"/>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33" name="Section navigation: About (current)">
            <a:hlinkClick action="ppaction://hlinksldjump" r:id="rId5"/>
          </p:cNvPr>
          <p:cNvSpPr/>
          <p:nvPr/>
        </p:nvSpPr>
        <p:spPr>
          <a:xfrm>
            <a:off x="758952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FAFAFA"/>
                </a:solidFill>
                <a:latin typeface="Poppins"/>
              </a:rPr>
              <a:t>About</a:t>
            </a:r>
          </a:p>
        </p:txBody>
      </p:sp>
      <p:sp>
        <p:nvSpPr>
          <p:cNvPr id="34" name="Section navigation: Service">
            <a:hlinkClick action="ppaction://hlinksldjump" r:id="rId6"/>
          </p:cNvPr>
          <p:cNvSpPr/>
          <p:nvPr/>
        </p:nvSpPr>
        <p:spPr>
          <a:xfrm>
            <a:off x="921258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Service</a:t>
            </a:r>
          </a:p>
        </p:txBody>
      </p:sp>
      <p:sp>
        <p:nvSpPr>
          <p:cNvPr id="35" name="Section navigation: Team">
            <a:hlinkClick action="ppaction://hlinksldjump" r:id="rId7"/>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Team</a:t>
            </a:r>
          </a:p>
        </p:txBody>
      </p:sp>
      <p:sp>
        <p:nvSpPr>
          <p:cNvPr id="36" name="Section navigation: Conclusion">
            <a:hlinkClick action="ppaction://hlinksldjump" r:id="rId8"/>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Conclusion</a:t>
            </a:r>
          </a:p>
        </p:txBody>
      </p:sp>
      <p:sp>
        <p:nvSpPr>
          <p:cNvPr id="37" name="Compact margin page number 01"/>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01</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7601403"/>
            <a:ext cx="18288000" cy="2685597"/>
            <a:chOff x="0" y="0"/>
            <a:chExt cx="24384000" cy="3580797"/>
          </a:xfrm>
        </p:grpSpPr>
        <p:pic>
          <p:nvPicPr>
            <p:cNvPr name="Picture 3" id="3"/>
            <p:cNvPicPr>
              <a:picLocks noChangeAspect="true"/>
            </p:cNvPicPr>
            <p:nvPr/>
          </p:nvPicPr>
          <p:blipFill>
            <a:blip r:embed="rId9"/>
            <a:srcRect l="0" t="638" r="0" b="638"/>
            <a:stretch>
              <a:fillRect/>
            </a:stretch>
          </p:blipFill>
          <p:spPr>
            <a:xfrm flipH="false" flipV="false">
              <a:off x="0" y="0"/>
              <a:ext cx="24384000" cy="3580797"/>
            </a:xfrm>
            <a:prstGeom prst="rect">
              <a:avLst/>
            </a:prstGeom>
          </p:spPr>
        </p:pic>
      </p:grpSp>
      <p:grpSp>
        <p:nvGrpSpPr>
          <p:cNvPr name="Group 18" id="18"/>
          <p:cNvGrpSpPr/>
          <p:nvPr/>
        </p:nvGrpSpPr>
        <p:grpSpPr>
          <a:xfrm rot="0">
            <a:off x="4027427" y="1117625"/>
            <a:ext cx="10233146" cy="530810"/>
            <a:chOff x="0" y="0"/>
            <a:chExt cx="2988982" cy="155043"/>
          </a:xfrm>
        </p:grpSpPr>
        <p:sp>
          <p:nvSpPr>
            <p:cNvPr name="Freeform 19" id="19"/>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20" id="20"/>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6" id="36"/>
          <p:cNvGrpSpPr/>
          <p:nvPr/>
        </p:nvGrpSpPr>
        <p:grpSpPr>
          <a:xfrm rot="0">
            <a:off x="4100894" y="1190732"/>
            <a:ext cx="2511996" cy="384596"/>
            <a:chOff x="0" y="0"/>
            <a:chExt cx="3349328" cy="512795"/>
          </a:xfrm>
        </p:grpSpPr>
        <p:grpSp>
          <p:nvGrpSpPr>
            <p:cNvPr name="Group 37" id="37"/>
            <p:cNvGrpSpPr/>
            <p:nvPr/>
          </p:nvGrpSpPr>
          <p:grpSpPr>
            <a:xfrm rot="0">
              <a:off x="0" y="0"/>
              <a:ext cx="512795" cy="512795"/>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9" id="39"/>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40" id="40"/>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TextBox 41" id="41"/>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42" name="Section navigation: About (current)">
            <a:hlinkClick action="ppaction://hlinksldjump" r:id="rId5"/>
          </p:cNvPr>
          <p:cNvSpPr/>
          <p:nvPr/>
        </p:nvSpPr>
        <p:spPr>
          <a:xfrm>
            <a:off x="758952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FAFAFA"/>
                </a:solidFill>
                <a:latin typeface="Poppins"/>
              </a:rPr>
              <a:t>About</a:t>
            </a:r>
          </a:p>
        </p:txBody>
      </p:sp>
      <p:sp>
        <p:nvSpPr>
          <p:cNvPr id="43" name="Section navigation: Service">
            <a:hlinkClick action="ppaction://hlinksldjump" r:id="rId6"/>
          </p:cNvPr>
          <p:cNvSpPr/>
          <p:nvPr/>
        </p:nvSpPr>
        <p:spPr>
          <a:xfrm>
            <a:off x="921258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Service</a:t>
            </a:r>
          </a:p>
        </p:txBody>
      </p:sp>
      <p:sp>
        <p:nvSpPr>
          <p:cNvPr id="44" name="Section navigation: Team">
            <a:hlinkClick action="ppaction://hlinksldjump" r:id="rId7"/>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Team</a:t>
            </a:r>
          </a:p>
        </p:txBody>
      </p:sp>
      <p:sp>
        <p:nvSpPr>
          <p:cNvPr id="45" name="Section navigation: Conclusion">
            <a:hlinkClick action="ppaction://hlinksldjump" r:id="rId8"/>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Conclusion</a:t>
            </a:r>
          </a:p>
        </p:txBody>
      </p:sp>
      <p:sp>
        <p:nvSpPr>
          <p:cNvPr id="46" name="Story text: THE PROBLEM"/>
          <p:cNvSpPr txBox="1"/>
          <p:nvPr/>
        </p:nvSpPr>
        <p:spPr>
          <a:xfrm>
            <a:off x="1115568" y="1901952"/>
            <a:ext cx="10972800" cy="301752"/>
          </a:xfrm>
          <a:prstGeom prst="rect">
            <a:avLst/>
          </a:prstGeom>
          <a:noFill/>
        </p:spPr>
        <p:txBody>
          <a:bodyPr wrap="square" tIns="0" bIns="0" lIns="0" rIns="0" anchor="t">
            <a:noAutofit/>
          </a:bodyPr>
          <a:lstStyle/>
          <a:p>
            <a:pPr algn="l">
              <a:lnSpc>
                <a:spcPct val="106000"/>
              </a:lnSpc>
              <a:spcBef>
                <a:spcPts val="0"/>
              </a:spcBef>
              <a:spcAft>
                <a:spcPts val="0"/>
              </a:spcAft>
            </a:pPr>
            <a:r>
              <a:rPr sz="1600" b="1">
                <a:solidFill>
                  <a:srgbClr val="497078"/>
                </a:solidFill>
                <a:latin typeface="Poppins Bold"/>
              </a:rPr>
              <a:t>THE PROBLEM</a:t>
            </a:r>
          </a:p>
        </p:txBody>
      </p:sp>
      <p:sp>
        <p:nvSpPr>
          <p:cNvPr id="47" name="Story text: COMPLIANCE IS STILL&#10;GUESSWORK."/>
          <p:cNvSpPr txBox="1"/>
          <p:nvPr/>
        </p:nvSpPr>
        <p:spPr>
          <a:xfrm>
            <a:off x="1353312" y="2194560"/>
            <a:ext cx="15453359" cy="2057400"/>
          </a:xfrm>
          <a:prstGeom prst="rect">
            <a:avLst/>
          </a:prstGeom>
          <a:noFill/>
        </p:spPr>
        <p:txBody>
          <a:bodyPr wrap="square" tIns="0" bIns="0" lIns="0" rIns="0" anchor="t">
            <a:noAutofit/>
          </a:bodyPr>
          <a:lstStyle/>
          <a:p>
            <a:pPr algn="ctr">
              <a:lnSpc>
                <a:spcPct val="106000"/>
              </a:lnSpc>
              <a:spcBef>
                <a:spcPts val="0"/>
              </a:spcBef>
              <a:spcAft>
                <a:spcPts val="0"/>
              </a:spcAft>
            </a:pPr>
            <a:r>
              <a:rPr sz="6200" b="0">
                <a:solidFill>
                  <a:srgbClr val="171717"/>
                </a:solidFill>
                <a:latin typeface="Poppins"/>
              </a:rPr>
              <a:t>COMPLIANCE IS STILL</a:t>
            </a:r>
          </a:p>
          <a:p>
            <a:pPr algn="ctr">
              <a:lnSpc>
                <a:spcPct val="106000"/>
              </a:lnSpc>
              <a:spcBef>
                <a:spcPts val="0"/>
              </a:spcBef>
              <a:spcAft>
                <a:spcPts val="0"/>
              </a:spcAft>
            </a:pPr>
            <a:r>
              <a:rPr sz="6200" b="1">
                <a:solidFill>
                  <a:srgbClr val="171717"/>
                </a:solidFill>
                <a:latin typeface="Poppins Bold"/>
              </a:rPr>
              <a:t>GUESSWORK.</a:t>
            </a:r>
          </a:p>
        </p:txBody>
      </p:sp>
      <p:sp>
        <p:nvSpPr>
          <p:cNvPr id="48" name="Story text: Companies pay to reconstruct facts "/>
          <p:cNvSpPr txBox="1"/>
          <p:nvPr/>
        </p:nvSpPr>
        <p:spPr>
          <a:xfrm>
            <a:off x="2011680" y="4370832"/>
            <a:ext cx="14264640" cy="475488"/>
          </a:xfrm>
          <a:prstGeom prst="rect">
            <a:avLst/>
          </a:prstGeom>
          <a:noFill/>
        </p:spPr>
        <p:txBody>
          <a:bodyPr wrap="square" tIns="0" bIns="0" lIns="0" rIns="0" anchor="t">
            <a:noAutofit/>
          </a:bodyPr>
          <a:lstStyle/>
          <a:p>
            <a:pPr algn="ctr">
              <a:lnSpc>
                <a:spcPct val="106000"/>
              </a:lnSpc>
              <a:spcBef>
                <a:spcPts val="0"/>
              </a:spcBef>
              <a:spcAft>
                <a:spcPts val="0"/>
              </a:spcAft>
            </a:pPr>
            <a:r>
              <a:rPr sz="2400" b="0">
                <a:solidFill>
                  <a:srgbClr val="687075"/>
                </a:solidFill>
                <a:latin typeface="Poppins"/>
              </a:rPr>
              <a:t>Companies pay to reconstruct facts that already exist in their systems.</a:t>
            </a:r>
          </a:p>
        </p:txBody>
      </p:sp>
      <p:sp>
        <p:nvSpPr>
          <p:cNvPr id="49" name="Problem card: QUESTIONNAIRES"/>
          <p:cNvSpPr/>
          <p:nvPr/>
        </p:nvSpPr>
        <p:spPr>
          <a:xfrm>
            <a:off x="1581912" y="5029200"/>
            <a:ext cx="4690872" cy="1993392"/>
          </a:xfrm>
          <a:prstGeom prst="roundRect">
            <a:avLst>
              <a:gd name="adj" fmla="val 8000"/>
            </a:avLst>
          </a:prstGeom>
          <a:solidFill>
            <a:srgbClr val="FAFAFA"/>
          </a:solidFill>
          <a:ln w="9525">
            <a:solidFill>
              <a:srgbClr val="DCDFE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0" name="Story text: 01"/>
          <p:cNvSpPr txBox="1"/>
          <p:nvPr/>
        </p:nvSpPr>
        <p:spPr>
          <a:xfrm>
            <a:off x="1837943" y="5276088"/>
            <a:ext cx="914400" cy="530352"/>
          </a:xfrm>
          <a:prstGeom prst="rect">
            <a:avLst/>
          </a:prstGeom>
          <a:noFill/>
        </p:spPr>
        <p:txBody>
          <a:bodyPr wrap="square" tIns="0" bIns="0" lIns="0" rIns="0" anchor="t">
            <a:noAutofit/>
          </a:bodyPr>
          <a:lstStyle/>
          <a:p>
            <a:pPr algn="l">
              <a:lnSpc>
                <a:spcPct val="106000"/>
              </a:lnSpc>
              <a:spcBef>
                <a:spcPts val="0"/>
              </a:spcBef>
              <a:spcAft>
                <a:spcPts val="0"/>
              </a:spcAft>
            </a:pPr>
            <a:r>
              <a:rPr sz="3500" b="1">
                <a:solidFill>
                  <a:srgbClr val="497078"/>
                </a:solidFill>
                <a:latin typeface="Poppins Bold"/>
              </a:rPr>
              <a:t>01</a:t>
            </a:r>
          </a:p>
        </p:txBody>
      </p:sp>
      <p:sp>
        <p:nvSpPr>
          <p:cNvPr id="51" name="Story text: QUESTIONNAIRES"/>
          <p:cNvSpPr txBox="1"/>
          <p:nvPr/>
        </p:nvSpPr>
        <p:spPr>
          <a:xfrm>
            <a:off x="1837943" y="5815584"/>
            <a:ext cx="4251960" cy="393192"/>
          </a:xfrm>
          <a:prstGeom prst="rect">
            <a:avLst/>
          </a:prstGeom>
          <a:noFill/>
        </p:spPr>
        <p:txBody>
          <a:bodyPr wrap="square" tIns="0" bIns="0" lIns="0" rIns="0" anchor="t">
            <a:noAutofit/>
          </a:bodyPr>
          <a:lstStyle/>
          <a:p>
            <a:pPr algn="l">
              <a:lnSpc>
                <a:spcPct val="106000"/>
              </a:lnSpc>
              <a:spcBef>
                <a:spcPts val="0"/>
              </a:spcBef>
              <a:spcAft>
                <a:spcPts val="0"/>
              </a:spcAft>
            </a:pPr>
            <a:r>
              <a:rPr sz="2300" b="1">
                <a:solidFill>
                  <a:srgbClr val="171717"/>
                </a:solidFill>
                <a:latin typeface="Poppins Bold"/>
              </a:rPr>
              <a:t>QUESTIONNAIRES</a:t>
            </a:r>
          </a:p>
        </p:txBody>
      </p:sp>
      <p:sp>
        <p:nvSpPr>
          <p:cNvPr id="52" name="Story text: Answers from memory"/>
          <p:cNvSpPr txBox="1"/>
          <p:nvPr/>
        </p:nvSpPr>
        <p:spPr>
          <a:xfrm>
            <a:off x="1837943" y="6345936"/>
            <a:ext cx="4251960" cy="384048"/>
          </a:xfrm>
          <a:prstGeom prst="rect">
            <a:avLst/>
          </a:prstGeom>
          <a:noFill/>
        </p:spPr>
        <p:txBody>
          <a:bodyPr wrap="square" tIns="0" bIns="0" lIns="0" rIns="0" anchor="t">
            <a:noAutofit/>
          </a:bodyPr>
          <a:lstStyle/>
          <a:p>
            <a:pPr algn="l">
              <a:lnSpc>
                <a:spcPct val="106000"/>
              </a:lnSpc>
              <a:spcBef>
                <a:spcPts val="0"/>
              </a:spcBef>
              <a:spcAft>
                <a:spcPts val="0"/>
              </a:spcAft>
            </a:pPr>
            <a:r>
              <a:rPr sz="2000" b="0">
                <a:solidFill>
                  <a:srgbClr val="687075"/>
                </a:solidFill>
                <a:latin typeface="Poppins"/>
              </a:rPr>
              <a:t>Answers from memory</a:t>
            </a:r>
          </a:p>
        </p:txBody>
      </p:sp>
      <p:sp>
        <p:nvSpPr>
          <p:cNvPr id="53" name="Problem card: STALE EVIDENCE"/>
          <p:cNvSpPr/>
          <p:nvPr/>
        </p:nvSpPr>
        <p:spPr>
          <a:xfrm>
            <a:off x="6812279" y="5029200"/>
            <a:ext cx="4690872" cy="1993392"/>
          </a:xfrm>
          <a:prstGeom prst="roundRect">
            <a:avLst>
              <a:gd name="adj" fmla="val 8000"/>
            </a:avLst>
          </a:prstGeom>
          <a:solidFill>
            <a:srgbClr val="FAFAFA"/>
          </a:solidFill>
          <a:ln w="9525">
            <a:solidFill>
              <a:srgbClr val="DCDFE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4" name="Story text: 02"/>
          <p:cNvSpPr txBox="1"/>
          <p:nvPr/>
        </p:nvSpPr>
        <p:spPr>
          <a:xfrm>
            <a:off x="7068312" y="5276088"/>
            <a:ext cx="914400" cy="530352"/>
          </a:xfrm>
          <a:prstGeom prst="rect">
            <a:avLst/>
          </a:prstGeom>
          <a:noFill/>
        </p:spPr>
        <p:txBody>
          <a:bodyPr wrap="square" tIns="0" bIns="0" lIns="0" rIns="0" anchor="t">
            <a:noAutofit/>
          </a:bodyPr>
          <a:lstStyle/>
          <a:p>
            <a:pPr algn="l">
              <a:lnSpc>
                <a:spcPct val="106000"/>
              </a:lnSpc>
              <a:spcBef>
                <a:spcPts val="0"/>
              </a:spcBef>
              <a:spcAft>
                <a:spcPts val="0"/>
              </a:spcAft>
            </a:pPr>
            <a:r>
              <a:rPr sz="3500" b="1">
                <a:solidFill>
                  <a:srgbClr val="497078"/>
                </a:solidFill>
                <a:latin typeface="Poppins Bold"/>
              </a:rPr>
              <a:t>02</a:t>
            </a:r>
          </a:p>
        </p:txBody>
      </p:sp>
      <p:sp>
        <p:nvSpPr>
          <p:cNvPr id="55" name="Story text: STALE EVIDENCE"/>
          <p:cNvSpPr txBox="1"/>
          <p:nvPr/>
        </p:nvSpPr>
        <p:spPr>
          <a:xfrm>
            <a:off x="7068312" y="5815584"/>
            <a:ext cx="4251960" cy="393192"/>
          </a:xfrm>
          <a:prstGeom prst="rect">
            <a:avLst/>
          </a:prstGeom>
          <a:noFill/>
        </p:spPr>
        <p:txBody>
          <a:bodyPr wrap="square" tIns="0" bIns="0" lIns="0" rIns="0" anchor="t">
            <a:noAutofit/>
          </a:bodyPr>
          <a:lstStyle/>
          <a:p>
            <a:pPr algn="l">
              <a:lnSpc>
                <a:spcPct val="106000"/>
              </a:lnSpc>
              <a:spcBef>
                <a:spcPts val="0"/>
              </a:spcBef>
              <a:spcAft>
                <a:spcPts val="0"/>
              </a:spcAft>
            </a:pPr>
            <a:r>
              <a:rPr sz="2300" b="1">
                <a:solidFill>
                  <a:srgbClr val="171717"/>
                </a:solidFill>
                <a:latin typeface="Poppins Bold"/>
              </a:rPr>
              <a:t>STALE EVIDENCE</a:t>
            </a:r>
          </a:p>
        </p:txBody>
      </p:sp>
      <p:sp>
        <p:nvSpPr>
          <p:cNvPr id="56" name="Story text: Gaps go unseen"/>
          <p:cNvSpPr txBox="1"/>
          <p:nvPr/>
        </p:nvSpPr>
        <p:spPr>
          <a:xfrm>
            <a:off x="7068312" y="6345936"/>
            <a:ext cx="4251960" cy="384048"/>
          </a:xfrm>
          <a:prstGeom prst="rect">
            <a:avLst/>
          </a:prstGeom>
          <a:noFill/>
        </p:spPr>
        <p:txBody>
          <a:bodyPr wrap="square" tIns="0" bIns="0" lIns="0" rIns="0" anchor="t">
            <a:noAutofit/>
          </a:bodyPr>
          <a:lstStyle/>
          <a:p>
            <a:pPr algn="l">
              <a:lnSpc>
                <a:spcPct val="106000"/>
              </a:lnSpc>
              <a:spcBef>
                <a:spcPts val="0"/>
              </a:spcBef>
              <a:spcAft>
                <a:spcPts val="0"/>
              </a:spcAft>
            </a:pPr>
            <a:r>
              <a:rPr sz="2000" b="0">
                <a:solidFill>
                  <a:srgbClr val="687075"/>
                </a:solidFill>
                <a:latin typeface="Poppins"/>
              </a:rPr>
              <a:t>Gaps go unseen</a:t>
            </a:r>
          </a:p>
        </p:txBody>
      </p:sp>
      <p:sp>
        <p:nvSpPr>
          <p:cNvPr id="57" name="Problem card: LEGAL OVERHEAD"/>
          <p:cNvSpPr/>
          <p:nvPr/>
        </p:nvSpPr>
        <p:spPr>
          <a:xfrm>
            <a:off x="12042648" y="5029200"/>
            <a:ext cx="4690872" cy="1993392"/>
          </a:xfrm>
          <a:prstGeom prst="roundRect">
            <a:avLst>
              <a:gd name="adj" fmla="val 8000"/>
            </a:avLst>
          </a:prstGeom>
          <a:solidFill>
            <a:srgbClr val="FAFAFA"/>
          </a:solidFill>
          <a:ln w="9525">
            <a:solidFill>
              <a:srgbClr val="DCDFE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Story text: 03"/>
          <p:cNvSpPr txBox="1"/>
          <p:nvPr/>
        </p:nvSpPr>
        <p:spPr>
          <a:xfrm>
            <a:off x="12298680" y="5276088"/>
            <a:ext cx="914400" cy="530352"/>
          </a:xfrm>
          <a:prstGeom prst="rect">
            <a:avLst/>
          </a:prstGeom>
          <a:noFill/>
        </p:spPr>
        <p:txBody>
          <a:bodyPr wrap="square" tIns="0" bIns="0" lIns="0" rIns="0" anchor="t">
            <a:noAutofit/>
          </a:bodyPr>
          <a:lstStyle/>
          <a:p>
            <a:pPr algn="l">
              <a:lnSpc>
                <a:spcPct val="106000"/>
              </a:lnSpc>
              <a:spcBef>
                <a:spcPts val="0"/>
              </a:spcBef>
              <a:spcAft>
                <a:spcPts val="0"/>
              </a:spcAft>
            </a:pPr>
            <a:r>
              <a:rPr sz="3500" b="1">
                <a:solidFill>
                  <a:srgbClr val="497078"/>
                </a:solidFill>
                <a:latin typeface="Poppins Bold"/>
              </a:rPr>
              <a:t>03</a:t>
            </a:r>
          </a:p>
        </p:txBody>
      </p:sp>
      <p:sp>
        <p:nvSpPr>
          <p:cNvPr id="59" name="Story text: LEGAL OVERHEAD"/>
          <p:cNvSpPr txBox="1"/>
          <p:nvPr/>
        </p:nvSpPr>
        <p:spPr>
          <a:xfrm>
            <a:off x="12298680" y="5815584"/>
            <a:ext cx="4251960" cy="393192"/>
          </a:xfrm>
          <a:prstGeom prst="rect">
            <a:avLst/>
          </a:prstGeom>
          <a:noFill/>
        </p:spPr>
        <p:txBody>
          <a:bodyPr wrap="square" tIns="0" bIns="0" lIns="0" rIns="0" anchor="t">
            <a:noAutofit/>
          </a:bodyPr>
          <a:lstStyle/>
          <a:p>
            <a:pPr algn="l">
              <a:lnSpc>
                <a:spcPct val="106000"/>
              </a:lnSpc>
              <a:spcBef>
                <a:spcPts val="0"/>
              </a:spcBef>
              <a:spcAft>
                <a:spcPts val="0"/>
              </a:spcAft>
            </a:pPr>
            <a:r>
              <a:rPr sz="2300" b="1">
                <a:solidFill>
                  <a:srgbClr val="171717"/>
                </a:solidFill>
                <a:latin typeface="Poppins Bold"/>
              </a:rPr>
              <a:t>LEGAL OVERHEAD</a:t>
            </a:r>
          </a:p>
        </p:txBody>
      </p:sp>
      <p:sp>
        <p:nvSpPr>
          <p:cNvPr id="60" name="Story text: Fact-finding repeats"/>
          <p:cNvSpPr txBox="1"/>
          <p:nvPr/>
        </p:nvSpPr>
        <p:spPr>
          <a:xfrm>
            <a:off x="12298680" y="6345936"/>
            <a:ext cx="4251960" cy="384048"/>
          </a:xfrm>
          <a:prstGeom prst="rect">
            <a:avLst/>
          </a:prstGeom>
          <a:noFill/>
        </p:spPr>
        <p:txBody>
          <a:bodyPr wrap="square" tIns="0" bIns="0" lIns="0" rIns="0" anchor="t">
            <a:noAutofit/>
          </a:bodyPr>
          <a:lstStyle/>
          <a:p>
            <a:pPr algn="l">
              <a:lnSpc>
                <a:spcPct val="106000"/>
              </a:lnSpc>
              <a:spcBef>
                <a:spcPts val="0"/>
              </a:spcBef>
              <a:spcAft>
                <a:spcPts val="0"/>
              </a:spcAft>
            </a:pPr>
            <a:r>
              <a:rPr sz="2000" b="0">
                <a:solidFill>
                  <a:srgbClr val="687075"/>
                </a:solidFill>
                <a:latin typeface="Poppins"/>
              </a:rPr>
              <a:t>Fact-finding repeats</a:t>
            </a:r>
          </a:p>
        </p:txBody>
      </p:sp>
      <p:sp>
        <p:nvSpPr>
          <p:cNvPr id="61" name="Compact margin page number 02"/>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02</a:t>
            </a:r>
          </a:p>
        </p:txBody>
      </p:sp>
    </p:spTree>
  </p:cSld>
  <p:clrMapOvr>
    <a:masterClrMapping/>
  </p:clrMapOvr>
  <p:transition spd="slow">
    <p:push dir="l"/>
  </p:transition>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7" id="7"/>
          <p:cNvGrpSpPr/>
          <p:nvPr/>
        </p:nvGrpSpPr>
        <p:grpSpPr>
          <a:xfrm rot="0">
            <a:off x="7600950" y="2036891"/>
            <a:ext cx="9658350" cy="6448357"/>
            <a:chOff x="0" y="0"/>
            <a:chExt cx="2543763" cy="1698333"/>
          </a:xfrm>
        </p:grpSpPr>
        <p:sp>
          <p:nvSpPr>
            <p:cNvPr name="Freeform 8" id="8"/>
            <p:cNvSpPr/>
            <p:nvPr/>
          </p:nvSpPr>
          <p:spPr>
            <a:xfrm flipH="false" flipV="false" rot="0">
              <a:off x="0" y="0"/>
              <a:ext cx="2543763" cy="1698333"/>
            </a:xfrm>
            <a:custGeom>
              <a:avLst/>
              <a:gdLst/>
              <a:ahLst/>
              <a:cxnLst/>
              <a:rect r="r" b="b" t="t" l="l"/>
              <a:pathLst>
                <a:path h="1698333" w="2543763">
                  <a:moveTo>
                    <a:pt x="40079" y="0"/>
                  </a:moveTo>
                  <a:lnTo>
                    <a:pt x="2503684" y="0"/>
                  </a:lnTo>
                  <a:cubicBezTo>
                    <a:pt x="2514314" y="0"/>
                    <a:pt x="2524508" y="4223"/>
                    <a:pt x="2532024" y="11739"/>
                  </a:cubicBezTo>
                  <a:cubicBezTo>
                    <a:pt x="2539540" y="19255"/>
                    <a:pt x="2543763" y="29449"/>
                    <a:pt x="2543763" y="40079"/>
                  </a:cubicBezTo>
                  <a:lnTo>
                    <a:pt x="2543763" y="1658254"/>
                  </a:lnTo>
                  <a:cubicBezTo>
                    <a:pt x="2543763" y="1668883"/>
                    <a:pt x="2539540" y="1679078"/>
                    <a:pt x="2532024" y="1686594"/>
                  </a:cubicBezTo>
                  <a:cubicBezTo>
                    <a:pt x="2524508" y="1694110"/>
                    <a:pt x="2514314" y="1698333"/>
                    <a:pt x="2503684" y="1698333"/>
                  </a:cubicBezTo>
                  <a:lnTo>
                    <a:pt x="40079" y="1698333"/>
                  </a:lnTo>
                  <a:cubicBezTo>
                    <a:pt x="17944" y="1698333"/>
                    <a:pt x="0" y="1680389"/>
                    <a:pt x="0" y="1658254"/>
                  </a:cubicBezTo>
                  <a:lnTo>
                    <a:pt x="0" y="40079"/>
                  </a:lnTo>
                  <a:cubicBezTo>
                    <a:pt x="0" y="29449"/>
                    <a:pt x="4223" y="19255"/>
                    <a:pt x="11739" y="11739"/>
                  </a:cubicBezTo>
                  <a:cubicBezTo>
                    <a:pt x="19255" y="4223"/>
                    <a:pt x="29449" y="0"/>
                    <a:pt x="40079" y="0"/>
                  </a:cubicBezTo>
                  <a:close/>
                </a:path>
              </a:pathLst>
            </a:custGeom>
            <a:solidFill>
              <a:srgbClr val="171717"/>
            </a:solidFill>
          </p:spPr>
          <p:txBody>
            <a:bodyPr/>
            <a:p/>
          </p:txBody>
        </p:sp>
        <p:sp>
          <p:nvSpPr>
            <p:cNvPr name="TextBox 9" id="9"/>
            <p:cNvSpPr txBox="true"/>
            <p:nvPr/>
          </p:nvSpPr>
          <p:spPr>
            <a:xfrm>
              <a:off x="0" y="-47625"/>
              <a:ext cx="2543763" cy="1745958"/>
            </a:xfrm>
            <a:prstGeom prst="rect">
              <a:avLst/>
            </a:prstGeom>
          </p:spPr>
          <p:txBody>
            <a:bodyPr anchor="ctr" rtlCol="false" tIns="50800" lIns="50800" bIns="50800" rIns="50800"/>
            <a:lstStyle/>
            <a:p>
              <a:pPr algn="ctr" marL="0" indent="0" lvl="0">
                <a:lnSpc>
                  <a:spcPts val="1959"/>
                </a:lnSpc>
              </a:pPr>
            </a:p>
          </p:txBody>
        </p:sp>
      </p:grpSp>
      <p:grpSp>
        <p:nvGrpSpPr>
          <p:cNvPr name="Group 13" id="13"/>
          <p:cNvGrpSpPr/>
          <p:nvPr/>
        </p:nvGrpSpPr>
        <p:grpSpPr>
          <a:xfrm rot="0">
            <a:off x="4027427" y="1117625"/>
            <a:ext cx="10233146" cy="530810"/>
            <a:chOff x="0" y="0"/>
            <a:chExt cx="2988982" cy="155043"/>
          </a:xfrm>
        </p:grpSpPr>
        <p:sp>
          <p:nvSpPr>
            <p:cNvPr name="Freeform 14" id="14"/>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5" id="15"/>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1" id="31"/>
          <p:cNvGrpSpPr/>
          <p:nvPr/>
        </p:nvGrpSpPr>
        <p:grpSpPr>
          <a:xfrm rot="0">
            <a:off x="4100894" y="1190732"/>
            <a:ext cx="2511996" cy="384596"/>
            <a:chOff x="0" y="0"/>
            <a:chExt cx="3349328" cy="512795"/>
          </a:xfrm>
        </p:grpSpPr>
        <p:grpSp>
          <p:nvGrpSpPr>
            <p:cNvPr name="Group 32" id="32"/>
            <p:cNvGrpSpPr/>
            <p:nvPr/>
          </p:nvGrpSpPr>
          <p:grpSpPr>
            <a:xfrm rot="0">
              <a:off x="0" y="0"/>
              <a:ext cx="512795" cy="512795"/>
              <a:chOff x="0" y="0"/>
              <a:chExt cx="812800" cy="812800"/>
            </a:xfrm>
          </p:grpSpPr>
          <p:sp>
            <p:nvSpPr>
              <p:cNvPr name="Freeform 33" id="33"/>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4" id="34"/>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5" id="35"/>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TextBox 36" id="36"/>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43" name="Section navigation: About (current)">
            <a:hlinkClick action="ppaction://hlinksldjump" r:id="rId6"/>
          </p:cNvPr>
          <p:cNvSpPr/>
          <p:nvPr/>
        </p:nvSpPr>
        <p:spPr>
          <a:xfrm>
            <a:off x="758952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FAFAFA"/>
                </a:solidFill>
                <a:latin typeface="Poppins"/>
              </a:rPr>
              <a:t>About</a:t>
            </a:r>
          </a:p>
        </p:txBody>
      </p:sp>
      <p:sp>
        <p:nvSpPr>
          <p:cNvPr id="44" name="Section navigation: Service">
            <a:hlinkClick action="ppaction://hlinksldjump" r:id="rId7"/>
          </p:cNvPr>
          <p:cNvSpPr/>
          <p:nvPr/>
        </p:nvSpPr>
        <p:spPr>
          <a:xfrm>
            <a:off x="921258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Service</a:t>
            </a:r>
          </a:p>
        </p:txBody>
      </p:sp>
      <p:sp>
        <p:nvSpPr>
          <p:cNvPr id="45" name="Section navigation: Team">
            <a:hlinkClick action="ppaction://hlinksldjump" r:id="rId8"/>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Team</a:t>
            </a:r>
          </a:p>
        </p:txBody>
      </p:sp>
      <p:sp>
        <p:nvSpPr>
          <p:cNvPr id="46" name="Section navigation: Conclusion">
            <a:hlinkClick action="ppaction://hlinksldjump" r:id="rId9"/>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Conclusion</a:t>
            </a:r>
          </a:p>
        </p:txBody>
      </p:sp>
      <p:sp>
        <p:nvSpPr>
          <p:cNvPr id="47" name="Story text: WHY NOW"/>
          <p:cNvSpPr txBox="1"/>
          <p:nvPr/>
        </p:nvSpPr>
        <p:spPr>
          <a:xfrm>
            <a:off x="1060704" y="2304288"/>
            <a:ext cx="10972800" cy="301752"/>
          </a:xfrm>
          <a:prstGeom prst="rect">
            <a:avLst/>
          </a:prstGeom>
          <a:noFill/>
        </p:spPr>
        <p:txBody>
          <a:bodyPr wrap="square" tIns="0" bIns="0" lIns="0" rIns="0" anchor="t">
            <a:noAutofit/>
          </a:bodyPr>
          <a:lstStyle/>
          <a:p>
            <a:pPr algn="l">
              <a:lnSpc>
                <a:spcPct val="106000"/>
              </a:lnSpc>
              <a:spcBef>
                <a:spcPts val="0"/>
              </a:spcBef>
              <a:spcAft>
                <a:spcPts val="0"/>
              </a:spcAft>
            </a:pPr>
            <a:r>
              <a:rPr sz="1600" b="1">
                <a:solidFill>
                  <a:srgbClr val="497078"/>
                </a:solidFill>
                <a:latin typeface="Poppins Bold"/>
              </a:rPr>
              <a:t>INITIAL PACKAGES</a:t>
            </a:r>
          </a:p>
        </p:txBody>
      </p:sp>
      <p:sp>
        <p:nvSpPr>
          <p:cNvPr id="48" name="Story text: FOUR LAWS.&#10;ONE REALITY."/>
          <p:cNvSpPr txBox="1"/>
          <p:nvPr/>
        </p:nvSpPr>
        <p:spPr>
          <a:xfrm>
            <a:off x="1024128" y="2962656"/>
            <a:ext cx="6464808" cy="2231136"/>
          </a:xfrm>
          <a:prstGeom prst="rect">
            <a:avLst/>
          </a:prstGeom>
          <a:noFill/>
        </p:spPr>
        <p:txBody>
          <a:bodyPr wrap="square" tIns="0" bIns="0" lIns="0" rIns="0" anchor="t">
            <a:noAutofit/>
          </a:bodyPr>
          <a:lstStyle/>
          <a:p>
            <a:pPr algn="l">
              <a:lnSpc>
                <a:spcPct val="106000"/>
              </a:lnSpc>
              <a:spcBef>
                <a:spcPts val="0"/>
              </a:spcBef>
              <a:spcAft>
                <a:spcPts val="0"/>
              </a:spcAft>
            </a:pPr>
            <a:r>
              <a:rPr sz="5800" b="1">
                <a:solidFill>
                  <a:srgbClr val="171717"/>
                </a:solidFill>
                <a:latin typeface="Poppins Bold"/>
              </a:rPr>
              <a:t>FOUR TO START.</a:t>
            </a:r>
          </a:p>
          <a:p>
            <a:pPr algn="l">
              <a:lnSpc>
                <a:spcPct val="106000"/>
              </a:lnSpc>
              <a:spcBef>
                <a:spcPts val="0"/>
              </a:spcBef>
              <a:spcAft>
                <a:spcPts val="0"/>
              </a:spcAft>
            </a:pPr>
            <a:r>
              <a:rPr sz="5800" b="1">
                <a:solidFill>
                  <a:srgbClr val="171717"/>
                </a:solidFill>
                <a:latin typeface="Poppins Bold"/>
              </a:rPr>
              <a:t>MORE TO COME.</a:t>
            </a:r>
          </a:p>
        </p:txBody>
      </p:sp>
      <p:sp>
        <p:nvSpPr>
          <p:cNvPr id="49" name="Story text: The same company must prove&#10;more, a"/>
          <p:cNvSpPr txBox="1"/>
          <p:nvPr/>
        </p:nvSpPr>
        <p:spPr>
          <a:xfrm>
            <a:off x="1033271" y="6217920"/>
            <a:ext cx="6126480" cy="1051560"/>
          </a:xfrm>
          <a:prstGeom prst="rect">
            <a:avLst/>
          </a:prstGeom>
          <a:noFill/>
        </p:spPr>
        <p:txBody>
          <a:bodyPr wrap="square" tIns="0" bIns="0" lIns="0" rIns="0" anchor="t">
            <a:noAutofit/>
          </a:bodyPr>
          <a:lstStyle/>
          <a:p>
            <a:pPr algn="l">
              <a:lnSpc>
                <a:spcPct val="106000"/>
              </a:lnSpc>
              <a:spcBef>
                <a:spcPts val="0"/>
              </a:spcBef>
              <a:spcAft>
                <a:spcPts val="0"/>
              </a:spcAft>
            </a:pPr>
            <a:r>
              <a:rPr sz="2400" b="0">
                <a:solidFill>
                  <a:srgbClr val="687075"/>
                </a:solidFill>
                <a:latin typeface="Poppins"/>
              </a:rPr>
              <a:t>Our first compliance packages.</a:t>
            </a:r>
          </a:p>
          <a:p>
            <a:pPr algn="l">
              <a:lnSpc>
                <a:spcPct val="106000"/>
              </a:lnSpc>
              <a:spcBef>
                <a:spcPts val="0"/>
              </a:spcBef>
              <a:spcAft>
                <a:spcPts val="0"/>
              </a:spcAft>
            </a:pPr>
            <a:r>
              <a:rPr sz="2400" b="0">
                <a:solidFill>
                  <a:srgbClr val="687075"/>
                </a:solidFill>
                <a:latin typeface="Poppins"/>
              </a:rPr>
              <a:t>More regulations will follow.</a:t>
            </a:r>
          </a:p>
        </p:txBody>
      </p:sp>
      <p:sp>
        <p:nvSpPr>
          <p:cNvPr id="50" name="Regulatory framework: NIS2"/>
          <p:cNvSpPr/>
          <p:nvPr/>
        </p:nvSpPr>
        <p:spPr>
          <a:xfrm>
            <a:off x="8229600" y="2779776"/>
            <a:ext cx="3858768" cy="2103120"/>
          </a:xfrm>
          <a:prstGeom prst="roundRect">
            <a:avLst>
              <a:gd name="adj" fmla="val 7000"/>
            </a:avLst>
          </a:prstGeom>
          <a:solidFill>
            <a:srgbClr val="FAFA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Story text: GDPR"/>
          <p:cNvSpPr txBox="1"/>
          <p:nvPr/>
        </p:nvSpPr>
        <p:spPr>
          <a:xfrm>
            <a:off x="8494776" y="3108960"/>
            <a:ext cx="3328416" cy="566928"/>
          </a:xfrm>
          <a:prstGeom prst="rect">
            <a:avLst/>
          </a:prstGeom>
          <a:noFill/>
        </p:spPr>
        <p:txBody>
          <a:bodyPr wrap="square" tIns="0" bIns="0" lIns="0" rIns="0" anchor="t">
            <a:noAutofit/>
          </a:bodyPr>
          <a:lstStyle/>
          <a:p>
            <a:pPr algn="l">
              <a:lnSpc>
                <a:spcPct val="106000"/>
              </a:lnSpc>
              <a:spcBef>
                <a:spcPts val="0"/>
              </a:spcBef>
              <a:spcAft>
                <a:spcPts val="0"/>
              </a:spcAft>
            </a:pPr>
            <a:r>
              <a:rPr sz="3200" b="1">
                <a:solidFill>
                  <a:srgbClr val="171717"/>
                </a:solidFill>
                <a:latin typeface="Poppins Bold"/>
              </a:rPr>
              <a:t>NIS2</a:t>
            </a:r>
          </a:p>
        </p:txBody>
      </p:sp>
      <p:cxnSp>
        <p:nvCxnSpPr>
          <p:cNvPr id="52" name="Connector 51"/>
          <p:cNvCxnSpPr/>
          <p:nvPr/>
        </p:nvCxnSpPr>
        <p:spPr>
          <a:xfrm>
            <a:off x="8503920" y="3877056"/>
            <a:ext cx="3291840" cy="0"/>
          </a:xfrm>
          <a:prstGeom prst="line">
            <a:avLst/>
          </a:prstGeom>
          <a:ln w="15240">
            <a:solidFill>
              <a:srgbClr val="DCDFE0"/>
            </a:solidFill>
          </a:ln>
        </p:spPr>
        <p:style>
          <a:lnRef idx="2">
            <a:schemeClr val="accent1"/>
          </a:lnRef>
          <a:fillRef idx="0">
            <a:schemeClr val="accent1"/>
          </a:fillRef>
          <a:effectRef idx="0">
            <a:schemeClr val="accent1"/>
          </a:effectRef>
          <a:fontRef idx="minor">
            <a:schemeClr val="tx1"/>
          </a:fontRef>
        </p:style>
      </p:cxnSp>
      <p:sp>
        <p:nvSpPr>
          <p:cNvPr id="53" name="Story text: Personal data"/>
          <p:cNvSpPr txBox="1"/>
          <p:nvPr/>
        </p:nvSpPr>
        <p:spPr>
          <a:xfrm>
            <a:off x="8494776" y="4142232"/>
            <a:ext cx="3310128" cy="438912"/>
          </a:xfrm>
          <a:prstGeom prst="rect">
            <a:avLst/>
          </a:prstGeom>
          <a:noFill/>
        </p:spPr>
        <p:txBody>
          <a:bodyPr wrap="square" tIns="0" bIns="0" lIns="0" rIns="0" anchor="t">
            <a:noAutofit/>
          </a:bodyPr>
          <a:lstStyle/>
          <a:p>
            <a:pPr algn="l">
              <a:lnSpc>
                <a:spcPct val="106000"/>
              </a:lnSpc>
              <a:spcBef>
                <a:spcPts val="0"/>
              </a:spcBef>
              <a:spcAft>
                <a:spcPts val="0"/>
              </a:spcAft>
            </a:pPr>
            <a:r>
              <a:rPr sz="2100" b="0">
                <a:solidFill>
                  <a:srgbClr val="687075"/>
                </a:solidFill>
                <a:latin typeface="Poppins"/>
              </a:rPr>
              <a:t>Cybersecurity</a:t>
            </a:r>
          </a:p>
        </p:txBody>
      </p:sp>
      <p:sp>
        <p:nvSpPr>
          <p:cNvPr id="54" name="Regulatory framework: GDPR"/>
          <p:cNvSpPr/>
          <p:nvPr/>
        </p:nvSpPr>
        <p:spPr>
          <a:xfrm>
            <a:off x="12390120" y="2779776"/>
            <a:ext cx="3858768" cy="2103120"/>
          </a:xfrm>
          <a:prstGeom prst="roundRect">
            <a:avLst>
              <a:gd name="adj" fmla="val 7000"/>
            </a:avLst>
          </a:prstGeom>
          <a:solidFill>
            <a:srgbClr val="FAFA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5" name="Story text: EU AI ACT"/>
          <p:cNvSpPr txBox="1"/>
          <p:nvPr/>
        </p:nvSpPr>
        <p:spPr>
          <a:xfrm>
            <a:off x="12655296" y="3108960"/>
            <a:ext cx="3328416" cy="566928"/>
          </a:xfrm>
          <a:prstGeom prst="rect">
            <a:avLst/>
          </a:prstGeom>
          <a:noFill/>
        </p:spPr>
        <p:txBody>
          <a:bodyPr wrap="square" tIns="0" bIns="0" lIns="0" rIns="0" anchor="t">
            <a:noAutofit/>
          </a:bodyPr>
          <a:lstStyle/>
          <a:p>
            <a:pPr algn="l">
              <a:lnSpc>
                <a:spcPct val="106000"/>
              </a:lnSpc>
              <a:spcBef>
                <a:spcPts val="0"/>
              </a:spcBef>
              <a:spcAft>
                <a:spcPts val="0"/>
              </a:spcAft>
            </a:pPr>
            <a:r>
              <a:rPr sz="3200" b="1">
                <a:solidFill>
                  <a:srgbClr val="171717"/>
                </a:solidFill>
                <a:latin typeface="Poppins Bold"/>
              </a:rPr>
              <a:t>GDPR</a:t>
            </a:r>
          </a:p>
        </p:txBody>
      </p:sp>
      <p:cxnSp>
        <p:nvCxnSpPr>
          <p:cNvPr id="56" name="Connector 55"/>
          <p:cNvCxnSpPr/>
          <p:nvPr/>
        </p:nvCxnSpPr>
        <p:spPr>
          <a:xfrm>
            <a:off x="12664440" y="3877056"/>
            <a:ext cx="3291840" cy="0"/>
          </a:xfrm>
          <a:prstGeom prst="line">
            <a:avLst/>
          </a:prstGeom>
          <a:ln w="15240">
            <a:solidFill>
              <a:srgbClr val="DCDFE0"/>
            </a:solidFill>
          </a:ln>
        </p:spPr>
        <p:style>
          <a:lnRef idx="2">
            <a:schemeClr val="accent1"/>
          </a:lnRef>
          <a:fillRef idx="0">
            <a:schemeClr val="accent1"/>
          </a:fillRef>
          <a:effectRef idx="0">
            <a:schemeClr val="accent1"/>
          </a:effectRef>
          <a:fontRef idx="minor">
            <a:schemeClr val="tx1"/>
          </a:fontRef>
        </p:style>
      </p:cxnSp>
      <p:sp>
        <p:nvSpPr>
          <p:cNvPr id="57" name="Story text: AI systems"/>
          <p:cNvSpPr txBox="1"/>
          <p:nvPr/>
        </p:nvSpPr>
        <p:spPr>
          <a:xfrm>
            <a:off x="12655296" y="4142232"/>
            <a:ext cx="3310128" cy="438912"/>
          </a:xfrm>
          <a:prstGeom prst="rect">
            <a:avLst/>
          </a:prstGeom>
          <a:noFill/>
        </p:spPr>
        <p:txBody>
          <a:bodyPr wrap="square" tIns="0" bIns="0" lIns="0" rIns="0" anchor="t">
            <a:noAutofit/>
          </a:bodyPr>
          <a:lstStyle/>
          <a:p>
            <a:pPr algn="l">
              <a:lnSpc>
                <a:spcPct val="106000"/>
              </a:lnSpc>
              <a:spcBef>
                <a:spcPts val="0"/>
              </a:spcBef>
              <a:spcAft>
                <a:spcPts val="0"/>
              </a:spcAft>
            </a:pPr>
            <a:r>
              <a:rPr sz="2100" b="0">
                <a:solidFill>
                  <a:srgbClr val="687075"/>
                </a:solidFill>
                <a:latin typeface="Poppins"/>
              </a:rPr>
              <a:t>Personal data</a:t>
            </a:r>
          </a:p>
        </p:txBody>
      </p:sp>
      <p:sp>
        <p:nvSpPr>
          <p:cNvPr id="58" name="Regulatory framework: EU AI ACT"/>
          <p:cNvSpPr/>
          <p:nvPr/>
        </p:nvSpPr>
        <p:spPr>
          <a:xfrm>
            <a:off x="8229600" y="5239512"/>
            <a:ext cx="3858768" cy="2103120"/>
          </a:xfrm>
          <a:prstGeom prst="roundRect">
            <a:avLst>
              <a:gd name="adj" fmla="val 7000"/>
            </a:avLst>
          </a:prstGeom>
          <a:solidFill>
            <a:srgbClr val="FAFA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Story text: NIS2"/>
          <p:cNvSpPr txBox="1"/>
          <p:nvPr/>
        </p:nvSpPr>
        <p:spPr>
          <a:xfrm>
            <a:off x="8494776" y="5568696"/>
            <a:ext cx="3328416" cy="566928"/>
          </a:xfrm>
          <a:prstGeom prst="rect">
            <a:avLst/>
          </a:prstGeom>
          <a:noFill/>
        </p:spPr>
        <p:txBody>
          <a:bodyPr wrap="square" tIns="0" bIns="0" lIns="0" rIns="0" anchor="t">
            <a:noAutofit/>
          </a:bodyPr>
          <a:lstStyle/>
          <a:p>
            <a:pPr algn="l">
              <a:lnSpc>
                <a:spcPct val="106000"/>
              </a:lnSpc>
              <a:spcBef>
                <a:spcPts val="0"/>
              </a:spcBef>
              <a:spcAft>
                <a:spcPts val="0"/>
              </a:spcAft>
            </a:pPr>
            <a:r>
              <a:rPr sz="3200" b="1">
                <a:solidFill>
                  <a:srgbClr val="171717"/>
                </a:solidFill>
                <a:latin typeface="Poppins Bold"/>
              </a:rPr>
              <a:t>EU AI ACT</a:t>
            </a:r>
          </a:p>
        </p:txBody>
      </p:sp>
      <p:cxnSp>
        <p:nvCxnSpPr>
          <p:cNvPr id="60" name="Connector 59"/>
          <p:cNvCxnSpPr/>
          <p:nvPr/>
        </p:nvCxnSpPr>
        <p:spPr>
          <a:xfrm>
            <a:off x="8503920" y="6336792"/>
            <a:ext cx="3291840" cy="0"/>
          </a:xfrm>
          <a:prstGeom prst="line">
            <a:avLst/>
          </a:prstGeom>
          <a:ln w="15240">
            <a:solidFill>
              <a:srgbClr val="DCDFE0"/>
            </a:solidFill>
          </a:ln>
        </p:spPr>
        <p:style>
          <a:lnRef idx="2">
            <a:schemeClr val="accent1"/>
          </a:lnRef>
          <a:fillRef idx="0">
            <a:schemeClr val="accent1"/>
          </a:fillRef>
          <a:effectRef idx="0">
            <a:schemeClr val="accent1"/>
          </a:effectRef>
          <a:fontRef idx="minor">
            <a:schemeClr val="tx1"/>
          </a:fontRef>
        </p:style>
      </p:cxnSp>
      <p:sp>
        <p:nvSpPr>
          <p:cNvPr id="61" name="Story text: Cybersecurity"/>
          <p:cNvSpPr txBox="1"/>
          <p:nvPr/>
        </p:nvSpPr>
        <p:spPr>
          <a:xfrm>
            <a:off x="8494776" y="6601968"/>
            <a:ext cx="3310128" cy="438912"/>
          </a:xfrm>
          <a:prstGeom prst="rect">
            <a:avLst/>
          </a:prstGeom>
          <a:noFill/>
        </p:spPr>
        <p:txBody>
          <a:bodyPr wrap="square" tIns="0" bIns="0" lIns="0" rIns="0" anchor="t">
            <a:noAutofit/>
          </a:bodyPr>
          <a:lstStyle/>
          <a:p>
            <a:pPr algn="l">
              <a:lnSpc>
                <a:spcPct val="106000"/>
              </a:lnSpc>
              <a:spcBef>
                <a:spcPts val="0"/>
              </a:spcBef>
              <a:spcAft>
                <a:spcPts val="0"/>
              </a:spcAft>
            </a:pPr>
            <a:r>
              <a:rPr sz="2100" b="0">
                <a:solidFill>
                  <a:srgbClr val="687075"/>
                </a:solidFill>
                <a:latin typeface="Poppins"/>
              </a:rPr>
              <a:t>AI systems</a:t>
            </a:r>
          </a:p>
        </p:txBody>
      </p:sp>
      <p:sp>
        <p:nvSpPr>
          <p:cNvPr id="62" name="Regulatory framework: DORA"/>
          <p:cNvSpPr/>
          <p:nvPr/>
        </p:nvSpPr>
        <p:spPr>
          <a:xfrm>
            <a:off x="12390120" y="5239512"/>
            <a:ext cx="3858768" cy="2103120"/>
          </a:xfrm>
          <a:prstGeom prst="roundRect">
            <a:avLst>
              <a:gd name="adj" fmla="val 7000"/>
            </a:avLst>
          </a:prstGeom>
          <a:solidFill>
            <a:srgbClr val="FAFA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Story text: DORA"/>
          <p:cNvSpPr txBox="1"/>
          <p:nvPr/>
        </p:nvSpPr>
        <p:spPr>
          <a:xfrm>
            <a:off x="12655296" y="5568696"/>
            <a:ext cx="3328416" cy="566928"/>
          </a:xfrm>
          <a:prstGeom prst="rect">
            <a:avLst/>
          </a:prstGeom>
          <a:noFill/>
        </p:spPr>
        <p:txBody>
          <a:bodyPr wrap="square" tIns="0" bIns="0" lIns="0" rIns="0" anchor="t">
            <a:noAutofit/>
          </a:bodyPr>
          <a:lstStyle/>
          <a:p>
            <a:pPr algn="l">
              <a:lnSpc>
                <a:spcPct val="106000"/>
              </a:lnSpc>
              <a:spcBef>
                <a:spcPts val="0"/>
              </a:spcBef>
              <a:spcAft>
                <a:spcPts val="0"/>
              </a:spcAft>
            </a:pPr>
            <a:r>
              <a:rPr sz="3200" b="1">
                <a:solidFill>
                  <a:srgbClr val="171717"/>
                </a:solidFill>
                <a:latin typeface="Poppins Bold"/>
              </a:rPr>
              <a:t>DORA</a:t>
            </a:r>
          </a:p>
        </p:txBody>
      </p:sp>
      <p:cxnSp>
        <p:nvCxnSpPr>
          <p:cNvPr id="64" name="Connector 63"/>
          <p:cNvCxnSpPr/>
          <p:nvPr/>
        </p:nvCxnSpPr>
        <p:spPr>
          <a:xfrm>
            <a:off x="12664440" y="6336792"/>
            <a:ext cx="3291840" cy="0"/>
          </a:xfrm>
          <a:prstGeom prst="line">
            <a:avLst/>
          </a:prstGeom>
          <a:ln w="15240">
            <a:solidFill>
              <a:srgbClr val="DCDFE0"/>
            </a:solidFill>
          </a:ln>
        </p:spPr>
        <p:style>
          <a:lnRef idx="2">
            <a:schemeClr val="accent1"/>
          </a:lnRef>
          <a:fillRef idx="0">
            <a:schemeClr val="accent1"/>
          </a:fillRef>
          <a:effectRef idx="0">
            <a:schemeClr val="accent1"/>
          </a:effectRef>
          <a:fontRef idx="minor">
            <a:schemeClr val="tx1"/>
          </a:fontRef>
        </p:style>
      </p:cxnSp>
      <p:sp>
        <p:nvSpPr>
          <p:cNvPr id="65" name="Story text: Operational resilience"/>
          <p:cNvSpPr txBox="1"/>
          <p:nvPr/>
        </p:nvSpPr>
        <p:spPr>
          <a:xfrm>
            <a:off x="12655296" y="6601968"/>
            <a:ext cx="3310128" cy="438912"/>
          </a:xfrm>
          <a:prstGeom prst="rect">
            <a:avLst/>
          </a:prstGeom>
          <a:noFill/>
        </p:spPr>
        <p:txBody>
          <a:bodyPr wrap="square" tIns="0" bIns="0" lIns="0" rIns="0" anchor="t">
            <a:noAutofit/>
          </a:bodyPr>
          <a:lstStyle/>
          <a:p>
            <a:pPr algn="l">
              <a:lnSpc>
                <a:spcPct val="106000"/>
              </a:lnSpc>
              <a:spcBef>
                <a:spcPts val="0"/>
              </a:spcBef>
              <a:spcAft>
                <a:spcPts val="0"/>
              </a:spcAft>
            </a:pPr>
            <a:r>
              <a:rPr sz="2100" b="0">
                <a:solidFill>
                  <a:srgbClr val="687075"/>
                </a:solidFill>
                <a:latin typeface="Poppins"/>
              </a:rPr>
              <a:t>Operational resilience</a:t>
            </a:r>
          </a:p>
        </p:txBody>
      </p:sp>
      <p:sp>
        <p:nvSpPr>
          <p:cNvPr id="66" name="Compact margin page number 03"/>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03</a:t>
            </a:r>
          </a:p>
        </p:txBody>
      </p:sp>
    </p:spTree>
  </p:cSld>
  <p:clrMapOvr>
    <a:masterClrMapping/>
  </p:clrMapOvr>
  <p:transition spd="slow">
    <p:push dir="d"/>
  </p:transition>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15" id="15"/>
          <p:cNvGrpSpPr/>
          <p:nvPr/>
        </p:nvGrpSpPr>
        <p:grpSpPr>
          <a:xfrm rot="0">
            <a:off x="4027427" y="1117625"/>
            <a:ext cx="10233146" cy="530810"/>
            <a:chOff x="0" y="0"/>
            <a:chExt cx="2988982" cy="155043"/>
          </a:xfrm>
        </p:grpSpPr>
        <p:sp>
          <p:nvSpPr>
            <p:cNvPr name="Freeform 16" id="16"/>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7" id="17"/>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3" id="33"/>
          <p:cNvGrpSpPr/>
          <p:nvPr/>
        </p:nvGrpSpPr>
        <p:grpSpPr>
          <a:xfrm rot="0">
            <a:off x="4100894" y="1190732"/>
            <a:ext cx="2511996" cy="384596"/>
            <a:chOff x="0" y="0"/>
            <a:chExt cx="3349328" cy="512795"/>
          </a:xfrm>
        </p:grpSpPr>
        <p:grpSp>
          <p:nvGrpSpPr>
            <p:cNvPr name="Group 34" id="34"/>
            <p:cNvGrpSpPr/>
            <p:nvPr/>
          </p:nvGrpSpPr>
          <p:grpSpPr>
            <a:xfrm rot="0">
              <a:off x="0" y="0"/>
              <a:ext cx="512795" cy="51279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6" id="36"/>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7" id="37"/>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TextBox 38" id="38"/>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39" name="Section navigation: About">
            <a:hlinkClick action="ppaction://hlinksldjump" r:id="rId5"/>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About</a:t>
            </a:r>
          </a:p>
        </p:txBody>
      </p:sp>
      <p:sp>
        <p:nvSpPr>
          <p:cNvPr id="40" name="Section navigation: Service (current)">
            <a:hlinkClick action="ppaction://hlinksldjump" r:id="rId6"/>
          </p:cNvPr>
          <p:cNvSpPr/>
          <p:nvPr/>
        </p:nvSpPr>
        <p:spPr>
          <a:xfrm>
            <a:off x="921258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FAFAFA"/>
                </a:solidFill>
                <a:latin typeface="Poppins"/>
              </a:rPr>
              <a:t>Service</a:t>
            </a:r>
          </a:p>
        </p:txBody>
      </p:sp>
      <p:sp>
        <p:nvSpPr>
          <p:cNvPr id="41" name="Section navigation: Team">
            <a:hlinkClick action="ppaction://hlinksldjump" r:id="rId7"/>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Team</a:t>
            </a:r>
          </a:p>
        </p:txBody>
      </p:sp>
      <p:sp>
        <p:nvSpPr>
          <p:cNvPr id="42" name="Section navigation: Conclusion">
            <a:hlinkClick action="ppaction://hlinksldjump" r:id="rId8"/>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Conclusion</a:t>
            </a:r>
          </a:p>
        </p:txBody>
      </p:sp>
      <p:sp>
        <p:nvSpPr>
          <p:cNvPr id="43" name="Solution section kicker"/>
          <p:cNvSpPr txBox="1"/>
          <p:nvPr/>
        </p:nvSpPr>
        <p:spPr>
          <a:xfrm>
            <a:off x="1078992" y="2286000"/>
            <a:ext cx="6858000" cy="301752"/>
          </a:xfrm>
          <a:prstGeom prst="rect">
            <a:avLst/>
          </a:prstGeom>
          <a:noFill/>
        </p:spPr>
        <p:txBody>
          <a:bodyPr wrap="none" lIns="0" rIns="0" tIns="0" bIns="0" anchor="ctr">
            <a:noAutofit/>
          </a:bodyPr>
          <a:lstStyle/>
          <a:p>
            <a:pPr algn="l">
              <a:spcBef>
                <a:spcPts val="0"/>
              </a:spcBef>
              <a:spcAft>
                <a:spcPts val="0"/>
              </a:spcAft>
            </a:pPr>
            <a:r>
              <a:rPr sz="1600" b="1">
                <a:solidFill>
                  <a:srgbClr val="497078"/>
                </a:solidFill>
                <a:latin typeface="Poppins Bold"/>
              </a:rPr>
              <a:t>THE SOLUTION</a:t>
            </a:r>
          </a:p>
        </p:txBody>
      </p:sp>
      <p:sp>
        <p:nvSpPr>
          <p:cNvPr id="44" name="Solution main headline"/>
          <p:cNvSpPr txBox="1"/>
          <p:nvPr/>
        </p:nvSpPr>
        <p:spPr>
          <a:xfrm>
            <a:off x="1033271" y="2798064"/>
            <a:ext cx="7772400" cy="2459736"/>
          </a:xfrm>
          <a:prstGeom prst="rect">
            <a:avLst/>
          </a:prstGeom>
          <a:noFill/>
        </p:spPr>
        <p:txBody>
          <a:bodyPr wrap="none" lIns="0" rIns="0" tIns="0" bIns="0" anchor="ctr">
            <a:noAutofit/>
          </a:bodyPr>
          <a:lstStyle/>
          <a:p>
            <a:pPr algn="l">
              <a:spcBef>
                <a:spcPts val="0"/>
              </a:spcBef>
              <a:spcAft>
                <a:spcPts val="0"/>
              </a:spcAft>
            </a:pPr>
            <a:r>
              <a:rPr sz="5200" b="1">
                <a:solidFill>
                  <a:srgbClr val="171717"/>
                </a:solidFill>
                <a:latin typeface="Poppins Bold"/>
              </a:rPr>
              <a:t>COMPLIANCE</a:t>
            </a:r>
          </a:p>
          <a:p>
            <a:pPr algn="l">
              <a:spcBef>
                <a:spcPts val="0"/>
              </a:spcBef>
              <a:spcAft>
                <a:spcPts val="0"/>
              </a:spcAft>
            </a:pPr>
            <a:r>
              <a:rPr sz="5200" b="1">
                <a:solidFill>
                  <a:srgbClr val="171717"/>
                </a:solidFill>
                <a:latin typeface="Poppins Bold"/>
              </a:rPr>
              <a:t>FROM THE</a:t>
            </a:r>
          </a:p>
          <a:p>
            <a:pPr algn="l">
              <a:spcBef>
                <a:spcPts val="0"/>
              </a:spcBef>
              <a:spcAft>
                <a:spcPts val="0"/>
              </a:spcAft>
            </a:pPr>
            <a:r>
              <a:rPr sz="5200" b="1">
                <a:solidFill>
                  <a:srgbClr val="171717"/>
                </a:solidFill>
                <a:latin typeface="Poppins Bold"/>
              </a:rPr>
              <a:t>INSIDE OUT.</a:t>
            </a:r>
          </a:p>
        </p:txBody>
      </p:sp>
      <p:sp>
        <p:nvSpPr>
          <p:cNvPr id="45" name="Solution clear value proposition"/>
          <p:cNvSpPr txBox="1"/>
          <p:nvPr/>
        </p:nvSpPr>
        <p:spPr>
          <a:xfrm>
            <a:off x="1069848" y="5394960"/>
            <a:ext cx="7927848" cy="594360"/>
          </a:xfrm>
          <a:prstGeom prst="rect">
            <a:avLst/>
          </a:prstGeom>
          <a:noFill/>
        </p:spPr>
        <p:txBody>
          <a:bodyPr wrap="none" lIns="0" rIns="0" tIns="0" bIns="0" anchor="ctr">
            <a:noAutofit/>
          </a:bodyPr>
          <a:lstStyle/>
          <a:p>
            <a:pPr algn="l">
              <a:spcBef>
                <a:spcPts val="0"/>
              </a:spcBef>
              <a:spcAft>
                <a:spcPts val="0"/>
              </a:spcAft>
            </a:pPr>
            <a:r>
              <a:rPr sz="2300" b="0">
                <a:solidFill>
                  <a:srgbClr val="697377"/>
                </a:solidFill>
                <a:latin typeface="Poppins"/>
              </a:rPr>
              <a:t>Real systems → verifiable evidence.</a:t>
            </a:r>
          </a:p>
        </p:txBody>
      </p:sp>
      <p:cxnSp>
        <p:nvCxnSpPr>
          <p:cNvPr id="46" name="Connector 45"/>
          <p:cNvCxnSpPr/>
          <p:nvPr/>
        </p:nvCxnSpPr>
        <p:spPr>
          <a:xfrm>
            <a:off x="1078992" y="6172200"/>
            <a:ext cx="7351776" cy="0"/>
          </a:xfrm>
          <a:prstGeom prst="line">
            <a:avLst/>
          </a:prstGeom>
          <a:ln w="10160">
            <a:solidFill>
              <a:srgbClr val="DCE0E0"/>
            </a:solidFill>
          </a:ln>
        </p:spPr>
        <p:style>
          <a:lnRef idx="2">
            <a:schemeClr val="accent1"/>
          </a:lnRef>
          <a:fillRef idx="0">
            <a:schemeClr val="accent1"/>
          </a:fillRef>
          <a:effectRef idx="1">
            <a:schemeClr val="accent1"/>
          </a:effectRef>
          <a:fontRef idx="minor">
            <a:schemeClr val="tx1"/>
          </a:fontRef>
        </p:style>
      </p:cxnSp>
      <p:sp>
        <p:nvSpPr>
          <p:cNvPr id="47" name="Solution feature: READ-ONLY"/>
          <p:cNvSpPr txBox="1"/>
          <p:nvPr/>
        </p:nvSpPr>
        <p:spPr>
          <a:xfrm>
            <a:off x="1097280" y="6263640"/>
            <a:ext cx="2944368" cy="329184"/>
          </a:xfrm>
          <a:prstGeom prst="rect">
            <a:avLst/>
          </a:prstGeom>
          <a:noFill/>
        </p:spPr>
        <p:txBody>
          <a:bodyPr wrap="none" lIns="0" rIns="0" tIns="0" bIns="0" anchor="ctr">
            <a:noAutofit/>
          </a:bodyPr>
          <a:lstStyle/>
          <a:p>
            <a:pPr algn="l">
              <a:spcBef>
                <a:spcPts val="0"/>
              </a:spcBef>
              <a:spcAft>
                <a:spcPts val="0"/>
              </a:spcAft>
            </a:pPr>
            <a:r>
              <a:rPr sz="1600" b="1">
                <a:solidFill>
                  <a:srgbClr val="171717"/>
                </a:solidFill>
                <a:latin typeface="Poppins Bold"/>
              </a:rPr>
              <a:t>READ-ONLY</a:t>
            </a:r>
          </a:p>
        </p:txBody>
      </p:sp>
      <p:sp>
        <p:nvSpPr>
          <p:cNvPr id="48" name="Solution detail: READ-ONLY"/>
          <p:cNvSpPr txBox="1"/>
          <p:nvPr/>
        </p:nvSpPr>
        <p:spPr>
          <a:xfrm>
            <a:off x="3968496" y="6263640"/>
            <a:ext cx="4407408" cy="329184"/>
          </a:xfrm>
          <a:prstGeom prst="rect">
            <a:avLst/>
          </a:prstGeom>
          <a:noFill/>
        </p:spPr>
        <p:txBody>
          <a:bodyPr wrap="none" lIns="0" rIns="0" tIns="0" bIns="0" anchor="ctr">
            <a:noAutofit/>
          </a:bodyPr>
          <a:lstStyle/>
          <a:p>
            <a:pPr algn="l">
              <a:spcBef>
                <a:spcPts val="0"/>
              </a:spcBef>
              <a:spcAft>
                <a:spcPts val="0"/>
              </a:spcAft>
            </a:pPr>
            <a:r>
              <a:rPr sz="1600" b="0">
                <a:solidFill>
                  <a:srgbClr val="697377"/>
                </a:solidFill>
                <a:latin typeface="Poppins"/>
              </a:rPr>
              <a:t>Connect to existing tools</a:t>
            </a:r>
          </a:p>
        </p:txBody>
      </p:sp>
      <p:cxnSp>
        <p:nvCxnSpPr>
          <p:cNvPr id="49" name="Connector 48"/>
          <p:cNvCxnSpPr/>
          <p:nvPr/>
        </p:nvCxnSpPr>
        <p:spPr>
          <a:xfrm>
            <a:off x="1078992" y="6803136"/>
            <a:ext cx="7351776" cy="0"/>
          </a:xfrm>
          <a:prstGeom prst="line">
            <a:avLst/>
          </a:prstGeom>
          <a:ln w="10160">
            <a:solidFill>
              <a:srgbClr val="DCE0E0"/>
            </a:solidFill>
          </a:ln>
        </p:spPr>
        <p:style>
          <a:lnRef idx="2">
            <a:schemeClr val="accent1"/>
          </a:lnRef>
          <a:fillRef idx="0">
            <a:schemeClr val="accent1"/>
          </a:fillRef>
          <a:effectRef idx="1">
            <a:schemeClr val="accent1"/>
          </a:effectRef>
          <a:fontRef idx="minor">
            <a:schemeClr val="tx1"/>
          </a:fontRef>
        </p:style>
      </p:cxnSp>
      <p:sp>
        <p:nvSpPr>
          <p:cNvPr id="50" name="Solution feature: EVIDENCE-FIRST"/>
          <p:cNvSpPr txBox="1"/>
          <p:nvPr/>
        </p:nvSpPr>
        <p:spPr>
          <a:xfrm>
            <a:off x="1097280" y="6894575"/>
            <a:ext cx="2944368" cy="329184"/>
          </a:xfrm>
          <a:prstGeom prst="rect">
            <a:avLst/>
          </a:prstGeom>
          <a:noFill/>
        </p:spPr>
        <p:txBody>
          <a:bodyPr wrap="none" lIns="0" rIns="0" tIns="0" bIns="0" anchor="ctr">
            <a:noAutofit/>
          </a:bodyPr>
          <a:lstStyle/>
          <a:p>
            <a:pPr algn="l">
              <a:spcBef>
                <a:spcPts val="0"/>
              </a:spcBef>
              <a:spcAft>
                <a:spcPts val="0"/>
              </a:spcAft>
            </a:pPr>
            <a:r>
              <a:rPr sz="1600" b="1">
                <a:solidFill>
                  <a:srgbClr val="171717"/>
                </a:solidFill>
                <a:latin typeface="Poppins Bold"/>
              </a:rPr>
              <a:t>EVIDENCE-FIRST</a:t>
            </a:r>
          </a:p>
        </p:txBody>
      </p:sp>
      <p:sp>
        <p:nvSpPr>
          <p:cNvPr id="51" name="Solution detail: EVIDENCE-FIRST"/>
          <p:cNvSpPr txBox="1"/>
          <p:nvPr/>
        </p:nvSpPr>
        <p:spPr>
          <a:xfrm>
            <a:off x="3968496" y="6894575"/>
            <a:ext cx="4407408" cy="329184"/>
          </a:xfrm>
          <a:prstGeom prst="rect">
            <a:avLst/>
          </a:prstGeom>
          <a:noFill/>
        </p:spPr>
        <p:txBody>
          <a:bodyPr wrap="none" lIns="0" rIns="0" tIns="0" bIns="0" anchor="ctr">
            <a:noAutofit/>
          </a:bodyPr>
          <a:lstStyle/>
          <a:p>
            <a:pPr algn="l">
              <a:spcBef>
                <a:spcPts val="0"/>
              </a:spcBef>
              <a:spcAft>
                <a:spcPts val="0"/>
              </a:spcAft>
            </a:pPr>
            <a:r>
              <a:rPr sz="1600" b="0">
                <a:solidFill>
                  <a:srgbClr val="697377"/>
                </a:solidFill>
                <a:latin typeface="Poppins"/>
              </a:rPr>
              <a:t>Prioritise real gaps</a:t>
            </a:r>
          </a:p>
        </p:txBody>
      </p:sp>
      <p:cxnSp>
        <p:nvCxnSpPr>
          <p:cNvPr id="52" name="Connector 51"/>
          <p:cNvCxnSpPr/>
          <p:nvPr/>
        </p:nvCxnSpPr>
        <p:spPr>
          <a:xfrm>
            <a:off x="1078992" y="7434072"/>
            <a:ext cx="7351776" cy="0"/>
          </a:xfrm>
          <a:prstGeom prst="line">
            <a:avLst/>
          </a:prstGeom>
          <a:ln w="10160">
            <a:solidFill>
              <a:srgbClr val="DCE0E0"/>
            </a:solidFill>
          </a:ln>
        </p:spPr>
        <p:style>
          <a:lnRef idx="2">
            <a:schemeClr val="accent1"/>
          </a:lnRef>
          <a:fillRef idx="0">
            <a:schemeClr val="accent1"/>
          </a:fillRef>
          <a:effectRef idx="1">
            <a:schemeClr val="accent1"/>
          </a:effectRef>
          <a:fontRef idx="minor">
            <a:schemeClr val="tx1"/>
          </a:fontRef>
        </p:style>
      </p:cxnSp>
      <p:sp>
        <p:nvSpPr>
          <p:cNvPr id="53" name="Solution feature: LAWYER-REVIEWED"/>
          <p:cNvSpPr txBox="1"/>
          <p:nvPr/>
        </p:nvSpPr>
        <p:spPr>
          <a:xfrm>
            <a:off x="1097280" y="7525512"/>
            <a:ext cx="2944368" cy="329184"/>
          </a:xfrm>
          <a:prstGeom prst="rect">
            <a:avLst/>
          </a:prstGeom>
          <a:noFill/>
        </p:spPr>
        <p:txBody>
          <a:bodyPr wrap="none" lIns="0" rIns="0" tIns="0" bIns="0" anchor="ctr">
            <a:noAutofit/>
          </a:bodyPr>
          <a:lstStyle/>
          <a:p>
            <a:pPr algn="l">
              <a:spcBef>
                <a:spcPts val="0"/>
              </a:spcBef>
              <a:spcAft>
                <a:spcPts val="0"/>
              </a:spcAft>
            </a:pPr>
            <a:r>
              <a:rPr sz="1600" b="1">
                <a:solidFill>
                  <a:srgbClr val="171717"/>
                </a:solidFill>
                <a:latin typeface="Poppins Bold"/>
              </a:rPr>
              <a:t>LAWYER-REVIEWED</a:t>
            </a:r>
          </a:p>
        </p:txBody>
      </p:sp>
      <p:sp>
        <p:nvSpPr>
          <p:cNvPr id="54" name="Solution detail: LAWYER-REVIEWED"/>
          <p:cNvSpPr txBox="1"/>
          <p:nvPr/>
        </p:nvSpPr>
        <p:spPr>
          <a:xfrm>
            <a:off x="3968496" y="7525512"/>
            <a:ext cx="4407408" cy="329184"/>
          </a:xfrm>
          <a:prstGeom prst="rect">
            <a:avLst/>
          </a:prstGeom>
          <a:noFill/>
        </p:spPr>
        <p:txBody>
          <a:bodyPr wrap="none" lIns="0" rIns="0" tIns="0" bIns="0" anchor="ctr">
            <a:noAutofit/>
          </a:bodyPr>
          <a:lstStyle/>
          <a:p>
            <a:pPr algn="l">
              <a:spcBef>
                <a:spcPts val="0"/>
              </a:spcBef>
              <a:spcAft>
                <a:spcPts val="0"/>
              </a:spcAft>
            </a:pPr>
            <a:r>
              <a:rPr sz="1600" b="0">
                <a:solidFill>
                  <a:srgbClr val="697377"/>
                </a:solidFill>
                <a:latin typeface="Poppins"/>
              </a:rPr>
              <a:t>Independent conclusions</a:t>
            </a:r>
          </a:p>
        </p:txBody>
      </p:sp>
      <p:sp>
        <p:nvSpPr>
          <p:cNvPr id="55" name="Conceptual real-systems-to-evidence diagram background"/>
          <p:cNvSpPr/>
          <p:nvPr/>
        </p:nvSpPr>
        <p:spPr>
          <a:xfrm>
            <a:off x="9281160" y="2212848"/>
            <a:ext cx="7936992" cy="6062472"/>
          </a:xfrm>
          <a:prstGeom prst="roundRect">
            <a:avLst>
              <a:gd name="adj" fmla="val 3500"/>
            </a:avLst>
          </a:prstGeom>
          <a:solidFill>
            <a:srgbClr val="1B2021"/>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Diagram eyebrow: source systems"/>
          <p:cNvSpPr txBox="1"/>
          <p:nvPr/>
        </p:nvSpPr>
        <p:spPr>
          <a:xfrm>
            <a:off x="9893808" y="2532888"/>
            <a:ext cx="4480560" cy="356616"/>
          </a:xfrm>
          <a:prstGeom prst="rect">
            <a:avLst/>
          </a:prstGeom>
          <a:noFill/>
        </p:spPr>
        <p:txBody>
          <a:bodyPr wrap="none" lIns="0" rIns="0" tIns="0" bIns="0" anchor="ctr">
            <a:noAutofit/>
          </a:bodyPr>
          <a:lstStyle/>
          <a:p>
            <a:pPr algn="l">
              <a:spcBef>
                <a:spcPts val="0"/>
              </a:spcBef>
              <a:spcAft>
                <a:spcPts val="0"/>
              </a:spcAft>
            </a:pPr>
            <a:r>
              <a:rPr sz="1600" b="1">
                <a:solidFill>
                  <a:srgbClr val="84AEB2"/>
                </a:solidFill>
                <a:latin typeface="Poppins Bold"/>
              </a:rPr>
              <a:t>FROM REAL SYSTEMS</a:t>
            </a:r>
          </a:p>
        </p:txBody>
      </p:sp>
      <p:sp>
        <p:nvSpPr>
          <p:cNvPr id="57" name="Diagram security principle"/>
          <p:cNvSpPr txBox="1"/>
          <p:nvPr/>
        </p:nvSpPr>
        <p:spPr>
          <a:xfrm>
            <a:off x="14438376" y="2560320"/>
            <a:ext cx="2185416" cy="301752"/>
          </a:xfrm>
          <a:prstGeom prst="rect">
            <a:avLst/>
          </a:prstGeom>
          <a:noFill/>
        </p:spPr>
        <p:txBody>
          <a:bodyPr wrap="none" lIns="0" rIns="0" tIns="0" bIns="0" anchor="ctr">
            <a:noAutofit/>
          </a:bodyPr>
          <a:lstStyle/>
          <a:p>
            <a:pPr algn="r">
              <a:spcBef>
                <a:spcPts val="0"/>
              </a:spcBef>
              <a:spcAft>
                <a:spcPts val="0"/>
              </a:spcAft>
            </a:pPr>
            <a:r>
              <a:rPr sz="1200" b="1">
                <a:solidFill>
                  <a:srgbClr val="CED6D6"/>
                </a:solidFill>
                <a:latin typeface="Poppins Bold"/>
              </a:rPr>
              <a:t>READ-ONLY ACCESS</a:t>
            </a:r>
          </a:p>
        </p:txBody>
      </p:sp>
      <p:sp>
        <p:nvSpPr>
          <p:cNvPr id="58" name="System source chip: REPOSITORIES"/>
          <p:cNvSpPr/>
          <p:nvPr/>
        </p:nvSpPr>
        <p:spPr>
          <a:xfrm>
            <a:off x="9930384" y="3264408"/>
            <a:ext cx="2048256" cy="914400"/>
          </a:xfrm>
          <a:prstGeom prst="roundRect">
            <a:avLst>
              <a:gd name="adj" fmla="val 15000"/>
            </a:avLst>
          </a:prstGeom>
          <a:solidFill>
            <a:srgbClr val="FAFA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System source: REPOSITORIES"/>
          <p:cNvSpPr txBox="1"/>
          <p:nvPr/>
        </p:nvSpPr>
        <p:spPr>
          <a:xfrm>
            <a:off x="9957816" y="3493008"/>
            <a:ext cx="1993392" cy="438912"/>
          </a:xfrm>
          <a:prstGeom prst="rect">
            <a:avLst/>
          </a:prstGeom>
          <a:noFill/>
        </p:spPr>
        <p:txBody>
          <a:bodyPr wrap="none" lIns="0" rIns="0" tIns="0" bIns="0" anchor="ctr">
            <a:noAutofit/>
          </a:bodyPr>
          <a:lstStyle/>
          <a:p>
            <a:pPr algn="ctr">
              <a:spcBef>
                <a:spcPts val="0"/>
              </a:spcBef>
              <a:spcAft>
                <a:spcPts val="0"/>
              </a:spcAft>
            </a:pPr>
            <a:r>
              <a:rPr sz="1600" b="1">
                <a:solidFill>
                  <a:srgbClr val="171717"/>
                </a:solidFill>
                <a:latin typeface="Poppins Bold"/>
              </a:rPr>
              <a:t>REPOSITORIES</a:t>
            </a:r>
          </a:p>
        </p:txBody>
      </p:sp>
      <p:sp>
        <p:nvSpPr>
          <p:cNvPr id="60" name="System source chip: CLOUD"/>
          <p:cNvSpPr/>
          <p:nvPr/>
        </p:nvSpPr>
        <p:spPr>
          <a:xfrm>
            <a:off x="12207240" y="3264408"/>
            <a:ext cx="2048256" cy="914400"/>
          </a:xfrm>
          <a:prstGeom prst="roundRect">
            <a:avLst>
              <a:gd name="adj" fmla="val 15000"/>
            </a:avLst>
          </a:prstGeom>
          <a:solidFill>
            <a:srgbClr val="FAFA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1" name="System source: CLOUD"/>
          <p:cNvSpPr txBox="1"/>
          <p:nvPr/>
        </p:nvSpPr>
        <p:spPr>
          <a:xfrm>
            <a:off x="12234672" y="3493008"/>
            <a:ext cx="1993392" cy="438912"/>
          </a:xfrm>
          <a:prstGeom prst="rect">
            <a:avLst/>
          </a:prstGeom>
          <a:noFill/>
        </p:spPr>
        <p:txBody>
          <a:bodyPr wrap="none" lIns="0" rIns="0" tIns="0" bIns="0" anchor="ctr">
            <a:noAutofit/>
          </a:bodyPr>
          <a:lstStyle/>
          <a:p>
            <a:pPr algn="ctr">
              <a:spcBef>
                <a:spcPts val="0"/>
              </a:spcBef>
              <a:spcAft>
                <a:spcPts val="0"/>
              </a:spcAft>
            </a:pPr>
            <a:r>
              <a:rPr sz="1600" b="1">
                <a:solidFill>
                  <a:srgbClr val="171717"/>
                </a:solidFill>
                <a:latin typeface="Poppins Bold"/>
              </a:rPr>
              <a:t>CLOUD</a:t>
            </a:r>
          </a:p>
        </p:txBody>
      </p:sp>
      <p:sp>
        <p:nvSpPr>
          <p:cNvPr id="62" name="System source chip: HR / CRM"/>
          <p:cNvSpPr/>
          <p:nvPr/>
        </p:nvSpPr>
        <p:spPr>
          <a:xfrm>
            <a:off x="14484096" y="3264408"/>
            <a:ext cx="2048256" cy="914400"/>
          </a:xfrm>
          <a:prstGeom prst="roundRect">
            <a:avLst>
              <a:gd name="adj" fmla="val 15000"/>
            </a:avLst>
          </a:prstGeom>
          <a:solidFill>
            <a:srgbClr val="FAFA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System source: HR / CRM"/>
          <p:cNvSpPr txBox="1"/>
          <p:nvPr/>
        </p:nvSpPr>
        <p:spPr>
          <a:xfrm>
            <a:off x="14511528" y="3493008"/>
            <a:ext cx="1993392" cy="438912"/>
          </a:xfrm>
          <a:prstGeom prst="rect">
            <a:avLst/>
          </a:prstGeom>
          <a:noFill/>
        </p:spPr>
        <p:txBody>
          <a:bodyPr wrap="none" lIns="0" rIns="0" tIns="0" bIns="0" anchor="ctr">
            <a:noAutofit/>
          </a:bodyPr>
          <a:lstStyle/>
          <a:p>
            <a:pPr algn="ctr">
              <a:spcBef>
                <a:spcPts val="0"/>
              </a:spcBef>
              <a:spcAft>
                <a:spcPts val="0"/>
              </a:spcAft>
            </a:pPr>
            <a:r>
              <a:rPr sz="1600" b="1">
                <a:solidFill>
                  <a:srgbClr val="171717"/>
                </a:solidFill>
                <a:latin typeface="Poppins Bold"/>
              </a:rPr>
              <a:t>HR / CRM</a:t>
            </a:r>
          </a:p>
        </p:txBody>
      </p:sp>
      <p:cxnSp>
        <p:nvCxnSpPr>
          <p:cNvPr id="64" name="Connector 63"/>
          <p:cNvCxnSpPr/>
          <p:nvPr/>
        </p:nvCxnSpPr>
        <p:spPr>
          <a:xfrm>
            <a:off x="10954512" y="4187952"/>
            <a:ext cx="2276856" cy="630936"/>
          </a:xfrm>
          <a:prstGeom prst="line">
            <a:avLst/>
          </a:prstGeom>
          <a:ln w="25400">
            <a:solidFill>
              <a:srgbClr val="84AEB2"/>
            </a:solidFill>
          </a:ln>
        </p:spPr>
        <p:style>
          <a:lnRef idx="2">
            <a:schemeClr val="accent1"/>
          </a:lnRef>
          <a:fillRef idx="0">
            <a:schemeClr val="accent1"/>
          </a:fillRef>
          <a:effectRef idx="0">
            <a:schemeClr val="accent1"/>
          </a:effectRef>
          <a:fontRef idx="minor">
            <a:schemeClr val="tx1"/>
          </a:fontRef>
        </p:style>
      </p:cxnSp>
      <p:cxnSp>
        <p:nvCxnSpPr>
          <p:cNvPr id="65" name="Connector 64"/>
          <p:cNvCxnSpPr/>
          <p:nvPr/>
        </p:nvCxnSpPr>
        <p:spPr>
          <a:xfrm>
            <a:off x="13231368" y="4187952"/>
            <a:ext cx="0" cy="630936"/>
          </a:xfrm>
          <a:prstGeom prst="line">
            <a:avLst/>
          </a:prstGeom>
          <a:ln w="25400">
            <a:solidFill>
              <a:srgbClr val="84AEB2"/>
            </a:solidFill>
          </a:ln>
        </p:spPr>
        <p:style>
          <a:lnRef idx="2">
            <a:schemeClr val="accent1"/>
          </a:lnRef>
          <a:fillRef idx="0">
            <a:schemeClr val="accent1"/>
          </a:fillRef>
          <a:effectRef idx="0">
            <a:schemeClr val="accent1"/>
          </a:effectRef>
          <a:fontRef idx="minor">
            <a:schemeClr val="tx1"/>
          </a:fontRef>
        </p:style>
      </p:cxnSp>
      <p:cxnSp>
        <p:nvCxnSpPr>
          <p:cNvPr id="66" name="Connector 65"/>
          <p:cNvCxnSpPr/>
          <p:nvPr/>
        </p:nvCxnSpPr>
        <p:spPr>
          <a:xfrm flipH="1">
            <a:off x="13231368" y="4187952"/>
            <a:ext cx="2276856" cy="630936"/>
          </a:xfrm>
          <a:prstGeom prst="line">
            <a:avLst/>
          </a:prstGeom>
          <a:ln w="25400">
            <a:solidFill>
              <a:srgbClr val="84AEB2"/>
            </a:solidFill>
          </a:ln>
        </p:spPr>
        <p:style>
          <a:lnRef idx="2">
            <a:schemeClr val="accent1"/>
          </a:lnRef>
          <a:fillRef idx="0">
            <a:schemeClr val="accent1"/>
          </a:fillRef>
          <a:effectRef idx="0">
            <a:schemeClr val="accent1"/>
          </a:effectRef>
          <a:fontRef idx="minor">
            <a:schemeClr val="tx1"/>
          </a:fontRef>
        </p:style>
      </p:cxnSp>
      <p:sp>
        <p:nvSpPr>
          <p:cNvPr id="67" name="Oval 66"/>
          <p:cNvSpPr/>
          <p:nvPr/>
        </p:nvSpPr>
        <p:spPr>
          <a:xfrm>
            <a:off x="10904220" y="4146804"/>
            <a:ext cx="100584" cy="100584"/>
          </a:xfrm>
          <a:prstGeom prst="ellipse">
            <a:avLst/>
          </a:prstGeom>
          <a:solidFill>
            <a:srgbClr val="84AEB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8" name="Oval 67"/>
          <p:cNvSpPr/>
          <p:nvPr/>
        </p:nvSpPr>
        <p:spPr>
          <a:xfrm>
            <a:off x="13181076" y="4146804"/>
            <a:ext cx="100584" cy="100584"/>
          </a:xfrm>
          <a:prstGeom prst="ellipse">
            <a:avLst/>
          </a:prstGeom>
          <a:solidFill>
            <a:srgbClr val="84AEB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Oval 68"/>
          <p:cNvSpPr/>
          <p:nvPr/>
        </p:nvSpPr>
        <p:spPr>
          <a:xfrm>
            <a:off x="15457932" y="4146804"/>
            <a:ext cx="100584" cy="100584"/>
          </a:xfrm>
          <a:prstGeom prst="ellipse">
            <a:avLst/>
          </a:prstGeom>
          <a:solidFill>
            <a:srgbClr val="84AEB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0" name="Regulift system evidence hub"/>
          <p:cNvSpPr/>
          <p:nvPr/>
        </p:nvSpPr>
        <p:spPr>
          <a:xfrm>
            <a:off x="12070080" y="4718304"/>
            <a:ext cx="2322576" cy="1033271"/>
          </a:xfrm>
          <a:prstGeom prst="roundRect">
            <a:avLst>
              <a:gd name="adj" fmla="val 23000"/>
            </a:avLst>
          </a:prstGeom>
          <a:solidFill>
            <a:srgbClr val="49707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egulift hub name"/>
          <p:cNvSpPr txBox="1"/>
          <p:nvPr/>
        </p:nvSpPr>
        <p:spPr>
          <a:xfrm>
            <a:off x="12188952" y="5001768"/>
            <a:ext cx="2084831" cy="438912"/>
          </a:xfrm>
          <a:prstGeom prst="rect">
            <a:avLst/>
          </a:prstGeom>
          <a:noFill/>
        </p:spPr>
        <p:txBody>
          <a:bodyPr wrap="none" lIns="0" rIns="0" tIns="0" bIns="0" anchor="ctr">
            <a:noAutofit/>
          </a:bodyPr>
          <a:lstStyle/>
          <a:p>
            <a:pPr algn="ctr">
              <a:spcBef>
                <a:spcPts val="0"/>
              </a:spcBef>
              <a:spcAft>
                <a:spcPts val="0"/>
              </a:spcAft>
            </a:pPr>
            <a:r>
              <a:rPr sz="2300" b="1">
                <a:solidFill>
                  <a:srgbClr val="FAFAFA"/>
                </a:solidFill>
                <a:latin typeface="Poppins Bold"/>
              </a:rPr>
              <a:t>REGULIFT</a:t>
            </a:r>
          </a:p>
        </p:txBody>
      </p:sp>
      <p:cxnSp>
        <p:nvCxnSpPr>
          <p:cNvPr id="72" name="Connector 71"/>
          <p:cNvCxnSpPr/>
          <p:nvPr/>
        </p:nvCxnSpPr>
        <p:spPr>
          <a:xfrm>
            <a:off x="13231368" y="5751576"/>
            <a:ext cx="0" cy="822960"/>
          </a:xfrm>
          <a:prstGeom prst="line">
            <a:avLst/>
          </a:prstGeom>
          <a:ln w="27940">
            <a:solidFill>
              <a:srgbClr val="84AEB2"/>
            </a:solidFill>
          </a:ln>
        </p:spPr>
        <p:style>
          <a:lnRef idx="2">
            <a:schemeClr val="accent1"/>
          </a:lnRef>
          <a:fillRef idx="0">
            <a:schemeClr val="accent1"/>
          </a:fillRef>
          <a:effectRef idx="0">
            <a:schemeClr val="accent1"/>
          </a:effectRef>
          <a:fontRef idx="minor">
            <a:schemeClr val="tx1"/>
          </a:fontRef>
        </p:style>
      </p:cxnSp>
      <p:sp>
        <p:nvSpPr>
          <p:cNvPr id="73" name="Oval 72"/>
          <p:cNvSpPr/>
          <p:nvPr/>
        </p:nvSpPr>
        <p:spPr>
          <a:xfrm>
            <a:off x="13181076" y="6373368"/>
            <a:ext cx="100584" cy="100584"/>
          </a:xfrm>
          <a:prstGeom prst="ellipse">
            <a:avLst/>
          </a:prstGeom>
          <a:solidFill>
            <a:srgbClr val="84AEB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4" name="Conceptual output: verifiable evidence"/>
          <p:cNvSpPr/>
          <p:nvPr/>
        </p:nvSpPr>
        <p:spPr>
          <a:xfrm>
            <a:off x="10067544" y="6611112"/>
            <a:ext cx="6327648" cy="1097280"/>
          </a:xfrm>
          <a:prstGeom prst="roundRect">
            <a:avLst>
              <a:gd name="adj" fmla="val 15000"/>
            </a:avLst>
          </a:prstGeom>
          <a:solidFill>
            <a:srgbClr val="FAFA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Oval 74"/>
          <p:cNvSpPr/>
          <p:nvPr/>
        </p:nvSpPr>
        <p:spPr>
          <a:xfrm>
            <a:off x="10314432" y="6912864"/>
            <a:ext cx="466344" cy="466344"/>
          </a:xfrm>
          <a:prstGeom prst="ellipse">
            <a:avLst/>
          </a:prstGeom>
          <a:solidFill>
            <a:srgbClr val="497078"/>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Verification checkmark"/>
          <p:cNvSpPr txBox="1"/>
          <p:nvPr/>
        </p:nvSpPr>
        <p:spPr>
          <a:xfrm>
            <a:off x="10360152" y="6976872"/>
            <a:ext cx="374904" cy="320040"/>
          </a:xfrm>
          <a:prstGeom prst="rect">
            <a:avLst/>
          </a:prstGeom>
          <a:noFill/>
        </p:spPr>
        <p:txBody>
          <a:bodyPr wrap="none" lIns="0" rIns="0" tIns="0" bIns="0" anchor="ctr">
            <a:noAutofit/>
          </a:bodyPr>
          <a:lstStyle/>
          <a:p>
            <a:pPr algn="ctr">
              <a:spcBef>
                <a:spcPts val="0"/>
              </a:spcBef>
              <a:spcAft>
                <a:spcPts val="0"/>
              </a:spcAft>
            </a:pPr>
            <a:r>
              <a:rPr sz="2000" b="1">
                <a:solidFill>
                  <a:srgbClr val="FAFAFA"/>
                </a:solidFill>
                <a:latin typeface="Poppins Bold"/>
              </a:rPr>
              <a:t>✓</a:t>
            </a:r>
          </a:p>
        </p:txBody>
      </p:sp>
      <p:sp>
        <p:nvSpPr>
          <p:cNvPr id="77" name="Evidence pack output label"/>
          <p:cNvSpPr txBox="1"/>
          <p:nvPr/>
        </p:nvSpPr>
        <p:spPr>
          <a:xfrm>
            <a:off x="11009376" y="6766560"/>
            <a:ext cx="5084064" cy="393192"/>
          </a:xfrm>
          <a:prstGeom prst="rect">
            <a:avLst/>
          </a:prstGeom>
          <a:noFill/>
        </p:spPr>
        <p:txBody>
          <a:bodyPr wrap="none" lIns="0" rIns="0" tIns="0" bIns="0" anchor="ctr">
            <a:noAutofit/>
          </a:bodyPr>
          <a:lstStyle/>
          <a:p>
            <a:pPr algn="l">
              <a:spcBef>
                <a:spcPts val="0"/>
              </a:spcBef>
              <a:spcAft>
                <a:spcPts val="0"/>
              </a:spcAft>
            </a:pPr>
            <a:r>
              <a:rPr sz="2000" b="1">
                <a:solidFill>
                  <a:srgbClr val="171717"/>
                </a:solidFill>
                <a:latin typeface="Poppins Bold"/>
              </a:rPr>
              <a:t>VERIFIABLE EVIDENCE</a:t>
            </a:r>
          </a:p>
        </p:txBody>
      </p:sp>
      <p:sp>
        <p:nvSpPr>
          <p:cNvPr id="78" name="Evidence pack legal review context"/>
          <p:cNvSpPr txBox="1"/>
          <p:nvPr/>
        </p:nvSpPr>
        <p:spPr>
          <a:xfrm>
            <a:off x="11009376" y="7205472"/>
            <a:ext cx="4965192" cy="301752"/>
          </a:xfrm>
          <a:prstGeom prst="rect">
            <a:avLst/>
          </a:prstGeom>
          <a:noFill/>
        </p:spPr>
        <p:txBody>
          <a:bodyPr wrap="none" lIns="0" rIns="0" tIns="0" bIns="0" anchor="ctr">
            <a:noAutofit/>
          </a:bodyPr>
          <a:lstStyle/>
          <a:p>
            <a:pPr algn="l">
              <a:spcBef>
                <a:spcPts val="0"/>
              </a:spcBef>
              <a:spcAft>
                <a:spcPts val="0"/>
              </a:spcAft>
            </a:pPr>
            <a:r>
              <a:rPr sz="1400" b="0">
                <a:solidFill>
                  <a:srgbClr val="697377"/>
                </a:solidFill>
                <a:latin typeface="Poppins"/>
              </a:rPr>
              <a:t>Ready for independent legal review</a:t>
            </a:r>
          </a:p>
        </p:txBody>
      </p:sp>
      <p:sp>
        <p:nvSpPr>
          <p:cNvPr id="79" name="Compact margin page number 04"/>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04</a:t>
            </a:r>
          </a:p>
        </p:txBody>
      </p:sp>
    </p:spTree>
  </p:cSld>
  <p:clrMapOvr>
    <a:masterClrMapping/>
  </p:clrMapOvr>
  <p:transition spd="slow">
    <p:push dir="r"/>
  </p:transition>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18" id="18"/>
          <p:cNvGrpSpPr/>
          <p:nvPr/>
        </p:nvGrpSpPr>
        <p:grpSpPr>
          <a:xfrm rot="0">
            <a:off x="4027427" y="1117625"/>
            <a:ext cx="10233146" cy="530810"/>
            <a:chOff x="0" y="0"/>
            <a:chExt cx="2988982" cy="155043"/>
          </a:xfrm>
        </p:grpSpPr>
        <p:sp>
          <p:nvSpPr>
            <p:cNvPr name="Freeform 19" id="19"/>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20" id="20"/>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6" id="36"/>
          <p:cNvGrpSpPr/>
          <p:nvPr/>
        </p:nvGrpSpPr>
        <p:grpSpPr>
          <a:xfrm rot="0">
            <a:off x="4100894" y="1190732"/>
            <a:ext cx="2511996" cy="384596"/>
            <a:chOff x="0" y="0"/>
            <a:chExt cx="3349328" cy="512795"/>
          </a:xfrm>
        </p:grpSpPr>
        <p:grpSp>
          <p:nvGrpSpPr>
            <p:cNvPr name="Group 37" id="37"/>
            <p:cNvGrpSpPr/>
            <p:nvPr/>
          </p:nvGrpSpPr>
          <p:grpSpPr>
            <a:xfrm rot="0">
              <a:off x="0" y="0"/>
              <a:ext cx="512795" cy="512795"/>
              <a:chOff x="0" y="0"/>
              <a:chExt cx="812800" cy="812800"/>
            </a:xfrm>
          </p:grpSpPr>
          <p:sp>
            <p:nvSpPr>
              <p:cNvPr name="Freeform 38" id="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9" id="39"/>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40" id="40"/>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TextBox 41" id="41"/>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42" name="Section navigation: About">
            <a:hlinkClick action="ppaction://hlinksldjump" r:id="rId5"/>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About</a:t>
            </a:r>
          </a:p>
        </p:txBody>
      </p:sp>
      <p:sp>
        <p:nvSpPr>
          <p:cNvPr id="43" name="Section navigation: Service (current)">
            <a:hlinkClick action="ppaction://hlinksldjump" r:id="rId6"/>
          </p:cNvPr>
          <p:cNvSpPr/>
          <p:nvPr/>
        </p:nvSpPr>
        <p:spPr>
          <a:xfrm>
            <a:off x="921258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FAFAFA"/>
                </a:solidFill>
                <a:latin typeface="Poppins"/>
              </a:rPr>
              <a:t>Service</a:t>
            </a:r>
          </a:p>
        </p:txBody>
      </p:sp>
      <p:sp>
        <p:nvSpPr>
          <p:cNvPr id="44" name="Section navigation: Team">
            <a:hlinkClick action="ppaction://hlinksldjump" r:id="rId7"/>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Team</a:t>
            </a:r>
          </a:p>
        </p:txBody>
      </p:sp>
      <p:sp>
        <p:nvSpPr>
          <p:cNvPr id="45" name="Section navigation: Conclusion">
            <a:hlinkClick action="ppaction://hlinksldjump" r:id="rId8"/>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Conclusion</a:t>
            </a:r>
          </a:p>
        </p:txBody>
      </p:sp>
      <p:sp>
        <p:nvSpPr>
          <p:cNvPr id="46" name="Story text: HOW IT WORKS"/>
          <p:cNvSpPr txBox="1"/>
          <p:nvPr/>
        </p:nvSpPr>
        <p:spPr>
          <a:xfrm>
            <a:off x="1115568" y="1883664"/>
            <a:ext cx="14630400" cy="329184"/>
          </a:xfrm>
          <a:prstGeom prst="rect">
            <a:avLst/>
          </a:prstGeom>
          <a:noFill/>
        </p:spPr>
        <p:txBody>
          <a:bodyPr wrap="square" tIns="0" bIns="0" lIns="0" rIns="0" anchor="t">
            <a:noAutofit/>
          </a:bodyPr>
          <a:lstStyle/>
          <a:p>
            <a:pPr algn="l">
              <a:lnSpc>
                <a:spcPct val="106000"/>
              </a:lnSpc>
              <a:spcBef>
                <a:spcPts val="0"/>
              </a:spcBef>
              <a:spcAft>
                <a:spcPts val="0"/>
              </a:spcAft>
            </a:pPr>
            <a:r>
              <a:rPr sz="1600" b="1">
                <a:solidFill>
                  <a:srgbClr val="497078"/>
                </a:solidFill>
                <a:latin typeface="Poppins Bold"/>
              </a:rPr>
              <a:t>HOW IT WORKS</a:t>
            </a:r>
          </a:p>
        </p:txBody>
      </p:sp>
      <p:sp>
        <p:nvSpPr>
          <p:cNvPr id="47" name="Story text: THREE STEPS. ONE WORKFLOW."/>
          <p:cNvSpPr txBox="1"/>
          <p:nvPr/>
        </p:nvSpPr>
        <p:spPr>
          <a:xfrm>
            <a:off x="1097280" y="2258568"/>
            <a:ext cx="16093440" cy="630936"/>
          </a:xfrm>
          <a:prstGeom prst="rect">
            <a:avLst/>
          </a:prstGeom>
          <a:noFill/>
        </p:spPr>
        <p:txBody>
          <a:bodyPr wrap="square" tIns="0" bIns="0" lIns="0" rIns="0" anchor="t">
            <a:noAutofit/>
          </a:bodyPr>
          <a:lstStyle/>
          <a:p>
            <a:pPr algn="ctr">
              <a:lnSpc>
                <a:spcPct val="106000"/>
              </a:lnSpc>
              <a:spcBef>
                <a:spcPts val="0"/>
              </a:spcBef>
              <a:spcAft>
                <a:spcPts val="0"/>
              </a:spcAft>
            </a:pPr>
            <a:r>
              <a:rPr sz="4600" b="1">
                <a:solidFill>
                  <a:srgbClr val="171717"/>
                </a:solidFill>
                <a:latin typeface="Poppins Bold"/>
              </a:rPr>
              <a:t>FROM CONNECTION TO ACTION.</a:t>
            </a:r>
          </a:p>
        </p:txBody>
      </p:sp>
      <p:sp>
        <p:nvSpPr>
          <p:cNvPr id="48" name="Story text: From real company context to indepe"/>
          <p:cNvSpPr txBox="1"/>
          <p:nvPr/>
        </p:nvSpPr>
        <p:spPr>
          <a:xfrm>
            <a:off x="1417320" y="2862072"/>
            <a:ext cx="15453359" cy="374904"/>
          </a:xfrm>
          <a:prstGeom prst="rect">
            <a:avLst/>
          </a:prstGeom>
          <a:noFill/>
        </p:spPr>
        <p:txBody>
          <a:bodyPr wrap="square" tIns="0" bIns="0" lIns="0" rIns="0" anchor="t">
            <a:noAutofit/>
          </a:bodyPr>
          <a:lstStyle/>
          <a:p>
            <a:pPr algn="ctr">
              <a:lnSpc>
                <a:spcPct val="106000"/>
              </a:lnSpc>
              <a:spcBef>
                <a:spcPts val="0"/>
              </a:spcBef>
              <a:spcAft>
                <a:spcPts val="0"/>
              </a:spcAft>
            </a:pPr>
            <a:r>
              <a:rPr sz="1900" b="0">
                <a:solidFill>
                  <a:srgbClr val="687075"/>
                </a:solidFill>
                <a:latin typeface="Poppins"/>
              </a:rPr>
              <a:t>Company-controlled approval. Evidence-based advice. A clear path to remediation.</a:t>
            </a:r>
          </a:p>
        </p:txBody>
      </p:sp>
      <p:pic>
        <p:nvPicPr>
          <p:cNvPr id="62" name="Regulift detailed product workflow (customer-supplied)" descr="regulift_workflow_cropped.png"/>
          <p:cNvPicPr>
            <a:picLocks noChangeAspect="1"/>
          </p:cNvPicPr>
          <p:nvPr/>
        </p:nvPicPr>
        <p:blipFill>
          <a:blip r:embed="rId9"/>
          <a:stretch>
            <a:fillRect/>
          </a:stretch>
        </p:blipFill>
        <p:spPr>
          <a:xfrm>
            <a:off x="1143000" y="3273552"/>
            <a:ext cx="16002000" cy="6390060"/>
          </a:xfrm>
          <a:prstGeom prst="rect">
            <a:avLst/>
          </a:prstGeom>
        </p:spPr>
      </p:pic>
      <p:sp>
        <p:nvSpPr>
          <p:cNvPr id="61" name="Compact margin page number 05"/>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05</a:t>
            </a:r>
          </a:p>
        </p:txBody>
      </p:sp>
    </p:spTree>
  </p:cSld>
  <p:clrMapOvr>
    <a:masterClrMapping/>
  </p:clrMapOvr>
  <p:transition spd="slow">
    <p:push dir="u"/>
  </p:transition>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grpSp>
        <p:nvGrpSpPr>
          <p:cNvPr name="Group 15" id="15"/>
          <p:cNvGrpSpPr/>
          <p:nvPr/>
        </p:nvGrpSpPr>
        <p:grpSpPr>
          <a:xfrm rot="0">
            <a:off x="4027427" y="1117625"/>
            <a:ext cx="10233146" cy="530810"/>
            <a:chOff x="0" y="0"/>
            <a:chExt cx="2988982" cy="155043"/>
          </a:xfrm>
        </p:grpSpPr>
        <p:sp>
          <p:nvSpPr>
            <p:cNvPr name="Freeform 16" id="16"/>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7" id="17"/>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3" id="33"/>
          <p:cNvGrpSpPr/>
          <p:nvPr/>
        </p:nvGrpSpPr>
        <p:grpSpPr>
          <a:xfrm rot="0">
            <a:off x="4100894" y="1190732"/>
            <a:ext cx="2511996" cy="384596"/>
            <a:chOff x="0" y="0"/>
            <a:chExt cx="3349328" cy="512795"/>
          </a:xfrm>
        </p:grpSpPr>
        <p:grpSp>
          <p:nvGrpSpPr>
            <p:cNvPr name="Group 34" id="34"/>
            <p:cNvGrpSpPr/>
            <p:nvPr/>
          </p:nvGrpSpPr>
          <p:grpSpPr>
            <a:xfrm rot="0">
              <a:off x="0" y="0"/>
              <a:ext cx="512795" cy="51279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6" id="36"/>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7" id="37"/>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8" id="38"/>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39" name="Section navigation: About">
            <a:hlinkClick action="ppaction://hlinksldjump" r:id="rId4"/>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About</a:t>
            </a:r>
          </a:p>
        </p:txBody>
      </p:sp>
      <p:sp>
        <p:nvSpPr>
          <p:cNvPr id="40" name="Section navigation: Service (current)">
            <a:hlinkClick action="ppaction://hlinksldjump" r:id="rId5"/>
          </p:cNvPr>
          <p:cNvSpPr/>
          <p:nvPr/>
        </p:nvSpPr>
        <p:spPr>
          <a:xfrm>
            <a:off x="921258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FAFAFA"/>
                </a:solidFill>
                <a:latin typeface="Poppins"/>
              </a:rPr>
              <a:t>Service</a:t>
            </a:r>
          </a:p>
        </p:txBody>
      </p:sp>
      <p:sp>
        <p:nvSpPr>
          <p:cNvPr id="41" name="Section navigation: Team">
            <a:hlinkClick action="ppaction://hlinksldjump" r:id="rId6"/>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Team</a:t>
            </a:r>
          </a:p>
        </p:txBody>
      </p:sp>
      <p:sp>
        <p:nvSpPr>
          <p:cNvPr id="42" name="Section navigation: Conclusion">
            <a:hlinkClick action="ppaction://hlinksldjump" r:id="rId7"/>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Conclusion</a:t>
            </a:r>
          </a:p>
        </p:txBody>
      </p:sp>
      <p:sp>
        <p:nvSpPr>
          <p:cNvPr id="43" name="Story text: DATA PROTECTION"/>
          <p:cNvSpPr txBox="1"/>
          <p:nvPr/>
        </p:nvSpPr>
        <p:spPr>
          <a:xfrm>
            <a:off x="1115568" y="1901952"/>
            <a:ext cx="10972800" cy="301752"/>
          </a:xfrm>
          <a:prstGeom prst="rect">
            <a:avLst/>
          </a:prstGeom>
          <a:noFill/>
        </p:spPr>
        <p:txBody>
          <a:bodyPr wrap="square" tIns="0" bIns="0" lIns="0" rIns="0" anchor="t">
            <a:noAutofit/>
          </a:bodyPr>
          <a:lstStyle/>
          <a:p>
            <a:pPr algn="l">
              <a:lnSpc>
                <a:spcPct val="106000"/>
              </a:lnSpc>
              <a:spcBef>
                <a:spcPts val="0"/>
              </a:spcBef>
              <a:spcAft>
                <a:spcPts val="0"/>
              </a:spcAft>
            </a:pPr>
            <a:r>
              <a:rPr sz="1600" b="1">
                <a:solidFill>
                  <a:srgbClr val="497078"/>
                </a:solidFill>
                <a:latin typeface="Poppins Bold"/>
              </a:rPr>
              <a:t>DATA PROTECTION</a:t>
            </a:r>
          </a:p>
        </p:txBody>
      </p:sp>
      <p:sp>
        <p:nvSpPr>
          <p:cNvPr id="44" name="Story text: YOUR DATA STAYS. CONTEXT MOVES."/>
          <p:cNvSpPr txBox="1"/>
          <p:nvPr/>
        </p:nvSpPr>
        <p:spPr>
          <a:xfrm>
            <a:off x="1088136" y="2496312"/>
            <a:ext cx="16276320" cy="1024128"/>
          </a:xfrm>
          <a:prstGeom prst="rect">
            <a:avLst/>
          </a:prstGeom>
          <a:noFill/>
        </p:spPr>
        <p:txBody>
          <a:bodyPr wrap="square" tIns="0" bIns="0" lIns="0" rIns="0" anchor="t">
            <a:noAutofit/>
          </a:bodyPr>
          <a:lstStyle/>
          <a:p>
            <a:pPr algn="l">
              <a:lnSpc>
                <a:spcPct val="106000"/>
              </a:lnSpc>
              <a:spcBef>
                <a:spcPts val="0"/>
              </a:spcBef>
              <a:spcAft>
                <a:spcPts val="0"/>
              </a:spcAft>
            </a:pPr>
            <a:r>
              <a:rPr sz="5800" b="1">
                <a:solidFill>
                  <a:srgbClr val="171717"/>
                </a:solidFill>
                <a:latin typeface="Poppins Bold"/>
              </a:rPr>
              <a:t>YOUR DATA STAYS. CONTEXT MOVES.</a:t>
            </a:r>
          </a:p>
        </p:txBody>
      </p:sp>
      <p:sp>
        <p:nvSpPr>
          <p:cNvPr id="45" name="Story text: Nothing leaves before your represen"/>
          <p:cNvSpPr txBox="1"/>
          <p:nvPr/>
        </p:nvSpPr>
        <p:spPr>
          <a:xfrm>
            <a:off x="1106424" y="3767328"/>
            <a:ext cx="16047720" cy="502920"/>
          </a:xfrm>
          <a:prstGeom prst="rect">
            <a:avLst/>
          </a:prstGeom>
          <a:noFill/>
        </p:spPr>
        <p:txBody>
          <a:bodyPr wrap="square" tIns="0" bIns="0" lIns="0" rIns="0" anchor="t">
            <a:noAutofit/>
          </a:bodyPr>
          <a:lstStyle/>
          <a:p>
            <a:pPr algn="l">
              <a:lnSpc>
                <a:spcPct val="106000"/>
              </a:lnSpc>
              <a:spcBef>
                <a:spcPts val="0"/>
              </a:spcBef>
              <a:spcAft>
                <a:spcPts val="0"/>
              </a:spcAft>
            </a:pPr>
            <a:r>
              <a:rPr sz="2400" b="0">
                <a:solidFill>
                  <a:srgbClr val="687075"/>
                </a:solidFill>
                <a:latin typeface="Poppins"/>
              </a:rPr>
              <a:t>Nothing leaves before your representative approves.</a:t>
            </a:r>
          </a:p>
        </p:txBody>
      </p:sp>
      <p:sp>
        <p:nvSpPr>
          <p:cNvPr id="46" name="Privacy architecture background"/>
          <p:cNvSpPr/>
          <p:nvPr/>
        </p:nvSpPr>
        <p:spPr>
          <a:xfrm>
            <a:off x="1069848" y="4498848"/>
            <a:ext cx="16184880" cy="3712463"/>
          </a:xfrm>
          <a:prstGeom prst="roundRect">
            <a:avLst>
              <a:gd name="adj" fmla="val 10000"/>
            </a:avLst>
          </a:prstGeom>
          <a:solidFill>
            <a:srgbClr val="1D232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Privacy step READ-ONLY SCAN"/>
          <p:cNvSpPr/>
          <p:nvPr/>
        </p:nvSpPr>
        <p:spPr>
          <a:xfrm>
            <a:off x="1389888" y="5294376"/>
            <a:ext cx="3346704" cy="2020824"/>
          </a:xfrm>
          <a:prstGeom prst="roundRect">
            <a:avLst>
              <a:gd name="adj" fmla="val 9000"/>
            </a:avLst>
          </a:prstGeom>
          <a:solidFill>
            <a:srgbClr val="FAFA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Story text: 01"/>
          <p:cNvSpPr txBox="1"/>
          <p:nvPr/>
        </p:nvSpPr>
        <p:spPr>
          <a:xfrm>
            <a:off x="1618488" y="5468112"/>
            <a:ext cx="868680" cy="393192"/>
          </a:xfrm>
          <a:prstGeom prst="rect">
            <a:avLst/>
          </a:prstGeom>
          <a:noFill/>
        </p:spPr>
        <p:txBody>
          <a:bodyPr wrap="square" tIns="0" bIns="0" lIns="0" rIns="0" anchor="t">
            <a:noAutofit/>
          </a:bodyPr>
          <a:lstStyle/>
          <a:p>
            <a:pPr algn="l">
              <a:lnSpc>
                <a:spcPct val="106000"/>
              </a:lnSpc>
              <a:spcBef>
                <a:spcPts val="0"/>
              </a:spcBef>
              <a:spcAft>
                <a:spcPts val="0"/>
              </a:spcAft>
            </a:pPr>
            <a:r>
              <a:rPr sz="2400" b="1">
                <a:solidFill>
                  <a:srgbClr val="497078"/>
                </a:solidFill>
                <a:latin typeface="Poppins Bold"/>
              </a:rPr>
              <a:t>01</a:t>
            </a:r>
          </a:p>
        </p:txBody>
      </p:sp>
      <p:sp>
        <p:nvSpPr>
          <p:cNvPr id="49" name="Story text: READ-ONLY SCAN"/>
          <p:cNvSpPr txBox="1"/>
          <p:nvPr/>
        </p:nvSpPr>
        <p:spPr>
          <a:xfrm>
            <a:off x="1618488" y="5897880"/>
            <a:ext cx="2926080" cy="393192"/>
          </a:xfrm>
          <a:prstGeom prst="rect">
            <a:avLst/>
          </a:prstGeom>
          <a:noFill/>
        </p:spPr>
        <p:txBody>
          <a:bodyPr wrap="square" tIns="0" bIns="0" lIns="0" rIns="0" anchor="t">
            <a:noAutofit/>
          </a:bodyPr>
          <a:lstStyle/>
          <a:p>
            <a:pPr algn="l">
              <a:lnSpc>
                <a:spcPct val="106000"/>
              </a:lnSpc>
              <a:spcBef>
                <a:spcPts val="0"/>
              </a:spcBef>
              <a:spcAft>
                <a:spcPts val="0"/>
              </a:spcAft>
            </a:pPr>
            <a:r>
              <a:rPr sz="2100" b="1">
                <a:solidFill>
                  <a:srgbClr val="171717"/>
                </a:solidFill>
                <a:latin typeface="Poppins Bold"/>
              </a:rPr>
              <a:t>READ-ONLY SCAN</a:t>
            </a:r>
          </a:p>
        </p:txBody>
      </p:sp>
      <p:sp>
        <p:nvSpPr>
          <p:cNvPr id="50" name="Story text: Cloud · repos · HR/CRM"/>
          <p:cNvSpPr txBox="1"/>
          <p:nvPr/>
        </p:nvSpPr>
        <p:spPr>
          <a:xfrm>
            <a:off x="1618488" y="6537960"/>
            <a:ext cx="2880360" cy="521207"/>
          </a:xfrm>
          <a:prstGeom prst="rect">
            <a:avLst/>
          </a:prstGeom>
          <a:noFill/>
        </p:spPr>
        <p:txBody>
          <a:bodyPr wrap="square" tIns="0" bIns="0" lIns="0" rIns="0" anchor="t">
            <a:noAutofit/>
          </a:bodyPr>
          <a:lstStyle/>
          <a:p>
            <a:pPr algn="l">
              <a:lnSpc>
                <a:spcPct val="106000"/>
              </a:lnSpc>
              <a:spcBef>
                <a:spcPts val="0"/>
              </a:spcBef>
              <a:spcAft>
                <a:spcPts val="0"/>
              </a:spcAft>
            </a:pPr>
            <a:r>
              <a:rPr sz="1720" b="0">
                <a:solidFill>
                  <a:srgbClr val="687075"/>
                </a:solidFill>
                <a:latin typeface="Poppins"/>
              </a:rPr>
              <a:t>Cloud · repos · HR/CRM</a:t>
            </a:r>
          </a:p>
        </p:txBody>
      </p:sp>
      <p:sp>
        <p:nvSpPr>
          <p:cNvPr id="51" name="Story text: →"/>
          <p:cNvSpPr txBox="1"/>
          <p:nvPr/>
        </p:nvSpPr>
        <p:spPr>
          <a:xfrm>
            <a:off x="4846320" y="5861304"/>
            <a:ext cx="502920" cy="603504"/>
          </a:xfrm>
          <a:prstGeom prst="rect">
            <a:avLst/>
          </a:prstGeom>
          <a:noFill/>
        </p:spPr>
        <p:txBody>
          <a:bodyPr wrap="square" tIns="0" bIns="0" lIns="0" rIns="0" anchor="t">
            <a:noAutofit/>
          </a:bodyPr>
          <a:lstStyle/>
          <a:p>
            <a:pPr algn="ctr">
              <a:lnSpc>
                <a:spcPct val="106000"/>
              </a:lnSpc>
              <a:spcBef>
                <a:spcPts val="0"/>
              </a:spcBef>
              <a:spcAft>
                <a:spcPts val="0"/>
              </a:spcAft>
            </a:pPr>
            <a:r>
              <a:rPr sz="3300" b="1">
                <a:solidFill>
                  <a:srgbClr val="BECBCA"/>
                </a:solidFill>
                <a:latin typeface="Poppins Bold"/>
              </a:rPr>
              <a:t>→</a:t>
            </a:r>
          </a:p>
        </p:txBody>
      </p:sp>
      <p:sp>
        <p:nvSpPr>
          <p:cNvPr id="52" name="Privacy step CONTEXT REPORT"/>
          <p:cNvSpPr/>
          <p:nvPr/>
        </p:nvSpPr>
        <p:spPr>
          <a:xfrm>
            <a:off x="5440679" y="5294376"/>
            <a:ext cx="3346704" cy="2020824"/>
          </a:xfrm>
          <a:prstGeom prst="roundRect">
            <a:avLst>
              <a:gd name="adj" fmla="val 9000"/>
            </a:avLst>
          </a:prstGeom>
          <a:solidFill>
            <a:srgbClr val="FAFA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Story text: 02"/>
          <p:cNvSpPr txBox="1"/>
          <p:nvPr/>
        </p:nvSpPr>
        <p:spPr>
          <a:xfrm>
            <a:off x="5669279" y="5468112"/>
            <a:ext cx="868680" cy="393192"/>
          </a:xfrm>
          <a:prstGeom prst="rect">
            <a:avLst/>
          </a:prstGeom>
          <a:noFill/>
        </p:spPr>
        <p:txBody>
          <a:bodyPr wrap="square" tIns="0" bIns="0" lIns="0" rIns="0" anchor="t">
            <a:noAutofit/>
          </a:bodyPr>
          <a:lstStyle/>
          <a:p>
            <a:pPr algn="l">
              <a:lnSpc>
                <a:spcPct val="106000"/>
              </a:lnSpc>
              <a:spcBef>
                <a:spcPts val="0"/>
              </a:spcBef>
              <a:spcAft>
                <a:spcPts val="0"/>
              </a:spcAft>
            </a:pPr>
            <a:r>
              <a:rPr sz="2400" b="1">
                <a:solidFill>
                  <a:srgbClr val="497078"/>
                </a:solidFill>
                <a:latin typeface="Poppins Bold"/>
              </a:rPr>
              <a:t>02</a:t>
            </a:r>
          </a:p>
        </p:txBody>
      </p:sp>
      <p:sp>
        <p:nvSpPr>
          <p:cNvPr id="54" name="Story text: CONTEXT REPORT"/>
          <p:cNvSpPr txBox="1"/>
          <p:nvPr/>
        </p:nvSpPr>
        <p:spPr>
          <a:xfrm>
            <a:off x="5669279" y="5897880"/>
            <a:ext cx="2926080" cy="393192"/>
          </a:xfrm>
          <a:prstGeom prst="rect">
            <a:avLst/>
          </a:prstGeom>
          <a:noFill/>
        </p:spPr>
        <p:txBody>
          <a:bodyPr wrap="square" tIns="0" bIns="0" lIns="0" rIns="0" anchor="t">
            <a:noAutofit/>
          </a:bodyPr>
          <a:lstStyle/>
          <a:p>
            <a:pPr algn="l">
              <a:lnSpc>
                <a:spcPct val="106000"/>
              </a:lnSpc>
              <a:spcBef>
                <a:spcPts val="0"/>
              </a:spcBef>
              <a:spcAft>
                <a:spcPts val="0"/>
              </a:spcAft>
            </a:pPr>
            <a:r>
              <a:rPr sz="2100" b="1">
                <a:solidFill>
                  <a:srgbClr val="171717"/>
                </a:solidFill>
                <a:latin typeface="Poppins Bold"/>
              </a:rPr>
              <a:t>CONTEXT REPORT</a:t>
            </a:r>
          </a:p>
        </p:txBody>
      </p:sp>
      <p:sp>
        <p:nvSpPr>
          <p:cNvPr id="55" name="Story text: Systems and flows only"/>
          <p:cNvSpPr txBox="1"/>
          <p:nvPr/>
        </p:nvSpPr>
        <p:spPr>
          <a:xfrm>
            <a:off x="5669279" y="6537960"/>
            <a:ext cx="2880360" cy="521207"/>
          </a:xfrm>
          <a:prstGeom prst="rect">
            <a:avLst/>
          </a:prstGeom>
          <a:noFill/>
        </p:spPr>
        <p:txBody>
          <a:bodyPr wrap="square" tIns="0" bIns="0" lIns="0" rIns="0" anchor="t">
            <a:noAutofit/>
          </a:bodyPr>
          <a:lstStyle/>
          <a:p>
            <a:pPr algn="l">
              <a:lnSpc>
                <a:spcPct val="106000"/>
              </a:lnSpc>
              <a:spcBef>
                <a:spcPts val="0"/>
              </a:spcBef>
              <a:spcAft>
                <a:spcPts val="0"/>
              </a:spcAft>
            </a:pPr>
            <a:r>
              <a:rPr sz="1720" b="0">
                <a:solidFill>
                  <a:srgbClr val="687075"/>
                </a:solidFill>
                <a:latin typeface="Poppins"/>
              </a:rPr>
              <a:t>Systems and flows only</a:t>
            </a:r>
          </a:p>
        </p:txBody>
      </p:sp>
      <p:sp>
        <p:nvSpPr>
          <p:cNvPr id="56" name="Story text: →"/>
          <p:cNvSpPr txBox="1"/>
          <p:nvPr/>
        </p:nvSpPr>
        <p:spPr>
          <a:xfrm>
            <a:off x="8897111" y="5861304"/>
            <a:ext cx="502920" cy="603504"/>
          </a:xfrm>
          <a:prstGeom prst="rect">
            <a:avLst/>
          </a:prstGeom>
          <a:noFill/>
        </p:spPr>
        <p:txBody>
          <a:bodyPr wrap="square" tIns="0" bIns="0" lIns="0" rIns="0" anchor="t">
            <a:noAutofit/>
          </a:bodyPr>
          <a:lstStyle/>
          <a:p>
            <a:pPr algn="ctr">
              <a:lnSpc>
                <a:spcPct val="106000"/>
              </a:lnSpc>
              <a:spcBef>
                <a:spcPts val="0"/>
              </a:spcBef>
              <a:spcAft>
                <a:spcPts val="0"/>
              </a:spcAft>
            </a:pPr>
            <a:r>
              <a:rPr sz="3300" b="1">
                <a:solidFill>
                  <a:srgbClr val="BECBCA"/>
                </a:solidFill>
                <a:latin typeface="Poppins Bold"/>
              </a:rPr>
              <a:t>→</a:t>
            </a:r>
          </a:p>
        </p:txBody>
      </p:sp>
      <p:sp>
        <p:nvSpPr>
          <p:cNvPr id="57" name="Privacy step HUMAN APPROVAL"/>
          <p:cNvSpPr/>
          <p:nvPr/>
        </p:nvSpPr>
        <p:spPr>
          <a:xfrm>
            <a:off x="9491472" y="5294376"/>
            <a:ext cx="3346704" cy="2020824"/>
          </a:xfrm>
          <a:prstGeom prst="roundRect">
            <a:avLst>
              <a:gd name="adj" fmla="val 9000"/>
            </a:avLst>
          </a:prstGeom>
          <a:solidFill>
            <a:srgbClr val="D9E5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Story text: 03"/>
          <p:cNvSpPr txBox="1"/>
          <p:nvPr/>
        </p:nvSpPr>
        <p:spPr>
          <a:xfrm>
            <a:off x="9720072" y="5468112"/>
            <a:ext cx="868680" cy="393192"/>
          </a:xfrm>
          <a:prstGeom prst="rect">
            <a:avLst/>
          </a:prstGeom>
          <a:noFill/>
        </p:spPr>
        <p:txBody>
          <a:bodyPr wrap="square" tIns="0" bIns="0" lIns="0" rIns="0" anchor="t">
            <a:noAutofit/>
          </a:bodyPr>
          <a:lstStyle/>
          <a:p>
            <a:pPr algn="l">
              <a:lnSpc>
                <a:spcPct val="106000"/>
              </a:lnSpc>
              <a:spcBef>
                <a:spcPts val="0"/>
              </a:spcBef>
              <a:spcAft>
                <a:spcPts val="0"/>
              </a:spcAft>
            </a:pPr>
            <a:r>
              <a:rPr sz="2400" b="1">
                <a:solidFill>
                  <a:srgbClr val="497078"/>
                </a:solidFill>
                <a:latin typeface="Poppins Bold"/>
              </a:rPr>
              <a:t>03</a:t>
            </a:r>
          </a:p>
        </p:txBody>
      </p:sp>
      <p:sp>
        <p:nvSpPr>
          <p:cNvPr id="59" name="Story text: HUMAN APPROVAL"/>
          <p:cNvSpPr txBox="1"/>
          <p:nvPr/>
        </p:nvSpPr>
        <p:spPr>
          <a:xfrm>
            <a:off x="9720072" y="5897880"/>
            <a:ext cx="2926080" cy="393192"/>
          </a:xfrm>
          <a:prstGeom prst="rect">
            <a:avLst/>
          </a:prstGeom>
          <a:noFill/>
        </p:spPr>
        <p:txBody>
          <a:bodyPr wrap="square" tIns="0" bIns="0" lIns="0" rIns="0" anchor="t">
            <a:noAutofit/>
          </a:bodyPr>
          <a:lstStyle/>
          <a:p>
            <a:pPr algn="l">
              <a:lnSpc>
                <a:spcPct val="106000"/>
              </a:lnSpc>
              <a:spcBef>
                <a:spcPts val="0"/>
              </a:spcBef>
              <a:spcAft>
                <a:spcPts val="0"/>
              </a:spcAft>
            </a:pPr>
            <a:r>
              <a:rPr sz="2100" b="1">
                <a:solidFill>
                  <a:srgbClr val="171717"/>
                </a:solidFill>
                <a:latin typeface="Poppins Bold"/>
              </a:rPr>
              <a:t>HUMAN APPROVAL</a:t>
            </a:r>
          </a:p>
        </p:txBody>
      </p:sp>
      <p:sp>
        <p:nvSpPr>
          <p:cNvPr id="60" name="Story text: Your team decides"/>
          <p:cNvSpPr txBox="1"/>
          <p:nvPr/>
        </p:nvSpPr>
        <p:spPr>
          <a:xfrm>
            <a:off x="9720072" y="6537960"/>
            <a:ext cx="2880360" cy="521207"/>
          </a:xfrm>
          <a:prstGeom prst="rect">
            <a:avLst/>
          </a:prstGeom>
          <a:noFill/>
        </p:spPr>
        <p:txBody>
          <a:bodyPr wrap="square" tIns="0" bIns="0" lIns="0" rIns="0" anchor="t">
            <a:noAutofit/>
          </a:bodyPr>
          <a:lstStyle/>
          <a:p>
            <a:pPr algn="l">
              <a:lnSpc>
                <a:spcPct val="106000"/>
              </a:lnSpc>
              <a:spcBef>
                <a:spcPts val="0"/>
              </a:spcBef>
              <a:spcAft>
                <a:spcPts val="0"/>
              </a:spcAft>
            </a:pPr>
            <a:r>
              <a:rPr sz="1720" b="0">
                <a:solidFill>
                  <a:srgbClr val="687075"/>
                </a:solidFill>
                <a:latin typeface="Poppins"/>
              </a:rPr>
              <a:t>Your team decides</a:t>
            </a:r>
          </a:p>
        </p:txBody>
      </p:sp>
      <p:sp>
        <p:nvSpPr>
          <p:cNvPr id="61" name="Story text: →"/>
          <p:cNvSpPr txBox="1"/>
          <p:nvPr/>
        </p:nvSpPr>
        <p:spPr>
          <a:xfrm>
            <a:off x="12947903" y="5861304"/>
            <a:ext cx="502920" cy="603504"/>
          </a:xfrm>
          <a:prstGeom prst="rect">
            <a:avLst/>
          </a:prstGeom>
          <a:noFill/>
        </p:spPr>
        <p:txBody>
          <a:bodyPr wrap="square" tIns="0" bIns="0" lIns="0" rIns="0" anchor="t">
            <a:noAutofit/>
          </a:bodyPr>
          <a:lstStyle/>
          <a:p>
            <a:pPr algn="ctr">
              <a:lnSpc>
                <a:spcPct val="106000"/>
              </a:lnSpc>
              <a:spcBef>
                <a:spcPts val="0"/>
              </a:spcBef>
              <a:spcAft>
                <a:spcPts val="0"/>
              </a:spcAft>
            </a:pPr>
            <a:r>
              <a:rPr sz="3300" b="1">
                <a:solidFill>
                  <a:srgbClr val="BECBCA"/>
                </a:solidFill>
                <a:latin typeface="Poppins Bold"/>
              </a:rPr>
              <a:t>→</a:t>
            </a:r>
          </a:p>
        </p:txBody>
      </p:sp>
      <p:sp>
        <p:nvSpPr>
          <p:cNvPr id="62" name="Privacy step EVIDENCE PACK"/>
          <p:cNvSpPr/>
          <p:nvPr/>
        </p:nvSpPr>
        <p:spPr>
          <a:xfrm>
            <a:off x="13542263" y="5294376"/>
            <a:ext cx="3346704" cy="2020824"/>
          </a:xfrm>
          <a:prstGeom prst="roundRect">
            <a:avLst>
              <a:gd name="adj" fmla="val 9000"/>
            </a:avLst>
          </a:prstGeom>
          <a:solidFill>
            <a:srgbClr val="FAFAFA"/>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Story text: 04"/>
          <p:cNvSpPr txBox="1"/>
          <p:nvPr/>
        </p:nvSpPr>
        <p:spPr>
          <a:xfrm>
            <a:off x="13770863" y="5468112"/>
            <a:ext cx="868680" cy="393192"/>
          </a:xfrm>
          <a:prstGeom prst="rect">
            <a:avLst/>
          </a:prstGeom>
          <a:noFill/>
        </p:spPr>
        <p:txBody>
          <a:bodyPr wrap="square" tIns="0" bIns="0" lIns="0" rIns="0" anchor="t">
            <a:noAutofit/>
          </a:bodyPr>
          <a:lstStyle/>
          <a:p>
            <a:pPr algn="l">
              <a:lnSpc>
                <a:spcPct val="106000"/>
              </a:lnSpc>
              <a:spcBef>
                <a:spcPts val="0"/>
              </a:spcBef>
              <a:spcAft>
                <a:spcPts val="0"/>
              </a:spcAft>
            </a:pPr>
            <a:r>
              <a:rPr sz="2400" b="1">
                <a:solidFill>
                  <a:srgbClr val="497078"/>
                </a:solidFill>
                <a:latin typeface="Poppins Bold"/>
              </a:rPr>
              <a:t>04</a:t>
            </a:r>
          </a:p>
        </p:txBody>
      </p:sp>
      <p:sp>
        <p:nvSpPr>
          <p:cNvPr id="64" name="Story text: EVIDENCE PACK"/>
          <p:cNvSpPr txBox="1"/>
          <p:nvPr/>
        </p:nvSpPr>
        <p:spPr>
          <a:xfrm>
            <a:off x="13770863" y="5897880"/>
            <a:ext cx="2926080" cy="393192"/>
          </a:xfrm>
          <a:prstGeom prst="rect">
            <a:avLst/>
          </a:prstGeom>
          <a:noFill/>
        </p:spPr>
        <p:txBody>
          <a:bodyPr wrap="square" tIns="0" bIns="0" lIns="0" rIns="0" anchor="t">
            <a:noAutofit/>
          </a:bodyPr>
          <a:lstStyle/>
          <a:p>
            <a:pPr algn="l">
              <a:lnSpc>
                <a:spcPct val="106000"/>
              </a:lnSpc>
              <a:spcBef>
                <a:spcPts val="0"/>
              </a:spcBef>
              <a:spcAft>
                <a:spcPts val="0"/>
              </a:spcAft>
            </a:pPr>
            <a:r>
              <a:rPr sz="2100" b="1">
                <a:solidFill>
                  <a:srgbClr val="171717"/>
                </a:solidFill>
                <a:latin typeface="Poppins Bold"/>
              </a:rPr>
              <a:t>EVIDENCE PACK</a:t>
            </a:r>
          </a:p>
        </p:txBody>
      </p:sp>
      <p:sp>
        <p:nvSpPr>
          <p:cNvPr id="65" name="Story text: Gaps and ranked actions"/>
          <p:cNvSpPr txBox="1"/>
          <p:nvPr/>
        </p:nvSpPr>
        <p:spPr>
          <a:xfrm>
            <a:off x="13770863" y="6537960"/>
            <a:ext cx="2880360" cy="521207"/>
          </a:xfrm>
          <a:prstGeom prst="rect">
            <a:avLst/>
          </a:prstGeom>
          <a:noFill/>
        </p:spPr>
        <p:txBody>
          <a:bodyPr wrap="square" tIns="0" bIns="0" lIns="0" rIns="0" anchor="t">
            <a:noAutofit/>
          </a:bodyPr>
          <a:lstStyle/>
          <a:p>
            <a:pPr algn="l">
              <a:lnSpc>
                <a:spcPct val="106000"/>
              </a:lnSpc>
              <a:spcBef>
                <a:spcPts val="0"/>
              </a:spcBef>
              <a:spcAft>
                <a:spcPts val="0"/>
              </a:spcAft>
            </a:pPr>
            <a:r>
              <a:rPr sz="1720" b="0">
                <a:solidFill>
                  <a:srgbClr val="687075"/>
                </a:solidFill>
                <a:latin typeface="Poppins"/>
              </a:rPr>
              <a:t>Gaps and ranked actions</a:t>
            </a:r>
          </a:p>
        </p:txBody>
      </p:sp>
      <p:sp>
        <p:nvSpPr>
          <p:cNvPr id="66" name="Story text: No records · No file contents · No "/>
          <p:cNvSpPr txBox="1"/>
          <p:nvPr/>
        </p:nvSpPr>
        <p:spPr>
          <a:xfrm>
            <a:off x="1856231" y="7589520"/>
            <a:ext cx="14127480" cy="310896"/>
          </a:xfrm>
          <a:prstGeom prst="rect">
            <a:avLst/>
          </a:prstGeom>
          <a:noFill/>
        </p:spPr>
        <p:txBody>
          <a:bodyPr wrap="square" tIns="0" bIns="0" lIns="0" rIns="0" anchor="t">
            <a:noAutofit/>
          </a:bodyPr>
          <a:lstStyle/>
          <a:p>
            <a:pPr algn="ctr">
              <a:lnSpc>
                <a:spcPct val="106000"/>
              </a:lnSpc>
              <a:spcBef>
                <a:spcPts val="0"/>
              </a:spcBef>
              <a:spcAft>
                <a:spcPts val="0"/>
              </a:spcAft>
            </a:pPr>
            <a:r>
              <a:rPr sz="1800" b="0">
                <a:solidFill>
                  <a:srgbClr val="FAFAFA"/>
                </a:solidFill>
                <a:latin typeface="Poppins"/>
              </a:rPr>
              <a:t>No records · No file contents · No credentials</a:t>
            </a:r>
          </a:p>
        </p:txBody>
      </p:sp>
      <p:sp>
        <p:nvSpPr>
          <p:cNvPr id="67" name="Compact margin page number 06"/>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07</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18288000" cy="5065125"/>
            <a:chOff x="0" y="0"/>
            <a:chExt cx="24384000" cy="6753500"/>
          </a:xfrm>
        </p:grpSpPr>
        <p:pic>
          <p:nvPicPr>
            <p:cNvPr name="Picture 3" id="3"/>
            <p:cNvPicPr>
              <a:picLocks noChangeAspect="true"/>
            </p:cNvPicPr>
            <p:nvPr/>
          </p:nvPicPr>
          <p:blipFill>
            <a:blip r:embed="rId2"/>
            <a:srcRect l="0" t="96" r="0" b="96"/>
            <a:stretch>
              <a:fillRect/>
            </a:stretch>
          </p:blipFill>
          <p:spPr>
            <a:xfrm flipH="false" flipV="false">
              <a:off x="0" y="0"/>
              <a:ext cx="24384000" cy="6753500"/>
            </a:xfrm>
            <a:prstGeom prst="rect">
              <a:avLst/>
            </a:prstGeom>
          </p:spPr>
        </p:pic>
      </p:grpSp>
      <p:grpSp>
        <p:nvGrpSpPr>
          <p:cNvPr name="Group 12" id="12"/>
          <p:cNvGrpSpPr/>
          <p:nvPr/>
        </p:nvGrpSpPr>
        <p:grpSpPr>
          <a:xfrm rot="0">
            <a:off x="4027427" y="1117625"/>
            <a:ext cx="10233146" cy="530810"/>
            <a:chOff x="0" y="0"/>
            <a:chExt cx="2988982" cy="155043"/>
          </a:xfrm>
        </p:grpSpPr>
        <p:sp>
          <p:nvSpPr>
            <p:cNvPr name="Freeform 13" id="13"/>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4" id="14"/>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0" id="30"/>
          <p:cNvGrpSpPr/>
          <p:nvPr/>
        </p:nvGrpSpPr>
        <p:grpSpPr>
          <a:xfrm rot="0">
            <a:off x="4100894" y="1190732"/>
            <a:ext cx="2511996" cy="384596"/>
            <a:chOff x="0" y="0"/>
            <a:chExt cx="3349328" cy="512795"/>
          </a:xfrm>
        </p:grpSpPr>
        <p:grpSp>
          <p:nvGrpSpPr>
            <p:cNvPr name="Group 31" id="31"/>
            <p:cNvGrpSpPr/>
            <p:nvPr/>
          </p:nvGrpSpPr>
          <p:grpSpPr>
            <a:xfrm rot="0">
              <a:off x="0" y="0"/>
              <a:ext cx="512795" cy="512795"/>
              <a:chOff x="0" y="0"/>
              <a:chExt cx="812800" cy="812800"/>
            </a:xfrm>
          </p:grpSpPr>
          <p:sp>
            <p:nvSpPr>
              <p:cNvPr name="Freeform 32" id="32"/>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3" id="33"/>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4" id="34"/>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TextBox 35" id="35"/>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36" name="Section navigation: About">
            <a:hlinkClick action="ppaction://hlinksldjump" r:id="rId5"/>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About</a:t>
            </a:r>
          </a:p>
        </p:txBody>
      </p:sp>
      <p:sp>
        <p:nvSpPr>
          <p:cNvPr id="37" name="Section navigation: Service (current)">
            <a:hlinkClick action="ppaction://hlinksldjump" r:id="rId6"/>
          </p:cNvPr>
          <p:cNvSpPr/>
          <p:nvPr/>
        </p:nvSpPr>
        <p:spPr>
          <a:xfrm>
            <a:off x="921258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FAFAFA"/>
                </a:solidFill>
                <a:latin typeface="Poppins"/>
              </a:rPr>
              <a:t>Service</a:t>
            </a:r>
          </a:p>
        </p:txBody>
      </p:sp>
      <p:sp>
        <p:nvSpPr>
          <p:cNvPr id="38" name="Section navigation: Team">
            <a:hlinkClick action="ppaction://hlinksldjump" r:id="rId7"/>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Team</a:t>
            </a:r>
          </a:p>
        </p:txBody>
      </p:sp>
      <p:sp>
        <p:nvSpPr>
          <p:cNvPr id="39" name="Section navigation: Conclusion">
            <a:hlinkClick action="ppaction://hlinksldjump" r:id="rId8"/>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Conclusion</a:t>
            </a:r>
          </a:p>
        </p:txBody>
      </p:sp>
      <p:sp>
        <p:nvSpPr>
          <p:cNvPr id="40" name="Story text: OPERATING PRINCIPLES"/>
          <p:cNvSpPr txBox="1"/>
          <p:nvPr/>
        </p:nvSpPr>
        <p:spPr>
          <a:xfrm>
            <a:off x="1078992" y="5340096"/>
            <a:ext cx="10972800" cy="301752"/>
          </a:xfrm>
          <a:prstGeom prst="rect">
            <a:avLst/>
          </a:prstGeom>
          <a:noFill/>
        </p:spPr>
        <p:txBody>
          <a:bodyPr wrap="square" tIns="0" bIns="0" lIns="0" rIns="0" anchor="t">
            <a:noAutofit/>
          </a:bodyPr>
          <a:lstStyle/>
          <a:p>
            <a:pPr algn="l">
              <a:lnSpc>
                <a:spcPct val="106000"/>
              </a:lnSpc>
              <a:spcBef>
                <a:spcPts val="0"/>
              </a:spcBef>
              <a:spcAft>
                <a:spcPts val="0"/>
              </a:spcAft>
            </a:pPr>
            <a:r>
              <a:rPr sz="1600" b="1">
                <a:solidFill>
                  <a:srgbClr val="497078"/>
                </a:solidFill>
                <a:latin typeface="Poppins Bold"/>
              </a:rPr>
              <a:t>OPERATING PRINCIPLES</a:t>
            </a:r>
          </a:p>
        </p:txBody>
      </p:sp>
      <p:sp>
        <p:nvSpPr>
          <p:cNvPr id="41" name="Story text: CONTROL IS&#10;BUILT IN."/>
          <p:cNvSpPr txBox="1"/>
          <p:nvPr/>
        </p:nvSpPr>
        <p:spPr>
          <a:xfrm>
            <a:off x="1042415" y="5705856"/>
            <a:ext cx="7671816" cy="2176272"/>
          </a:xfrm>
          <a:prstGeom prst="rect">
            <a:avLst/>
          </a:prstGeom>
          <a:noFill/>
        </p:spPr>
        <p:txBody>
          <a:bodyPr wrap="square" tIns="0" bIns="0" lIns="0" rIns="0" anchor="t">
            <a:noAutofit/>
          </a:bodyPr>
          <a:lstStyle/>
          <a:p>
            <a:pPr algn="l">
              <a:lnSpc>
                <a:spcPct val="106000"/>
              </a:lnSpc>
              <a:spcBef>
                <a:spcPts val="0"/>
              </a:spcBef>
              <a:spcAft>
                <a:spcPts val="0"/>
              </a:spcAft>
            </a:pPr>
            <a:r>
              <a:rPr sz="6100" b="1">
                <a:solidFill>
                  <a:srgbClr val="171717"/>
                </a:solidFill>
                <a:latin typeface="Poppins Bold"/>
              </a:rPr>
              <a:t>CONTROL IS</a:t>
            </a:r>
          </a:p>
          <a:p>
            <a:pPr algn="l">
              <a:lnSpc>
                <a:spcPct val="106000"/>
              </a:lnSpc>
              <a:spcBef>
                <a:spcPts val="0"/>
              </a:spcBef>
              <a:spcAft>
                <a:spcPts val="0"/>
              </a:spcAft>
            </a:pPr>
            <a:r>
              <a:rPr sz="6100" b="1">
                <a:solidFill>
                  <a:srgbClr val="171717"/>
                </a:solidFill>
                <a:latin typeface="Poppins Bold"/>
              </a:rPr>
              <a:t>BUILT IN.</a:t>
            </a:r>
          </a:p>
        </p:txBody>
      </p:sp>
      <p:cxnSp>
        <p:nvCxnSpPr>
          <p:cNvPr id="42" name="Connector 41"/>
          <p:cNvCxnSpPr/>
          <p:nvPr/>
        </p:nvCxnSpPr>
        <p:spPr>
          <a:xfrm>
            <a:off x="8641080" y="5705856"/>
            <a:ext cx="8458200" cy="0"/>
          </a:xfrm>
          <a:prstGeom prst="line">
            <a:avLst/>
          </a:prstGeom>
          <a:ln w="15875">
            <a:solidFill>
              <a:srgbClr val="DCDFE0"/>
            </a:solidFill>
          </a:ln>
        </p:spPr>
        <p:style>
          <a:lnRef idx="2">
            <a:schemeClr val="accent1"/>
          </a:lnRef>
          <a:fillRef idx="0">
            <a:schemeClr val="accent1"/>
          </a:fillRef>
          <a:effectRef idx="0">
            <a:schemeClr val="accent1"/>
          </a:effectRef>
          <a:fontRef idx="minor">
            <a:schemeClr val="tx1"/>
          </a:fontRef>
        </p:style>
      </p:cxnSp>
      <p:sp>
        <p:nvSpPr>
          <p:cNvPr id="43" name="Story text: 01"/>
          <p:cNvSpPr txBox="1"/>
          <p:nvPr/>
        </p:nvSpPr>
        <p:spPr>
          <a:xfrm>
            <a:off x="8741664" y="5870448"/>
            <a:ext cx="832104" cy="411480"/>
          </a:xfrm>
          <a:prstGeom prst="rect">
            <a:avLst/>
          </a:prstGeom>
          <a:noFill/>
        </p:spPr>
        <p:txBody>
          <a:bodyPr wrap="square" tIns="0" bIns="0" lIns="0" rIns="0" anchor="t">
            <a:noAutofit/>
          </a:bodyPr>
          <a:lstStyle/>
          <a:p>
            <a:pPr algn="l">
              <a:lnSpc>
                <a:spcPct val="106000"/>
              </a:lnSpc>
              <a:spcBef>
                <a:spcPts val="0"/>
              </a:spcBef>
              <a:spcAft>
                <a:spcPts val="0"/>
              </a:spcAft>
            </a:pPr>
            <a:r>
              <a:rPr sz="2000" b="1">
                <a:solidFill>
                  <a:srgbClr val="497078"/>
                </a:solidFill>
                <a:latin typeface="Poppins Bold"/>
              </a:rPr>
              <a:t>01</a:t>
            </a:r>
          </a:p>
        </p:txBody>
      </p:sp>
      <p:sp>
        <p:nvSpPr>
          <p:cNvPr id="44" name="Story text: Read-only and revocable"/>
          <p:cNvSpPr txBox="1"/>
          <p:nvPr/>
        </p:nvSpPr>
        <p:spPr>
          <a:xfrm>
            <a:off x="9619488" y="5843016"/>
            <a:ext cx="7159752" cy="420624"/>
          </a:xfrm>
          <a:prstGeom prst="rect">
            <a:avLst/>
          </a:prstGeom>
          <a:noFill/>
        </p:spPr>
        <p:txBody>
          <a:bodyPr wrap="square" tIns="0" bIns="0" lIns="0" rIns="0" anchor="t">
            <a:noAutofit/>
          </a:bodyPr>
          <a:lstStyle/>
          <a:p>
            <a:pPr algn="l">
              <a:lnSpc>
                <a:spcPct val="106000"/>
              </a:lnSpc>
              <a:spcBef>
                <a:spcPts val="0"/>
              </a:spcBef>
              <a:spcAft>
                <a:spcPts val="0"/>
              </a:spcAft>
            </a:pPr>
            <a:r>
              <a:rPr sz="2300" b="0">
                <a:solidFill>
                  <a:srgbClr val="171717"/>
                </a:solidFill>
                <a:latin typeface="Poppins"/>
              </a:rPr>
              <a:t>Read-only and revocable</a:t>
            </a:r>
          </a:p>
        </p:txBody>
      </p:sp>
      <p:cxnSp>
        <p:nvCxnSpPr>
          <p:cNvPr id="45" name="Connector 44"/>
          <p:cNvCxnSpPr/>
          <p:nvPr/>
        </p:nvCxnSpPr>
        <p:spPr>
          <a:xfrm>
            <a:off x="8641080" y="6455664"/>
            <a:ext cx="8458200" cy="0"/>
          </a:xfrm>
          <a:prstGeom prst="line">
            <a:avLst/>
          </a:prstGeom>
          <a:ln w="15875">
            <a:solidFill>
              <a:srgbClr val="DCDFE0"/>
            </a:solidFill>
          </a:ln>
        </p:spPr>
        <p:style>
          <a:lnRef idx="2">
            <a:schemeClr val="accent1"/>
          </a:lnRef>
          <a:fillRef idx="0">
            <a:schemeClr val="accent1"/>
          </a:fillRef>
          <a:effectRef idx="0">
            <a:schemeClr val="accent1"/>
          </a:effectRef>
          <a:fontRef idx="minor">
            <a:schemeClr val="tx1"/>
          </a:fontRef>
        </p:style>
      </p:cxnSp>
      <p:sp>
        <p:nvSpPr>
          <p:cNvPr id="46" name="Story text: 02"/>
          <p:cNvSpPr txBox="1"/>
          <p:nvPr/>
        </p:nvSpPr>
        <p:spPr>
          <a:xfrm>
            <a:off x="8741664" y="6620256"/>
            <a:ext cx="832104" cy="411480"/>
          </a:xfrm>
          <a:prstGeom prst="rect">
            <a:avLst/>
          </a:prstGeom>
          <a:noFill/>
        </p:spPr>
        <p:txBody>
          <a:bodyPr wrap="square" tIns="0" bIns="0" lIns="0" rIns="0" anchor="t">
            <a:noAutofit/>
          </a:bodyPr>
          <a:lstStyle/>
          <a:p>
            <a:pPr algn="l">
              <a:lnSpc>
                <a:spcPct val="106000"/>
              </a:lnSpc>
              <a:spcBef>
                <a:spcPts val="0"/>
              </a:spcBef>
              <a:spcAft>
                <a:spcPts val="0"/>
              </a:spcAft>
            </a:pPr>
            <a:r>
              <a:rPr sz="2000" b="1">
                <a:solidFill>
                  <a:srgbClr val="497078"/>
                </a:solidFill>
                <a:latin typeface="Poppins Bold"/>
              </a:rPr>
              <a:t>02</a:t>
            </a:r>
          </a:p>
        </p:txBody>
      </p:sp>
      <p:sp>
        <p:nvSpPr>
          <p:cNvPr id="47" name="Story text: European infrastructure"/>
          <p:cNvSpPr txBox="1"/>
          <p:nvPr/>
        </p:nvSpPr>
        <p:spPr>
          <a:xfrm>
            <a:off x="9619488" y="6592824"/>
            <a:ext cx="7159752" cy="420624"/>
          </a:xfrm>
          <a:prstGeom prst="rect">
            <a:avLst/>
          </a:prstGeom>
          <a:noFill/>
        </p:spPr>
        <p:txBody>
          <a:bodyPr wrap="square" tIns="0" bIns="0" lIns="0" rIns="0" anchor="t">
            <a:noAutofit/>
          </a:bodyPr>
          <a:lstStyle/>
          <a:p>
            <a:pPr algn="l">
              <a:lnSpc>
                <a:spcPct val="106000"/>
              </a:lnSpc>
              <a:spcBef>
                <a:spcPts val="0"/>
              </a:spcBef>
              <a:spcAft>
                <a:spcPts val="0"/>
              </a:spcAft>
            </a:pPr>
            <a:r>
              <a:rPr sz="2300" b="0">
                <a:solidFill>
                  <a:srgbClr val="171717"/>
                </a:solidFill>
                <a:latin typeface="Poppins"/>
              </a:rPr>
              <a:t>European infrastructure</a:t>
            </a:r>
          </a:p>
        </p:txBody>
      </p:sp>
      <p:cxnSp>
        <p:nvCxnSpPr>
          <p:cNvPr id="48" name="Connector 47"/>
          <p:cNvCxnSpPr/>
          <p:nvPr/>
        </p:nvCxnSpPr>
        <p:spPr>
          <a:xfrm>
            <a:off x="8641080" y="7205472"/>
            <a:ext cx="8458200" cy="0"/>
          </a:xfrm>
          <a:prstGeom prst="line">
            <a:avLst/>
          </a:prstGeom>
          <a:ln w="15875">
            <a:solidFill>
              <a:srgbClr val="DCDFE0"/>
            </a:solidFill>
          </a:ln>
        </p:spPr>
        <p:style>
          <a:lnRef idx="2">
            <a:schemeClr val="accent1"/>
          </a:lnRef>
          <a:fillRef idx="0">
            <a:schemeClr val="accent1"/>
          </a:fillRef>
          <a:effectRef idx="0">
            <a:schemeClr val="accent1"/>
          </a:effectRef>
          <a:fontRef idx="minor">
            <a:schemeClr val="tx1"/>
          </a:fontRef>
        </p:style>
      </p:cxnSp>
      <p:sp>
        <p:nvSpPr>
          <p:cNvPr id="49" name="Story text: 03"/>
          <p:cNvSpPr txBox="1"/>
          <p:nvPr/>
        </p:nvSpPr>
        <p:spPr>
          <a:xfrm>
            <a:off x="8741664" y="7370064"/>
            <a:ext cx="832104" cy="411480"/>
          </a:xfrm>
          <a:prstGeom prst="rect">
            <a:avLst/>
          </a:prstGeom>
          <a:noFill/>
        </p:spPr>
        <p:txBody>
          <a:bodyPr wrap="square" tIns="0" bIns="0" lIns="0" rIns="0" anchor="t">
            <a:noAutofit/>
          </a:bodyPr>
          <a:lstStyle/>
          <a:p>
            <a:pPr algn="l">
              <a:lnSpc>
                <a:spcPct val="106000"/>
              </a:lnSpc>
              <a:spcBef>
                <a:spcPts val="0"/>
              </a:spcBef>
              <a:spcAft>
                <a:spcPts val="0"/>
              </a:spcAft>
            </a:pPr>
            <a:r>
              <a:rPr sz="2000" b="1">
                <a:solidFill>
                  <a:srgbClr val="497078"/>
                </a:solidFill>
                <a:latin typeface="Poppins Bold"/>
              </a:rPr>
              <a:t>03</a:t>
            </a:r>
          </a:p>
        </p:txBody>
      </p:sp>
      <p:sp>
        <p:nvSpPr>
          <p:cNvPr id="50" name="Story text: Independent legal review"/>
          <p:cNvSpPr txBox="1"/>
          <p:nvPr/>
        </p:nvSpPr>
        <p:spPr>
          <a:xfrm>
            <a:off x="9619488" y="7342631"/>
            <a:ext cx="7159752" cy="420624"/>
          </a:xfrm>
          <a:prstGeom prst="rect">
            <a:avLst/>
          </a:prstGeom>
          <a:noFill/>
        </p:spPr>
        <p:txBody>
          <a:bodyPr wrap="square" tIns="0" bIns="0" lIns="0" rIns="0" anchor="t">
            <a:noAutofit/>
          </a:bodyPr>
          <a:lstStyle/>
          <a:p>
            <a:pPr algn="l">
              <a:lnSpc>
                <a:spcPct val="106000"/>
              </a:lnSpc>
              <a:spcBef>
                <a:spcPts val="0"/>
              </a:spcBef>
              <a:spcAft>
                <a:spcPts val="0"/>
              </a:spcAft>
            </a:pPr>
            <a:r>
              <a:rPr sz="2300" b="0">
                <a:solidFill>
                  <a:srgbClr val="171717"/>
                </a:solidFill>
                <a:latin typeface="Poppins"/>
              </a:rPr>
              <a:t>Independent legal review</a:t>
            </a:r>
          </a:p>
        </p:txBody>
      </p:sp>
      <p:sp>
        <p:nvSpPr>
          <p:cNvPr id="51" name="Story text: You stay in control."/>
          <p:cNvSpPr txBox="1"/>
          <p:nvPr/>
        </p:nvSpPr>
        <p:spPr>
          <a:xfrm>
            <a:off x="8741664" y="8101583"/>
            <a:ext cx="8138160" cy="438912"/>
          </a:xfrm>
          <a:prstGeom prst="rect">
            <a:avLst/>
          </a:prstGeom>
          <a:noFill/>
        </p:spPr>
        <p:txBody>
          <a:bodyPr wrap="square" tIns="0" bIns="0" lIns="0" rIns="0" anchor="t">
            <a:noAutofit/>
          </a:bodyPr>
          <a:lstStyle/>
          <a:p>
            <a:pPr algn="l">
              <a:lnSpc>
                <a:spcPct val="106000"/>
              </a:lnSpc>
              <a:spcBef>
                <a:spcPts val="0"/>
              </a:spcBef>
              <a:spcAft>
                <a:spcPts val="0"/>
              </a:spcAft>
            </a:pPr>
            <a:r>
              <a:rPr sz="2100" b="1">
                <a:solidFill>
                  <a:srgbClr val="687075"/>
                </a:solidFill>
                <a:latin typeface="Poppins Bold"/>
              </a:rPr>
              <a:t>You stay in control.</a:t>
            </a:r>
          </a:p>
        </p:txBody>
      </p:sp>
      <p:sp>
        <p:nvSpPr>
          <p:cNvPr id="52" name="Compact margin page number 07"/>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08</a:t>
            </a:r>
          </a:p>
        </p:txBody>
      </p:sp>
    </p:spTree>
  </p:cSld>
  <p:clrMapOvr>
    <a:masterClrMapping/>
  </p:clrMapOvr>
  <p:transition spd="slow">
    <p:push dir="r"/>
  </p:transition>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3665477" cy="10287000"/>
            <a:chOff x="0" y="0"/>
            <a:chExt cx="4887303" cy="13716000"/>
          </a:xfrm>
        </p:grpSpPr>
        <p:pic>
          <p:nvPicPr>
            <p:cNvPr name="Picture 3" id="3"/>
            <p:cNvPicPr>
              <a:picLocks noChangeAspect="true"/>
            </p:cNvPicPr>
            <p:nvPr/>
          </p:nvPicPr>
          <p:blipFill>
            <a:blip r:embed="rId2"/>
            <a:srcRect l="510" t="0" r="510" b="0"/>
            <a:stretch>
              <a:fillRect/>
            </a:stretch>
          </p:blipFill>
          <p:spPr>
            <a:xfrm flipH="false" flipV="false">
              <a:off x="0" y="0"/>
              <a:ext cx="4887303" cy="13716000"/>
            </a:xfrm>
            <a:prstGeom prst="rect">
              <a:avLst/>
            </a:prstGeom>
          </p:spPr>
        </p:pic>
      </p:grpSp>
      <p:grpSp>
        <p:nvGrpSpPr>
          <p:cNvPr name="Group 4" id="4"/>
          <p:cNvGrpSpPr/>
          <p:nvPr/>
        </p:nvGrpSpPr>
        <p:grpSpPr>
          <a:xfrm rot="0">
            <a:off x="14622523" y="0"/>
            <a:ext cx="3665477" cy="10287000"/>
            <a:chOff x="0" y="0"/>
            <a:chExt cx="4887303" cy="13716000"/>
          </a:xfrm>
        </p:grpSpPr>
        <p:pic>
          <p:nvPicPr>
            <p:cNvPr name="Picture 5" id="5"/>
            <p:cNvPicPr>
              <a:picLocks noChangeAspect="true"/>
            </p:cNvPicPr>
            <p:nvPr/>
          </p:nvPicPr>
          <p:blipFill>
            <a:blip r:embed="rId3"/>
            <a:srcRect l="510" t="0" r="510" b="0"/>
            <a:stretch>
              <a:fillRect/>
            </a:stretch>
          </p:blipFill>
          <p:spPr>
            <a:xfrm flipH="false" flipV="false">
              <a:off x="0" y="0"/>
              <a:ext cx="4887303" cy="13716000"/>
            </a:xfrm>
            <a:prstGeom prst="rect">
              <a:avLst/>
            </a:prstGeom>
          </p:spPr>
        </p:pic>
      </p:grpSp>
      <p:grpSp>
        <p:nvGrpSpPr>
          <p:cNvPr name="Group 17" id="17"/>
          <p:cNvGrpSpPr/>
          <p:nvPr/>
        </p:nvGrpSpPr>
        <p:grpSpPr>
          <a:xfrm rot="0">
            <a:off x="4027427" y="1117625"/>
            <a:ext cx="10233146" cy="530810"/>
            <a:chOff x="0" y="0"/>
            <a:chExt cx="2988982" cy="155043"/>
          </a:xfrm>
        </p:grpSpPr>
        <p:sp>
          <p:nvSpPr>
            <p:cNvPr name="Freeform 18" id="18"/>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9" id="19"/>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5" id="35"/>
          <p:cNvGrpSpPr/>
          <p:nvPr/>
        </p:nvGrpSpPr>
        <p:grpSpPr>
          <a:xfrm rot="0">
            <a:off x="4100894" y="1190732"/>
            <a:ext cx="2511996" cy="384596"/>
            <a:chOff x="0" y="0"/>
            <a:chExt cx="3349328" cy="512795"/>
          </a:xfrm>
        </p:grpSpPr>
        <p:grpSp>
          <p:nvGrpSpPr>
            <p:cNvPr name="Group 36" id="36"/>
            <p:cNvGrpSpPr/>
            <p:nvPr/>
          </p:nvGrpSpPr>
          <p:grpSpPr>
            <a:xfrm rot="0">
              <a:off x="0" y="0"/>
              <a:ext cx="512795" cy="512795"/>
              <a:chOff x="0" y="0"/>
              <a:chExt cx="812800" cy="812800"/>
            </a:xfrm>
          </p:grpSpPr>
          <p:sp>
            <p:nvSpPr>
              <p:cNvPr name="Freeform 37" id="37"/>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8" id="38"/>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9" id="39"/>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TextBox 40" id="40"/>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41" name="Section navigation: About">
            <a:hlinkClick action="ppaction://hlinksldjump" r:id="rId6"/>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About</a:t>
            </a:r>
          </a:p>
        </p:txBody>
      </p:sp>
      <p:sp>
        <p:nvSpPr>
          <p:cNvPr id="42" name="Section navigation: Service (current)">
            <a:hlinkClick action="ppaction://hlinksldjump" r:id="rId7"/>
          </p:cNvPr>
          <p:cNvSpPr/>
          <p:nvPr/>
        </p:nvSpPr>
        <p:spPr>
          <a:xfrm>
            <a:off x="921258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FAFAFA"/>
                </a:solidFill>
                <a:latin typeface="Poppins"/>
              </a:rPr>
              <a:t>Service</a:t>
            </a:r>
          </a:p>
        </p:txBody>
      </p:sp>
      <p:sp>
        <p:nvSpPr>
          <p:cNvPr id="43" name="Section navigation: Team">
            <a:hlinkClick action="ppaction://hlinksldjump" r:id="rId8"/>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Team</a:t>
            </a:r>
          </a:p>
        </p:txBody>
      </p:sp>
      <p:sp>
        <p:nvSpPr>
          <p:cNvPr id="44" name="Section navigation: Conclusion">
            <a:hlinkClick action="ppaction://hlinksldjump" r:id="rId9"/>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Conclusion</a:t>
            </a:r>
          </a:p>
        </p:txBody>
      </p:sp>
      <p:sp>
        <p:nvSpPr>
          <p:cNvPr id="45" name="Story text: DIFFERENTIATION"/>
          <p:cNvSpPr txBox="1"/>
          <p:nvPr/>
        </p:nvSpPr>
        <p:spPr>
          <a:xfrm>
            <a:off x="4160520" y="2450592"/>
            <a:ext cx="10972800" cy="301752"/>
          </a:xfrm>
          <a:prstGeom prst="rect">
            <a:avLst/>
          </a:prstGeom>
          <a:noFill/>
        </p:spPr>
        <p:txBody>
          <a:bodyPr wrap="square" tIns="0" bIns="0" lIns="0" rIns="0" anchor="t">
            <a:noAutofit/>
          </a:bodyPr>
          <a:lstStyle/>
          <a:p>
            <a:pPr algn="l">
              <a:lnSpc>
                <a:spcPct val="106000"/>
              </a:lnSpc>
              <a:spcBef>
                <a:spcPts val="0"/>
              </a:spcBef>
              <a:spcAft>
                <a:spcPts val="0"/>
              </a:spcAft>
            </a:pPr>
            <a:r>
              <a:rPr sz="1600" b="1">
                <a:solidFill>
                  <a:srgbClr val="497078"/>
                </a:solidFill>
                <a:latin typeface="Poppins Bold"/>
              </a:rPr>
              <a:t>DIFFERENTIATION</a:t>
            </a:r>
          </a:p>
        </p:txBody>
      </p:sp>
      <p:sp>
        <p:nvSpPr>
          <p:cNvPr id="46" name="Story text: FROM ANSWERS&#10;TO EVIDENCE."/>
          <p:cNvSpPr txBox="1"/>
          <p:nvPr/>
        </p:nvSpPr>
        <p:spPr>
          <a:xfrm>
            <a:off x="4151376" y="2926080"/>
            <a:ext cx="10332720" cy="914400"/>
          </a:xfrm>
          <a:prstGeom prst="rect">
            <a:avLst/>
          </a:prstGeom>
          <a:noFill/>
        </p:spPr>
        <p:txBody>
          <a:bodyPr wrap="none" tIns="0" bIns="0" lIns="0" rIns="0" anchor="t">
            <a:noAutofit/>
          </a:bodyPr>
          <a:lstStyle/>
          <a:p>
            <a:pPr algn="l">
              <a:lnSpc>
                <a:spcPct val="106000"/>
              </a:lnSpc>
              <a:spcBef>
                <a:spcPts val="0"/>
              </a:spcBef>
              <a:spcAft>
                <a:spcPts val="0"/>
              </a:spcAft>
            </a:pPr>
            <a:r>
              <a:rPr sz="5000" b="1">
                <a:solidFill>
                  <a:srgbClr val="171717"/>
                </a:solidFill>
                <a:latin typeface="Poppins Bold"/>
              </a:rPr>
              <a:t>FROM ANSWERS TO EVIDENCE.</a:t>
            </a:r>
          </a:p>
        </p:txBody>
      </p:sp>
      <p:sp>
        <p:nvSpPr>
          <p:cNvPr id="47" name="Story text: Questionnaires describe. Systems pr"/>
          <p:cNvSpPr txBox="1"/>
          <p:nvPr/>
        </p:nvSpPr>
        <p:spPr>
          <a:xfrm>
            <a:off x="4160520" y="4325112"/>
            <a:ext cx="9985248" cy="484632"/>
          </a:xfrm>
          <a:prstGeom prst="rect">
            <a:avLst/>
          </a:prstGeom>
          <a:noFill/>
        </p:spPr>
        <p:txBody>
          <a:bodyPr wrap="square" tIns="0" bIns="0" lIns="0" rIns="0" anchor="t">
            <a:noAutofit/>
          </a:bodyPr>
          <a:lstStyle/>
          <a:p>
            <a:pPr algn="l">
              <a:lnSpc>
                <a:spcPct val="106000"/>
              </a:lnSpc>
              <a:spcBef>
                <a:spcPts val="0"/>
              </a:spcBef>
              <a:spcAft>
                <a:spcPts val="0"/>
              </a:spcAft>
            </a:pPr>
            <a:r>
              <a:rPr sz="2200" b="0">
                <a:solidFill>
                  <a:srgbClr val="687075"/>
                </a:solidFill>
                <a:latin typeface="Poppins"/>
              </a:rPr>
              <a:t>Questionnaires describe. Systems prove.</a:t>
            </a:r>
          </a:p>
        </p:txBody>
      </p:sp>
      <p:sp>
        <p:nvSpPr>
          <p:cNvPr id="56" name="Compact margin page number 08"/>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09</a:t>
            </a:r>
          </a:p>
        </p:txBody>
      </p:sp>
      <p:sp>
        <p:nvSpPr>
          <p:cNvPr id="57" name="traditional | workflow lane"/>
          <p:cNvSpPr/>
          <p:nvPr/>
        </p:nvSpPr>
        <p:spPr>
          <a:xfrm>
            <a:off x="4133087" y="5870448"/>
            <a:ext cx="10012680" cy="996696"/>
          </a:xfrm>
          <a:prstGeom prst="roundRect">
            <a:avLst>
              <a:gd name="adj" fmla="val 13000"/>
            </a:avLst>
          </a:prstGeom>
          <a:solidFill>
            <a:srgbClr val="E7E9E9"/>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traditional | label accent"/>
          <p:cNvSpPr/>
          <p:nvPr/>
        </p:nvSpPr>
        <p:spPr>
          <a:xfrm>
            <a:off x="4306824" y="6062472"/>
            <a:ext cx="50292" cy="603504"/>
          </a:xfrm>
          <a:prstGeom prst="rect">
            <a:avLst/>
          </a:prstGeom>
          <a:solidFill>
            <a:srgbClr val="BBC2C3"/>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traditional | heading"/>
          <p:cNvSpPr txBox="1"/>
          <p:nvPr/>
        </p:nvSpPr>
        <p:spPr>
          <a:xfrm>
            <a:off x="4489704" y="5998464"/>
            <a:ext cx="2542032" cy="347472"/>
          </a:xfrm>
          <a:prstGeom prst="rect">
            <a:avLst/>
          </a:prstGeom>
          <a:noFill/>
        </p:spPr>
        <p:txBody>
          <a:bodyPr wrap="square" lIns="0" rIns="0" tIns="0" bIns="0" anchor="ctr">
            <a:spAutoFit/>
          </a:bodyPr>
          <a:lstStyle/>
          <a:p>
            <a:pPr algn="l"/>
            <a:r>
              <a:rPr sz="1850" b="1">
                <a:solidFill>
                  <a:srgbClr val="687075"/>
                </a:solidFill>
                <a:latin typeface="Poppins"/>
              </a:rPr>
              <a:t>TRADITIONAL</a:t>
            </a:r>
          </a:p>
        </p:txBody>
      </p:sp>
      <p:sp>
        <p:nvSpPr>
          <p:cNvPr id="60" name="traditional | supporting context"/>
          <p:cNvSpPr txBox="1"/>
          <p:nvPr/>
        </p:nvSpPr>
        <p:spPr>
          <a:xfrm>
            <a:off x="4489704" y="6364224"/>
            <a:ext cx="2606040" cy="411480"/>
          </a:xfrm>
          <a:prstGeom prst="rect">
            <a:avLst/>
          </a:prstGeom>
          <a:noFill/>
        </p:spPr>
        <p:txBody>
          <a:bodyPr wrap="square" lIns="0" rIns="0" tIns="0" bIns="0" anchor="ctr">
            <a:spAutoFit/>
          </a:bodyPr>
          <a:lstStyle/>
          <a:p>
            <a:pPr algn="l"/>
            <a:r>
              <a:rPr sz="1200" b="0">
                <a:solidFill>
                  <a:srgbClr val="687075"/>
                </a:solidFill>
                <a:latin typeface="Poppins"/>
              </a:rPr>
              <a:t>Questionnaires and
manual discovery</a:t>
            </a:r>
          </a:p>
        </p:txBody>
      </p:sp>
      <p:sp>
        <p:nvSpPr>
          <p:cNvPr id="61" name="traditional | dividing line"/>
          <p:cNvSpPr/>
          <p:nvPr/>
        </p:nvSpPr>
        <p:spPr>
          <a:xfrm>
            <a:off x="7205472" y="6080760"/>
            <a:ext cx="10972" cy="576072"/>
          </a:xfrm>
          <a:prstGeom prst="rect">
            <a:avLst/>
          </a:prstGeom>
          <a:solidFill>
            <a:srgbClr val="C6CCCC"/>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2" name="traditional | stage 1: ASK"/>
          <p:cNvSpPr/>
          <p:nvPr/>
        </p:nvSpPr>
        <p:spPr>
          <a:xfrm>
            <a:off x="7525512" y="6053328"/>
            <a:ext cx="1792224" cy="630936"/>
          </a:xfrm>
          <a:prstGeom prst="roundRect">
            <a:avLst>
              <a:gd name="adj" fmla="val 13000"/>
            </a:avLst>
          </a:prstGeom>
          <a:solidFill>
            <a:srgbClr val="FAFAFA"/>
          </a:solidFill>
          <a:ln w="9525">
            <a:solidFill>
              <a:srgbClr val="D4D8D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3" name="traditional | stage text: ASK"/>
          <p:cNvSpPr txBox="1"/>
          <p:nvPr/>
        </p:nvSpPr>
        <p:spPr>
          <a:xfrm>
            <a:off x="7589520" y="6135624"/>
            <a:ext cx="1664208" cy="448056"/>
          </a:xfrm>
          <a:prstGeom prst="rect">
            <a:avLst/>
          </a:prstGeom>
          <a:noFill/>
        </p:spPr>
        <p:txBody>
          <a:bodyPr wrap="square" lIns="0" rIns="0" tIns="0" bIns="0" anchor="ctr">
            <a:spAutoFit/>
          </a:bodyPr>
          <a:lstStyle/>
          <a:p>
            <a:pPr algn="ctr"/>
            <a:r>
              <a:rPr sz="1540" b="1">
                <a:solidFill>
                  <a:srgbClr val="171717"/>
                </a:solidFill>
                <a:latin typeface="Poppins"/>
              </a:rPr>
              <a:t>ASK</a:t>
            </a:r>
          </a:p>
        </p:txBody>
      </p:sp>
      <p:sp>
        <p:nvSpPr>
          <p:cNvPr id="64" name="traditional | progression arrow 1"/>
          <p:cNvSpPr txBox="1"/>
          <p:nvPr/>
        </p:nvSpPr>
        <p:spPr>
          <a:xfrm>
            <a:off x="9363456" y="6080760"/>
            <a:ext cx="347472" cy="539496"/>
          </a:xfrm>
          <a:prstGeom prst="rect">
            <a:avLst/>
          </a:prstGeom>
          <a:noFill/>
        </p:spPr>
        <p:txBody>
          <a:bodyPr wrap="square" lIns="0" rIns="0" tIns="0" bIns="0" anchor="ctr">
            <a:spAutoFit/>
          </a:bodyPr>
          <a:lstStyle/>
          <a:p>
            <a:pPr algn="ctr"/>
            <a:r>
              <a:rPr sz="2300" b="0">
                <a:solidFill>
                  <a:srgbClr val="626B6E"/>
                </a:solidFill>
                <a:latin typeface="Poppins"/>
              </a:rPr>
              <a:t>→</a:t>
            </a:r>
          </a:p>
        </p:txBody>
      </p:sp>
      <p:sp>
        <p:nvSpPr>
          <p:cNvPr id="65" name="traditional | stage 2: CHASE"/>
          <p:cNvSpPr/>
          <p:nvPr/>
        </p:nvSpPr>
        <p:spPr>
          <a:xfrm>
            <a:off x="9747504" y="6053328"/>
            <a:ext cx="1792224" cy="630936"/>
          </a:xfrm>
          <a:prstGeom prst="roundRect">
            <a:avLst>
              <a:gd name="adj" fmla="val 13000"/>
            </a:avLst>
          </a:prstGeom>
          <a:solidFill>
            <a:srgbClr val="FAFAFA"/>
          </a:solidFill>
          <a:ln w="9525">
            <a:solidFill>
              <a:srgbClr val="D4D8D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6" name="traditional | stage text: CHASE"/>
          <p:cNvSpPr txBox="1"/>
          <p:nvPr/>
        </p:nvSpPr>
        <p:spPr>
          <a:xfrm>
            <a:off x="9811512" y="6135624"/>
            <a:ext cx="1664208" cy="448056"/>
          </a:xfrm>
          <a:prstGeom prst="rect">
            <a:avLst/>
          </a:prstGeom>
          <a:noFill/>
        </p:spPr>
        <p:txBody>
          <a:bodyPr wrap="square" lIns="0" rIns="0" tIns="0" bIns="0" anchor="ctr">
            <a:spAutoFit/>
          </a:bodyPr>
          <a:lstStyle/>
          <a:p>
            <a:pPr algn="ctr"/>
            <a:r>
              <a:rPr sz="1540" b="1">
                <a:solidFill>
                  <a:srgbClr val="171717"/>
                </a:solidFill>
                <a:latin typeface="Poppins"/>
              </a:rPr>
              <a:t>CHASE</a:t>
            </a:r>
          </a:p>
        </p:txBody>
      </p:sp>
      <p:sp>
        <p:nvSpPr>
          <p:cNvPr id="67" name="traditional | progression arrow 2"/>
          <p:cNvSpPr txBox="1"/>
          <p:nvPr/>
        </p:nvSpPr>
        <p:spPr>
          <a:xfrm>
            <a:off x="11585448" y="6080760"/>
            <a:ext cx="347472" cy="539496"/>
          </a:xfrm>
          <a:prstGeom prst="rect">
            <a:avLst/>
          </a:prstGeom>
          <a:noFill/>
        </p:spPr>
        <p:txBody>
          <a:bodyPr wrap="square" lIns="0" rIns="0" tIns="0" bIns="0" anchor="ctr">
            <a:spAutoFit/>
          </a:bodyPr>
          <a:lstStyle/>
          <a:p>
            <a:pPr algn="ctr"/>
            <a:r>
              <a:rPr sz="2300" b="0">
                <a:solidFill>
                  <a:srgbClr val="626B6E"/>
                </a:solidFill>
                <a:latin typeface="Poppins"/>
              </a:rPr>
              <a:t>→</a:t>
            </a:r>
          </a:p>
        </p:txBody>
      </p:sp>
      <p:sp>
        <p:nvSpPr>
          <p:cNvPr id="68" name="traditional | stage 3: REPEAT"/>
          <p:cNvSpPr/>
          <p:nvPr/>
        </p:nvSpPr>
        <p:spPr>
          <a:xfrm>
            <a:off x="11969496" y="6053328"/>
            <a:ext cx="1792224" cy="630936"/>
          </a:xfrm>
          <a:prstGeom prst="roundRect">
            <a:avLst>
              <a:gd name="adj" fmla="val 13000"/>
            </a:avLst>
          </a:prstGeom>
          <a:solidFill>
            <a:srgbClr val="FAFAFA"/>
          </a:solidFill>
          <a:ln w="9525">
            <a:solidFill>
              <a:srgbClr val="D4D8D9"/>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69" name="traditional | stage text: REPEAT"/>
          <p:cNvSpPr txBox="1"/>
          <p:nvPr/>
        </p:nvSpPr>
        <p:spPr>
          <a:xfrm>
            <a:off x="12033504" y="6135624"/>
            <a:ext cx="1664208" cy="448056"/>
          </a:xfrm>
          <a:prstGeom prst="rect">
            <a:avLst/>
          </a:prstGeom>
          <a:noFill/>
        </p:spPr>
        <p:txBody>
          <a:bodyPr wrap="square" lIns="0" rIns="0" tIns="0" bIns="0" anchor="ctr">
            <a:spAutoFit/>
          </a:bodyPr>
          <a:lstStyle/>
          <a:p>
            <a:pPr algn="ctr"/>
            <a:r>
              <a:rPr sz="1540" b="1">
                <a:solidFill>
                  <a:srgbClr val="171717"/>
                </a:solidFill>
                <a:latin typeface="Poppins"/>
              </a:rPr>
              <a:t>REPEAT</a:t>
            </a:r>
          </a:p>
        </p:txBody>
      </p:sp>
      <p:sp>
        <p:nvSpPr>
          <p:cNvPr id="70" name="regulift | workflow lane"/>
          <p:cNvSpPr/>
          <p:nvPr/>
        </p:nvSpPr>
        <p:spPr>
          <a:xfrm>
            <a:off x="4133087" y="7031736"/>
            <a:ext cx="10012680" cy="996696"/>
          </a:xfrm>
          <a:prstGeom prst="roundRect">
            <a:avLst>
              <a:gd name="adj" fmla="val 13000"/>
            </a:avLst>
          </a:prstGeom>
          <a:solidFill>
            <a:srgbClr val="1D232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1" name="regulift | label accent"/>
          <p:cNvSpPr/>
          <p:nvPr/>
        </p:nvSpPr>
        <p:spPr>
          <a:xfrm>
            <a:off x="4306824" y="7223760"/>
            <a:ext cx="50292" cy="603504"/>
          </a:xfrm>
          <a:prstGeom prst="rect">
            <a:avLst/>
          </a:prstGeom>
          <a:solidFill>
            <a:srgbClr val="87A9AF"/>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2" name="regulift | heading"/>
          <p:cNvSpPr txBox="1"/>
          <p:nvPr/>
        </p:nvSpPr>
        <p:spPr>
          <a:xfrm>
            <a:off x="4489704" y="7159752"/>
            <a:ext cx="2542032" cy="347472"/>
          </a:xfrm>
          <a:prstGeom prst="rect">
            <a:avLst/>
          </a:prstGeom>
          <a:noFill/>
        </p:spPr>
        <p:txBody>
          <a:bodyPr wrap="square" lIns="0" rIns="0" tIns="0" bIns="0" anchor="ctr">
            <a:spAutoFit/>
          </a:bodyPr>
          <a:lstStyle/>
          <a:p>
            <a:pPr algn="l"/>
            <a:r>
              <a:rPr sz="1850" b="1">
                <a:solidFill>
                  <a:srgbClr val="F5F7F7"/>
                </a:solidFill>
                <a:latin typeface="Poppins"/>
              </a:rPr>
              <a:t>REGULIFT</a:t>
            </a:r>
          </a:p>
        </p:txBody>
      </p:sp>
      <p:sp>
        <p:nvSpPr>
          <p:cNvPr id="73" name="regulift | supporting context"/>
          <p:cNvSpPr txBox="1"/>
          <p:nvPr/>
        </p:nvSpPr>
        <p:spPr>
          <a:xfrm>
            <a:off x="4489704" y="7525512"/>
            <a:ext cx="2606040" cy="411480"/>
          </a:xfrm>
          <a:prstGeom prst="rect">
            <a:avLst/>
          </a:prstGeom>
          <a:noFill/>
        </p:spPr>
        <p:txBody>
          <a:bodyPr wrap="square" lIns="0" rIns="0" tIns="0" bIns="0" anchor="ctr">
            <a:spAutoFit/>
          </a:bodyPr>
          <a:lstStyle/>
          <a:p>
            <a:pPr algn="l"/>
            <a:r>
              <a:rPr sz="1200" b="0">
                <a:solidFill>
                  <a:srgbClr val="C7D0D0"/>
                </a:solidFill>
                <a:latin typeface="Poppins"/>
              </a:rPr>
              <a:t>Live evidence and
lawyer review</a:t>
            </a:r>
          </a:p>
        </p:txBody>
      </p:sp>
      <p:sp>
        <p:nvSpPr>
          <p:cNvPr id="74" name="regulift | dividing line"/>
          <p:cNvSpPr/>
          <p:nvPr/>
        </p:nvSpPr>
        <p:spPr>
          <a:xfrm>
            <a:off x="7205472" y="7242048"/>
            <a:ext cx="10972" cy="576072"/>
          </a:xfrm>
          <a:prstGeom prst="rect">
            <a:avLst/>
          </a:prstGeom>
          <a:solidFill>
            <a:srgbClr val="475A5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5" name="regulift | stage 1: CONNECT"/>
          <p:cNvSpPr/>
          <p:nvPr/>
        </p:nvSpPr>
        <p:spPr>
          <a:xfrm>
            <a:off x="7525512" y="7214616"/>
            <a:ext cx="1792224" cy="630936"/>
          </a:xfrm>
          <a:prstGeom prst="roundRect">
            <a:avLst>
              <a:gd name="adj" fmla="val 13000"/>
            </a:avLst>
          </a:prstGeom>
          <a:solidFill>
            <a:srgbClr val="33464B"/>
          </a:solidFill>
          <a:ln w="9525">
            <a:solidFill>
              <a:srgbClr val="58777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6" name="regulift | stage text: CONNECT"/>
          <p:cNvSpPr txBox="1"/>
          <p:nvPr/>
        </p:nvSpPr>
        <p:spPr>
          <a:xfrm>
            <a:off x="7589520" y="7296912"/>
            <a:ext cx="1664208" cy="448056"/>
          </a:xfrm>
          <a:prstGeom prst="rect">
            <a:avLst/>
          </a:prstGeom>
          <a:noFill/>
        </p:spPr>
        <p:txBody>
          <a:bodyPr wrap="square" lIns="0" rIns="0" tIns="0" bIns="0" anchor="ctr">
            <a:spAutoFit/>
          </a:bodyPr>
          <a:lstStyle/>
          <a:p>
            <a:pPr algn="ctr"/>
            <a:r>
              <a:rPr sz="1540" b="1">
                <a:solidFill>
                  <a:srgbClr val="F9FBFB"/>
                </a:solidFill>
                <a:latin typeface="Poppins"/>
              </a:rPr>
              <a:t>CONNECT</a:t>
            </a:r>
          </a:p>
        </p:txBody>
      </p:sp>
      <p:sp>
        <p:nvSpPr>
          <p:cNvPr id="77" name="regulift | progression arrow 1"/>
          <p:cNvSpPr txBox="1"/>
          <p:nvPr/>
        </p:nvSpPr>
        <p:spPr>
          <a:xfrm>
            <a:off x="9363456" y="7242048"/>
            <a:ext cx="347472" cy="539496"/>
          </a:xfrm>
          <a:prstGeom prst="rect">
            <a:avLst/>
          </a:prstGeom>
          <a:noFill/>
        </p:spPr>
        <p:txBody>
          <a:bodyPr wrap="square" lIns="0" rIns="0" tIns="0" bIns="0" anchor="ctr">
            <a:spAutoFit/>
          </a:bodyPr>
          <a:lstStyle/>
          <a:p>
            <a:pPr algn="ctr"/>
            <a:r>
              <a:rPr sz="2300" b="0">
                <a:solidFill>
                  <a:srgbClr val="A8CBCD"/>
                </a:solidFill>
                <a:latin typeface="Poppins"/>
              </a:rPr>
              <a:t>→</a:t>
            </a:r>
          </a:p>
        </p:txBody>
      </p:sp>
      <p:sp>
        <p:nvSpPr>
          <p:cNvPr id="78" name="regulift | stage 2: VERIFY"/>
          <p:cNvSpPr/>
          <p:nvPr/>
        </p:nvSpPr>
        <p:spPr>
          <a:xfrm>
            <a:off x="9747504" y="7214616"/>
            <a:ext cx="1792224" cy="630936"/>
          </a:xfrm>
          <a:prstGeom prst="roundRect">
            <a:avLst>
              <a:gd name="adj" fmla="val 13000"/>
            </a:avLst>
          </a:prstGeom>
          <a:solidFill>
            <a:srgbClr val="33464B"/>
          </a:solidFill>
          <a:ln w="9525">
            <a:solidFill>
              <a:srgbClr val="58777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79" name="regulift | stage text: VERIFY"/>
          <p:cNvSpPr txBox="1"/>
          <p:nvPr/>
        </p:nvSpPr>
        <p:spPr>
          <a:xfrm>
            <a:off x="9811512" y="7296912"/>
            <a:ext cx="1664208" cy="448056"/>
          </a:xfrm>
          <a:prstGeom prst="rect">
            <a:avLst/>
          </a:prstGeom>
          <a:noFill/>
        </p:spPr>
        <p:txBody>
          <a:bodyPr wrap="square" lIns="0" rIns="0" tIns="0" bIns="0" anchor="ctr">
            <a:spAutoFit/>
          </a:bodyPr>
          <a:lstStyle/>
          <a:p>
            <a:pPr algn="ctr"/>
            <a:r>
              <a:rPr sz="1540" b="1">
                <a:solidFill>
                  <a:srgbClr val="F9FBFB"/>
                </a:solidFill>
                <a:latin typeface="Poppins"/>
              </a:rPr>
              <a:t>VERIFY</a:t>
            </a:r>
          </a:p>
        </p:txBody>
      </p:sp>
      <p:sp>
        <p:nvSpPr>
          <p:cNvPr id="80" name="regulift | progression arrow 2"/>
          <p:cNvSpPr txBox="1"/>
          <p:nvPr/>
        </p:nvSpPr>
        <p:spPr>
          <a:xfrm>
            <a:off x="11585448" y="7242048"/>
            <a:ext cx="347472" cy="539496"/>
          </a:xfrm>
          <a:prstGeom prst="rect">
            <a:avLst/>
          </a:prstGeom>
          <a:noFill/>
        </p:spPr>
        <p:txBody>
          <a:bodyPr wrap="square" lIns="0" rIns="0" tIns="0" bIns="0" anchor="ctr">
            <a:spAutoFit/>
          </a:bodyPr>
          <a:lstStyle/>
          <a:p>
            <a:pPr algn="ctr"/>
            <a:r>
              <a:rPr sz="2300" b="0">
                <a:solidFill>
                  <a:srgbClr val="A8CBCD"/>
                </a:solidFill>
                <a:latin typeface="Poppins"/>
              </a:rPr>
              <a:t>→</a:t>
            </a:r>
          </a:p>
        </p:txBody>
      </p:sp>
      <p:sp>
        <p:nvSpPr>
          <p:cNvPr id="81" name="regulift | stage 3: REUSE"/>
          <p:cNvSpPr/>
          <p:nvPr/>
        </p:nvSpPr>
        <p:spPr>
          <a:xfrm>
            <a:off x="11969496" y="7214616"/>
            <a:ext cx="1792224" cy="630936"/>
          </a:xfrm>
          <a:prstGeom prst="roundRect">
            <a:avLst>
              <a:gd name="adj" fmla="val 13000"/>
            </a:avLst>
          </a:prstGeom>
          <a:solidFill>
            <a:srgbClr val="33464B"/>
          </a:solidFill>
          <a:ln w="9525">
            <a:solidFill>
              <a:srgbClr val="58777D"/>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82" name="regulift | stage text: REUSE"/>
          <p:cNvSpPr txBox="1"/>
          <p:nvPr/>
        </p:nvSpPr>
        <p:spPr>
          <a:xfrm>
            <a:off x="12033504" y="7296912"/>
            <a:ext cx="1664208" cy="448056"/>
          </a:xfrm>
          <a:prstGeom prst="rect">
            <a:avLst/>
          </a:prstGeom>
          <a:noFill/>
        </p:spPr>
        <p:txBody>
          <a:bodyPr wrap="square" lIns="0" rIns="0" tIns="0" bIns="0" anchor="ctr">
            <a:spAutoFit/>
          </a:bodyPr>
          <a:lstStyle/>
          <a:p>
            <a:pPr algn="ctr"/>
            <a:r>
              <a:rPr sz="1540" b="1">
                <a:solidFill>
                  <a:srgbClr val="F9FBFB"/>
                </a:solidFill>
                <a:latin typeface="Poppins"/>
              </a:rPr>
              <a:t>REUSE</a:t>
            </a:r>
          </a:p>
        </p:txBody>
      </p:sp>
    </p:spTree>
  </p:cSld>
  <p:clrMapOvr>
    <a:masterClrMapping/>
  </p:clrMapOvr>
  <p:transition spd="slow">
    <p:push dir="r"/>
  </p:transition>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grpSp>
        <p:nvGrpSpPr>
          <p:cNvPr name="Group 15" id="15"/>
          <p:cNvGrpSpPr/>
          <p:nvPr/>
        </p:nvGrpSpPr>
        <p:grpSpPr>
          <a:xfrm rot="0">
            <a:off x="4027427" y="1117625"/>
            <a:ext cx="10233146" cy="530810"/>
            <a:chOff x="0" y="0"/>
            <a:chExt cx="2988982" cy="155043"/>
          </a:xfrm>
        </p:grpSpPr>
        <p:sp>
          <p:nvSpPr>
            <p:cNvPr name="Freeform 16" id="16"/>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7" id="17"/>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3" id="33"/>
          <p:cNvGrpSpPr/>
          <p:nvPr/>
        </p:nvGrpSpPr>
        <p:grpSpPr>
          <a:xfrm rot="0">
            <a:off x="4100894" y="1190732"/>
            <a:ext cx="2511996" cy="384596"/>
            <a:chOff x="0" y="0"/>
            <a:chExt cx="3349328" cy="512795"/>
          </a:xfrm>
        </p:grpSpPr>
        <p:grpSp>
          <p:nvGrpSpPr>
            <p:cNvPr name="Group 34" id="34"/>
            <p:cNvGrpSpPr/>
            <p:nvPr/>
          </p:nvGrpSpPr>
          <p:grpSpPr>
            <a:xfrm rot="0">
              <a:off x="0" y="0"/>
              <a:ext cx="512795" cy="51279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6" id="36"/>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7" id="37"/>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8" id="38"/>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39" name="Section navigation: About">
            <a:hlinkClick action="ppaction://hlinksldjump" r:id="rId4"/>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About</a:t>
            </a:r>
          </a:p>
        </p:txBody>
      </p:sp>
      <p:sp>
        <p:nvSpPr>
          <p:cNvPr id="40" name="Section navigation: Service (current)">
            <a:hlinkClick action="ppaction://hlinksldjump" r:id="rId5"/>
          </p:cNvPr>
          <p:cNvSpPr/>
          <p:nvPr/>
        </p:nvSpPr>
        <p:spPr>
          <a:xfrm>
            <a:off x="921258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FAFAFA"/>
                </a:solidFill>
                <a:latin typeface="Poppins"/>
              </a:rPr>
              <a:t>Service</a:t>
            </a:r>
          </a:p>
        </p:txBody>
      </p:sp>
      <p:sp>
        <p:nvSpPr>
          <p:cNvPr id="41" name="Section navigation: Team">
            <a:hlinkClick action="ppaction://hlinksldjump" r:id="rId6"/>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Team</a:t>
            </a:r>
          </a:p>
        </p:txBody>
      </p:sp>
      <p:sp>
        <p:nvSpPr>
          <p:cNvPr id="42" name="Section navigation: Conclusion">
            <a:hlinkClick action="ppaction://hlinksldjump" r:id="rId7"/>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Conclusion</a:t>
            </a:r>
          </a:p>
        </p:txBody>
      </p:sp>
      <p:sp>
        <p:nvSpPr>
          <p:cNvPr id="43" name="Story text: MARKET OPPORTUNITY"/>
          <p:cNvSpPr txBox="1"/>
          <p:nvPr/>
        </p:nvSpPr>
        <p:spPr>
          <a:xfrm>
            <a:off x="1115568" y="1901952"/>
            <a:ext cx="10972800" cy="301752"/>
          </a:xfrm>
          <a:prstGeom prst="rect">
            <a:avLst/>
          </a:prstGeom>
          <a:noFill/>
        </p:spPr>
        <p:txBody>
          <a:bodyPr wrap="square" tIns="0" bIns="0" lIns="0" rIns="0" anchor="t">
            <a:noAutofit/>
          </a:bodyPr>
          <a:lstStyle/>
          <a:p>
            <a:pPr algn="l">
              <a:lnSpc>
                <a:spcPct val="106000"/>
              </a:lnSpc>
              <a:spcBef>
                <a:spcPts val="0"/>
              </a:spcBef>
              <a:spcAft>
                <a:spcPts val="0"/>
              </a:spcAft>
            </a:pPr>
            <a:r>
              <a:rPr sz="1600" b="1">
                <a:solidFill>
                  <a:srgbClr val="497078"/>
                </a:solidFill>
                <a:latin typeface="Poppins Bold"/>
              </a:rPr>
              <a:t>MARKET OPPORTUNITY</a:t>
            </a:r>
          </a:p>
        </p:txBody>
      </p:sp>
      <p:sp>
        <p:nvSpPr>
          <p:cNvPr id="44" name="Story text: START FOCUSED. SCALE WIDER."/>
          <p:cNvSpPr txBox="1"/>
          <p:nvPr/>
        </p:nvSpPr>
        <p:spPr>
          <a:xfrm>
            <a:off x="1106424" y="2286000"/>
            <a:ext cx="16184880" cy="1005840"/>
          </a:xfrm>
          <a:prstGeom prst="rect">
            <a:avLst/>
          </a:prstGeom>
          <a:noFill/>
        </p:spPr>
        <p:txBody>
          <a:bodyPr wrap="square" tIns="0" bIns="0" lIns="0" rIns="0" anchor="t">
            <a:noAutofit/>
          </a:bodyPr>
          <a:lstStyle/>
          <a:p>
            <a:pPr algn="l">
              <a:lnSpc>
                <a:spcPct val="106000"/>
              </a:lnSpc>
              <a:spcBef>
                <a:spcPts val="0"/>
              </a:spcBef>
              <a:spcAft>
                <a:spcPts val="0"/>
              </a:spcAft>
            </a:pPr>
            <a:r>
              <a:rPr sz="5800" b="1">
                <a:solidFill>
                  <a:srgbClr val="171717"/>
                </a:solidFill>
                <a:latin typeface="Poppins Bold"/>
              </a:rPr>
              <a:t>START FOCUSED. SCALE WIDER.</a:t>
            </a:r>
          </a:p>
        </p:txBody>
      </p:sp>
      <p:sp>
        <p:nvSpPr>
          <p:cNvPr id="45" name="Story text: European software SMEs are our entr"/>
          <p:cNvSpPr txBox="1"/>
          <p:nvPr/>
        </p:nvSpPr>
        <p:spPr>
          <a:xfrm>
            <a:off x="1115568" y="3502152"/>
            <a:ext cx="15819120" cy="475488"/>
          </a:xfrm>
          <a:prstGeom prst="rect">
            <a:avLst/>
          </a:prstGeom>
          <a:noFill/>
        </p:spPr>
        <p:txBody>
          <a:bodyPr wrap="square" tIns="0" bIns="0" lIns="0" rIns="0" anchor="t">
            <a:noAutofit/>
          </a:bodyPr>
          <a:lstStyle/>
          <a:p>
            <a:pPr algn="l">
              <a:lnSpc>
                <a:spcPct val="106000"/>
              </a:lnSpc>
              <a:spcBef>
                <a:spcPts val="0"/>
              </a:spcBef>
              <a:spcAft>
                <a:spcPts val="0"/>
              </a:spcAft>
            </a:pPr>
            <a:r>
              <a:rPr sz="2400" b="0">
                <a:solidFill>
                  <a:srgbClr val="687075"/>
                </a:solidFill>
                <a:latin typeface="Poppins"/>
              </a:rPr>
              <a:t>European software SMEs are our entry market.</a:t>
            </a:r>
          </a:p>
        </p:txBody>
      </p:sp>
      <p:sp>
        <p:nvSpPr>
          <p:cNvPr id="46" name="Market metric TAM · GLOBAL"/>
          <p:cNvSpPr/>
          <p:nvPr/>
        </p:nvSpPr>
        <p:spPr>
          <a:xfrm>
            <a:off x="1143000" y="4288536"/>
            <a:ext cx="5166360" cy="3474720"/>
          </a:xfrm>
          <a:prstGeom prst="roundRect">
            <a:avLst>
              <a:gd name="adj" fmla="val 7000"/>
            </a:avLst>
          </a:prstGeom>
          <a:solidFill>
            <a:srgbClr val="1D232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Story text: TAM · GLOBAL"/>
          <p:cNvSpPr txBox="1"/>
          <p:nvPr/>
        </p:nvSpPr>
        <p:spPr>
          <a:xfrm>
            <a:off x="1426464" y="4626864"/>
            <a:ext cx="4581144" cy="429768"/>
          </a:xfrm>
          <a:prstGeom prst="rect">
            <a:avLst/>
          </a:prstGeom>
          <a:noFill/>
        </p:spPr>
        <p:txBody>
          <a:bodyPr wrap="square" tIns="0" bIns="0" lIns="0" rIns="0" anchor="t">
            <a:noAutofit/>
          </a:bodyPr>
          <a:lstStyle/>
          <a:p>
            <a:pPr algn="l">
              <a:lnSpc>
                <a:spcPct val="106000"/>
              </a:lnSpc>
              <a:spcBef>
                <a:spcPts val="0"/>
              </a:spcBef>
              <a:spcAft>
                <a:spcPts val="0"/>
              </a:spcAft>
            </a:pPr>
            <a:r>
              <a:rPr sz="1900" b="1">
                <a:solidFill>
                  <a:srgbClr val="C8D0D0"/>
                </a:solidFill>
                <a:latin typeface="Poppins Bold"/>
              </a:rPr>
              <a:t>TAM · GLOBAL</a:t>
            </a:r>
          </a:p>
        </p:txBody>
      </p:sp>
      <p:sp>
        <p:nvSpPr>
          <p:cNvPr id="48" name="Story text: $9.1B"/>
          <p:cNvSpPr txBox="1"/>
          <p:nvPr/>
        </p:nvSpPr>
        <p:spPr>
          <a:xfrm>
            <a:off x="1426464" y="5202936"/>
            <a:ext cx="4590288" cy="996696"/>
          </a:xfrm>
          <a:prstGeom prst="rect">
            <a:avLst/>
          </a:prstGeom>
          <a:noFill/>
        </p:spPr>
        <p:txBody>
          <a:bodyPr wrap="square" tIns="0" bIns="0" lIns="0" rIns="0" anchor="t">
            <a:noAutofit/>
          </a:bodyPr>
          <a:lstStyle/>
          <a:p>
            <a:pPr algn="l">
              <a:lnSpc>
                <a:spcPct val="106000"/>
              </a:lnSpc>
              <a:spcBef>
                <a:spcPts val="0"/>
              </a:spcBef>
              <a:spcAft>
                <a:spcPts val="0"/>
              </a:spcAft>
            </a:pPr>
            <a:r>
              <a:rPr sz="6000" b="1">
                <a:solidFill>
                  <a:srgbClr val="FAFAFA"/>
                </a:solidFill>
                <a:latin typeface="Poppins Bold"/>
              </a:rPr>
              <a:t>$9.1B</a:t>
            </a:r>
          </a:p>
        </p:txBody>
      </p:sp>
      <p:cxnSp>
        <p:nvCxnSpPr>
          <p:cNvPr id="49" name="Connector 48"/>
          <p:cNvCxnSpPr/>
          <p:nvPr/>
        </p:nvCxnSpPr>
        <p:spPr>
          <a:xfrm>
            <a:off x="1426464" y="6428232"/>
            <a:ext cx="4599432" cy="0"/>
          </a:xfrm>
          <a:prstGeom prst="line">
            <a:avLst/>
          </a:prstGeom>
          <a:ln w="12700">
            <a:solidFill>
              <a:srgbClr val="C8D0D0"/>
            </a:solidFill>
          </a:ln>
        </p:spPr>
        <p:style>
          <a:lnRef idx="2">
            <a:schemeClr val="accent1"/>
          </a:lnRef>
          <a:fillRef idx="0">
            <a:schemeClr val="accent1"/>
          </a:fillRef>
          <a:effectRef idx="0">
            <a:schemeClr val="accent1"/>
          </a:effectRef>
          <a:fontRef idx="minor">
            <a:schemeClr val="tx1"/>
          </a:fontRef>
        </p:style>
      </p:cxnSp>
      <p:sp>
        <p:nvSpPr>
          <p:cNvPr id="50" name="Story text: GRC software · 2029"/>
          <p:cNvSpPr txBox="1"/>
          <p:nvPr/>
        </p:nvSpPr>
        <p:spPr>
          <a:xfrm>
            <a:off x="1426464" y="6748272"/>
            <a:ext cx="4581144" cy="566928"/>
          </a:xfrm>
          <a:prstGeom prst="rect">
            <a:avLst/>
          </a:prstGeom>
          <a:noFill/>
        </p:spPr>
        <p:txBody>
          <a:bodyPr wrap="square" tIns="0" bIns="0" lIns="0" rIns="0" anchor="t">
            <a:noAutofit/>
          </a:bodyPr>
          <a:lstStyle/>
          <a:p>
            <a:pPr algn="l">
              <a:lnSpc>
                <a:spcPct val="106000"/>
              </a:lnSpc>
              <a:spcBef>
                <a:spcPts val="0"/>
              </a:spcBef>
              <a:spcAft>
                <a:spcPts val="0"/>
              </a:spcAft>
            </a:pPr>
            <a:r>
              <a:rPr sz="1900" b="0">
                <a:solidFill>
                  <a:srgbClr val="FAFAFA"/>
                </a:solidFill>
                <a:latin typeface="Poppins"/>
              </a:rPr>
              <a:t>GRC software · 2029</a:t>
            </a:r>
          </a:p>
        </p:txBody>
      </p:sp>
      <p:sp>
        <p:nvSpPr>
          <p:cNvPr id="51" name="Market metric SAM · EU SOFTWARE"/>
          <p:cNvSpPr/>
          <p:nvPr/>
        </p:nvSpPr>
        <p:spPr>
          <a:xfrm>
            <a:off x="6565392" y="4288536"/>
            <a:ext cx="5166360" cy="3474720"/>
          </a:xfrm>
          <a:prstGeom prst="roundRect">
            <a:avLst>
              <a:gd name="adj" fmla="val 7000"/>
            </a:avLst>
          </a:prstGeom>
          <a:solidFill>
            <a:srgbClr val="D9E5E0"/>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Story text: SAM · EU SOFTWARE"/>
          <p:cNvSpPr txBox="1"/>
          <p:nvPr/>
        </p:nvSpPr>
        <p:spPr>
          <a:xfrm>
            <a:off x="6848855" y="4626864"/>
            <a:ext cx="4581144" cy="429768"/>
          </a:xfrm>
          <a:prstGeom prst="rect">
            <a:avLst/>
          </a:prstGeom>
          <a:noFill/>
        </p:spPr>
        <p:txBody>
          <a:bodyPr wrap="square" tIns="0" bIns="0" lIns="0" rIns="0" anchor="t">
            <a:noAutofit/>
          </a:bodyPr>
          <a:lstStyle/>
          <a:p>
            <a:pPr algn="l">
              <a:lnSpc>
                <a:spcPct val="106000"/>
              </a:lnSpc>
              <a:spcBef>
                <a:spcPts val="0"/>
              </a:spcBef>
              <a:spcAft>
                <a:spcPts val="0"/>
              </a:spcAft>
            </a:pPr>
            <a:r>
              <a:rPr sz="1900" b="1">
                <a:solidFill>
                  <a:srgbClr val="687075"/>
                </a:solidFill>
                <a:latin typeface="Poppins Bold"/>
              </a:rPr>
              <a:t>SAM · EU SOFTWARE</a:t>
            </a:r>
          </a:p>
        </p:txBody>
      </p:sp>
      <p:sp>
        <p:nvSpPr>
          <p:cNvPr id="53" name="Story text: €230M"/>
          <p:cNvSpPr txBox="1"/>
          <p:nvPr/>
        </p:nvSpPr>
        <p:spPr>
          <a:xfrm>
            <a:off x="6848855" y="5202936"/>
            <a:ext cx="4590288" cy="996696"/>
          </a:xfrm>
          <a:prstGeom prst="rect">
            <a:avLst/>
          </a:prstGeom>
          <a:noFill/>
        </p:spPr>
        <p:txBody>
          <a:bodyPr wrap="square" tIns="0" bIns="0" lIns="0" rIns="0" anchor="t">
            <a:noAutofit/>
          </a:bodyPr>
          <a:lstStyle/>
          <a:p>
            <a:pPr algn="l">
              <a:lnSpc>
                <a:spcPct val="106000"/>
              </a:lnSpc>
              <a:spcBef>
                <a:spcPts val="0"/>
              </a:spcBef>
              <a:spcAft>
                <a:spcPts val="0"/>
              </a:spcAft>
            </a:pPr>
            <a:r>
              <a:rPr sz="6000" b="1">
                <a:solidFill>
                  <a:srgbClr val="171717"/>
                </a:solidFill>
                <a:latin typeface="Poppins Bold"/>
              </a:rPr>
              <a:t>€230M</a:t>
            </a:r>
          </a:p>
        </p:txBody>
      </p:sp>
      <p:cxnSp>
        <p:nvCxnSpPr>
          <p:cNvPr id="54" name="Connector 53"/>
          <p:cNvCxnSpPr/>
          <p:nvPr/>
        </p:nvCxnSpPr>
        <p:spPr>
          <a:xfrm>
            <a:off x="6848855" y="6428232"/>
            <a:ext cx="4599433" cy="0"/>
          </a:xfrm>
          <a:prstGeom prst="line">
            <a:avLst/>
          </a:prstGeom>
          <a:ln w="12700">
            <a:solidFill>
              <a:srgbClr val="687075"/>
            </a:solidFill>
          </a:ln>
        </p:spPr>
        <p:style>
          <a:lnRef idx="2">
            <a:schemeClr val="accent1"/>
          </a:lnRef>
          <a:fillRef idx="0">
            <a:schemeClr val="accent1"/>
          </a:fillRef>
          <a:effectRef idx="0">
            <a:schemeClr val="accent1"/>
          </a:effectRef>
          <a:fontRef idx="minor">
            <a:schemeClr val="tx1"/>
          </a:fontRef>
        </p:style>
      </p:cxnSp>
      <p:sp>
        <p:nvSpPr>
          <p:cNvPr id="55" name="Story text: 23,370 firms · estimate"/>
          <p:cNvSpPr txBox="1"/>
          <p:nvPr/>
        </p:nvSpPr>
        <p:spPr>
          <a:xfrm>
            <a:off x="6848855" y="6748272"/>
            <a:ext cx="4581144" cy="566928"/>
          </a:xfrm>
          <a:prstGeom prst="rect">
            <a:avLst/>
          </a:prstGeom>
          <a:noFill/>
        </p:spPr>
        <p:txBody>
          <a:bodyPr wrap="square" tIns="0" bIns="0" lIns="0" rIns="0" anchor="t">
            <a:noAutofit/>
          </a:bodyPr>
          <a:lstStyle/>
          <a:p>
            <a:pPr algn="l">
              <a:lnSpc>
                <a:spcPct val="106000"/>
              </a:lnSpc>
              <a:spcBef>
                <a:spcPts val="0"/>
              </a:spcBef>
              <a:spcAft>
                <a:spcPts val="0"/>
              </a:spcAft>
            </a:pPr>
            <a:r>
              <a:rPr sz="1900" b="0">
                <a:solidFill>
                  <a:srgbClr val="171717"/>
                </a:solidFill>
                <a:latin typeface="Poppins"/>
              </a:rPr>
              <a:t>23,370 firms · estimate</a:t>
            </a:r>
          </a:p>
        </p:txBody>
      </p:sp>
      <p:sp>
        <p:nvSpPr>
          <p:cNvPr id="56" name="Market metric SOM · AT / DE / IT"/>
          <p:cNvSpPr/>
          <p:nvPr/>
        </p:nvSpPr>
        <p:spPr>
          <a:xfrm>
            <a:off x="11987784" y="4288536"/>
            <a:ext cx="5166360" cy="3474720"/>
          </a:xfrm>
          <a:prstGeom prst="roundRect">
            <a:avLst>
              <a:gd name="adj" fmla="val 7000"/>
            </a:avLst>
          </a:prstGeom>
          <a:solidFill>
            <a:srgbClr val="ECEFEE"/>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7" name="Story text: SOM · AT / DE / IT"/>
          <p:cNvSpPr txBox="1"/>
          <p:nvPr/>
        </p:nvSpPr>
        <p:spPr>
          <a:xfrm>
            <a:off x="12271248" y="4626864"/>
            <a:ext cx="4581144" cy="429768"/>
          </a:xfrm>
          <a:prstGeom prst="rect">
            <a:avLst/>
          </a:prstGeom>
          <a:noFill/>
        </p:spPr>
        <p:txBody>
          <a:bodyPr wrap="square" tIns="0" bIns="0" lIns="0" rIns="0" anchor="t">
            <a:noAutofit/>
          </a:bodyPr>
          <a:lstStyle/>
          <a:p>
            <a:pPr algn="l">
              <a:lnSpc>
                <a:spcPct val="106000"/>
              </a:lnSpc>
              <a:spcBef>
                <a:spcPts val="0"/>
              </a:spcBef>
              <a:spcAft>
                <a:spcPts val="0"/>
              </a:spcAft>
            </a:pPr>
            <a:r>
              <a:rPr sz="1900" b="1">
                <a:solidFill>
                  <a:srgbClr val="687075"/>
                </a:solidFill>
                <a:latin typeface="Poppins Bold"/>
              </a:rPr>
              <a:t>SOM · AT / DE / IT</a:t>
            </a:r>
          </a:p>
        </p:txBody>
      </p:sp>
      <p:sp>
        <p:nvSpPr>
          <p:cNvPr id="58" name="Story text: €17M"/>
          <p:cNvSpPr txBox="1"/>
          <p:nvPr/>
        </p:nvSpPr>
        <p:spPr>
          <a:xfrm>
            <a:off x="12271248" y="5202936"/>
            <a:ext cx="4590288" cy="996696"/>
          </a:xfrm>
          <a:prstGeom prst="rect">
            <a:avLst/>
          </a:prstGeom>
          <a:noFill/>
        </p:spPr>
        <p:txBody>
          <a:bodyPr wrap="square" tIns="0" bIns="0" lIns="0" rIns="0" anchor="t">
            <a:noAutofit/>
          </a:bodyPr>
          <a:lstStyle/>
          <a:p>
            <a:pPr algn="l">
              <a:lnSpc>
                <a:spcPct val="106000"/>
              </a:lnSpc>
              <a:spcBef>
                <a:spcPts val="0"/>
              </a:spcBef>
              <a:spcAft>
                <a:spcPts val="0"/>
              </a:spcAft>
            </a:pPr>
            <a:r>
              <a:rPr sz="6000" b="1">
                <a:solidFill>
                  <a:srgbClr val="171717"/>
                </a:solidFill>
                <a:latin typeface="Poppins Bold"/>
              </a:rPr>
              <a:t>€17M</a:t>
            </a:r>
          </a:p>
        </p:txBody>
      </p:sp>
      <p:cxnSp>
        <p:nvCxnSpPr>
          <p:cNvPr id="59" name="Connector 58"/>
          <p:cNvCxnSpPr/>
          <p:nvPr/>
        </p:nvCxnSpPr>
        <p:spPr>
          <a:xfrm>
            <a:off x="12271248" y="6428232"/>
            <a:ext cx="4599432" cy="0"/>
          </a:xfrm>
          <a:prstGeom prst="line">
            <a:avLst/>
          </a:prstGeom>
          <a:ln w="12700">
            <a:solidFill>
              <a:srgbClr val="687075"/>
            </a:solidFill>
          </a:ln>
        </p:spPr>
        <p:style>
          <a:lnRef idx="2">
            <a:schemeClr val="accent1"/>
          </a:lnRef>
          <a:fillRef idx="0">
            <a:schemeClr val="accent1"/>
          </a:fillRef>
          <a:effectRef idx="0">
            <a:schemeClr val="accent1"/>
          </a:effectRef>
          <a:fontRef idx="minor">
            <a:schemeClr val="tx1"/>
          </a:fontRef>
        </p:style>
      </p:cxnSp>
      <p:sp>
        <p:nvSpPr>
          <p:cNvPr id="60" name="Story text: 1,200 target firms · estimate"/>
          <p:cNvSpPr txBox="1"/>
          <p:nvPr/>
        </p:nvSpPr>
        <p:spPr>
          <a:xfrm>
            <a:off x="12271248" y="6748272"/>
            <a:ext cx="4581144" cy="566928"/>
          </a:xfrm>
          <a:prstGeom prst="rect">
            <a:avLst/>
          </a:prstGeom>
          <a:noFill/>
        </p:spPr>
        <p:txBody>
          <a:bodyPr wrap="square" tIns="0" bIns="0" lIns="0" rIns="0" anchor="t">
            <a:noAutofit/>
          </a:bodyPr>
          <a:lstStyle/>
          <a:p>
            <a:pPr algn="l">
              <a:lnSpc>
                <a:spcPct val="106000"/>
              </a:lnSpc>
              <a:spcBef>
                <a:spcPts val="0"/>
              </a:spcBef>
              <a:spcAft>
                <a:spcPts val="0"/>
              </a:spcAft>
            </a:pPr>
            <a:r>
              <a:rPr sz="1900" b="0">
                <a:solidFill>
                  <a:srgbClr val="171717"/>
                </a:solidFill>
                <a:latin typeface="Poppins"/>
              </a:rPr>
              <a:t>1,200 target firms · estimate</a:t>
            </a:r>
          </a:p>
        </p:txBody>
      </p:sp>
      <p:sp>
        <p:nvSpPr>
          <p:cNvPr id="61" name="Story text: SAM &amp; SOM use Eurostat company coun"/>
          <p:cNvSpPr txBox="1"/>
          <p:nvPr/>
        </p:nvSpPr>
        <p:spPr>
          <a:xfrm>
            <a:off x="1152144" y="8001000"/>
            <a:ext cx="15819120" cy="329184"/>
          </a:xfrm>
          <a:prstGeom prst="rect">
            <a:avLst/>
          </a:prstGeom>
          <a:noFill/>
        </p:spPr>
        <p:txBody>
          <a:bodyPr wrap="square" tIns="0" bIns="0" lIns="0" rIns="0" anchor="t">
            <a:noAutofit/>
          </a:bodyPr>
          <a:lstStyle/>
          <a:p>
            <a:pPr algn="l">
              <a:lnSpc>
                <a:spcPct val="106000"/>
              </a:lnSpc>
              <a:spcBef>
                <a:spcPts val="0"/>
              </a:spcBef>
              <a:spcAft>
                <a:spcPts val="0"/>
              </a:spcAft>
            </a:pPr>
            <a:r>
              <a:rPr sz="1650" b="0">
                <a:solidFill>
                  <a:srgbClr val="171717"/>
                </a:solidFill>
                <a:latin typeface="Poppins"/>
              </a:rPr>
              <a:t>SAM &amp; SOM use Eurostat company counts × proposed prices; estimates, not forecasts.</a:t>
            </a:r>
          </a:p>
        </p:txBody>
      </p:sp>
      <p:sp>
        <p:nvSpPr>
          <p:cNvPr id="62" name="Story text: Source: Verdantix (2025); Eurostat "/>
          <p:cNvSpPr txBox="1"/>
          <p:nvPr/>
        </p:nvSpPr>
        <p:spPr>
          <a:xfrm>
            <a:off x="1161288" y="8348472"/>
            <a:ext cx="15773400" cy="292608"/>
          </a:xfrm>
          <a:prstGeom prst="rect">
            <a:avLst/>
          </a:prstGeom>
          <a:noFill/>
        </p:spPr>
        <p:txBody>
          <a:bodyPr wrap="square" tIns="0" bIns="0" lIns="0" rIns="0" anchor="t">
            <a:noAutofit/>
          </a:bodyPr>
          <a:lstStyle/>
          <a:p>
            <a:pPr algn="l">
              <a:lnSpc>
                <a:spcPct val="106000"/>
              </a:lnSpc>
              <a:spcBef>
                <a:spcPts val="0"/>
              </a:spcBef>
              <a:spcAft>
                <a:spcPts val="0"/>
              </a:spcAft>
            </a:pPr>
            <a:r>
              <a:rPr sz="1400" b="0">
                <a:solidFill>
                  <a:srgbClr val="687075"/>
                </a:solidFill>
                <a:latin typeface="Poppins"/>
              </a:rPr>
              <a:t>Source: Verdantix (2025); Eurostat (2024); Regulift pricing research (2026).</a:t>
            </a:r>
          </a:p>
        </p:txBody>
      </p:sp>
      <p:sp>
        <p:nvSpPr>
          <p:cNvPr id="63" name="Compact margin page number 09"/>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10</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8F8F8"/>
        </a:solidFill>
        <a:effectLst/>
      </p:bgPr>
    </p:bg>
    <p:spTree>
      <p:nvGrpSpPr>
        <p:cNvPr id="1" name=""/>
        <p:cNvGrpSpPr/>
        <p:nvPr/>
      </p:nvGrpSpPr>
      <p:grpSpPr/>
      <p:grpSp>
        <p:nvGrpSpPr>
          <p:cNvPr name="Group 15" id="15"/>
          <p:cNvGrpSpPr/>
          <p:nvPr/>
        </p:nvGrpSpPr>
        <p:grpSpPr>
          <a:xfrm rot="0">
            <a:off x="4027427" y="1117625"/>
            <a:ext cx="10233146" cy="530810"/>
            <a:chOff x="0" y="0"/>
            <a:chExt cx="2988982" cy="155043"/>
          </a:xfrm>
        </p:grpSpPr>
        <p:sp>
          <p:nvSpPr>
            <p:cNvPr name="Freeform 16" id="16"/>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7" id="17"/>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3" id="33"/>
          <p:cNvGrpSpPr/>
          <p:nvPr/>
        </p:nvGrpSpPr>
        <p:grpSpPr>
          <a:xfrm rot="0">
            <a:off x="4100894" y="1190732"/>
            <a:ext cx="2511996" cy="384596"/>
            <a:chOff x="0" y="0"/>
            <a:chExt cx="3349328" cy="512795"/>
          </a:xfrm>
        </p:grpSpPr>
        <p:grpSp>
          <p:nvGrpSpPr>
            <p:cNvPr name="Group 34" id="34"/>
            <p:cNvGrpSpPr/>
            <p:nvPr/>
          </p:nvGrpSpPr>
          <p:grpSpPr>
            <a:xfrm rot="0">
              <a:off x="0" y="0"/>
              <a:ext cx="512795" cy="512795"/>
              <a:chOff x="0" y="0"/>
              <a:chExt cx="812800" cy="812800"/>
            </a:xfrm>
          </p:grpSpPr>
          <p:sp>
            <p:nvSpPr>
              <p:cNvPr name="Freeform 35" id="35"/>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6" id="36"/>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7" id="37"/>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txBody>
            <a:bodyPr/>
            <a:p/>
          </p:txBody>
        </p:sp>
        <p:sp>
          <p:nvSpPr>
            <p:cNvPr name="TextBox 38" id="38"/>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39" name="Section navigation: About">
            <a:hlinkClick action="ppaction://hlinksldjump" r:id="rId4"/>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About</a:t>
            </a:r>
          </a:p>
        </p:txBody>
      </p:sp>
      <p:sp>
        <p:nvSpPr>
          <p:cNvPr id="40" name="Section navigation: Service (current)">
            <a:hlinkClick action="ppaction://hlinksldjump" r:id="rId5"/>
          </p:cNvPr>
          <p:cNvSpPr/>
          <p:nvPr/>
        </p:nvSpPr>
        <p:spPr>
          <a:xfrm>
            <a:off x="921258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FAFAFA"/>
                </a:solidFill>
                <a:latin typeface="Poppins"/>
              </a:rPr>
              <a:t>Service</a:t>
            </a:r>
          </a:p>
        </p:txBody>
      </p:sp>
      <p:sp>
        <p:nvSpPr>
          <p:cNvPr id="41" name="Section navigation: Team">
            <a:hlinkClick action="ppaction://hlinksldjump" r:id="rId6"/>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Team</a:t>
            </a:r>
          </a:p>
        </p:txBody>
      </p:sp>
      <p:sp>
        <p:nvSpPr>
          <p:cNvPr id="42" name="Section navigation: Conclusion">
            <a:hlinkClick action="ppaction://hlinksldjump" r:id="rId7"/>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Conclusion</a:t>
            </a:r>
          </a:p>
        </p:txBody>
      </p:sp>
      <p:sp>
        <p:nvSpPr>
          <p:cNvPr id="43" name="Story text: BUSINESS MODEL"/>
          <p:cNvSpPr txBox="1"/>
          <p:nvPr/>
        </p:nvSpPr>
        <p:spPr>
          <a:xfrm>
            <a:off x="1115568" y="1901952"/>
            <a:ext cx="10972800" cy="301752"/>
          </a:xfrm>
          <a:prstGeom prst="rect">
            <a:avLst/>
          </a:prstGeom>
          <a:noFill/>
        </p:spPr>
        <p:txBody>
          <a:bodyPr wrap="square" tIns="0" bIns="0" lIns="0" rIns="0" anchor="t">
            <a:noAutofit/>
          </a:bodyPr>
          <a:lstStyle/>
          <a:p>
            <a:pPr algn="l">
              <a:lnSpc>
                <a:spcPct val="106000"/>
              </a:lnSpc>
              <a:spcBef>
                <a:spcPts val="0"/>
              </a:spcBef>
              <a:spcAft>
                <a:spcPts val="0"/>
              </a:spcAft>
            </a:pPr>
            <a:r>
              <a:rPr sz="1600" b="1">
                <a:solidFill>
                  <a:srgbClr val="497078"/>
                </a:solidFill>
                <a:latin typeface="Poppins Bold"/>
              </a:rPr>
              <a:t>BUSINESS MODEL</a:t>
            </a:r>
          </a:p>
        </p:txBody>
      </p:sp>
      <p:sp>
        <p:nvSpPr>
          <p:cNvPr id="44" name="Story text: RECURRING REVENUE.&#10;THREE SIMPLE LAY"/>
          <p:cNvSpPr txBox="1"/>
          <p:nvPr/>
        </p:nvSpPr>
        <p:spPr>
          <a:xfrm>
            <a:off x="1106424" y="2359152"/>
            <a:ext cx="16056863" cy="978408"/>
          </a:xfrm>
          <a:prstGeom prst="rect">
            <a:avLst/>
          </a:prstGeom>
          <a:noFill/>
        </p:spPr>
        <p:txBody>
          <a:bodyPr wrap="none" tIns="0" bIns="0" lIns="0" rIns="0" anchor="t">
            <a:noAutofit/>
          </a:bodyPr>
          <a:lstStyle/>
          <a:p>
            <a:pPr algn="l">
              <a:lnSpc>
                <a:spcPct val="106000"/>
              </a:lnSpc>
              <a:spcBef>
                <a:spcPts val="0"/>
              </a:spcBef>
              <a:spcAft>
                <a:spcPts val="0"/>
              </a:spcAft>
            </a:pPr>
            <a:r>
              <a:rPr sz="5200" b="1">
                <a:solidFill>
                  <a:srgbClr val="171717"/>
                </a:solidFill>
                <a:latin typeface="Poppins Bold"/>
              </a:rPr>
              <a:t>RECURRING REVENUE. THREE SIMPLE LAYERS.</a:t>
            </a:r>
          </a:p>
        </p:txBody>
      </p:sp>
      <p:sp>
        <p:nvSpPr>
          <p:cNvPr id="45" name="Revenue 01  PLATFORM"/>
          <p:cNvSpPr/>
          <p:nvPr/>
        </p:nvSpPr>
        <p:spPr>
          <a:xfrm>
            <a:off x="1152144" y="4224528"/>
            <a:ext cx="5184648" cy="3456432"/>
          </a:xfrm>
          <a:prstGeom prst="roundRect">
            <a:avLst>
              <a:gd name="adj" fmla="val 8000"/>
            </a:avLst>
          </a:prstGeom>
          <a:solidFill>
            <a:srgbClr val="FAFAFA"/>
          </a:solidFill>
          <a:ln w="9525">
            <a:solidFill>
              <a:srgbClr val="DCDFE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6" name="Rectangle 45"/>
          <p:cNvSpPr/>
          <p:nvPr/>
        </p:nvSpPr>
        <p:spPr>
          <a:xfrm>
            <a:off x="1152144" y="4224528"/>
            <a:ext cx="5184648" cy="118872"/>
          </a:xfrm>
          <a:prstGeom prst="rect">
            <a:avLst/>
          </a:prstGeom>
          <a:solidFill>
            <a:srgbClr val="1D232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7" name="Story text: 01  PLATFORM"/>
          <p:cNvSpPr txBox="1"/>
          <p:nvPr/>
        </p:nvSpPr>
        <p:spPr>
          <a:xfrm>
            <a:off x="1444752" y="4636008"/>
            <a:ext cx="4617720" cy="429768"/>
          </a:xfrm>
          <a:prstGeom prst="rect">
            <a:avLst/>
          </a:prstGeom>
          <a:noFill/>
        </p:spPr>
        <p:txBody>
          <a:bodyPr wrap="square" tIns="0" bIns="0" lIns="0" rIns="0" anchor="t">
            <a:noAutofit/>
          </a:bodyPr>
          <a:lstStyle/>
          <a:p>
            <a:pPr algn="l">
              <a:lnSpc>
                <a:spcPct val="106000"/>
              </a:lnSpc>
              <a:spcBef>
                <a:spcPts val="0"/>
              </a:spcBef>
              <a:spcAft>
                <a:spcPts val="0"/>
              </a:spcAft>
            </a:pPr>
            <a:r>
              <a:rPr sz="2200" b="1">
                <a:solidFill>
                  <a:srgbClr val="687075"/>
                </a:solidFill>
                <a:latin typeface="Poppins Bold"/>
              </a:rPr>
              <a:t>01  PLATFORM</a:t>
            </a:r>
          </a:p>
        </p:txBody>
      </p:sp>
      <p:sp>
        <p:nvSpPr>
          <p:cNvPr id="48" name="Story text: €3.6K–14.4K"/>
          <p:cNvSpPr txBox="1"/>
          <p:nvPr/>
        </p:nvSpPr>
        <p:spPr>
          <a:xfrm>
            <a:off x="1435608" y="5358384"/>
            <a:ext cx="4636008" cy="832104"/>
          </a:xfrm>
          <a:prstGeom prst="rect">
            <a:avLst/>
          </a:prstGeom>
          <a:noFill/>
        </p:spPr>
        <p:txBody>
          <a:bodyPr wrap="square" tIns="0" bIns="0" lIns="0" rIns="0" anchor="t">
            <a:noAutofit/>
          </a:bodyPr>
          <a:lstStyle/>
          <a:p>
            <a:pPr algn="l">
              <a:lnSpc>
                <a:spcPct val="106000"/>
              </a:lnSpc>
              <a:spcBef>
                <a:spcPts val="0"/>
              </a:spcBef>
              <a:spcAft>
                <a:spcPts val="0"/>
              </a:spcAft>
            </a:pPr>
            <a:r>
              <a:rPr sz="5200" b="1">
                <a:solidFill>
                  <a:srgbClr val="171717"/>
                </a:solidFill>
                <a:latin typeface="Poppins Bold"/>
              </a:rPr>
              <a:t>€3.6K–14.4K</a:t>
            </a:r>
          </a:p>
        </p:txBody>
      </p:sp>
      <p:cxnSp>
        <p:nvCxnSpPr>
          <p:cNvPr id="49" name="Connector 48"/>
          <p:cNvCxnSpPr/>
          <p:nvPr/>
        </p:nvCxnSpPr>
        <p:spPr>
          <a:xfrm>
            <a:off x="1444752" y="6455664"/>
            <a:ext cx="4562856" cy="0"/>
          </a:xfrm>
          <a:prstGeom prst="line">
            <a:avLst/>
          </a:prstGeom>
          <a:ln w="12700">
            <a:solidFill>
              <a:srgbClr val="DCDFE0"/>
            </a:solidFill>
          </a:ln>
        </p:spPr>
        <p:style>
          <a:lnRef idx="2">
            <a:schemeClr val="accent1"/>
          </a:lnRef>
          <a:fillRef idx="0">
            <a:schemeClr val="accent1"/>
          </a:fillRef>
          <a:effectRef idx="0">
            <a:schemeClr val="accent1"/>
          </a:effectRef>
          <a:fontRef idx="minor">
            <a:schemeClr val="tx1"/>
          </a:fontRef>
        </p:style>
      </p:cxnSp>
      <p:sp>
        <p:nvSpPr>
          <p:cNvPr id="50" name="Story text: per year · GDPR + connectors"/>
          <p:cNvSpPr txBox="1"/>
          <p:nvPr/>
        </p:nvSpPr>
        <p:spPr>
          <a:xfrm>
            <a:off x="1444752" y="6757416"/>
            <a:ext cx="4581144" cy="676656"/>
          </a:xfrm>
          <a:prstGeom prst="rect">
            <a:avLst/>
          </a:prstGeom>
          <a:noFill/>
        </p:spPr>
        <p:txBody>
          <a:bodyPr wrap="square" tIns="0" bIns="0" lIns="0" rIns="0" anchor="t">
            <a:noAutofit/>
          </a:bodyPr>
          <a:lstStyle/>
          <a:p>
            <a:pPr algn="l">
              <a:lnSpc>
                <a:spcPct val="106000"/>
              </a:lnSpc>
              <a:spcBef>
                <a:spcPts val="0"/>
              </a:spcBef>
              <a:spcAft>
                <a:spcPts val="0"/>
              </a:spcAft>
            </a:pPr>
            <a:r>
              <a:rPr sz="1900" b="0">
                <a:solidFill>
                  <a:srgbClr val="687075"/>
                </a:solidFill>
                <a:latin typeface="Poppins"/>
              </a:rPr>
              <a:t>per year · GDPR + connectors</a:t>
            </a:r>
          </a:p>
        </p:txBody>
      </p:sp>
      <p:sp>
        <p:nvSpPr>
          <p:cNvPr id="51" name="Revenue 02  MODULES"/>
          <p:cNvSpPr/>
          <p:nvPr/>
        </p:nvSpPr>
        <p:spPr>
          <a:xfrm>
            <a:off x="6565392" y="4224528"/>
            <a:ext cx="5184648" cy="3456432"/>
          </a:xfrm>
          <a:prstGeom prst="roundRect">
            <a:avLst>
              <a:gd name="adj" fmla="val 8000"/>
            </a:avLst>
          </a:prstGeom>
          <a:solidFill>
            <a:srgbClr val="FAFAFA"/>
          </a:solidFill>
          <a:ln w="9525">
            <a:solidFill>
              <a:srgbClr val="DCDFE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2" name="Rectangle 51"/>
          <p:cNvSpPr/>
          <p:nvPr/>
        </p:nvSpPr>
        <p:spPr>
          <a:xfrm>
            <a:off x="6565392" y="4224528"/>
            <a:ext cx="5184648" cy="118872"/>
          </a:xfrm>
          <a:prstGeom prst="rect">
            <a:avLst/>
          </a:prstGeom>
          <a:solidFill>
            <a:srgbClr val="1D232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3" name="Story text: 02  MODULES"/>
          <p:cNvSpPr txBox="1"/>
          <p:nvPr/>
        </p:nvSpPr>
        <p:spPr>
          <a:xfrm>
            <a:off x="6858000" y="4636008"/>
            <a:ext cx="4617720" cy="429768"/>
          </a:xfrm>
          <a:prstGeom prst="rect">
            <a:avLst/>
          </a:prstGeom>
          <a:noFill/>
        </p:spPr>
        <p:txBody>
          <a:bodyPr wrap="square" tIns="0" bIns="0" lIns="0" rIns="0" anchor="t">
            <a:noAutofit/>
          </a:bodyPr>
          <a:lstStyle/>
          <a:p>
            <a:pPr algn="l">
              <a:lnSpc>
                <a:spcPct val="106000"/>
              </a:lnSpc>
              <a:spcBef>
                <a:spcPts val="0"/>
              </a:spcBef>
              <a:spcAft>
                <a:spcPts val="0"/>
              </a:spcAft>
            </a:pPr>
            <a:r>
              <a:rPr sz="2200" b="1">
                <a:solidFill>
                  <a:srgbClr val="687075"/>
                </a:solidFill>
                <a:latin typeface="Poppins Bold"/>
              </a:rPr>
              <a:t>02  MODULES</a:t>
            </a:r>
          </a:p>
        </p:txBody>
      </p:sp>
      <p:sp>
        <p:nvSpPr>
          <p:cNvPr id="54" name="Story text: €1.8K–6K"/>
          <p:cNvSpPr txBox="1"/>
          <p:nvPr/>
        </p:nvSpPr>
        <p:spPr>
          <a:xfrm>
            <a:off x="6848855" y="5358384"/>
            <a:ext cx="4636008" cy="832104"/>
          </a:xfrm>
          <a:prstGeom prst="rect">
            <a:avLst/>
          </a:prstGeom>
          <a:noFill/>
        </p:spPr>
        <p:txBody>
          <a:bodyPr wrap="square" tIns="0" bIns="0" lIns="0" rIns="0" anchor="t">
            <a:noAutofit/>
          </a:bodyPr>
          <a:lstStyle/>
          <a:p>
            <a:pPr algn="l">
              <a:lnSpc>
                <a:spcPct val="106000"/>
              </a:lnSpc>
              <a:spcBef>
                <a:spcPts val="0"/>
              </a:spcBef>
              <a:spcAft>
                <a:spcPts val="0"/>
              </a:spcAft>
            </a:pPr>
            <a:r>
              <a:rPr sz="5200" b="1">
                <a:solidFill>
                  <a:srgbClr val="171717"/>
                </a:solidFill>
                <a:latin typeface="Poppins Bold"/>
              </a:rPr>
              <a:t>€1.8K–6K</a:t>
            </a:r>
          </a:p>
        </p:txBody>
      </p:sp>
      <p:cxnSp>
        <p:nvCxnSpPr>
          <p:cNvPr id="55" name="Connector 54"/>
          <p:cNvCxnSpPr/>
          <p:nvPr/>
        </p:nvCxnSpPr>
        <p:spPr>
          <a:xfrm>
            <a:off x="6858000" y="6455664"/>
            <a:ext cx="4562856" cy="0"/>
          </a:xfrm>
          <a:prstGeom prst="line">
            <a:avLst/>
          </a:prstGeom>
          <a:ln w="12700">
            <a:solidFill>
              <a:srgbClr val="DCDFE0"/>
            </a:solidFill>
          </a:ln>
        </p:spPr>
        <p:style>
          <a:lnRef idx="2">
            <a:schemeClr val="accent1"/>
          </a:lnRef>
          <a:fillRef idx="0">
            <a:schemeClr val="accent1"/>
          </a:fillRef>
          <a:effectRef idx="0">
            <a:schemeClr val="accent1"/>
          </a:effectRef>
          <a:fontRef idx="minor">
            <a:schemeClr val="tx1"/>
          </a:fontRef>
        </p:style>
      </p:cxnSp>
      <p:sp>
        <p:nvSpPr>
          <p:cNvPr id="56" name="Story text: per regulation · AI Act, NIS2, DORA"/>
          <p:cNvSpPr txBox="1"/>
          <p:nvPr/>
        </p:nvSpPr>
        <p:spPr>
          <a:xfrm>
            <a:off x="6858000" y="6757416"/>
            <a:ext cx="4581144" cy="676656"/>
          </a:xfrm>
          <a:prstGeom prst="rect">
            <a:avLst/>
          </a:prstGeom>
          <a:noFill/>
        </p:spPr>
        <p:txBody>
          <a:bodyPr wrap="square" tIns="0" bIns="0" lIns="0" rIns="0" anchor="t">
            <a:noAutofit/>
          </a:bodyPr>
          <a:lstStyle/>
          <a:p>
            <a:pPr algn="l">
              <a:lnSpc>
                <a:spcPct val="106000"/>
              </a:lnSpc>
              <a:spcBef>
                <a:spcPts val="0"/>
              </a:spcBef>
              <a:spcAft>
                <a:spcPts val="0"/>
              </a:spcAft>
            </a:pPr>
            <a:r>
              <a:rPr sz="1900" b="0">
                <a:solidFill>
                  <a:srgbClr val="687075"/>
                </a:solidFill>
                <a:latin typeface="Poppins"/>
              </a:rPr>
              <a:t>per regulation · AI Act, NIS2, DORA, CRA</a:t>
            </a:r>
          </a:p>
        </p:txBody>
      </p:sp>
      <p:sp>
        <p:nvSpPr>
          <p:cNvPr id="57" name="Revenue 03  LAW FIRMS"/>
          <p:cNvSpPr/>
          <p:nvPr/>
        </p:nvSpPr>
        <p:spPr>
          <a:xfrm>
            <a:off x="11978640" y="4224528"/>
            <a:ext cx="5184648" cy="3456432"/>
          </a:xfrm>
          <a:prstGeom prst="roundRect">
            <a:avLst>
              <a:gd name="adj" fmla="val 8000"/>
            </a:avLst>
          </a:prstGeom>
          <a:solidFill>
            <a:srgbClr val="FAFAFA"/>
          </a:solidFill>
          <a:ln w="9525">
            <a:solidFill>
              <a:srgbClr val="DCDFE0"/>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8" name="Rectangle 57"/>
          <p:cNvSpPr/>
          <p:nvPr/>
        </p:nvSpPr>
        <p:spPr>
          <a:xfrm>
            <a:off x="11978640" y="4224528"/>
            <a:ext cx="5184648" cy="118872"/>
          </a:xfrm>
          <a:prstGeom prst="rect">
            <a:avLst/>
          </a:prstGeom>
          <a:solidFill>
            <a:srgbClr val="1D2325"/>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9" name="Story text: 03  LAW FIRMS"/>
          <p:cNvSpPr txBox="1"/>
          <p:nvPr/>
        </p:nvSpPr>
        <p:spPr>
          <a:xfrm>
            <a:off x="12271248" y="4636008"/>
            <a:ext cx="4617720" cy="429768"/>
          </a:xfrm>
          <a:prstGeom prst="rect">
            <a:avLst/>
          </a:prstGeom>
          <a:noFill/>
        </p:spPr>
        <p:txBody>
          <a:bodyPr wrap="square" tIns="0" bIns="0" lIns="0" rIns="0" anchor="t">
            <a:noAutofit/>
          </a:bodyPr>
          <a:lstStyle/>
          <a:p>
            <a:pPr algn="l">
              <a:lnSpc>
                <a:spcPct val="106000"/>
              </a:lnSpc>
              <a:spcBef>
                <a:spcPts val="0"/>
              </a:spcBef>
              <a:spcAft>
                <a:spcPts val="0"/>
              </a:spcAft>
            </a:pPr>
            <a:r>
              <a:rPr sz="2200" b="1">
                <a:solidFill>
                  <a:srgbClr val="687075"/>
                </a:solidFill>
                <a:latin typeface="Poppins Bold"/>
              </a:rPr>
              <a:t>03  LAW FIRMS</a:t>
            </a:r>
          </a:p>
        </p:txBody>
      </p:sp>
      <p:sp>
        <p:nvSpPr>
          <p:cNvPr id="60" name="Story text: FIXED FEE"/>
          <p:cNvSpPr txBox="1"/>
          <p:nvPr/>
        </p:nvSpPr>
        <p:spPr>
          <a:xfrm>
            <a:off x="12262104" y="5358384"/>
            <a:ext cx="4636008" cy="832104"/>
          </a:xfrm>
          <a:prstGeom prst="rect">
            <a:avLst/>
          </a:prstGeom>
          <a:noFill/>
        </p:spPr>
        <p:txBody>
          <a:bodyPr wrap="square" tIns="0" bIns="0" lIns="0" rIns="0" anchor="t">
            <a:noAutofit/>
          </a:bodyPr>
          <a:lstStyle/>
          <a:p>
            <a:pPr algn="l">
              <a:lnSpc>
                <a:spcPct val="106000"/>
              </a:lnSpc>
              <a:spcBef>
                <a:spcPts val="0"/>
              </a:spcBef>
              <a:spcAft>
                <a:spcPts val="0"/>
              </a:spcAft>
            </a:pPr>
            <a:r>
              <a:rPr sz="5200" b="1">
                <a:solidFill>
                  <a:srgbClr val="171717"/>
                </a:solidFill>
                <a:latin typeface="Poppins Bold"/>
              </a:rPr>
              <a:t>FIXED FEE</a:t>
            </a:r>
          </a:p>
        </p:txBody>
      </p:sp>
      <p:cxnSp>
        <p:nvCxnSpPr>
          <p:cNvPr id="61" name="Connector 60"/>
          <p:cNvCxnSpPr/>
          <p:nvPr/>
        </p:nvCxnSpPr>
        <p:spPr>
          <a:xfrm>
            <a:off x="12271248" y="6455664"/>
            <a:ext cx="4562856" cy="0"/>
          </a:xfrm>
          <a:prstGeom prst="line">
            <a:avLst/>
          </a:prstGeom>
          <a:ln w="12700">
            <a:solidFill>
              <a:srgbClr val="DCDFE0"/>
            </a:solidFill>
          </a:ln>
        </p:spPr>
        <p:style>
          <a:lnRef idx="2">
            <a:schemeClr val="accent1"/>
          </a:lnRef>
          <a:fillRef idx="0">
            <a:schemeClr val="accent1"/>
          </a:fillRef>
          <a:effectRef idx="0">
            <a:schemeClr val="accent1"/>
          </a:effectRef>
          <a:fontRef idx="minor">
            <a:schemeClr val="tx1"/>
          </a:fontRef>
        </p:style>
      </p:cxnSp>
      <p:sp>
        <p:nvSpPr>
          <p:cNvPr id="62" name="Story text: annual workspace fee · billed separ"/>
          <p:cNvSpPr txBox="1"/>
          <p:nvPr/>
        </p:nvSpPr>
        <p:spPr>
          <a:xfrm>
            <a:off x="12271248" y="6757416"/>
            <a:ext cx="4581144" cy="676656"/>
          </a:xfrm>
          <a:prstGeom prst="rect">
            <a:avLst/>
          </a:prstGeom>
          <a:noFill/>
        </p:spPr>
        <p:txBody>
          <a:bodyPr wrap="square" tIns="0" bIns="0" lIns="0" rIns="0" anchor="t">
            <a:noAutofit/>
          </a:bodyPr>
          <a:lstStyle/>
          <a:p>
            <a:pPr algn="l">
              <a:lnSpc>
                <a:spcPct val="106000"/>
              </a:lnSpc>
              <a:spcBef>
                <a:spcPts val="0"/>
              </a:spcBef>
              <a:spcAft>
                <a:spcPts val="0"/>
              </a:spcAft>
            </a:pPr>
            <a:r>
              <a:rPr sz="1900" b="0">
                <a:solidFill>
                  <a:srgbClr val="687075"/>
                </a:solidFill>
                <a:latin typeface="Poppins"/>
              </a:rPr>
              <a:t>annual workspace fee · billed separately</a:t>
            </a:r>
          </a:p>
        </p:txBody>
      </p:sp>
      <p:sp>
        <p:nvSpPr>
          <p:cNvPr id="63" name="Story text: Proposed pricing · Firms bill clien"/>
          <p:cNvSpPr txBox="1"/>
          <p:nvPr/>
        </p:nvSpPr>
        <p:spPr>
          <a:xfrm>
            <a:off x="1152144" y="7918704"/>
            <a:ext cx="15819120" cy="411480"/>
          </a:xfrm>
          <a:prstGeom prst="rect">
            <a:avLst/>
          </a:prstGeom>
          <a:noFill/>
        </p:spPr>
        <p:txBody>
          <a:bodyPr wrap="square" tIns="0" bIns="0" lIns="0" rIns="0" anchor="t">
            <a:noAutofit/>
          </a:bodyPr>
          <a:lstStyle/>
          <a:p>
            <a:pPr algn="l">
              <a:lnSpc>
                <a:spcPct val="106000"/>
              </a:lnSpc>
              <a:spcBef>
                <a:spcPts val="0"/>
              </a:spcBef>
              <a:spcAft>
                <a:spcPts val="0"/>
              </a:spcAft>
            </a:pPr>
            <a:r>
              <a:rPr sz="1800" b="0">
                <a:solidFill>
                  <a:srgbClr val="171717"/>
                </a:solidFill>
                <a:latin typeface="Poppins"/>
              </a:rPr>
              <a:t>Proposed pricing · Firms bill clients directly · No share of legal fees.</a:t>
            </a:r>
          </a:p>
        </p:txBody>
      </p:sp>
      <p:sp>
        <p:nvSpPr>
          <p:cNvPr id="64" name="Story text: Legal framework: BRAO §49b(3); BGH "/>
          <p:cNvSpPr txBox="1"/>
          <p:nvPr/>
        </p:nvSpPr>
        <p:spPr>
          <a:xfrm>
            <a:off x="1161288" y="8394192"/>
            <a:ext cx="15727680" cy="274320"/>
          </a:xfrm>
          <a:prstGeom prst="rect">
            <a:avLst/>
          </a:prstGeom>
          <a:noFill/>
        </p:spPr>
        <p:txBody>
          <a:bodyPr wrap="square" tIns="0" bIns="0" lIns="0" rIns="0" anchor="t">
            <a:noAutofit/>
          </a:bodyPr>
          <a:lstStyle/>
          <a:p>
            <a:pPr algn="l">
              <a:lnSpc>
                <a:spcPct val="106000"/>
              </a:lnSpc>
              <a:spcBef>
                <a:spcPts val="0"/>
              </a:spcBef>
              <a:spcAft>
                <a:spcPts val="0"/>
              </a:spcAft>
            </a:pPr>
            <a:r>
              <a:rPr sz="1330" b="0">
                <a:solidFill>
                  <a:srgbClr val="687075"/>
                </a:solidFill>
                <a:latin typeface="Poppins"/>
              </a:rPr>
              <a:t>Legal framework: BRAO §49b(3); BGH IX ZR 89/23; AT, IT and FR professional rules.</a:t>
            </a:r>
          </a:p>
        </p:txBody>
      </p:sp>
      <p:sp>
        <p:nvSpPr>
          <p:cNvPr id="65" name="Compact margin page number 10"/>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13</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4" id="4"/>
          <p:cNvGrpSpPr/>
          <p:nvPr/>
        </p:nvGrpSpPr>
        <p:grpSpPr>
          <a:xfrm rot="0">
            <a:off x="4027427" y="1117625"/>
            <a:ext cx="10233146" cy="530810"/>
            <a:chOff x="0" y="0"/>
            <a:chExt cx="2988982" cy="155043"/>
          </a:xfrm>
        </p:grpSpPr>
        <p:sp>
          <p:nvSpPr>
            <p:cNvPr name="Freeform 5" id="5"/>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6" id="6"/>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22" id="22"/>
          <p:cNvGrpSpPr/>
          <p:nvPr/>
        </p:nvGrpSpPr>
        <p:grpSpPr>
          <a:xfrm rot="0">
            <a:off x="4100894" y="1190732"/>
            <a:ext cx="2511996" cy="384596"/>
            <a:chOff x="0" y="0"/>
            <a:chExt cx="3349328" cy="512795"/>
          </a:xfrm>
        </p:grpSpPr>
        <p:grpSp>
          <p:nvGrpSpPr>
            <p:cNvPr name="Group 23" id="23"/>
            <p:cNvGrpSpPr/>
            <p:nvPr/>
          </p:nvGrpSpPr>
          <p:grpSpPr>
            <a:xfrm rot="0">
              <a:off x="0" y="0"/>
              <a:ext cx="512795" cy="512795"/>
              <a:chOff x="0" y="0"/>
              <a:chExt cx="812800" cy="812800"/>
            </a:xfrm>
          </p:grpSpPr>
          <p:sp>
            <p:nvSpPr>
              <p:cNvPr name="Freeform 24" id="2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25" id="25"/>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26" id="26"/>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TextBox 27" id="27"/>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36" name="Section navigation: About">
            <a:hlinkClick action="ppaction://hlinksldjump" r:id="rId5"/>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About</a:t>
            </a:r>
          </a:p>
        </p:txBody>
      </p:sp>
      <p:sp>
        <p:nvSpPr>
          <p:cNvPr id="37" name="Section navigation: Service">
            <a:hlinkClick action="ppaction://hlinksldjump" r:id="rId6"/>
          </p:cNvPr>
          <p:cNvSpPr/>
          <p:nvPr/>
        </p:nvSpPr>
        <p:spPr>
          <a:xfrm>
            <a:off x="921258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Service</a:t>
            </a:r>
          </a:p>
        </p:txBody>
      </p:sp>
      <p:sp>
        <p:nvSpPr>
          <p:cNvPr id="38" name="Section navigation: Team (current)">
            <a:hlinkClick action="ppaction://hlinksldjump" r:id="rId7"/>
          </p:cNvPr>
          <p:cNvSpPr/>
          <p:nvPr/>
        </p:nvSpPr>
        <p:spPr>
          <a:xfrm>
            <a:off x="1083564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FAFAFA"/>
                </a:solidFill>
                <a:latin typeface="Poppins"/>
              </a:rPr>
              <a:t>Team</a:t>
            </a:r>
          </a:p>
        </p:txBody>
      </p:sp>
      <p:sp>
        <p:nvSpPr>
          <p:cNvPr id="39" name="Section navigation: Conclusion">
            <a:hlinkClick action="ppaction://hlinksldjump" r:id="rId8"/>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Conclusion</a:t>
            </a:r>
          </a:p>
        </p:txBody>
      </p:sp>
      <p:sp>
        <p:nvSpPr>
          <p:cNvPr id="40" name="Founder slide section kicker"/>
          <p:cNvSpPr txBox="1"/>
          <p:nvPr/>
        </p:nvSpPr>
        <p:spPr>
          <a:xfrm>
            <a:off x="1143000" y="1901952"/>
            <a:ext cx="13716000" cy="320040"/>
          </a:xfrm>
          <a:prstGeom prst="rect">
            <a:avLst/>
          </a:prstGeom>
          <a:noFill/>
        </p:spPr>
        <p:txBody>
          <a:bodyPr wrap="none" lIns="0" rIns="0" tIns="0" bIns="0" anchor="ctr">
            <a:spAutoFit/>
          </a:bodyPr>
          <a:lstStyle/>
          <a:p>
            <a:pPr algn="l">
              <a:spcAft>
                <a:spcPts val="0"/>
              </a:spcAft>
            </a:pPr>
            <a:r>
              <a:rPr sz="1600" b="1">
                <a:solidFill>
                  <a:srgbClr val="497078"/>
                </a:solidFill>
                <a:latin typeface="Poppins Bold"/>
              </a:rPr>
              <a:t>TEAM</a:t>
            </a:r>
          </a:p>
        </p:txBody>
      </p:sp>
      <p:sp>
        <p:nvSpPr>
          <p:cNvPr id="41" name="Founder slide main headline"/>
          <p:cNvSpPr txBox="1"/>
          <p:nvPr/>
        </p:nvSpPr>
        <p:spPr>
          <a:xfrm>
            <a:off x="1115568" y="2423160"/>
            <a:ext cx="16093440" cy="932688"/>
          </a:xfrm>
          <a:prstGeom prst="rect">
            <a:avLst/>
          </a:prstGeom>
          <a:noFill/>
        </p:spPr>
        <p:txBody>
          <a:bodyPr wrap="none" lIns="0" rIns="0" tIns="0" bIns="0" anchor="ctr">
            <a:noAutofit/>
          </a:bodyPr>
          <a:lstStyle/>
          <a:p>
            <a:pPr algn="l">
              <a:spcAft>
                <a:spcPts val="0"/>
              </a:spcAft>
            </a:pPr>
            <a:r>
              <a:rPr sz="4900" b="1">
                <a:solidFill>
                  <a:srgbClr val="171717"/>
                </a:solidFill>
                <a:latin typeface="Poppins Bold"/>
              </a:rPr>
              <a:t>THE TWO FOUNDERS:</a:t>
            </a:r>
          </a:p>
        </p:txBody>
      </p:sp>
      <p:sp>
        <p:nvSpPr>
          <p:cNvPr id="42" name="Simone profile card"/>
          <p:cNvSpPr/>
          <p:nvPr/>
        </p:nvSpPr>
        <p:spPr>
          <a:xfrm>
            <a:off x="1143000" y="3922776"/>
            <a:ext cx="7836408" cy="4215384"/>
          </a:xfrm>
          <a:prstGeom prst="roundRect">
            <a:avLst>
              <a:gd name="adj" fmla="val 9000"/>
            </a:avLst>
          </a:prstGeom>
          <a:solidFill>
            <a:srgbClr val="FBFBFB"/>
          </a:solidFill>
          <a:ln w="10160">
            <a:solidFill>
              <a:srgbClr val="DAE0E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3" name="Simone profile top keyline"/>
          <p:cNvSpPr/>
          <p:nvPr/>
        </p:nvSpPr>
        <p:spPr>
          <a:xfrm>
            <a:off x="1143000" y="3922776"/>
            <a:ext cx="7836408" cy="105156"/>
          </a:xfrm>
          <a:prstGeom prst="rect">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4" name="Simone — real founder portrait (grayscale)" descr="simone_bnw.png"/>
          <p:cNvPicPr>
            <a:picLocks noChangeAspect="1"/>
          </p:cNvPicPr>
          <p:nvPr/>
        </p:nvPicPr>
        <p:blipFill>
          <a:blip r:embed="rId9"/>
          <a:stretch>
            <a:fillRect/>
          </a:stretch>
        </p:blipFill>
        <p:spPr>
          <a:xfrm>
            <a:off x="1271016" y="4151376"/>
            <a:ext cx="3008376" cy="3831336"/>
          </a:xfrm>
          <a:prstGeom prst="rect">
            <a:avLst/>
          </a:prstGeom>
        </p:spPr>
      </p:pic>
      <p:sp>
        <p:nvSpPr>
          <p:cNvPr id="45" name="Simone founder name"/>
          <p:cNvSpPr txBox="1"/>
          <p:nvPr/>
        </p:nvSpPr>
        <p:spPr>
          <a:xfrm>
            <a:off x="4590288" y="4626864"/>
            <a:ext cx="4151376" cy="420624"/>
          </a:xfrm>
          <a:prstGeom prst="rect">
            <a:avLst/>
          </a:prstGeom>
          <a:noFill/>
        </p:spPr>
        <p:txBody>
          <a:bodyPr wrap="none" lIns="0" rIns="0" tIns="0" bIns="0" anchor="ctr">
            <a:spAutoFit/>
          </a:bodyPr>
          <a:lstStyle/>
          <a:p>
            <a:pPr algn="l">
              <a:spcAft>
                <a:spcPts val="0"/>
              </a:spcAft>
            </a:pPr>
            <a:r>
              <a:rPr sz="2500" b="1">
                <a:solidFill>
                  <a:srgbClr val="171717"/>
                </a:solidFill>
                <a:latin typeface="Poppins Bold"/>
              </a:rPr>
              <a:t>SIMONE MATTIOLI</a:t>
            </a:r>
          </a:p>
        </p:txBody>
      </p:sp>
      <p:sp>
        <p:nvSpPr>
          <p:cNvPr id="46" name="Simone role"/>
          <p:cNvSpPr txBox="1"/>
          <p:nvPr/>
        </p:nvSpPr>
        <p:spPr>
          <a:xfrm>
            <a:off x="4590288" y="5212080"/>
            <a:ext cx="4096512" cy="411480"/>
          </a:xfrm>
          <a:prstGeom prst="rect">
            <a:avLst/>
          </a:prstGeom>
          <a:noFill/>
        </p:spPr>
        <p:txBody>
          <a:bodyPr wrap="none" lIns="0" rIns="0" tIns="0" bIns="0" anchor="ctr">
            <a:spAutoFit/>
          </a:bodyPr>
          <a:lstStyle/>
          <a:p>
            <a:pPr algn="l">
              <a:spcAft>
                <a:spcPts val="0"/>
              </a:spcAft>
            </a:pPr>
            <a:r>
              <a:rPr sz="2050" b="1">
                <a:solidFill>
                  <a:srgbClr val="497078"/>
                </a:solidFill>
                <a:latin typeface="Poppins Bold"/>
              </a:rPr>
              <a:t>AI &amp; product development</a:t>
            </a:r>
          </a:p>
        </p:txBody>
      </p:sp>
      <p:sp>
        <p:nvSpPr>
          <p:cNvPr id="47" name="Simone detail divider"/>
          <p:cNvSpPr/>
          <p:nvPr/>
        </p:nvSpPr>
        <p:spPr>
          <a:xfrm>
            <a:off x="4590288" y="5879592"/>
            <a:ext cx="3886200" cy="10972"/>
          </a:xfrm>
          <a:prstGeom prst="rect">
            <a:avLst/>
          </a:prstGeom>
          <a:solidFill>
            <a:srgbClr val="DAE0E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8" name="Simone detail 1"/>
          <p:cNvSpPr txBox="1"/>
          <p:nvPr/>
        </p:nvSpPr>
        <p:spPr>
          <a:xfrm>
            <a:off x="4590288" y="6227064"/>
            <a:ext cx="4023360" cy="402336"/>
          </a:xfrm>
          <a:prstGeom prst="rect">
            <a:avLst/>
          </a:prstGeom>
          <a:noFill/>
        </p:spPr>
        <p:txBody>
          <a:bodyPr wrap="none" lIns="0" rIns="0" tIns="0" bIns="0" anchor="ctr">
            <a:spAutoFit/>
          </a:bodyPr>
          <a:lstStyle/>
          <a:p>
            <a:pPr algn="l">
              <a:spcAft>
                <a:spcPts val="0"/>
              </a:spcAft>
            </a:pPr>
            <a:r>
              <a:rPr sz="1700" b="0">
                <a:solidFill>
                  <a:srgbClr val="687075"/>
                </a:solidFill>
                <a:latin typeface="Poppins"/>
              </a:rPr>
              <a:t>LLM &amp; HPC research</a:t>
            </a:r>
          </a:p>
        </p:txBody>
      </p:sp>
      <p:sp>
        <p:nvSpPr>
          <p:cNvPr id="49" name="Simone detail 2"/>
          <p:cNvSpPr txBox="1"/>
          <p:nvPr/>
        </p:nvSpPr>
        <p:spPr>
          <a:xfrm>
            <a:off x="4590288" y="6748272"/>
            <a:ext cx="4023360" cy="402336"/>
          </a:xfrm>
          <a:prstGeom prst="rect">
            <a:avLst/>
          </a:prstGeom>
          <a:noFill/>
        </p:spPr>
        <p:txBody>
          <a:bodyPr wrap="none" lIns="0" rIns="0" tIns="0" bIns="0" anchor="ctr">
            <a:spAutoFit/>
          </a:bodyPr>
          <a:lstStyle/>
          <a:p>
            <a:pPr algn="l">
              <a:spcAft>
                <a:spcPts val="0"/>
              </a:spcAft>
            </a:pPr>
            <a:r>
              <a:rPr sz="1700" b="0">
                <a:solidFill>
                  <a:srgbClr val="687075"/>
                </a:solidFill>
                <a:latin typeface="Poppins"/>
              </a:rPr>
              <a:t>Open-source software</a:t>
            </a:r>
          </a:p>
        </p:txBody>
      </p:sp>
      <p:sp>
        <p:nvSpPr>
          <p:cNvPr id="50" name="Andreas profile card"/>
          <p:cNvSpPr/>
          <p:nvPr/>
        </p:nvSpPr>
        <p:spPr>
          <a:xfrm>
            <a:off x="9308592" y="3922776"/>
            <a:ext cx="7836408" cy="4215384"/>
          </a:xfrm>
          <a:prstGeom prst="roundRect">
            <a:avLst>
              <a:gd name="adj" fmla="val 9000"/>
            </a:avLst>
          </a:prstGeom>
          <a:solidFill>
            <a:srgbClr val="FBFBFB"/>
          </a:solidFill>
          <a:ln w="10160">
            <a:solidFill>
              <a:srgbClr val="DAE0E2"/>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1" name="Andreas profile top keyline"/>
          <p:cNvSpPr/>
          <p:nvPr/>
        </p:nvSpPr>
        <p:spPr>
          <a:xfrm>
            <a:off x="9308592" y="3922776"/>
            <a:ext cx="7836408" cy="105156"/>
          </a:xfrm>
          <a:prstGeom prst="rect">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52" name="Andreas — real founder portrait (grayscale)" descr="andreas_bnw.png"/>
          <p:cNvPicPr>
            <a:picLocks noChangeAspect="1"/>
          </p:cNvPicPr>
          <p:nvPr/>
        </p:nvPicPr>
        <p:blipFill>
          <a:blip r:embed="rId10"/>
          <a:stretch>
            <a:fillRect/>
          </a:stretch>
        </p:blipFill>
        <p:spPr>
          <a:xfrm>
            <a:off x="9436608" y="4151376"/>
            <a:ext cx="3008376" cy="3831336"/>
          </a:xfrm>
          <a:prstGeom prst="rect">
            <a:avLst/>
          </a:prstGeom>
        </p:spPr>
      </p:pic>
      <p:sp>
        <p:nvSpPr>
          <p:cNvPr id="53" name="Andreas founder name"/>
          <p:cNvSpPr txBox="1"/>
          <p:nvPr/>
        </p:nvSpPr>
        <p:spPr>
          <a:xfrm>
            <a:off x="12755880" y="4626864"/>
            <a:ext cx="4151376" cy="420624"/>
          </a:xfrm>
          <a:prstGeom prst="rect">
            <a:avLst/>
          </a:prstGeom>
          <a:noFill/>
        </p:spPr>
        <p:txBody>
          <a:bodyPr wrap="none" lIns="0" rIns="0" tIns="0" bIns="0" anchor="ctr">
            <a:spAutoFit/>
          </a:bodyPr>
          <a:lstStyle/>
          <a:p>
            <a:pPr algn="l">
              <a:spcAft>
                <a:spcPts val="0"/>
              </a:spcAft>
            </a:pPr>
            <a:r>
              <a:rPr sz="2500" b="1">
                <a:solidFill>
                  <a:srgbClr val="171717"/>
                </a:solidFill>
                <a:latin typeface="Poppins Bold"/>
              </a:rPr>
              <a:t>ANDREAS HERZINGER</a:t>
            </a:r>
          </a:p>
        </p:txBody>
      </p:sp>
      <p:sp>
        <p:nvSpPr>
          <p:cNvPr id="54" name="Andreas role"/>
          <p:cNvSpPr txBox="1"/>
          <p:nvPr/>
        </p:nvSpPr>
        <p:spPr>
          <a:xfrm>
            <a:off x="12755880" y="5212080"/>
            <a:ext cx="4096512" cy="411480"/>
          </a:xfrm>
          <a:prstGeom prst="rect">
            <a:avLst/>
          </a:prstGeom>
          <a:noFill/>
        </p:spPr>
        <p:txBody>
          <a:bodyPr wrap="none" lIns="0" rIns="0" tIns="0" bIns="0" anchor="ctr">
            <a:spAutoFit/>
          </a:bodyPr>
          <a:lstStyle/>
          <a:p>
            <a:pPr algn="l">
              <a:spcAft>
                <a:spcPts val="0"/>
              </a:spcAft>
            </a:pPr>
            <a:r>
              <a:rPr sz="2050" b="1">
                <a:solidFill>
                  <a:srgbClr val="497078"/>
                </a:solidFill>
                <a:latin typeface="Poppins Bold"/>
              </a:rPr>
              <a:t>Product &amp; engineering</a:t>
            </a:r>
          </a:p>
        </p:txBody>
      </p:sp>
      <p:sp>
        <p:nvSpPr>
          <p:cNvPr id="55" name="Andreas detail divider"/>
          <p:cNvSpPr/>
          <p:nvPr/>
        </p:nvSpPr>
        <p:spPr>
          <a:xfrm>
            <a:off x="12755880" y="5879592"/>
            <a:ext cx="3886200" cy="10972"/>
          </a:xfrm>
          <a:prstGeom prst="rect">
            <a:avLst/>
          </a:prstGeom>
          <a:solidFill>
            <a:srgbClr val="DAE0E2"/>
          </a:solidFill>
          <a:ln>
            <a:no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56" name="Andreas detail 1"/>
          <p:cNvSpPr txBox="1"/>
          <p:nvPr/>
        </p:nvSpPr>
        <p:spPr>
          <a:xfrm>
            <a:off x="12755880" y="6227064"/>
            <a:ext cx="4023360" cy="402336"/>
          </a:xfrm>
          <a:prstGeom prst="rect">
            <a:avLst/>
          </a:prstGeom>
          <a:noFill/>
        </p:spPr>
        <p:txBody>
          <a:bodyPr wrap="none" lIns="0" rIns="0" tIns="0" bIns="0" anchor="ctr">
            <a:spAutoFit/>
          </a:bodyPr>
          <a:lstStyle/>
          <a:p>
            <a:pPr algn="l">
              <a:spcAft>
                <a:spcPts val="0"/>
              </a:spcAft>
            </a:pPr>
            <a:r>
              <a:rPr sz="1700" b="0">
                <a:solidFill>
                  <a:srgbClr val="687075"/>
                </a:solidFill>
                <a:latin typeface="Poppins"/>
              </a:rPr>
              <a:t>AI integrations</a:t>
            </a:r>
          </a:p>
        </p:txBody>
      </p:sp>
      <p:sp>
        <p:nvSpPr>
          <p:cNvPr id="57" name="Andreas detail 2"/>
          <p:cNvSpPr txBox="1"/>
          <p:nvPr/>
        </p:nvSpPr>
        <p:spPr>
          <a:xfrm>
            <a:off x="12755880" y="6748272"/>
            <a:ext cx="4023360" cy="402336"/>
          </a:xfrm>
          <a:prstGeom prst="rect">
            <a:avLst/>
          </a:prstGeom>
          <a:noFill/>
        </p:spPr>
        <p:txBody>
          <a:bodyPr wrap="none" lIns="0" rIns="0" tIns="0" bIns="0" anchor="ctr">
            <a:spAutoFit/>
          </a:bodyPr>
          <a:lstStyle/>
          <a:p>
            <a:pPr algn="l">
              <a:spcAft>
                <a:spcPts val="0"/>
              </a:spcAft>
            </a:pPr>
            <a:r>
              <a:rPr sz="1700" b="0">
                <a:solidFill>
                  <a:srgbClr val="687075"/>
                </a:solidFill>
                <a:latin typeface="Poppins"/>
              </a:rPr>
              <a:t>Secure connectors</a:t>
            </a:r>
          </a:p>
        </p:txBody>
      </p:sp>
      <p:sp>
        <p:nvSpPr>
          <p:cNvPr id="58" name="Compact margin page number 11"/>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14</a:t>
            </a:r>
          </a:p>
        </p:txBody>
      </p:sp>
    </p:spTree>
  </p:cSld>
  <p:clrMapOvr>
    <a:masterClrMapping/>
  </p:clrMapOvr>
  <p:transition spd="slow">
    <p:push dir="u"/>
  </p:transition>
</p:sld>
</file>

<file path=ppt/slides/slide12.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grpSp>
        <p:nvGrpSpPr>
          <p:cNvPr name="Group 2" id="2"/>
          <p:cNvGrpSpPr/>
          <p:nvPr/>
        </p:nvGrpSpPr>
        <p:grpSpPr>
          <a:xfrm rot="0">
            <a:off x="0" y="0"/>
            <a:ext cx="5001759" cy="10287000"/>
            <a:chOff x="0" y="0"/>
            <a:chExt cx="6669012" cy="13716000"/>
          </a:xfrm>
        </p:grpSpPr>
        <p:pic>
          <p:nvPicPr>
            <p:cNvPr name="Picture 3" id="3"/>
            <p:cNvPicPr>
              <a:picLocks noChangeAspect="true"/>
            </p:cNvPicPr>
            <p:nvPr/>
          </p:nvPicPr>
          <p:blipFill>
            <a:blip r:embed="rId2"/>
            <a:srcRect l="258" t="0" r="258" b="0"/>
            <a:stretch>
              <a:fillRect/>
            </a:stretch>
          </p:blipFill>
          <p:spPr>
            <a:xfrm flipH="false" flipV="false">
              <a:off x="0" y="0"/>
              <a:ext cx="6669012" cy="13716000"/>
            </a:xfrm>
            <a:prstGeom prst="rect">
              <a:avLst/>
            </a:prstGeom>
          </p:spPr>
        </p:pic>
      </p:grpSp>
      <p:grpSp>
        <p:nvGrpSpPr>
          <p:cNvPr name="Group 4" id="4"/>
          <p:cNvGrpSpPr/>
          <p:nvPr/>
        </p:nvGrpSpPr>
        <p:grpSpPr>
          <a:xfrm rot="0">
            <a:off x="13286241" y="0"/>
            <a:ext cx="5001759" cy="10287000"/>
            <a:chOff x="0" y="0"/>
            <a:chExt cx="6669012" cy="13716000"/>
          </a:xfrm>
        </p:grpSpPr>
        <p:pic>
          <p:nvPicPr>
            <p:cNvPr name="Picture 5" id="5"/>
            <p:cNvPicPr>
              <a:picLocks noChangeAspect="true"/>
            </p:cNvPicPr>
            <p:nvPr/>
          </p:nvPicPr>
          <p:blipFill>
            <a:blip r:embed="rId3"/>
            <a:srcRect l="258" t="0" r="258" b="0"/>
            <a:stretch>
              <a:fillRect/>
            </a:stretch>
          </p:blipFill>
          <p:spPr>
            <a:xfrm flipH="false" flipV="false">
              <a:off x="0" y="0"/>
              <a:ext cx="6669012" cy="13716000"/>
            </a:xfrm>
            <a:prstGeom prst="rect">
              <a:avLst/>
            </a:prstGeom>
          </p:spPr>
        </p:pic>
      </p:grpSp>
      <p:grpSp>
        <p:nvGrpSpPr>
          <p:cNvPr name="Group 14" id="14"/>
          <p:cNvGrpSpPr/>
          <p:nvPr/>
        </p:nvGrpSpPr>
        <p:grpSpPr>
          <a:xfrm rot="0">
            <a:off x="4027427" y="1117625"/>
            <a:ext cx="10233146" cy="530810"/>
            <a:chOff x="0" y="0"/>
            <a:chExt cx="2988982" cy="155043"/>
          </a:xfrm>
        </p:grpSpPr>
        <p:sp>
          <p:nvSpPr>
            <p:cNvPr name="Freeform 15" id="15"/>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6" id="16"/>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2" id="32"/>
          <p:cNvGrpSpPr/>
          <p:nvPr/>
        </p:nvGrpSpPr>
        <p:grpSpPr>
          <a:xfrm rot="0">
            <a:off x="4100894" y="1190732"/>
            <a:ext cx="2511996" cy="384596"/>
            <a:chOff x="0" y="0"/>
            <a:chExt cx="3349328" cy="512795"/>
          </a:xfrm>
        </p:grpSpPr>
        <p:grpSp>
          <p:nvGrpSpPr>
            <p:cNvPr name="Group 33" id="33"/>
            <p:cNvGrpSpPr/>
            <p:nvPr/>
          </p:nvGrpSpPr>
          <p:grpSpPr>
            <a:xfrm rot="0">
              <a:off x="0" y="0"/>
              <a:ext cx="512795" cy="512795"/>
              <a:chOff x="0" y="0"/>
              <a:chExt cx="812800" cy="812800"/>
            </a:xfrm>
          </p:grpSpPr>
          <p:sp>
            <p:nvSpPr>
              <p:cNvPr name="Freeform 34" id="3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5" id="35"/>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6" id="36"/>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txBody>
            <a:bodyPr/>
            <a:p/>
          </p:txBody>
        </p:sp>
        <p:sp>
          <p:nvSpPr>
            <p:cNvPr name="TextBox 37" id="37"/>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38" name="Section navigation: About">
            <a:hlinkClick action="ppaction://hlinksldjump" r:id="rId6"/>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About</a:t>
            </a:r>
          </a:p>
        </p:txBody>
      </p:sp>
      <p:sp>
        <p:nvSpPr>
          <p:cNvPr id="39" name="Section navigation: Service">
            <a:hlinkClick action="ppaction://hlinksldjump" r:id="rId7"/>
          </p:cNvPr>
          <p:cNvSpPr/>
          <p:nvPr/>
        </p:nvSpPr>
        <p:spPr>
          <a:xfrm>
            <a:off x="921258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Service</a:t>
            </a:r>
          </a:p>
        </p:txBody>
      </p:sp>
      <p:sp>
        <p:nvSpPr>
          <p:cNvPr id="40" name="Section navigation: Team">
            <a:hlinkClick action="ppaction://hlinksldjump" r:id="rId8"/>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Team</a:t>
            </a:r>
          </a:p>
        </p:txBody>
      </p:sp>
      <p:sp>
        <p:nvSpPr>
          <p:cNvPr id="41" name="Section navigation: Conclusion (current)">
            <a:hlinkClick action="ppaction://hlinksldjump" r:id="rId9"/>
          </p:cNvPr>
          <p:cNvSpPr/>
          <p:nvPr/>
        </p:nvSpPr>
        <p:spPr>
          <a:xfrm>
            <a:off x="1245870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FAFAFA"/>
                </a:solidFill>
                <a:latin typeface="Poppins"/>
              </a:rPr>
              <a:t>Conclusion</a:t>
            </a:r>
          </a:p>
        </p:txBody>
      </p:sp>
      <p:sp>
        <p:nvSpPr>
          <p:cNvPr id="42" name="Story text: GET INVOLVED"/>
          <p:cNvSpPr txBox="1"/>
          <p:nvPr/>
        </p:nvSpPr>
        <p:spPr>
          <a:xfrm>
            <a:off x="5715000" y="2157984"/>
            <a:ext cx="10972800" cy="301752"/>
          </a:xfrm>
          <a:prstGeom prst="rect">
            <a:avLst/>
          </a:prstGeom>
          <a:noFill/>
        </p:spPr>
        <p:txBody>
          <a:bodyPr wrap="square" tIns="0" bIns="0" lIns="0" rIns="0" anchor="t">
            <a:noAutofit/>
          </a:bodyPr>
          <a:lstStyle/>
          <a:p>
            <a:pPr algn="l">
              <a:lnSpc>
                <a:spcPct val="106000"/>
              </a:lnSpc>
              <a:spcBef>
                <a:spcPts val="0"/>
              </a:spcBef>
              <a:spcAft>
                <a:spcPts val="0"/>
              </a:spcAft>
            </a:pPr>
            <a:r>
              <a:rPr sz="1600" b="1">
                <a:solidFill>
                  <a:srgbClr val="497078"/>
                </a:solidFill>
                <a:latin typeface="Poppins Bold"/>
              </a:rPr>
              <a:t>GET INVOLVED</a:t>
            </a:r>
          </a:p>
        </p:txBody>
      </p:sp>
      <p:sp>
        <p:nvSpPr>
          <p:cNvPr id="43" name="Story text: JOIN EARLY&#10;ACCESS."/>
          <p:cNvSpPr txBox="1"/>
          <p:nvPr/>
        </p:nvSpPr>
        <p:spPr>
          <a:xfrm>
            <a:off x="5367528" y="2871216"/>
            <a:ext cx="7571231" cy="2103120"/>
          </a:xfrm>
          <a:prstGeom prst="rect">
            <a:avLst/>
          </a:prstGeom>
          <a:noFill/>
        </p:spPr>
        <p:txBody>
          <a:bodyPr wrap="square" tIns="0" bIns="0" lIns="0" rIns="0" anchor="t">
            <a:noAutofit/>
          </a:bodyPr>
          <a:lstStyle/>
          <a:p>
            <a:pPr algn="ctr">
              <a:lnSpc>
                <a:spcPct val="106000"/>
              </a:lnSpc>
              <a:spcBef>
                <a:spcPts val="0"/>
              </a:spcBef>
              <a:spcAft>
                <a:spcPts val="0"/>
              </a:spcAft>
            </a:pPr>
            <a:r>
              <a:rPr sz="6600" b="1">
                <a:solidFill>
                  <a:srgbClr val="171717"/>
                </a:solidFill>
                <a:latin typeface="Poppins Bold"/>
              </a:rPr>
              <a:t>JOIN EARLY</a:t>
            </a:r>
          </a:p>
          <a:p>
            <a:pPr algn="ctr">
              <a:lnSpc>
                <a:spcPct val="106000"/>
              </a:lnSpc>
              <a:spcBef>
                <a:spcPts val="0"/>
              </a:spcBef>
              <a:spcAft>
                <a:spcPts val="0"/>
              </a:spcAft>
            </a:pPr>
            <a:r>
              <a:rPr sz="6600" b="1">
                <a:solidFill>
                  <a:srgbClr val="171717"/>
                </a:solidFill>
                <a:latin typeface="Poppins Bold"/>
              </a:rPr>
              <a:t>ACCESS.</a:t>
            </a:r>
          </a:p>
        </p:txBody>
      </p:sp>
      <p:sp>
        <p:nvSpPr>
          <p:cNvPr id="44" name="Story text: European SMEs · 2026"/>
          <p:cNvSpPr txBox="1"/>
          <p:nvPr/>
        </p:nvSpPr>
        <p:spPr>
          <a:xfrm>
            <a:off x="5623560" y="5486400"/>
            <a:ext cx="4114800" cy="384048"/>
          </a:xfrm>
          <a:prstGeom prst="rect">
            <a:avLst/>
          </a:prstGeom>
          <a:noFill/>
        </p:spPr>
        <p:txBody>
          <a:bodyPr wrap="none" tIns="0" bIns="0" lIns="0" rIns="0" anchor="t">
            <a:noAutofit/>
          </a:bodyPr>
          <a:lstStyle/>
          <a:p>
            <a:pPr algn="l">
              <a:lnSpc>
                <a:spcPct val="106000"/>
              </a:lnSpc>
              <a:spcBef>
                <a:spcPts val="0"/>
              </a:spcBef>
              <a:spcAft>
                <a:spcPts val="0"/>
              </a:spcAft>
            </a:pPr>
            <a:r>
              <a:rPr sz="1600" b="1">
                <a:solidFill>
                  <a:srgbClr val="497078"/>
                </a:solidFill>
                <a:latin typeface="Poppins Bold"/>
              </a:rPr>
              <a:t>MORE DETAILS ONLINE</a:t>
            </a:r>
          </a:p>
        </p:txBody>
      </p:sp>
      <p:sp>
        <p:nvSpPr>
          <p:cNvPr id="45" name="Story text: Help shape evidence-first complianc"/>
          <p:cNvSpPr txBox="1"/>
          <p:nvPr/>
        </p:nvSpPr>
        <p:spPr>
          <a:xfrm>
            <a:off x="5623560" y="6007608"/>
            <a:ext cx="4160520" cy="969264"/>
          </a:xfrm>
          <a:prstGeom prst="rect">
            <a:avLst/>
          </a:prstGeom>
          <a:noFill/>
        </p:spPr>
        <p:txBody>
          <a:bodyPr wrap="square" tIns="0" bIns="0" lIns="0" rIns="0" anchor="t">
            <a:noAutofit/>
          </a:bodyPr>
          <a:lstStyle/>
          <a:p>
            <a:pPr algn="l">
              <a:lnSpc>
                <a:spcPct val="106000"/>
              </a:lnSpc>
              <a:spcBef>
                <a:spcPts val="0"/>
              </a:spcBef>
              <a:spcAft>
                <a:spcPts val="0"/>
              </a:spcAft>
            </a:pPr>
            <a:r>
              <a:rPr sz="2400" b="0">
                <a:solidFill>
                  <a:srgbClr val="171717"/>
                </a:solidFill>
                <a:latin typeface="Poppins"/>
              </a:rPr>
              <a:t>See how it works.
Explore early access.</a:t>
            </a:r>
          </a:p>
        </p:txBody>
      </p:sp>
      <p:sp>
        <p:nvSpPr>
          <p:cNvPr id="46" name="Story text: No tracking. No newsletter."/>
          <p:cNvSpPr txBox="1"/>
          <p:nvPr/>
        </p:nvSpPr>
        <p:spPr>
          <a:xfrm>
            <a:off x="5623560" y="7232904"/>
            <a:ext cx="4251960" cy="329184"/>
          </a:xfrm>
          <a:prstGeom prst="rect">
            <a:avLst/>
          </a:prstGeom>
          <a:noFill/>
        </p:spPr>
        <p:txBody>
          <a:bodyPr wrap="none" tIns="0" bIns="0" lIns="0" rIns="0" anchor="t">
            <a:noAutofit/>
          </a:bodyPr>
          <a:lstStyle/>
          <a:p>
            <a:pPr algn="l">
              <a:lnSpc>
                <a:spcPct val="106000"/>
              </a:lnSpc>
              <a:spcBef>
                <a:spcPts val="0"/>
              </a:spcBef>
              <a:spcAft>
                <a:spcPts val="0"/>
              </a:spcAft>
            </a:pPr>
            <a:r>
              <a:rPr sz="1500" b="1">
                <a:solidFill>
                  <a:srgbClr val="687075"/>
                </a:solidFill>
                <a:latin typeface="Poppins"/>
              </a:rPr>
              <a:t>SCAN OR VISIT</a:t>
            </a:r>
          </a:p>
        </p:txBody>
      </p:sp>
      <p:sp>
        <p:nvSpPr>
          <p:cNvPr id="47" name="Story text: simo-hue.github.io/regulift/">
            <a:hlinkClick r:id="rId10"/>
          </p:cNvPr>
          <p:cNvSpPr txBox="1"/>
          <p:nvPr/>
        </p:nvSpPr>
        <p:spPr>
          <a:xfrm>
            <a:off x="5623560" y="7589520"/>
            <a:ext cx="4572000" cy="411480"/>
          </a:xfrm>
          <a:prstGeom prst="rect">
            <a:avLst/>
          </a:prstGeom>
          <a:noFill/>
        </p:spPr>
        <p:txBody>
          <a:bodyPr wrap="none" tIns="0" bIns="0" lIns="0" rIns="0" anchor="t">
            <a:noAutofit/>
          </a:bodyPr>
          <a:lstStyle/>
          <a:p>
            <a:pPr algn="l">
              <a:lnSpc>
                <a:spcPct val="106000"/>
              </a:lnSpc>
              <a:spcBef>
                <a:spcPts val="0"/>
              </a:spcBef>
              <a:spcAft>
                <a:spcPts val="0"/>
              </a:spcAft>
            </a:pPr>
            <a:r>
              <a:rPr sz="1900" b="1" u="sng">
                <a:solidFill>
                  <a:srgbClr val="497078"/>
                </a:solidFill>
                <a:latin typeface="Poppins Bold"/>
              </a:rPr>
              <a:t>simo-hue.github.io/regulift/</a:t>
            </a:r>
          </a:p>
        </p:txBody>
      </p:sp>
      <p:sp>
        <p:nvSpPr>
          <p:cNvPr id="48" name="Website QR code frame"/>
          <p:cNvSpPr/>
          <p:nvPr/>
        </p:nvSpPr>
        <p:spPr>
          <a:xfrm>
            <a:off x="10241280" y="5596128"/>
            <a:ext cx="2331720" cy="2331720"/>
          </a:xfrm>
          <a:prstGeom prst="roundRect">
            <a:avLst>
              <a:gd name="adj" fmla="val 8000"/>
            </a:avLst>
          </a:prstGeom>
          <a:solidFill>
            <a:srgbClr val="FFFFFF"/>
          </a:solidFill>
          <a:ln w="12700">
            <a:solidFill>
              <a:srgbClr val="E2E4E4"/>
            </a:solidFill>
          </a:ln>
        </p:spPr>
        <p:style>
          <a:lnRef idx="1">
            <a:schemeClr val="accent1"/>
          </a:lnRef>
          <a:fillRef idx="3">
            <a:schemeClr val="accent1"/>
          </a:fillRef>
          <a:effectRef idx="0">
            <a:schemeClr val="accent1"/>
          </a:effectRef>
          <a:fontRef idx="minor">
            <a:schemeClr val="lt1"/>
          </a:fontRef>
        </p:style>
        <p:txBody>
          <a:bodyPr rtlCol="0" anchor="ctr"/>
          <a:lstStyle/>
          <a:p>
            <a:pPr algn="ctr"/>
          </a:p>
        </p:txBody>
      </p:sp>
      <p:pic>
        <p:nvPicPr>
          <p:cNvPr id="49" name="Regulift website QR code: scan or click" descr="regulift_website_qr.png">
            <a:hlinkClick r:id="rId10"/>
          </p:cNvPr>
          <p:cNvPicPr>
            <a:picLocks noChangeAspect="1"/>
          </p:cNvPicPr>
          <p:nvPr/>
        </p:nvPicPr>
        <p:blipFill>
          <a:blip r:embed="rId11"/>
          <a:stretch>
            <a:fillRect/>
          </a:stretch>
        </p:blipFill>
        <p:spPr>
          <a:xfrm>
            <a:off x="10314432" y="5669280"/>
            <a:ext cx="2185416" cy="2185416"/>
          </a:xfrm>
          <a:prstGeom prst="rect">
            <a:avLst/>
          </a:prstGeom>
        </p:spPr>
      </p:pic>
      <p:sp>
        <p:nvSpPr>
          <p:cNvPr id="50" name="Compact margin page number 12"/>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15</a:t>
            </a:r>
          </a:p>
        </p:txBody>
      </p:sp>
    </p:spTree>
  </p:cSld>
  <p:clrMapOvr>
    <a:masterClrMapping/>
  </p:clrMapOvr>
  <p:transition spd="slow">
    <p:push dir="l"/>
  </p:transition>
</p:sld>
</file>

<file path=ppt/slides/slide13.xml><?xml version="1.0" encoding="utf-8"?>
<p:sld xmlns:p="http://schemas.openxmlformats.org/presentationml/2006/main" xmlns:a="http://schemas.openxmlformats.org/drawingml/2006/main" xmlns:r="http://schemas.openxmlformats.org/officeDocument/2006/relationships">
  <p:cSld>
    <p:bg>
      <p:bgPr>
        <a:solidFill>
          <a:srgbClr val="F8F8F8"/>
        </a:solidFill>
      </p:bgPr>
    </p:bg>
    <p:spTree>
      <p:nvGrpSpPr>
        <p:cNvPr id="1" name=""/>
        <p:cNvGrpSpPr/>
        <p:nvPr/>
      </p:nvGrpSpPr>
      <p:grpSpPr>
        <a:xfrm>
          <a:off x="0" y="0"/>
          <a:ext cx="0" cy="0"/>
          <a:chOff x="0" y="0"/>
          <a:chExt cx="0" cy="0"/>
        </a:xfrm>
      </p:grpSpPr>
      <p:sp>
        <p:nvSpPr>
          <p:cNvPr name="TextBox 2" id="2"/>
          <p:cNvSpPr txBox="true"/>
          <p:nvPr/>
        </p:nvSpPr>
        <p:spPr>
          <a:xfrm rot="0">
            <a:off x="-2114909" y="2275579"/>
            <a:ext cx="22517817" cy="3902315"/>
          </a:xfrm>
          <a:prstGeom prst="rect">
            <a:avLst/>
          </a:prstGeom>
        </p:spPr>
        <p:txBody>
          <a:bodyPr anchor="t" rtlCol="false" tIns="0" lIns="0" bIns="0" rIns="0">
            <a:spAutoFit/>
          </a:bodyPr>
          <a:lstStyle/>
          <a:p>
            <a:pPr algn="ctr" marL="0" indent="0" lvl="0">
              <a:lnSpc>
                <a:spcPts val="26658"/>
              </a:lnSpc>
            </a:pPr>
            <a:r>
              <a:rPr lang="en-GB" b="true" sz="28976" spc="-2318">
                <a:solidFill>
                  <a:srgbClr val="171717"/>
                </a:solidFill>
                <a:latin typeface="Poppins Bold"/>
                <a:ea typeface="Poppins Bold"/>
                <a:cs typeface="Poppins Bold"/>
                <a:sym typeface="Poppins Bold"/>
              </a:rPr>
              <a:t>THANKS</a:t>
            </a:r>
          </a:p>
        </p:txBody>
      </p:sp>
      <p:sp>
        <p:nvSpPr>
          <p:cNvPr name="Freeform 3" id="3"/>
          <p:cNvSpPr/>
          <p:nvPr/>
        </p:nvSpPr>
        <p:spPr>
          <a:xfrm flipH="false" flipV="false" rot="0">
            <a:off x="1520015" y="4189157"/>
            <a:ext cx="15098432" cy="5907262"/>
          </a:xfrm>
          <a:custGeom>
            <a:avLst/>
            <a:gdLst/>
            <a:ahLst/>
            <a:cxnLst/>
            <a:rect r="r" b="b" t="t" l="l"/>
            <a:pathLst>
              <a:path h="5907262" w="15098432">
                <a:moveTo>
                  <a:pt x="0" y="0"/>
                </a:moveTo>
                <a:lnTo>
                  <a:pt x="15098432" y="0"/>
                </a:lnTo>
                <a:lnTo>
                  <a:pt x="15098432" y="5907261"/>
                </a:lnTo>
                <a:lnTo>
                  <a:pt x="0" y="5907261"/>
                </a:lnTo>
                <a:lnTo>
                  <a:pt x="0" y="0"/>
                </a:lnTo>
                <a:close/>
              </a:path>
            </a:pathLst>
          </a:custGeom>
          <a:blipFill>
            <a:blip r:embed="rId2"/>
            <a:stretch>
              <a:fillRect l="0" t="0" r="0" b="0"/>
            </a:stretch>
          </a:blipFill>
        </p:spPr>
        <p:txBody>
          <a:bodyPr/>
          <a:p/>
        </p:txBody>
      </p:sp>
      <p:sp>
        <p:nvSpPr>
          <p:cNvPr name="TextBox 9" id="9"/>
          <p:cNvSpPr txBox="true"/>
          <p:nvPr/>
        </p:nvSpPr>
        <p:spPr>
          <a:xfrm rot="0">
            <a:off x="1028700" y="6483888"/>
            <a:ext cx="2875211" cy="369190"/>
          </a:xfrm>
          <a:prstGeom prst="rect">
            <a:avLst/>
          </a:prstGeom>
        </p:spPr>
        <p:txBody>
          <a:bodyPr anchor="t" rtlCol="false" tIns="0" lIns="0" bIns="0" rIns="0">
            <a:spAutoFit/>
          </a:bodyPr>
          <a:lstStyle/>
          <a:p>
            <a:pPr algn="l" marL="0" indent="0" lvl="0">
              <a:lnSpc>
                <a:spcPts val="1419"/>
              </a:lnSpc>
            </a:pPr>
            <a:r>
              <a:rPr lang="en-GB" sz="1542" spc="-30">
                <a:solidFill>
                  <a:srgbClr val="171717"/>
                </a:solidFill>
                <a:latin typeface="Poppins"/>
                <a:ea typeface="Poppins"/>
                <a:cs typeface="Poppins"/>
                <a:sym typeface="Poppins"/>
              </a:rPr>
              <a:t>Simone Mattioli :</a:t>
            </a:r>
          </a:p>
          <a:p>
            <a:pPr algn="l" marL="0" indent="0" lvl="0">
              <a:lnSpc>
                <a:spcPts val="1419"/>
              </a:lnSpc>
            </a:pPr>
            <a:r>
              <a:rPr lang="en-GB" sz="1542" spc="-30">
                <a:solidFill>
                  <a:srgbClr val="171717"/>
                </a:solidFill>
                <a:latin typeface="Poppins"/>
                <a:ea typeface="Poppins"/>
                <a:cs typeface="Poppins"/>
                <a:sym typeface="Poppins"/>
              </a:rPr>
              <a:t>EIT Digital / 28DGTL</a:t>
            </a:r>
          </a:p>
        </p:txBody>
      </p:sp>
      <p:sp>
        <p:nvSpPr>
          <p:cNvPr name="TextBox 10" id="10"/>
          <p:cNvSpPr txBox="true"/>
          <p:nvPr/>
        </p:nvSpPr>
        <p:spPr>
          <a:xfrm rot="0">
            <a:off x="15458331" y="6483888"/>
            <a:ext cx="1800969" cy="369190"/>
          </a:xfrm>
          <a:prstGeom prst="rect">
            <a:avLst/>
          </a:prstGeom>
        </p:spPr>
        <p:txBody>
          <a:bodyPr anchor="t" rtlCol="false" tIns="0" lIns="0" bIns="0" rIns="0">
            <a:spAutoFit/>
          </a:bodyPr>
          <a:lstStyle/>
          <a:p>
            <a:pPr algn="l" marL="0" indent="0" lvl="0">
              <a:lnSpc>
                <a:spcPts val="1419"/>
              </a:lnSpc>
            </a:pPr>
            <a:r>
              <a:rPr lang="en-GB" sz="1542" spc="-30">
                <a:solidFill>
                  <a:srgbClr val="171717"/>
                </a:solidFill>
                <a:latin typeface="Poppins"/>
                <a:ea typeface="Poppins"/>
                <a:cs typeface="Poppins"/>
                <a:sym typeface="Poppins"/>
              </a:rPr>
              <a:t>Andreas Herzinger:</a:t>
            </a:r>
          </a:p>
          <a:p>
            <a:pPr algn="l" marL="0" indent="0" lvl="0">
              <a:lnSpc>
                <a:spcPts val="1419"/>
              </a:lnSpc>
            </a:pPr>
            <a:r>
              <a:rPr lang="en-GB" sz="1542" spc="-30">
                <a:solidFill>
                  <a:srgbClr val="171717"/>
                </a:solidFill>
                <a:latin typeface="Poppins"/>
                <a:ea typeface="Poppins"/>
                <a:cs typeface="Poppins"/>
                <a:sym typeface="Poppins"/>
              </a:rPr>
              <a:t>EIT Digital / 28DGTL</a:t>
            </a:r>
          </a:p>
        </p:txBody>
      </p:sp>
      <p:grpSp>
        <p:nvGrpSpPr>
          <p:cNvPr name="Group 11" id="11"/>
          <p:cNvGrpSpPr/>
          <p:nvPr/>
        </p:nvGrpSpPr>
        <p:grpSpPr>
          <a:xfrm rot="0">
            <a:off x="4027427" y="1117625"/>
            <a:ext cx="10233146" cy="530810"/>
            <a:chOff x="0" y="0"/>
            <a:chExt cx="2988982" cy="155043"/>
          </a:xfrm>
        </p:grpSpPr>
        <p:sp>
          <p:nvSpPr>
            <p:cNvPr name="Freeform 12" id="12"/>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3" id="13"/>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29" id="29"/>
          <p:cNvGrpSpPr/>
          <p:nvPr/>
        </p:nvGrpSpPr>
        <p:grpSpPr>
          <a:xfrm rot="0">
            <a:off x="4100894" y="1190732"/>
            <a:ext cx="2511996" cy="384596"/>
            <a:chOff x="0" y="0"/>
            <a:chExt cx="3349328" cy="512795"/>
          </a:xfrm>
        </p:grpSpPr>
        <p:grpSp>
          <p:nvGrpSpPr>
            <p:cNvPr name="Group 30" id="30"/>
            <p:cNvGrpSpPr/>
            <p:nvPr/>
          </p:nvGrpSpPr>
          <p:grpSpPr>
            <a:xfrm rot="0">
              <a:off x="0" y="0"/>
              <a:ext cx="512795" cy="512795"/>
              <a:chOff x="0" y="0"/>
              <a:chExt cx="812800" cy="812800"/>
            </a:xfrm>
          </p:grpSpPr>
          <p:sp>
            <p:nvSpPr>
              <p:cNvPr name="Freeform 31" id="31"/>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2" id="32"/>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3" id="33"/>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TextBox 34" id="34"/>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35" name="Section navigation: About">
            <a:hlinkClick action="ppaction://hlinksldjump" r:id="rId5"/>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About</a:t>
            </a:r>
          </a:p>
        </p:txBody>
      </p:sp>
      <p:sp>
        <p:nvSpPr>
          <p:cNvPr id="36" name="Section navigation: Service">
            <a:hlinkClick action="ppaction://hlinksldjump" r:id="rId6"/>
          </p:cNvPr>
          <p:cNvSpPr/>
          <p:nvPr/>
        </p:nvSpPr>
        <p:spPr>
          <a:xfrm>
            <a:off x="921258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Service</a:t>
            </a:r>
          </a:p>
        </p:txBody>
      </p:sp>
      <p:sp>
        <p:nvSpPr>
          <p:cNvPr id="37" name="Section navigation: Team">
            <a:hlinkClick action="ppaction://hlinksldjump" r:id="rId7"/>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171717"/>
                </a:solidFill>
                <a:latin typeface="Poppins"/>
              </a:rPr>
              <a:t>Team</a:t>
            </a:r>
          </a:p>
        </p:txBody>
      </p:sp>
      <p:sp>
        <p:nvSpPr>
          <p:cNvPr id="38" name="Section navigation: Conclusion (current)">
            <a:hlinkClick action="ppaction://hlinksldjump" r:id="rId8"/>
          </p:cNvPr>
          <p:cNvSpPr/>
          <p:nvPr/>
        </p:nvSpPr>
        <p:spPr>
          <a:xfrm>
            <a:off x="1245870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lIns="18288" rIns="18288" tIns="0" bIns="0" wrap="none">
            <a:noAutofit/>
          </a:bodyPr>
          <a:lstStyle/>
          <a:p>
            <a:pPr algn="ctr">
              <a:spcBef>
                <a:spcPts val="0"/>
              </a:spcBef>
              <a:spcAft>
                <a:spcPts val="0"/>
              </a:spcAft>
            </a:pPr>
            <a:r>
              <a:rPr sz="1300" b="0">
                <a:solidFill>
                  <a:srgbClr val="FAFAFA"/>
                </a:solidFill>
                <a:latin typeface="Poppins"/>
              </a:rPr>
              <a:t>Conclusion</a:t>
            </a:r>
          </a:p>
        </p:txBody>
      </p:sp>
      <p:sp>
        <p:nvSpPr>
          <p:cNvPr id="39" name="Compact margin page number 13"/>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16</a:t>
            </a:r>
          </a:p>
        </p:txBody>
      </p:sp>
    </p:spTree>
  </p:cSld>
  <p:clrMapOvr>
    <a:masterClrMapping/>
  </p:clrMapOvr>
  <p:transition spd="slow">
    <p:push dir="d"/>
  </p:transition>
</p:sld>
</file>

<file path=ppt/slides/slide14.xml><?xml version="1.0" encoding="utf-8"?>
<p:sld xmlns:a="http://schemas.openxmlformats.org/drawingml/2006/main" xmlns:r="http://schemas.openxmlformats.org/officeDocument/2006/relationships" xmlns:p="http://schemas.openxmlformats.org/presentationml/2006/main">
  <p:cSld name="Slide 1">
    <p:spTree>
      <p:nvGrpSpPr>
        <p:cNvPr id="2" name=""/>
        <p:cNvGrpSpPr/>
        <p:nvPr/>
      </p:nvGrpSpPr>
      <p:grpSpPr>
        <a:xfrm>
          <a:off x="0" y="0"/>
          <a:ext cx="0" cy="0"/>
          <a:chOff x="0" y="0"/>
          <a:chExt cx="0" cy="0"/>
        </a:xfrm>
      </p:grpSpPr>
      <p:sp>
        <p:nvSpPr>
          <p:cNvPr id="3" name="Text 3"/>
          <p:cNvSpPr txBox="1"/>
          <p:nvPr/>
        </p:nvSpPr>
        <p:spPr>
          <a:xfrm>
            <a:off x="1143000" y="1920240"/>
            <a:ext cx="16002000" cy="960120"/>
          </a:xfrm>
          <a:prstGeom prst="rect">
            <a:avLst/>
          </a:prstGeom>
          <a:noFill/>
          <a:ln/>
        </p:spPr>
        <p:txBody>
          <a:bodyPr wrap="square" lIns="0" tIns="0" rIns="0" bIns="0" rtlCol="0" anchor="t"/>
          <a:lstStyle/>
          <a:p>
            <a:pPr indent="0" marL="0">
              <a:buNone/>
            </a:pPr>
            <a:r>
              <a:rPr lang="en-US" sz="5400" spc="-150" kern="0" dirty="0">
                <a:solidFill>
                  <a:srgbClr val="1C2B2F"/>
                </a:solidFill>
                <a:latin typeface="Geist Medium" pitchFamily="34" charset="0"/>
                <a:ea typeface="Geist Medium" pitchFamily="34" charset="-122"/>
                <a:cs typeface="Geist Medium" pitchFamily="34" charset="-120"/>
              </a:rPr>
              <a:t>Reads. Advises. Loops until a lawyer signs.</a:t>
            </a:r>
            <a:endParaRPr lang="en-US" sz="5400" dirty="0"/>
          </a:p>
        </p:txBody>
      </p:sp>
      <p:sp>
        <p:nvSpPr>
          <p:cNvPr id="4" name="Shape 4"/>
          <p:cNvSpPr/>
          <p:nvPr/>
        </p:nvSpPr>
        <p:spPr>
          <a:xfrm>
            <a:off x="1143000" y="3337560"/>
            <a:ext cx="6309360" cy="4846320"/>
          </a:xfrm>
          <a:prstGeom prst="roundRect">
            <a:avLst>
              <a:gd name="adj" fmla="val 3396"/>
            </a:avLst>
          </a:prstGeom>
          <a:solidFill>
            <a:srgbClr val="E7EDEC"/>
          </a:solidFill>
          <a:ln w="9525">
            <a:solidFill>
              <a:srgbClr val="E7EDEC"/>
            </a:solidFill>
            <a:prstDash val="solid"/>
          </a:ln>
        </p:spPr>
      </p:sp>
      <p:sp>
        <p:nvSpPr>
          <p:cNvPr id="5" name="Shape 5"/>
          <p:cNvSpPr/>
          <p:nvPr/>
        </p:nvSpPr>
        <p:spPr>
          <a:xfrm>
            <a:off x="8641080" y="3337560"/>
            <a:ext cx="8503920" cy="4846320"/>
          </a:xfrm>
          <a:prstGeom prst="roundRect">
            <a:avLst>
              <a:gd name="adj" fmla="val 3396"/>
            </a:avLst>
          </a:prstGeom>
          <a:solidFill>
            <a:srgbClr val="1C2B2F"/>
          </a:solidFill>
          <a:ln w="9525">
            <a:solidFill>
              <a:srgbClr val="1C2B2F"/>
            </a:solidFill>
            <a:prstDash val="solid"/>
          </a:ln>
        </p:spPr>
      </p:sp>
      <p:sp>
        <p:nvSpPr>
          <p:cNvPr id="6" name="Text 6"/>
          <p:cNvSpPr txBox="1"/>
          <p:nvPr/>
        </p:nvSpPr>
        <p:spPr>
          <a:xfrm>
            <a:off x="1600200" y="3657600"/>
            <a:ext cx="5394960" cy="320040"/>
          </a:xfrm>
          <a:prstGeom prst="rect">
            <a:avLst/>
          </a:prstGeom>
          <a:noFill/>
          <a:ln/>
        </p:spPr>
        <p:txBody>
          <a:bodyPr wrap="square" lIns="0" tIns="0" rIns="0" bIns="0" rtlCol="0" anchor="t"/>
          <a:lstStyle/>
          <a:p>
            <a:pPr indent="0" marL="0">
              <a:buNone/>
            </a:pPr>
            <a:r>
              <a:rPr lang="en-US" sz="1400" dirty="0">
                <a:solidFill>
                  <a:srgbClr val="55676B"/>
                </a:solidFill>
                <a:latin typeface="Geist" pitchFamily="34" charset="0"/>
                <a:ea typeface="Geist" pitchFamily="34" charset="-122"/>
                <a:cs typeface="Geist" pitchFamily="34" charset="-120"/>
              </a:rPr>
              <a:t>Inside the company</a:t>
            </a:r>
            <a:endParaRPr lang="en-US" sz="1400" dirty="0"/>
          </a:p>
        </p:txBody>
      </p:sp>
      <p:sp>
        <p:nvSpPr>
          <p:cNvPr id="7" name="Text 7"/>
          <p:cNvSpPr txBox="1"/>
          <p:nvPr/>
        </p:nvSpPr>
        <p:spPr>
          <a:xfrm>
            <a:off x="9098280" y="3657600"/>
            <a:ext cx="7589520" cy="320040"/>
          </a:xfrm>
          <a:prstGeom prst="rect">
            <a:avLst/>
          </a:prstGeom>
          <a:noFill/>
          <a:ln/>
        </p:spPr>
        <p:txBody>
          <a:bodyPr wrap="square" lIns="0" tIns="0" rIns="0" bIns="0" rtlCol="0" anchor="t"/>
          <a:lstStyle/>
          <a:p>
            <a:pPr indent="0" marL="0">
              <a:buNone/>
            </a:pPr>
            <a:r>
              <a:rPr lang="en-US" sz="1400" dirty="0">
                <a:solidFill>
                  <a:srgbClr val="8FA3A8"/>
                </a:solidFill>
                <a:latin typeface="Geist" pitchFamily="34" charset="0"/>
                <a:ea typeface="Geist" pitchFamily="34" charset="-122"/>
                <a:cs typeface="Geist" pitchFamily="34" charset="-120"/>
              </a:rPr>
              <a:t>Inside Regulift</a:t>
            </a:r>
            <a:endParaRPr lang="en-US" sz="1400" dirty="0"/>
          </a:p>
        </p:txBody>
      </p:sp>
      <p:sp>
        <p:nvSpPr>
          <p:cNvPr id="8" name="Shape 8"/>
          <p:cNvSpPr/>
          <p:nvPr/>
        </p:nvSpPr>
        <p:spPr>
          <a:xfrm>
            <a:off x="1600200" y="4251960"/>
            <a:ext cx="2468880" cy="0"/>
          </a:xfrm>
          <a:prstGeom prst="line">
            <a:avLst/>
          </a:prstGeom>
          <a:noFill/>
          <a:ln w="9525">
            <a:solidFill>
              <a:srgbClr val="1C2B2F"/>
            </a:solidFill>
            <a:prstDash val="solid"/>
          </a:ln>
        </p:spPr>
      </p:sp>
      <p:sp>
        <p:nvSpPr>
          <p:cNvPr id="9" name="Text 9"/>
          <p:cNvSpPr txBox="1"/>
          <p:nvPr/>
        </p:nvSpPr>
        <p:spPr>
          <a:xfrm>
            <a:off x="1600200" y="4398264"/>
            <a:ext cx="731520" cy="274320"/>
          </a:xfrm>
          <a:prstGeom prst="rect">
            <a:avLst/>
          </a:prstGeom>
          <a:noFill/>
          <a:ln/>
        </p:spPr>
        <p:txBody>
          <a:bodyPr wrap="square" lIns="0" tIns="0" rIns="0" bIns="0" rtlCol="0" anchor="t"/>
          <a:lstStyle/>
          <a:p>
            <a:pPr indent="0" marL="0">
              <a:buNone/>
            </a:pPr>
            <a:r>
              <a:rPr lang="en-US" sz="1300" dirty="0">
                <a:solidFill>
                  <a:srgbClr val="8A9A9D"/>
                </a:solidFill>
                <a:latin typeface="Geist" pitchFamily="34" charset="0"/>
                <a:ea typeface="Geist" pitchFamily="34" charset="-122"/>
                <a:cs typeface="Geist" pitchFamily="34" charset="-120"/>
              </a:rPr>
              <a:t>01</a:t>
            </a:r>
            <a:endParaRPr lang="en-US" sz="1300" dirty="0"/>
          </a:p>
        </p:txBody>
      </p:sp>
      <p:sp>
        <p:nvSpPr>
          <p:cNvPr id="10" name="Text 10"/>
          <p:cNvSpPr txBox="1"/>
          <p:nvPr/>
        </p:nvSpPr>
        <p:spPr>
          <a:xfrm>
            <a:off x="1600200" y="4654296"/>
            <a:ext cx="2468880" cy="411480"/>
          </a:xfrm>
          <a:prstGeom prst="rect">
            <a:avLst/>
          </a:prstGeom>
          <a:noFill/>
          <a:ln/>
        </p:spPr>
        <p:txBody>
          <a:bodyPr wrap="square" lIns="0" tIns="0" rIns="0" bIns="0" rtlCol="0" anchor="t"/>
          <a:lstStyle/>
          <a:p>
            <a:pPr indent="0" marL="0">
              <a:buNone/>
            </a:pPr>
            <a:r>
              <a:rPr lang="en-US" sz="2400" dirty="0">
                <a:solidFill>
                  <a:srgbClr val="1C2B2F"/>
                </a:solidFill>
                <a:latin typeface="Geist Medium" pitchFamily="34" charset="0"/>
                <a:ea typeface="Geist Medium" pitchFamily="34" charset="-122"/>
                <a:cs typeface="Geist Medium" pitchFamily="34" charset="-120"/>
              </a:rPr>
              <a:t>Connect</a:t>
            </a:r>
            <a:endParaRPr lang="en-US" sz="2400" dirty="0"/>
          </a:p>
        </p:txBody>
      </p:sp>
      <p:sp>
        <p:nvSpPr>
          <p:cNvPr id="11" name="Text 11"/>
          <p:cNvSpPr txBox="1"/>
          <p:nvPr/>
        </p:nvSpPr>
        <p:spPr>
          <a:xfrm>
            <a:off x="1600200" y="5120640"/>
            <a:ext cx="2468880" cy="731520"/>
          </a:xfrm>
          <a:prstGeom prst="rect">
            <a:avLst/>
          </a:prstGeom>
          <a:noFill/>
          <a:ln/>
        </p:spPr>
        <p:txBody>
          <a:bodyPr wrap="square" lIns="0" tIns="0" rIns="0" bIns="0" rtlCol="0" anchor="t"/>
          <a:lstStyle/>
          <a:p>
            <a:pPr indent="0" marL="0">
              <a:buNone/>
            </a:pPr>
            <a:r>
              <a:rPr lang="en-US" sz="1350" dirty="0">
                <a:solidFill>
                  <a:srgbClr val="55676B"/>
                </a:solidFill>
                <a:latin typeface="Geist" pitchFamily="34" charset="0"/>
                <a:ea typeface="Geist" pitchFamily="34" charset="-122"/>
                <a:cs typeface="Geist" pitchFamily="34" charset="-120"/>
              </a:rPr>
              <a:t>Read-only. Repositories, cloud, HR, CRM.</a:t>
            </a:r>
            <a:endParaRPr lang="en-US" sz="1350" dirty="0"/>
          </a:p>
        </p:txBody>
      </p:sp>
      <p:sp>
        <p:nvSpPr>
          <p:cNvPr id="12" name="Shape 12"/>
          <p:cNvSpPr/>
          <p:nvPr/>
        </p:nvSpPr>
        <p:spPr>
          <a:xfrm>
            <a:off x="4526280" y="4251960"/>
            <a:ext cx="2468880" cy="0"/>
          </a:xfrm>
          <a:prstGeom prst="line">
            <a:avLst/>
          </a:prstGeom>
          <a:noFill/>
          <a:ln w="9525">
            <a:solidFill>
              <a:srgbClr val="1C2B2F"/>
            </a:solidFill>
            <a:prstDash val="solid"/>
          </a:ln>
        </p:spPr>
      </p:sp>
      <p:sp>
        <p:nvSpPr>
          <p:cNvPr id="13" name="Text 13"/>
          <p:cNvSpPr txBox="1"/>
          <p:nvPr/>
        </p:nvSpPr>
        <p:spPr>
          <a:xfrm>
            <a:off x="4526280" y="4398264"/>
            <a:ext cx="731520" cy="274320"/>
          </a:xfrm>
          <a:prstGeom prst="rect">
            <a:avLst/>
          </a:prstGeom>
          <a:noFill/>
          <a:ln/>
        </p:spPr>
        <p:txBody>
          <a:bodyPr wrap="square" lIns="0" tIns="0" rIns="0" bIns="0" rtlCol="0" anchor="t"/>
          <a:lstStyle/>
          <a:p>
            <a:pPr indent="0" marL="0">
              <a:buNone/>
            </a:pPr>
            <a:r>
              <a:rPr lang="en-US" sz="1300" dirty="0">
                <a:solidFill>
                  <a:srgbClr val="8A9A9D"/>
                </a:solidFill>
                <a:latin typeface="Geist" pitchFamily="34" charset="0"/>
                <a:ea typeface="Geist" pitchFamily="34" charset="-122"/>
                <a:cs typeface="Geist" pitchFamily="34" charset="-120"/>
              </a:rPr>
              <a:t>02</a:t>
            </a:r>
            <a:endParaRPr lang="en-US" sz="1300" dirty="0"/>
          </a:p>
        </p:txBody>
      </p:sp>
      <p:sp>
        <p:nvSpPr>
          <p:cNvPr id="14" name="Text 14"/>
          <p:cNvSpPr txBox="1"/>
          <p:nvPr/>
        </p:nvSpPr>
        <p:spPr>
          <a:xfrm>
            <a:off x="4526280" y="4654296"/>
            <a:ext cx="2468880" cy="411480"/>
          </a:xfrm>
          <a:prstGeom prst="rect">
            <a:avLst/>
          </a:prstGeom>
          <a:noFill/>
          <a:ln/>
        </p:spPr>
        <p:txBody>
          <a:bodyPr wrap="square" lIns="0" tIns="0" rIns="0" bIns="0" rtlCol="0" anchor="t"/>
          <a:lstStyle/>
          <a:p>
            <a:pPr indent="0" marL="0">
              <a:buNone/>
            </a:pPr>
            <a:r>
              <a:rPr lang="en-US" sz="2400" dirty="0">
                <a:solidFill>
                  <a:srgbClr val="1C2B2F"/>
                </a:solidFill>
                <a:latin typeface="Geist Medium" pitchFamily="34" charset="0"/>
                <a:ea typeface="Geist Medium" pitchFamily="34" charset="-122"/>
                <a:cs typeface="Geist Medium" pitchFamily="34" charset="-120"/>
              </a:rPr>
              <a:t>Approve</a:t>
            </a:r>
            <a:endParaRPr lang="en-US" sz="2400" dirty="0"/>
          </a:p>
        </p:txBody>
      </p:sp>
      <p:sp>
        <p:nvSpPr>
          <p:cNvPr id="15" name="Text 15"/>
          <p:cNvSpPr txBox="1"/>
          <p:nvPr/>
        </p:nvSpPr>
        <p:spPr>
          <a:xfrm>
            <a:off x="4526280" y="5120640"/>
            <a:ext cx="2468880" cy="731520"/>
          </a:xfrm>
          <a:prstGeom prst="rect">
            <a:avLst/>
          </a:prstGeom>
          <a:noFill/>
          <a:ln/>
        </p:spPr>
        <p:txBody>
          <a:bodyPr wrap="square" lIns="0" tIns="0" rIns="0" bIns="0" rtlCol="0" anchor="t"/>
          <a:lstStyle/>
          <a:p>
            <a:pPr indent="0" marL="0">
              <a:buNone/>
            </a:pPr>
            <a:r>
              <a:rPr lang="en-US" sz="1350" dirty="0">
                <a:solidFill>
                  <a:srgbClr val="55676B"/>
                </a:solidFill>
                <a:latin typeface="Geist" pitchFamily="34" charset="0"/>
                <a:ea typeface="Geist" pitchFamily="34" charset="-122"/>
                <a:cs typeface="Geist" pitchFamily="34" charset="-120"/>
              </a:rPr>
              <a:t>One named person releases the context report.</a:t>
            </a:r>
            <a:endParaRPr lang="en-US" sz="1350" dirty="0"/>
          </a:p>
        </p:txBody>
      </p:sp>
      <p:sp>
        <p:nvSpPr>
          <p:cNvPr id="16" name="Shape 16"/>
          <p:cNvSpPr/>
          <p:nvPr/>
        </p:nvSpPr>
        <p:spPr>
          <a:xfrm>
            <a:off x="4526280" y="6309360"/>
            <a:ext cx="2468880" cy="0"/>
          </a:xfrm>
          <a:prstGeom prst="line">
            <a:avLst/>
          </a:prstGeom>
          <a:noFill/>
          <a:ln w="9525">
            <a:solidFill>
              <a:srgbClr val="1C2B2F"/>
            </a:solidFill>
            <a:prstDash val="solid"/>
          </a:ln>
        </p:spPr>
      </p:sp>
      <p:sp>
        <p:nvSpPr>
          <p:cNvPr id="17" name="Text 17"/>
          <p:cNvSpPr txBox="1"/>
          <p:nvPr/>
        </p:nvSpPr>
        <p:spPr>
          <a:xfrm>
            <a:off x="4526280" y="6455664"/>
            <a:ext cx="731520" cy="274320"/>
          </a:xfrm>
          <a:prstGeom prst="rect">
            <a:avLst/>
          </a:prstGeom>
          <a:noFill/>
          <a:ln/>
        </p:spPr>
        <p:txBody>
          <a:bodyPr wrap="square" lIns="0" tIns="0" rIns="0" bIns="0" rtlCol="0" anchor="t"/>
          <a:lstStyle/>
          <a:p>
            <a:pPr indent="0" marL="0">
              <a:buNone/>
            </a:pPr>
            <a:r>
              <a:rPr lang="en-US" sz="1300" dirty="0">
                <a:solidFill>
                  <a:srgbClr val="8A9A9D"/>
                </a:solidFill>
                <a:latin typeface="Geist" pitchFamily="34" charset="0"/>
                <a:ea typeface="Geist" pitchFamily="34" charset="-122"/>
                <a:cs typeface="Geist" pitchFamily="34" charset="-120"/>
              </a:rPr>
              <a:t>05</a:t>
            </a:r>
            <a:endParaRPr lang="en-US" sz="1300" dirty="0"/>
          </a:p>
        </p:txBody>
      </p:sp>
      <p:sp>
        <p:nvSpPr>
          <p:cNvPr id="18" name="Text 18"/>
          <p:cNvSpPr txBox="1"/>
          <p:nvPr/>
        </p:nvSpPr>
        <p:spPr>
          <a:xfrm>
            <a:off x="4526280" y="6711696"/>
            <a:ext cx="2468880" cy="411480"/>
          </a:xfrm>
          <a:prstGeom prst="rect">
            <a:avLst/>
          </a:prstGeom>
          <a:noFill/>
          <a:ln/>
        </p:spPr>
        <p:txBody>
          <a:bodyPr wrap="square" lIns="0" tIns="0" rIns="0" bIns="0" rtlCol="0" anchor="t"/>
          <a:lstStyle/>
          <a:p>
            <a:pPr indent="0" marL="0">
              <a:buNone/>
            </a:pPr>
            <a:r>
              <a:rPr lang="en-US" sz="2400" dirty="0">
                <a:solidFill>
                  <a:srgbClr val="1C2B2F"/>
                </a:solidFill>
                <a:latin typeface="Geist Medium" pitchFamily="34" charset="0"/>
                <a:ea typeface="Geist Medium" pitchFamily="34" charset="-122"/>
                <a:cs typeface="Geist Medium" pitchFamily="34" charset="-120"/>
              </a:rPr>
              <a:t>Fix</a:t>
            </a:r>
            <a:endParaRPr lang="en-US" sz="2400" dirty="0"/>
          </a:p>
        </p:txBody>
      </p:sp>
      <p:sp>
        <p:nvSpPr>
          <p:cNvPr id="19" name="Text 19"/>
          <p:cNvSpPr txBox="1"/>
          <p:nvPr/>
        </p:nvSpPr>
        <p:spPr>
          <a:xfrm>
            <a:off x="4526280" y="7178040"/>
            <a:ext cx="2468880" cy="731520"/>
          </a:xfrm>
          <a:prstGeom prst="rect">
            <a:avLst/>
          </a:prstGeom>
          <a:noFill/>
          <a:ln/>
        </p:spPr>
        <p:txBody>
          <a:bodyPr wrap="square" lIns="0" tIns="0" rIns="0" bIns="0" rtlCol="0" anchor="t"/>
          <a:lstStyle/>
          <a:p>
            <a:pPr indent="0" marL="0">
              <a:buNone/>
            </a:pPr>
            <a:r>
              <a:rPr lang="en-US" sz="1350" dirty="0">
                <a:solidFill>
                  <a:srgbClr val="55676B"/>
                </a:solidFill>
                <a:latin typeface="Geist" pitchFamily="34" charset="0"/>
                <a:ea typeface="Geist" pitchFamily="34" charset="-122"/>
                <a:cs typeface="Geist" pitchFamily="34" charset="-120"/>
              </a:rPr>
              <a:t>Steps and templates. Upload, re-read, repeat.</a:t>
            </a:r>
            <a:endParaRPr lang="en-US" sz="1350" dirty="0"/>
          </a:p>
        </p:txBody>
      </p:sp>
      <p:pic>
        <p:nvPicPr>
          <p:cNvPr id="20" name="Image 0" descr="/home/andi/deckbuild/img/brain-paper.png">    </p:cNvPr>
          <p:cNvPicPr>
            <a:picLocks noChangeAspect="1"/>
          </p:cNvPicPr>
          <p:nvPr/>
        </p:nvPicPr>
        <p:blipFill>
          <a:blip r:embed="rId1"/>
          <a:stretch>
            <a:fillRect/>
          </a:stretch>
        </p:blipFill>
        <p:spPr>
          <a:xfrm>
            <a:off x="9098280" y="4206240"/>
            <a:ext cx="822960" cy="822960"/>
          </a:xfrm>
          <a:prstGeom prst="rect">
            <a:avLst/>
          </a:prstGeom>
        </p:spPr>
      </p:pic>
      <p:sp>
        <p:nvSpPr>
          <p:cNvPr id="21" name="Text 20"/>
          <p:cNvSpPr txBox="1"/>
          <p:nvPr/>
        </p:nvSpPr>
        <p:spPr>
          <a:xfrm>
            <a:off x="10104120" y="4453128"/>
            <a:ext cx="2743200" cy="365760"/>
          </a:xfrm>
          <a:prstGeom prst="rect">
            <a:avLst/>
          </a:prstGeom>
          <a:noFill/>
          <a:ln/>
        </p:spPr>
        <p:txBody>
          <a:bodyPr wrap="square" lIns="0" tIns="0" rIns="0" bIns="0" rtlCol="0" anchor="t"/>
          <a:lstStyle/>
          <a:p>
            <a:pPr indent="0" marL="0">
              <a:buNone/>
            </a:pPr>
            <a:r>
              <a:rPr lang="en-US" sz="1500" dirty="0">
                <a:solidFill>
                  <a:srgbClr val="8FA3A8"/>
                </a:solidFill>
                <a:latin typeface="Geist" pitchFamily="34" charset="0"/>
                <a:ea typeface="Geist" pitchFamily="34" charset="-122"/>
                <a:cs typeface="Geist" pitchFamily="34" charset="-120"/>
              </a:rPr>
              <a:t>The brain</a:t>
            </a:r>
            <a:endParaRPr lang="en-US" sz="1500" dirty="0"/>
          </a:p>
        </p:txBody>
      </p:sp>
      <p:sp>
        <p:nvSpPr>
          <p:cNvPr id="22" name="Shape 21"/>
          <p:cNvSpPr/>
          <p:nvPr/>
        </p:nvSpPr>
        <p:spPr>
          <a:xfrm>
            <a:off x="9098280" y="5440680"/>
            <a:ext cx="2331720" cy="0"/>
          </a:xfrm>
          <a:prstGeom prst="line">
            <a:avLst/>
          </a:prstGeom>
          <a:noFill/>
          <a:ln w="9525">
            <a:solidFill>
              <a:srgbClr val="4A5E64"/>
            </a:solidFill>
            <a:prstDash val="solid"/>
          </a:ln>
        </p:spPr>
      </p:sp>
      <p:sp>
        <p:nvSpPr>
          <p:cNvPr id="23" name="Text 22"/>
          <p:cNvSpPr txBox="1"/>
          <p:nvPr/>
        </p:nvSpPr>
        <p:spPr>
          <a:xfrm>
            <a:off x="9098280" y="5586984"/>
            <a:ext cx="731520" cy="274320"/>
          </a:xfrm>
          <a:prstGeom prst="rect">
            <a:avLst/>
          </a:prstGeom>
          <a:noFill/>
          <a:ln/>
        </p:spPr>
        <p:txBody>
          <a:bodyPr wrap="square" lIns="0" tIns="0" rIns="0" bIns="0" rtlCol="0" anchor="t"/>
          <a:lstStyle/>
          <a:p>
            <a:pPr indent="0" marL="0">
              <a:buNone/>
            </a:pPr>
            <a:r>
              <a:rPr lang="en-US" sz="1300" dirty="0">
                <a:solidFill>
                  <a:srgbClr val="8FA3A8"/>
                </a:solidFill>
                <a:latin typeface="Geist" pitchFamily="34" charset="0"/>
                <a:ea typeface="Geist" pitchFamily="34" charset="-122"/>
                <a:cs typeface="Geist" pitchFamily="34" charset="-120"/>
              </a:rPr>
              <a:t>03</a:t>
            </a:r>
            <a:endParaRPr lang="en-US" sz="1300" dirty="0"/>
          </a:p>
        </p:txBody>
      </p:sp>
      <p:sp>
        <p:nvSpPr>
          <p:cNvPr id="24" name="Text 23"/>
          <p:cNvSpPr txBox="1"/>
          <p:nvPr/>
        </p:nvSpPr>
        <p:spPr>
          <a:xfrm>
            <a:off x="9098280" y="5843016"/>
            <a:ext cx="2331720" cy="411480"/>
          </a:xfrm>
          <a:prstGeom prst="rect">
            <a:avLst/>
          </a:prstGeom>
          <a:noFill/>
          <a:ln/>
        </p:spPr>
        <p:txBody>
          <a:bodyPr wrap="square" lIns="0" tIns="0" rIns="0" bIns="0" rtlCol="0" anchor="t"/>
          <a:lstStyle/>
          <a:p>
            <a:pPr indent="0" marL="0">
              <a:buNone/>
            </a:pPr>
            <a:r>
              <a:rPr lang="en-US" sz="2400" dirty="0">
                <a:solidFill>
                  <a:srgbClr val="F6F4EE"/>
                </a:solidFill>
                <a:latin typeface="Geist Medium" pitchFamily="34" charset="0"/>
                <a:ea typeface="Geist Medium" pitchFamily="34" charset="-122"/>
                <a:cs typeface="Geist Medium" pitchFamily="34" charset="-120"/>
              </a:rPr>
              <a:t>Evidence</a:t>
            </a:r>
            <a:endParaRPr lang="en-US" sz="2400" dirty="0"/>
          </a:p>
        </p:txBody>
      </p:sp>
      <p:sp>
        <p:nvSpPr>
          <p:cNvPr id="25" name="Text 24"/>
          <p:cNvSpPr txBox="1"/>
          <p:nvPr/>
        </p:nvSpPr>
        <p:spPr>
          <a:xfrm>
            <a:off x="9098280" y="6309360"/>
            <a:ext cx="2331720" cy="731520"/>
          </a:xfrm>
          <a:prstGeom prst="rect">
            <a:avLst/>
          </a:prstGeom>
          <a:noFill/>
          <a:ln/>
        </p:spPr>
        <p:txBody>
          <a:bodyPr wrap="square" lIns="0" tIns="0" rIns="0" bIns="0" rtlCol="0" anchor="t"/>
          <a:lstStyle/>
          <a:p>
            <a:pPr indent="0" marL="0">
              <a:buNone/>
            </a:pPr>
            <a:r>
              <a:rPr lang="en-US" sz="1350" dirty="0">
                <a:solidFill>
                  <a:srgbClr val="B7C4C7"/>
                </a:solidFill>
                <a:latin typeface="Geist" pitchFamily="34" charset="0"/>
                <a:ea typeface="Geist" pitchFamily="34" charset="-122"/>
                <a:cs typeface="Geist" pitchFamily="34" charset="-120"/>
              </a:rPr>
              <a:t>Inventory, data flows, evidence graph.</a:t>
            </a:r>
            <a:endParaRPr lang="en-US" sz="1350" dirty="0"/>
          </a:p>
        </p:txBody>
      </p:sp>
      <p:sp>
        <p:nvSpPr>
          <p:cNvPr id="26" name="Shape 25"/>
          <p:cNvSpPr/>
          <p:nvPr/>
        </p:nvSpPr>
        <p:spPr>
          <a:xfrm>
            <a:off x="11887200" y="5440680"/>
            <a:ext cx="2331720" cy="0"/>
          </a:xfrm>
          <a:prstGeom prst="line">
            <a:avLst/>
          </a:prstGeom>
          <a:noFill/>
          <a:ln w="9525">
            <a:solidFill>
              <a:srgbClr val="4A5E64"/>
            </a:solidFill>
            <a:prstDash val="solid"/>
          </a:ln>
        </p:spPr>
      </p:sp>
      <p:sp>
        <p:nvSpPr>
          <p:cNvPr id="27" name="Text 26"/>
          <p:cNvSpPr txBox="1"/>
          <p:nvPr/>
        </p:nvSpPr>
        <p:spPr>
          <a:xfrm>
            <a:off x="11887200" y="5586984"/>
            <a:ext cx="731520" cy="274320"/>
          </a:xfrm>
          <a:prstGeom prst="rect">
            <a:avLst/>
          </a:prstGeom>
          <a:noFill/>
          <a:ln/>
        </p:spPr>
        <p:txBody>
          <a:bodyPr wrap="square" lIns="0" tIns="0" rIns="0" bIns="0" rtlCol="0" anchor="t"/>
          <a:lstStyle/>
          <a:p>
            <a:pPr indent="0" marL="0">
              <a:buNone/>
            </a:pPr>
            <a:r>
              <a:rPr lang="en-US" sz="1300" dirty="0">
                <a:solidFill>
                  <a:srgbClr val="8FA3A8"/>
                </a:solidFill>
                <a:latin typeface="Geist" pitchFamily="34" charset="0"/>
                <a:ea typeface="Geist" pitchFamily="34" charset="-122"/>
                <a:cs typeface="Geist" pitchFamily="34" charset="-120"/>
              </a:rPr>
              <a:t>04</a:t>
            </a:r>
            <a:endParaRPr lang="en-US" sz="1300" dirty="0"/>
          </a:p>
        </p:txBody>
      </p:sp>
      <p:sp>
        <p:nvSpPr>
          <p:cNvPr id="28" name="Text 27"/>
          <p:cNvSpPr txBox="1"/>
          <p:nvPr/>
        </p:nvSpPr>
        <p:spPr>
          <a:xfrm>
            <a:off x="11887200" y="5843016"/>
            <a:ext cx="2331720" cy="411480"/>
          </a:xfrm>
          <a:prstGeom prst="rect">
            <a:avLst/>
          </a:prstGeom>
          <a:noFill/>
          <a:ln/>
        </p:spPr>
        <p:txBody>
          <a:bodyPr wrap="square" lIns="0" tIns="0" rIns="0" bIns="0" rtlCol="0" anchor="t"/>
          <a:lstStyle/>
          <a:p>
            <a:pPr indent="0" marL="0">
              <a:buNone/>
            </a:pPr>
            <a:r>
              <a:rPr lang="en-US" sz="2400" dirty="0">
                <a:solidFill>
                  <a:srgbClr val="F6F4EE"/>
                </a:solidFill>
                <a:latin typeface="Geist Medium" pitchFamily="34" charset="0"/>
                <a:ea typeface="Geist Medium" pitchFamily="34" charset="-122"/>
                <a:cs typeface="Geist Medium" pitchFamily="34" charset="-120"/>
              </a:rPr>
              <a:t>Advise</a:t>
            </a:r>
            <a:endParaRPr lang="en-US" sz="2400" dirty="0"/>
          </a:p>
        </p:txBody>
      </p:sp>
      <p:sp>
        <p:nvSpPr>
          <p:cNvPr id="29" name="Text 28"/>
          <p:cNvSpPr txBox="1"/>
          <p:nvPr/>
        </p:nvSpPr>
        <p:spPr>
          <a:xfrm>
            <a:off x="11887200" y="6309360"/>
            <a:ext cx="2331720" cy="731520"/>
          </a:xfrm>
          <a:prstGeom prst="rect">
            <a:avLst/>
          </a:prstGeom>
          <a:noFill/>
          <a:ln/>
        </p:spPr>
        <p:txBody>
          <a:bodyPr wrap="square" lIns="0" tIns="0" rIns="0" bIns="0" rtlCol="0" anchor="t"/>
          <a:lstStyle/>
          <a:p>
            <a:pPr indent="0" marL="0">
              <a:buNone/>
            </a:pPr>
            <a:r>
              <a:rPr lang="en-US" sz="1350" dirty="0">
                <a:solidFill>
                  <a:srgbClr val="B7C4C7"/>
                </a:solidFill>
                <a:latin typeface="Geist" pitchFamily="34" charset="0"/>
                <a:ea typeface="Geist" pitchFamily="34" charset="-122"/>
                <a:cs typeface="Geist" pitchFamily="34" charset="-120"/>
              </a:rPr>
              <a:t>What applies, where you stand, gaps ranked.</a:t>
            </a:r>
            <a:endParaRPr lang="en-US" sz="1350" dirty="0"/>
          </a:p>
        </p:txBody>
      </p:sp>
      <p:sp>
        <p:nvSpPr>
          <p:cNvPr id="30" name="Shape 29"/>
          <p:cNvSpPr/>
          <p:nvPr/>
        </p:nvSpPr>
        <p:spPr>
          <a:xfrm>
            <a:off x="14630400" y="4251960"/>
            <a:ext cx="0" cy="3474720"/>
          </a:xfrm>
          <a:prstGeom prst="line">
            <a:avLst/>
          </a:prstGeom>
          <a:noFill/>
          <a:ln w="9525">
            <a:solidFill>
              <a:srgbClr val="4A5E64"/>
            </a:solidFill>
            <a:prstDash val="solid"/>
          </a:ln>
        </p:spPr>
      </p:sp>
      <p:sp>
        <p:nvSpPr>
          <p:cNvPr id="31" name="Shape 30"/>
          <p:cNvSpPr/>
          <p:nvPr/>
        </p:nvSpPr>
        <p:spPr>
          <a:xfrm>
            <a:off x="15041880" y="5440680"/>
            <a:ext cx="1645920" cy="0"/>
          </a:xfrm>
          <a:prstGeom prst="line">
            <a:avLst/>
          </a:prstGeom>
          <a:noFill/>
          <a:ln w="9525">
            <a:solidFill>
              <a:srgbClr val="4A5E64"/>
            </a:solidFill>
            <a:prstDash val="solid"/>
          </a:ln>
        </p:spPr>
      </p:sp>
      <p:sp>
        <p:nvSpPr>
          <p:cNvPr id="32" name="Text 31"/>
          <p:cNvSpPr txBox="1"/>
          <p:nvPr/>
        </p:nvSpPr>
        <p:spPr>
          <a:xfrm>
            <a:off x="15041880" y="5586984"/>
            <a:ext cx="731520" cy="274320"/>
          </a:xfrm>
          <a:prstGeom prst="rect">
            <a:avLst/>
          </a:prstGeom>
          <a:noFill/>
          <a:ln/>
        </p:spPr>
        <p:txBody>
          <a:bodyPr wrap="square" lIns="0" tIns="0" rIns="0" bIns="0" rtlCol="0" anchor="t"/>
          <a:lstStyle/>
          <a:p>
            <a:pPr indent="0" marL="0">
              <a:buNone/>
            </a:pPr>
            <a:r>
              <a:rPr lang="en-US" sz="1300" dirty="0">
                <a:solidFill>
                  <a:srgbClr val="8FA3A8"/>
                </a:solidFill>
                <a:latin typeface="Geist" pitchFamily="34" charset="0"/>
                <a:ea typeface="Geist" pitchFamily="34" charset="-122"/>
                <a:cs typeface="Geist" pitchFamily="34" charset="-120"/>
              </a:rPr>
              <a:t>06</a:t>
            </a:r>
            <a:endParaRPr lang="en-US" sz="1300" dirty="0"/>
          </a:p>
        </p:txBody>
      </p:sp>
      <p:sp>
        <p:nvSpPr>
          <p:cNvPr id="33" name="Text 32"/>
          <p:cNvSpPr txBox="1"/>
          <p:nvPr/>
        </p:nvSpPr>
        <p:spPr>
          <a:xfrm>
            <a:off x="15041880" y="5843016"/>
            <a:ext cx="1645920" cy="411480"/>
          </a:xfrm>
          <a:prstGeom prst="rect">
            <a:avLst/>
          </a:prstGeom>
          <a:noFill/>
          <a:ln/>
        </p:spPr>
        <p:txBody>
          <a:bodyPr wrap="square" lIns="0" tIns="0" rIns="0" bIns="0" rtlCol="0" anchor="t"/>
          <a:lstStyle/>
          <a:p>
            <a:pPr indent="0" marL="0">
              <a:buNone/>
            </a:pPr>
            <a:r>
              <a:rPr lang="en-US" sz="2400" dirty="0">
                <a:solidFill>
                  <a:srgbClr val="F6F4EE"/>
                </a:solidFill>
                <a:latin typeface="Geist Medium" pitchFamily="34" charset="0"/>
                <a:ea typeface="Geist Medium" pitchFamily="34" charset="-122"/>
                <a:cs typeface="Geist Medium" pitchFamily="34" charset="-120"/>
              </a:rPr>
              <a:t>Confirm</a:t>
            </a:r>
            <a:endParaRPr lang="en-US" sz="2400" dirty="0"/>
          </a:p>
        </p:txBody>
      </p:sp>
      <p:sp>
        <p:nvSpPr>
          <p:cNvPr id="34" name="Text 33"/>
          <p:cNvSpPr txBox="1"/>
          <p:nvPr/>
        </p:nvSpPr>
        <p:spPr>
          <a:xfrm>
            <a:off x="15041880" y="6309360"/>
            <a:ext cx="1645920" cy="731520"/>
          </a:xfrm>
          <a:prstGeom prst="rect">
            <a:avLst/>
          </a:prstGeom>
          <a:noFill/>
          <a:ln/>
        </p:spPr>
        <p:txBody>
          <a:bodyPr wrap="square" lIns="0" tIns="0" rIns="0" bIns="0" rtlCol="0" anchor="t"/>
          <a:lstStyle/>
          <a:p>
            <a:pPr indent="0" marL="0">
              <a:buNone/>
            </a:pPr>
            <a:r>
              <a:rPr lang="en-US" sz="1350" dirty="0">
                <a:solidFill>
                  <a:srgbClr val="B7C4C7"/>
                </a:solidFill>
                <a:latin typeface="Geist" pitchFamily="34" charset="0"/>
                <a:ea typeface="Geist" pitchFamily="34" charset="-122"/>
                <a:cs typeface="Geist" pitchFamily="34" charset="-120"/>
              </a:rPr>
              <a:t>The partner lawyer signs in writing.</a:t>
            </a:r>
            <a:endParaRPr lang="en-US" sz="1350" dirty="0"/>
          </a:p>
        </p:txBody>
      </p:sp>
      <p:sp>
        <p:nvSpPr>
          <p:cNvPr id="35" name="Shape 34"/>
          <p:cNvSpPr/>
          <p:nvPr/>
        </p:nvSpPr>
        <p:spPr>
          <a:xfrm>
            <a:off x="7589520" y="4800600"/>
            <a:ext cx="914400" cy="0"/>
          </a:xfrm>
          <a:prstGeom prst="line">
            <a:avLst/>
          </a:prstGeom>
          <a:noFill/>
          <a:ln w="15875">
            <a:solidFill>
              <a:srgbClr val="55676B"/>
            </a:solidFill>
            <a:prstDash val="solid"/>
            <a:tailEnd type="triangle"/>
          </a:ln>
        </p:spPr>
      </p:sp>
      <p:sp>
        <p:nvSpPr>
          <p:cNvPr id="36" name="Text 35"/>
          <p:cNvSpPr txBox="1"/>
          <p:nvPr/>
        </p:nvSpPr>
        <p:spPr>
          <a:xfrm>
            <a:off x="7452360" y="4416552"/>
            <a:ext cx="1188720" cy="274320"/>
          </a:xfrm>
          <a:prstGeom prst="rect">
            <a:avLst/>
          </a:prstGeom>
          <a:noFill/>
          <a:ln/>
        </p:spPr>
        <p:txBody>
          <a:bodyPr wrap="square" lIns="0" tIns="0" rIns="0" bIns="0" rtlCol="0" anchor="t"/>
          <a:lstStyle/>
          <a:p>
            <a:pPr algn="ctr" indent="0" marL="0">
              <a:buNone/>
            </a:pPr>
            <a:r>
              <a:rPr lang="en-US" sz="1150" dirty="0">
                <a:solidFill>
                  <a:srgbClr val="55676B"/>
                </a:solidFill>
                <a:latin typeface="Geist" pitchFamily="34" charset="0"/>
                <a:ea typeface="Geist" pitchFamily="34" charset="-122"/>
                <a:cs typeface="Geist" pitchFamily="34" charset="-120"/>
              </a:rPr>
              <a:t>report</a:t>
            </a:r>
            <a:endParaRPr lang="en-US" sz="1150" dirty="0"/>
          </a:p>
        </p:txBody>
      </p:sp>
      <p:sp>
        <p:nvSpPr>
          <p:cNvPr id="37" name="Shape 36"/>
          <p:cNvSpPr/>
          <p:nvPr/>
        </p:nvSpPr>
        <p:spPr>
          <a:xfrm>
            <a:off x="7589520" y="6858000"/>
            <a:ext cx="914400" cy="0"/>
          </a:xfrm>
          <a:prstGeom prst="line">
            <a:avLst/>
          </a:prstGeom>
          <a:noFill/>
          <a:ln w="15875">
            <a:solidFill>
              <a:srgbClr val="55676B"/>
            </a:solidFill>
            <a:prstDash val="solid"/>
            <a:headEnd type="triangle"/>
            <a:tailEnd type="triangle"/>
          </a:ln>
        </p:spPr>
      </p:sp>
      <p:sp>
        <p:nvSpPr>
          <p:cNvPr id="38" name="Text 37"/>
          <p:cNvSpPr txBox="1"/>
          <p:nvPr/>
        </p:nvSpPr>
        <p:spPr>
          <a:xfrm>
            <a:off x="7452360" y="6473952"/>
            <a:ext cx="1188720" cy="274320"/>
          </a:xfrm>
          <a:prstGeom prst="rect">
            <a:avLst/>
          </a:prstGeom>
          <a:noFill/>
          <a:ln/>
        </p:spPr>
        <p:txBody>
          <a:bodyPr wrap="square" lIns="0" tIns="0" rIns="0" bIns="0" rtlCol="0" anchor="t"/>
          <a:lstStyle/>
          <a:p>
            <a:pPr algn="ctr" indent="0" marL="0">
              <a:buNone/>
            </a:pPr>
            <a:r>
              <a:rPr lang="en-US" sz="1150" dirty="0">
                <a:solidFill>
                  <a:srgbClr val="55676B"/>
                </a:solidFill>
                <a:latin typeface="Geist" pitchFamily="34" charset="0"/>
                <a:ea typeface="Geist" pitchFamily="34" charset="-122"/>
                <a:cs typeface="Geist" pitchFamily="34" charset="-120"/>
              </a:rPr>
              <a:t>gaps</a:t>
            </a:r>
            <a:endParaRPr lang="en-US" sz="1150" dirty="0"/>
          </a:p>
        </p:txBody>
      </p:sp>
      <p:sp>
        <p:nvSpPr>
          <p:cNvPr id="39" name="Text 38"/>
          <p:cNvSpPr txBox="1"/>
          <p:nvPr/>
        </p:nvSpPr>
        <p:spPr>
          <a:xfrm>
            <a:off x="7452360" y="6949440"/>
            <a:ext cx="1188720" cy="274320"/>
          </a:xfrm>
          <a:prstGeom prst="rect">
            <a:avLst/>
          </a:prstGeom>
          <a:noFill/>
          <a:ln/>
        </p:spPr>
        <p:txBody>
          <a:bodyPr wrap="square" lIns="0" tIns="0" rIns="0" bIns="0" rtlCol="0" anchor="t"/>
          <a:lstStyle/>
          <a:p>
            <a:pPr algn="ctr" indent="0" marL="0">
              <a:buNone/>
            </a:pPr>
            <a:r>
              <a:rPr lang="en-US" sz="1150" dirty="0">
                <a:solidFill>
                  <a:srgbClr val="55676B"/>
                </a:solidFill>
                <a:latin typeface="Geist" pitchFamily="34" charset="0"/>
                <a:ea typeface="Geist" pitchFamily="34" charset="-122"/>
                <a:cs typeface="Geist" pitchFamily="34" charset="-120"/>
              </a:rPr>
              <a:t>evidence</a:t>
            </a:r>
            <a:endParaRPr lang="en-US" sz="1150" dirty="0"/>
          </a:p>
        </p:txBody>
      </p:sp>
      <p:sp>
        <p:nvSpPr>
          <p:cNvPr id="40" name="Text 39"/>
          <p:cNvSpPr txBox="1"/>
          <p:nvPr/>
        </p:nvSpPr>
        <p:spPr>
          <a:xfrm>
            <a:off x="1143000" y="8595360"/>
            <a:ext cx="4968240" cy="36576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Nothing leaves before one person approves</a:t>
            </a:r>
            <a:endParaRPr lang="en-US" sz="1300" dirty="0"/>
          </a:p>
        </p:txBody>
      </p:sp>
      <p:sp>
        <p:nvSpPr>
          <p:cNvPr id="41" name="Text 40"/>
          <p:cNvSpPr txBox="1"/>
          <p:nvPr/>
        </p:nvSpPr>
        <p:spPr>
          <a:xfrm>
            <a:off x="6477000" y="8595360"/>
            <a:ext cx="4968240" cy="36576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Every answer cites its article and its evidence</a:t>
            </a:r>
            <a:endParaRPr lang="en-US" sz="1300" dirty="0"/>
          </a:p>
        </p:txBody>
      </p:sp>
      <p:sp>
        <p:nvSpPr>
          <p:cNvPr id="42" name="Text 41"/>
          <p:cNvSpPr txBox="1"/>
          <p:nvPr/>
        </p:nvSpPr>
        <p:spPr>
          <a:xfrm>
            <a:off x="11811000" y="8595360"/>
            <a:ext cx="4968240" cy="365760"/>
          </a:xfrm>
          <a:prstGeom prst="rect">
            <a:avLst/>
          </a:prstGeom>
          <a:noFill/>
          <a:ln/>
        </p:spPr>
        <p:txBody>
          <a:bodyPr wrap="square" lIns="0" tIns="0" rIns="0" bIns="0" rtlCol="0" anchor="t"/>
          <a:lstStyle/>
          <a:p>
            <a:pPr indent="0" marL="0">
              <a:buNone/>
            </a:pPr>
            <a:r>
              <a:rPr lang="en-US" sz="1300" dirty="0">
                <a:solidFill>
                  <a:srgbClr val="55676B"/>
                </a:solidFill>
                <a:latin typeface="Geist" pitchFamily="34" charset="0"/>
                <a:ea typeface="Geist" pitchFamily="34" charset="-122"/>
                <a:cs typeface="Geist" pitchFamily="34" charset="-120"/>
              </a:rPr>
              <a:t>A lawyer signs where the law reserves the verdict</a:t>
            </a:r>
            <a:endParaRPr lang="en-US" sz="1300" dirty="0"/>
          </a:p>
        </p:txBody>
      </p:sp>
      <p:grpSp>
        <p:nvGrpSpPr>
          <p:cNvPr name="Group 15" id="43"/>
          <p:cNvGrpSpPr/>
          <p:nvPr/>
        </p:nvGrpSpPr>
        <p:grpSpPr>
          <a:xfrm rot="0">
            <a:off x="4027427" y="1117625"/>
            <a:ext cx="10233146" cy="530810"/>
            <a:chOff x="0" y="0"/>
            <a:chExt cx="2988982" cy="155043"/>
          </a:xfrm>
        </p:grpSpPr>
        <p:sp>
          <p:nvSpPr>
            <p:cNvPr name="Freeform 16" id="44"/>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7" id="45"/>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3" id="46"/>
          <p:cNvGrpSpPr/>
          <p:nvPr/>
        </p:nvGrpSpPr>
        <p:grpSpPr>
          <a:xfrm rot="0">
            <a:off x="4100894" y="1190732"/>
            <a:ext cx="2511996" cy="384596"/>
            <a:chOff x="0" y="0"/>
            <a:chExt cx="3349328" cy="512795"/>
          </a:xfrm>
        </p:grpSpPr>
        <p:grpSp>
          <p:nvGrpSpPr>
            <p:cNvPr name="Group 34" id="47"/>
            <p:cNvGrpSpPr/>
            <p:nvPr/>
          </p:nvGrpSpPr>
          <p:grpSpPr>
            <a:xfrm rot="0">
              <a:off x="0" y="0"/>
              <a:ext cx="512795" cy="512795"/>
              <a:chOff x="0" y="0"/>
              <a:chExt cx="812800" cy="812800"/>
            </a:xfrm>
          </p:grpSpPr>
          <p:sp>
            <p:nvSpPr>
              <p:cNvPr name="Freeform 35" id="4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6" id="49"/>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7" id="50"/>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txBody>
            <a:bodyPr/>
            <a:p/>
          </p:txBody>
        </p:sp>
        <p:sp>
          <p:nvSpPr>
            <p:cNvPr name="TextBox 38" id="51"/>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52" name="Section navigation: About">
            <a:hlinkClick action="ppaction://hlinksldjump" r:id="rId5"/>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About</a:t>
            </a:r>
          </a:p>
        </p:txBody>
      </p:sp>
      <p:sp>
        <p:nvSpPr>
          <p:cNvPr id="53" name="Section navigation: Service (current)">
            <a:hlinkClick action="ppaction://hlinksldjump" r:id="rId6"/>
          </p:cNvPr>
          <p:cNvSpPr/>
          <p:nvPr/>
        </p:nvSpPr>
        <p:spPr>
          <a:xfrm>
            <a:off x="921258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FAFAFA"/>
                </a:solidFill>
                <a:latin typeface="Poppins"/>
              </a:rPr>
              <a:t>Service</a:t>
            </a:r>
          </a:p>
        </p:txBody>
      </p:sp>
      <p:sp>
        <p:nvSpPr>
          <p:cNvPr id="54" name="Section navigation: Team">
            <a:hlinkClick action="ppaction://hlinksldjump" r:id="rId7"/>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Team</a:t>
            </a:r>
          </a:p>
        </p:txBody>
      </p:sp>
      <p:sp>
        <p:nvSpPr>
          <p:cNvPr id="55" name="Section navigation: Conclusion">
            <a:hlinkClick action="ppaction://hlinksldjump" r:id="rId8"/>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Conclusion</a:t>
            </a:r>
          </a:p>
        </p:txBody>
      </p:sp>
      <p:sp>
        <p:nvSpPr>
          <p:cNvPr id="56" name="Compact margin page number 09"/>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06</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
    <p:spTree>
      <p:nvGrpSpPr>
        <p:cNvPr id="2" name=""/>
        <p:cNvGrpSpPr/>
        <p:nvPr/>
      </p:nvGrpSpPr>
      <p:grpSpPr>
        <a:xfrm>
          <a:off x="0" y="0"/>
          <a:ext cx="0" cy="0"/>
          <a:chOff x="0" y="0"/>
          <a:chExt cx="0" cy="0"/>
        </a:xfrm>
      </p:grpSpPr>
      <p:sp>
        <p:nvSpPr>
          <p:cNvPr id="3" name="Text 3"/>
          <p:cNvSpPr txBox="1"/>
          <p:nvPr/>
        </p:nvSpPr>
        <p:spPr>
          <a:xfrm>
            <a:off x="1143000" y="1920240"/>
            <a:ext cx="16002000" cy="960120"/>
          </a:xfrm>
          <a:prstGeom prst="rect">
            <a:avLst/>
          </a:prstGeom>
          <a:noFill/>
          <a:ln/>
        </p:spPr>
        <p:txBody>
          <a:bodyPr wrap="square" lIns="0" tIns="0" rIns="0" bIns="0" rtlCol="0" anchor="t"/>
          <a:lstStyle/>
          <a:p>
            <a:pPr indent="0" marL="0">
              <a:buNone/>
            </a:pPr>
            <a:r>
              <a:rPr lang="en-US" sz="5400" spc="-150" kern="0" dirty="0">
                <a:solidFill>
                  <a:srgbClr val="1C2B2F"/>
                </a:solidFill>
                <a:latin typeface="Geist Medium" pitchFamily="34" charset="0"/>
                <a:ea typeface="Geist Medium" pitchFamily="34" charset="-122"/>
                <a:cs typeface="Geist Medium" pitchFamily="34" charset="-120"/>
              </a:rPr>
              <a:t>Four criteria. One is a gate.</a:t>
            </a:r>
            <a:endParaRPr lang="en-US" sz="5400" dirty="0"/>
          </a:p>
        </p:txBody>
      </p:sp>
      <p:sp>
        <p:nvSpPr>
          <p:cNvPr id="4" name="Text 4"/>
          <p:cNvSpPr txBox="1"/>
          <p:nvPr/>
        </p:nvSpPr>
        <p:spPr>
          <a:xfrm>
            <a:off x="1143000" y="2926080"/>
            <a:ext cx="12710160" cy="365760"/>
          </a:xfrm>
          <a:prstGeom prst="rect">
            <a:avLst/>
          </a:prstGeom>
          <a:noFill/>
          <a:ln/>
        </p:spPr>
        <p:txBody>
          <a:bodyPr wrap="square" lIns="0" tIns="0" rIns="0" bIns="0" rtlCol="0" anchor="t"/>
          <a:lstStyle/>
          <a:p>
            <a:pPr indent="0" marL="0">
              <a:buNone/>
            </a:pPr>
            <a:endParaRPr lang="en-US" sz="1800" dirty="0"/>
          </a:p>
        </p:txBody>
      </p:sp>
      <p:sp>
        <p:nvSpPr>
          <p:cNvPr id="5" name="Shape 5"/>
          <p:cNvSpPr/>
          <p:nvPr/>
        </p:nvSpPr>
        <p:spPr>
          <a:xfrm>
            <a:off x="4297680" y="2999232"/>
            <a:ext cx="2331720" cy="5952744"/>
          </a:xfrm>
          <a:prstGeom prst="roundRect">
            <a:avLst>
              <a:gd name="adj" fmla="val 3922"/>
            </a:avLst>
          </a:prstGeom>
          <a:solidFill>
            <a:srgbClr val="E7EDEC"/>
          </a:solidFill>
          <a:ln w="12700">
            <a:solidFill>
              <a:srgbClr val="E7EDEC"/>
            </a:solidFill>
            <a:prstDash val="solid"/>
          </a:ln>
        </p:spPr>
      </p:sp>
      <p:sp>
        <p:nvSpPr>
          <p:cNvPr id="6" name="Shape 6"/>
          <p:cNvSpPr/>
          <p:nvPr/>
        </p:nvSpPr>
        <p:spPr>
          <a:xfrm>
            <a:off x="6702552" y="2999232"/>
            <a:ext cx="0" cy="5952744"/>
          </a:xfrm>
          <a:prstGeom prst="line">
            <a:avLst/>
          </a:prstGeom>
          <a:noFill/>
          <a:ln w="9525">
            <a:solidFill>
              <a:srgbClr val="CFD6D3"/>
            </a:solidFill>
            <a:prstDash val="solid"/>
          </a:ln>
        </p:spPr>
      </p:sp>
      <p:sp>
        <p:nvSpPr>
          <p:cNvPr id="7" name="Text 7"/>
          <p:cNvSpPr txBox="1"/>
          <p:nvPr/>
        </p:nvSpPr>
        <p:spPr>
          <a:xfrm>
            <a:off x="4434840" y="3054096"/>
            <a:ext cx="1737360" cy="274320"/>
          </a:xfrm>
          <a:prstGeom prst="rect">
            <a:avLst/>
          </a:prstGeom>
          <a:noFill/>
          <a:ln/>
        </p:spPr>
        <p:txBody>
          <a:bodyPr wrap="square" lIns="0" tIns="0" rIns="0" bIns="0" rtlCol="0" anchor="t"/>
          <a:lstStyle/>
          <a:p>
            <a:pPr indent="0" marL="0">
              <a:buNone/>
            </a:pPr>
            <a:r>
              <a:rPr lang="en-US" sz="1150" dirty="0">
                <a:solidFill>
                  <a:srgbClr val="1C2B2F"/>
                </a:solidFill>
                <a:latin typeface="Geist Medium" pitchFamily="34" charset="0"/>
                <a:ea typeface="Geist Medium" pitchFamily="34" charset="-122"/>
                <a:cs typeface="Geist Medium" pitchFamily="34" charset="-120"/>
              </a:rPr>
              <a:t>The gate</a:t>
            </a:r>
            <a:endParaRPr lang="en-US" sz="1150" dirty="0"/>
          </a:p>
        </p:txBody>
      </p:sp>
      <p:sp>
        <p:nvSpPr>
          <p:cNvPr id="8" name="Text 8"/>
          <p:cNvSpPr txBox="1"/>
          <p:nvPr/>
        </p:nvSpPr>
        <p:spPr>
          <a:xfrm>
            <a:off x="6995160" y="3054096"/>
            <a:ext cx="365760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Ranking criteria</a:t>
            </a:r>
            <a:endParaRPr lang="en-US" sz="1150" dirty="0"/>
          </a:p>
        </p:txBody>
      </p:sp>
      <p:sp>
        <p:nvSpPr>
          <p:cNvPr id="9" name="Text 9"/>
          <p:cNvSpPr txBox="1"/>
          <p:nvPr/>
        </p:nvSpPr>
        <p:spPr>
          <a:xfrm>
            <a:off x="1417320" y="3383280"/>
            <a:ext cx="2743200" cy="32004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Country</a:t>
            </a:r>
            <a:endParaRPr lang="en-US" sz="1400" dirty="0"/>
          </a:p>
        </p:txBody>
      </p:sp>
      <p:sp>
        <p:nvSpPr>
          <p:cNvPr id="10" name="Text 10"/>
          <p:cNvSpPr txBox="1"/>
          <p:nvPr/>
        </p:nvSpPr>
        <p:spPr>
          <a:xfrm>
            <a:off x="4434840" y="3383280"/>
            <a:ext cx="2377440" cy="32004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Adviser legal </a:t>
            </a:r>
            <a:pPr indent="0" marL="0">
              <a:buNone/>
            </a:pPr>
            <a:r>
              <a:rPr lang="en-US" sz="1400" baseline="30000" dirty="0">
                <a:solidFill>
                  <a:srgbClr val="55676B"/>
                </a:solidFill>
                <a:latin typeface="Geist Medium" pitchFamily="34" charset="0"/>
                <a:ea typeface="Geist Medium" pitchFamily="34" charset="-122"/>
                <a:cs typeface="Geist Medium" pitchFamily="34" charset="-120"/>
              </a:rPr>
              <a:t>1</a:t>
            </a:r>
            <a:endParaRPr lang="en-US" sz="1400" dirty="0"/>
          </a:p>
        </p:txBody>
      </p:sp>
      <p:sp>
        <p:nvSpPr>
          <p:cNvPr id="11" name="Text 11"/>
          <p:cNvSpPr txBox="1"/>
          <p:nvPr/>
        </p:nvSpPr>
        <p:spPr>
          <a:xfrm>
            <a:off x="4434840" y="3685032"/>
            <a:ext cx="237744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software answers directly</a:t>
            </a:r>
            <a:endParaRPr lang="en-US" sz="1150" dirty="0"/>
          </a:p>
        </p:txBody>
      </p:sp>
      <p:sp>
        <p:nvSpPr>
          <p:cNvPr id="12" name="Text 12"/>
          <p:cNvSpPr txBox="1"/>
          <p:nvPr/>
        </p:nvSpPr>
        <p:spPr>
          <a:xfrm>
            <a:off x="6995160" y="3383280"/>
            <a:ext cx="2377440" cy="32004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Market size </a:t>
            </a:r>
            <a:pPr indent="0" marL="0">
              <a:buNone/>
            </a:pPr>
            <a:r>
              <a:rPr lang="en-US" sz="1400" baseline="30000" dirty="0">
                <a:solidFill>
                  <a:srgbClr val="55676B"/>
                </a:solidFill>
                <a:latin typeface="Geist Medium" pitchFamily="34" charset="0"/>
                <a:ea typeface="Geist Medium" pitchFamily="34" charset="-122"/>
                <a:cs typeface="Geist Medium" pitchFamily="34" charset="-120"/>
              </a:rPr>
              <a:t>2</a:t>
            </a:r>
            <a:endParaRPr lang="en-US" sz="1400" dirty="0"/>
          </a:p>
        </p:txBody>
      </p:sp>
      <p:sp>
        <p:nvSpPr>
          <p:cNvPr id="13" name="Text 13"/>
          <p:cNvSpPr txBox="1"/>
          <p:nvPr/>
        </p:nvSpPr>
        <p:spPr>
          <a:xfrm>
            <a:off x="6995160" y="3685032"/>
            <a:ext cx="237744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firms with 50 or more staff</a:t>
            </a:r>
            <a:endParaRPr lang="en-US" sz="1150" dirty="0"/>
          </a:p>
        </p:txBody>
      </p:sp>
      <p:sp>
        <p:nvSpPr>
          <p:cNvPr id="14" name="Text 14"/>
          <p:cNvSpPr txBox="1"/>
          <p:nvPr/>
        </p:nvSpPr>
        <p:spPr>
          <a:xfrm>
            <a:off x="9555480" y="3383280"/>
            <a:ext cx="2377440" cy="32004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Savings potential </a:t>
            </a:r>
            <a:pPr indent="0" marL="0">
              <a:buNone/>
            </a:pPr>
            <a:r>
              <a:rPr lang="en-US" sz="1400" baseline="30000" dirty="0">
                <a:solidFill>
                  <a:srgbClr val="55676B"/>
                </a:solidFill>
                <a:latin typeface="Geist Medium" pitchFamily="34" charset="0"/>
                <a:ea typeface="Geist Medium" pitchFamily="34" charset="-122"/>
                <a:cs typeface="Geist Medium" pitchFamily="34" charset="-120"/>
              </a:rPr>
              <a:t>3</a:t>
            </a:r>
            <a:endParaRPr lang="en-US" sz="1400" dirty="0"/>
          </a:p>
        </p:txBody>
      </p:sp>
      <p:sp>
        <p:nvSpPr>
          <p:cNvPr id="15" name="Text 15"/>
          <p:cNvSpPr txBox="1"/>
          <p:nvPr/>
        </p:nvSpPr>
        <p:spPr>
          <a:xfrm>
            <a:off x="9555480" y="3685032"/>
            <a:ext cx="237744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lawyer prices</a:t>
            </a:r>
            <a:endParaRPr lang="en-US" sz="1150" dirty="0"/>
          </a:p>
        </p:txBody>
      </p:sp>
      <p:sp>
        <p:nvSpPr>
          <p:cNvPr id="16" name="Text 16"/>
          <p:cNvSpPr txBox="1"/>
          <p:nvPr/>
        </p:nvSpPr>
        <p:spPr>
          <a:xfrm>
            <a:off x="12115800" y="3383280"/>
            <a:ext cx="2377440" cy="32004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Trigger freshness </a:t>
            </a:r>
            <a:pPr indent="0" marL="0">
              <a:buNone/>
            </a:pPr>
            <a:r>
              <a:rPr lang="en-US" sz="1400" baseline="30000" dirty="0">
                <a:solidFill>
                  <a:srgbClr val="55676B"/>
                </a:solidFill>
                <a:latin typeface="Geist Medium" pitchFamily="34" charset="0"/>
                <a:ea typeface="Geist Medium" pitchFamily="34" charset="-122"/>
                <a:cs typeface="Geist Medium" pitchFamily="34" charset="-120"/>
              </a:rPr>
              <a:t>4</a:t>
            </a:r>
            <a:endParaRPr lang="en-US" sz="1400" dirty="0"/>
          </a:p>
        </p:txBody>
      </p:sp>
      <p:sp>
        <p:nvSpPr>
          <p:cNvPr id="17" name="Text 17"/>
          <p:cNvSpPr txBox="1"/>
          <p:nvPr/>
        </p:nvSpPr>
        <p:spPr>
          <a:xfrm>
            <a:off x="12115800" y="3685032"/>
            <a:ext cx="237744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NIS2 window, enforcement</a:t>
            </a:r>
            <a:endParaRPr lang="en-US" sz="1150" dirty="0"/>
          </a:p>
        </p:txBody>
      </p:sp>
      <p:sp>
        <p:nvSpPr>
          <p:cNvPr id="18" name="Text 18"/>
          <p:cNvSpPr txBox="1"/>
          <p:nvPr/>
        </p:nvSpPr>
        <p:spPr>
          <a:xfrm>
            <a:off x="14676120" y="3383280"/>
            <a:ext cx="2468880" cy="32004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Total</a:t>
            </a:r>
            <a:endParaRPr lang="en-US" sz="1400" dirty="0"/>
          </a:p>
        </p:txBody>
      </p:sp>
      <p:sp>
        <p:nvSpPr>
          <p:cNvPr id="19" name="Text 19"/>
          <p:cNvSpPr txBox="1"/>
          <p:nvPr/>
        </p:nvSpPr>
        <p:spPr>
          <a:xfrm>
            <a:off x="14676120" y="3685032"/>
            <a:ext cx="246888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of 20</a:t>
            </a:r>
            <a:endParaRPr lang="en-US" sz="1150" dirty="0"/>
          </a:p>
        </p:txBody>
      </p:sp>
      <p:sp>
        <p:nvSpPr>
          <p:cNvPr id="20" name="Shape 20"/>
          <p:cNvSpPr/>
          <p:nvPr/>
        </p:nvSpPr>
        <p:spPr>
          <a:xfrm>
            <a:off x="1143000" y="4041648"/>
            <a:ext cx="16002000" cy="0"/>
          </a:xfrm>
          <a:prstGeom prst="line">
            <a:avLst/>
          </a:prstGeom>
          <a:noFill/>
          <a:ln w="9525">
            <a:solidFill>
              <a:srgbClr val="1C2B2F"/>
            </a:solidFill>
            <a:prstDash val="solid"/>
          </a:ln>
        </p:spPr>
      </p:sp>
      <p:sp>
        <p:nvSpPr>
          <p:cNvPr id="21" name="Shape 21"/>
          <p:cNvSpPr/>
          <p:nvPr/>
        </p:nvSpPr>
        <p:spPr>
          <a:xfrm>
            <a:off x="1143000" y="4160520"/>
            <a:ext cx="16002000" cy="420624"/>
          </a:xfrm>
          <a:prstGeom prst="roundRect">
            <a:avLst>
              <a:gd name="adj" fmla="val 21739"/>
            </a:avLst>
          </a:prstGeom>
          <a:solidFill>
            <a:srgbClr val="1C2B2F"/>
          </a:solidFill>
          <a:ln w="9525">
            <a:solidFill>
              <a:srgbClr val="1C2B2F"/>
            </a:solidFill>
            <a:prstDash val="solid"/>
          </a:ln>
        </p:spPr>
      </p:sp>
      <p:sp>
        <p:nvSpPr>
          <p:cNvPr id="22" name="Shape 22"/>
          <p:cNvSpPr/>
          <p:nvPr/>
        </p:nvSpPr>
        <p:spPr>
          <a:xfrm>
            <a:off x="4297680" y="4160520"/>
            <a:ext cx="2331720" cy="420624"/>
          </a:xfrm>
          <a:prstGeom prst="rect">
            <a:avLst/>
          </a:prstGeom>
          <a:solidFill>
            <a:srgbClr val="2E4147"/>
          </a:solidFill>
          <a:ln w="12700">
            <a:solidFill>
              <a:srgbClr val="2E4147"/>
            </a:solidFill>
            <a:prstDash val="solid"/>
          </a:ln>
        </p:spPr>
      </p:sp>
      <p:sp>
        <p:nvSpPr>
          <p:cNvPr id="23" name="Text 23"/>
          <p:cNvSpPr txBox="1"/>
          <p:nvPr/>
        </p:nvSpPr>
        <p:spPr>
          <a:xfrm>
            <a:off x="1417320" y="4261104"/>
            <a:ext cx="457200" cy="274320"/>
          </a:xfrm>
          <a:prstGeom prst="rect">
            <a:avLst/>
          </a:prstGeom>
          <a:noFill/>
          <a:ln/>
        </p:spPr>
        <p:txBody>
          <a:bodyPr wrap="square" lIns="0" tIns="0" rIns="0" bIns="0" rtlCol="0" anchor="t"/>
          <a:lstStyle/>
          <a:p>
            <a:pPr indent="0" marL="0">
              <a:buNone/>
            </a:pPr>
            <a:r>
              <a:rPr lang="en-US" sz="1500" dirty="0">
                <a:solidFill>
                  <a:srgbClr val="8FA3A8"/>
                </a:solidFill>
                <a:latin typeface="Geist" pitchFamily="34" charset="0"/>
                <a:ea typeface="Geist" pitchFamily="34" charset="-122"/>
                <a:cs typeface="Geist" pitchFamily="34" charset="-120"/>
              </a:rPr>
              <a:t>1.</a:t>
            </a:r>
            <a:endParaRPr lang="en-US" sz="1500" dirty="0"/>
          </a:p>
        </p:txBody>
      </p:sp>
      <p:sp>
        <p:nvSpPr>
          <p:cNvPr id="24" name="Text 24"/>
          <p:cNvSpPr txBox="1"/>
          <p:nvPr/>
        </p:nvSpPr>
        <p:spPr>
          <a:xfrm>
            <a:off x="1828800" y="4242816"/>
            <a:ext cx="1737360" cy="292608"/>
          </a:xfrm>
          <a:prstGeom prst="rect">
            <a:avLst/>
          </a:prstGeom>
          <a:noFill/>
          <a:ln/>
        </p:spPr>
        <p:txBody>
          <a:bodyPr wrap="square" lIns="0" tIns="0" rIns="0" bIns="0" rtlCol="0" anchor="t"/>
          <a:lstStyle/>
          <a:p>
            <a:pPr indent="0" marL="0">
              <a:buNone/>
            </a:pPr>
            <a:r>
              <a:rPr lang="en-US" sz="1700" dirty="0">
                <a:solidFill>
                  <a:srgbClr val="F6F4EE"/>
                </a:solidFill>
                <a:latin typeface="Geist Medium" pitchFamily="34" charset="0"/>
                <a:ea typeface="Geist Medium" pitchFamily="34" charset="-122"/>
                <a:cs typeface="Geist Medium" pitchFamily="34" charset="-120"/>
              </a:rPr>
              <a:t>Netherlands</a:t>
            </a:r>
            <a:endParaRPr lang="en-US" sz="1700" dirty="0"/>
          </a:p>
        </p:txBody>
      </p:sp>
      <p:sp>
        <p:nvSpPr>
          <p:cNvPr id="25" name="Text 25"/>
          <p:cNvSpPr txBox="1"/>
          <p:nvPr/>
        </p:nvSpPr>
        <p:spPr>
          <a:xfrm>
            <a:off x="4434840" y="4233672"/>
            <a:ext cx="365760" cy="310896"/>
          </a:xfrm>
          <a:prstGeom prst="rect">
            <a:avLst/>
          </a:prstGeom>
          <a:noFill/>
          <a:ln/>
        </p:spPr>
        <p:txBody>
          <a:bodyPr wrap="square" lIns="0" tIns="0" rIns="0" bIns="0" rtlCol="0" anchor="t"/>
          <a:lstStyle/>
          <a:p>
            <a:pPr indent="0" marL="0">
              <a:buNone/>
            </a:pPr>
            <a:r>
              <a:rPr lang="en-US" sz="1800" dirty="0">
                <a:solidFill>
                  <a:srgbClr val="F6F4EE"/>
                </a:solidFill>
                <a:latin typeface="Geist Medium" pitchFamily="34" charset="0"/>
                <a:ea typeface="Geist Medium" pitchFamily="34" charset="-122"/>
                <a:cs typeface="Geist Medium" pitchFamily="34" charset="-120"/>
              </a:rPr>
              <a:t>5</a:t>
            </a:r>
            <a:endParaRPr lang="en-US" sz="1800" dirty="0"/>
          </a:p>
        </p:txBody>
      </p:sp>
      <p:sp>
        <p:nvSpPr>
          <p:cNvPr id="26" name="Shape 26"/>
          <p:cNvSpPr/>
          <p:nvPr/>
        </p:nvSpPr>
        <p:spPr>
          <a:xfrm>
            <a:off x="4892040" y="4334256"/>
            <a:ext cx="109728" cy="109728"/>
          </a:xfrm>
          <a:prstGeom prst="ellipse">
            <a:avLst/>
          </a:prstGeom>
          <a:solidFill>
            <a:srgbClr val="F6F4EE"/>
          </a:solidFill>
          <a:ln w="12700">
            <a:solidFill>
              <a:srgbClr val="F6F4EE"/>
            </a:solidFill>
            <a:prstDash val="solid"/>
          </a:ln>
        </p:spPr>
      </p:sp>
      <p:sp>
        <p:nvSpPr>
          <p:cNvPr id="27" name="Shape 27"/>
          <p:cNvSpPr/>
          <p:nvPr/>
        </p:nvSpPr>
        <p:spPr>
          <a:xfrm>
            <a:off x="5074920" y="4334256"/>
            <a:ext cx="109728" cy="109728"/>
          </a:xfrm>
          <a:prstGeom prst="ellipse">
            <a:avLst/>
          </a:prstGeom>
          <a:solidFill>
            <a:srgbClr val="F6F4EE"/>
          </a:solidFill>
          <a:ln w="12700">
            <a:solidFill>
              <a:srgbClr val="F6F4EE"/>
            </a:solidFill>
            <a:prstDash val="solid"/>
          </a:ln>
        </p:spPr>
      </p:sp>
      <p:sp>
        <p:nvSpPr>
          <p:cNvPr id="28" name="Shape 28"/>
          <p:cNvSpPr/>
          <p:nvPr/>
        </p:nvSpPr>
        <p:spPr>
          <a:xfrm>
            <a:off x="5257800" y="4334256"/>
            <a:ext cx="109728" cy="109728"/>
          </a:xfrm>
          <a:prstGeom prst="ellipse">
            <a:avLst/>
          </a:prstGeom>
          <a:solidFill>
            <a:srgbClr val="F6F4EE"/>
          </a:solidFill>
          <a:ln w="12700">
            <a:solidFill>
              <a:srgbClr val="F6F4EE"/>
            </a:solidFill>
            <a:prstDash val="solid"/>
          </a:ln>
        </p:spPr>
      </p:sp>
      <p:sp>
        <p:nvSpPr>
          <p:cNvPr id="29" name="Shape 29"/>
          <p:cNvSpPr/>
          <p:nvPr/>
        </p:nvSpPr>
        <p:spPr>
          <a:xfrm>
            <a:off x="5440680" y="4334256"/>
            <a:ext cx="109728" cy="109728"/>
          </a:xfrm>
          <a:prstGeom prst="ellipse">
            <a:avLst/>
          </a:prstGeom>
          <a:solidFill>
            <a:srgbClr val="F6F4EE"/>
          </a:solidFill>
          <a:ln w="12700">
            <a:solidFill>
              <a:srgbClr val="F6F4EE"/>
            </a:solidFill>
            <a:prstDash val="solid"/>
          </a:ln>
        </p:spPr>
      </p:sp>
      <p:sp>
        <p:nvSpPr>
          <p:cNvPr id="30" name="Shape 30"/>
          <p:cNvSpPr/>
          <p:nvPr/>
        </p:nvSpPr>
        <p:spPr>
          <a:xfrm>
            <a:off x="5623560" y="4334256"/>
            <a:ext cx="109728" cy="109728"/>
          </a:xfrm>
          <a:prstGeom prst="ellipse">
            <a:avLst/>
          </a:prstGeom>
          <a:solidFill>
            <a:srgbClr val="F6F4EE"/>
          </a:solidFill>
          <a:ln w="12700">
            <a:solidFill>
              <a:srgbClr val="F6F4EE"/>
            </a:solidFill>
            <a:prstDash val="solid"/>
          </a:ln>
        </p:spPr>
      </p:sp>
      <p:sp>
        <p:nvSpPr>
          <p:cNvPr id="31" name="Text 31"/>
          <p:cNvSpPr txBox="1"/>
          <p:nvPr/>
        </p:nvSpPr>
        <p:spPr>
          <a:xfrm>
            <a:off x="6995160" y="4233672"/>
            <a:ext cx="365760" cy="310896"/>
          </a:xfrm>
          <a:prstGeom prst="rect">
            <a:avLst/>
          </a:prstGeom>
          <a:noFill/>
          <a:ln/>
        </p:spPr>
        <p:txBody>
          <a:bodyPr wrap="square" lIns="0" tIns="0" rIns="0" bIns="0" rtlCol="0" anchor="t"/>
          <a:lstStyle/>
          <a:p>
            <a:pPr indent="0" marL="0">
              <a:buNone/>
            </a:pPr>
            <a:r>
              <a:rPr lang="en-US" sz="1800" dirty="0">
                <a:solidFill>
                  <a:srgbClr val="F6F4EE"/>
                </a:solidFill>
                <a:latin typeface="Geist Medium" pitchFamily="34" charset="0"/>
                <a:ea typeface="Geist Medium" pitchFamily="34" charset="-122"/>
                <a:cs typeface="Geist Medium" pitchFamily="34" charset="-120"/>
              </a:rPr>
              <a:t>4</a:t>
            </a:r>
            <a:endParaRPr lang="en-US" sz="1800" dirty="0"/>
          </a:p>
        </p:txBody>
      </p:sp>
      <p:sp>
        <p:nvSpPr>
          <p:cNvPr id="32" name="Shape 32"/>
          <p:cNvSpPr/>
          <p:nvPr/>
        </p:nvSpPr>
        <p:spPr>
          <a:xfrm>
            <a:off x="7452360" y="4334256"/>
            <a:ext cx="109728" cy="109728"/>
          </a:xfrm>
          <a:prstGeom prst="ellipse">
            <a:avLst/>
          </a:prstGeom>
          <a:solidFill>
            <a:srgbClr val="F6F4EE"/>
          </a:solidFill>
          <a:ln w="12700">
            <a:solidFill>
              <a:srgbClr val="F6F4EE"/>
            </a:solidFill>
            <a:prstDash val="solid"/>
          </a:ln>
        </p:spPr>
      </p:sp>
      <p:sp>
        <p:nvSpPr>
          <p:cNvPr id="33" name="Shape 33"/>
          <p:cNvSpPr/>
          <p:nvPr/>
        </p:nvSpPr>
        <p:spPr>
          <a:xfrm>
            <a:off x="7635240" y="4334256"/>
            <a:ext cx="109728" cy="109728"/>
          </a:xfrm>
          <a:prstGeom prst="ellipse">
            <a:avLst/>
          </a:prstGeom>
          <a:solidFill>
            <a:srgbClr val="F6F4EE"/>
          </a:solidFill>
          <a:ln w="12700">
            <a:solidFill>
              <a:srgbClr val="F6F4EE"/>
            </a:solidFill>
            <a:prstDash val="solid"/>
          </a:ln>
        </p:spPr>
      </p:sp>
      <p:sp>
        <p:nvSpPr>
          <p:cNvPr id="34" name="Shape 34"/>
          <p:cNvSpPr/>
          <p:nvPr/>
        </p:nvSpPr>
        <p:spPr>
          <a:xfrm>
            <a:off x="7818120" y="4334256"/>
            <a:ext cx="109728" cy="109728"/>
          </a:xfrm>
          <a:prstGeom prst="ellipse">
            <a:avLst/>
          </a:prstGeom>
          <a:solidFill>
            <a:srgbClr val="F6F4EE"/>
          </a:solidFill>
          <a:ln w="12700">
            <a:solidFill>
              <a:srgbClr val="F6F4EE"/>
            </a:solidFill>
            <a:prstDash val="solid"/>
          </a:ln>
        </p:spPr>
      </p:sp>
      <p:sp>
        <p:nvSpPr>
          <p:cNvPr id="35" name="Shape 35"/>
          <p:cNvSpPr/>
          <p:nvPr/>
        </p:nvSpPr>
        <p:spPr>
          <a:xfrm>
            <a:off x="8001000" y="4334256"/>
            <a:ext cx="109728" cy="109728"/>
          </a:xfrm>
          <a:prstGeom prst="ellipse">
            <a:avLst/>
          </a:prstGeom>
          <a:solidFill>
            <a:srgbClr val="F6F4EE"/>
          </a:solidFill>
          <a:ln w="12700">
            <a:solidFill>
              <a:srgbClr val="F6F4EE"/>
            </a:solidFill>
            <a:prstDash val="solid"/>
          </a:ln>
        </p:spPr>
      </p:sp>
      <p:sp>
        <p:nvSpPr>
          <p:cNvPr id="36" name="Shape 36"/>
          <p:cNvSpPr/>
          <p:nvPr/>
        </p:nvSpPr>
        <p:spPr>
          <a:xfrm>
            <a:off x="8183880" y="4334256"/>
            <a:ext cx="109728" cy="109728"/>
          </a:xfrm>
          <a:prstGeom prst="ellipse">
            <a:avLst/>
          </a:prstGeom>
          <a:solidFill>
            <a:srgbClr val="3A4D53"/>
          </a:solidFill>
          <a:ln w="12700">
            <a:solidFill>
              <a:srgbClr val="3A4D53"/>
            </a:solidFill>
            <a:prstDash val="solid"/>
          </a:ln>
        </p:spPr>
      </p:sp>
      <p:sp>
        <p:nvSpPr>
          <p:cNvPr id="37" name="Text 37"/>
          <p:cNvSpPr txBox="1"/>
          <p:nvPr/>
        </p:nvSpPr>
        <p:spPr>
          <a:xfrm>
            <a:off x="9555480" y="4233672"/>
            <a:ext cx="365760" cy="310896"/>
          </a:xfrm>
          <a:prstGeom prst="rect">
            <a:avLst/>
          </a:prstGeom>
          <a:noFill/>
          <a:ln/>
        </p:spPr>
        <p:txBody>
          <a:bodyPr wrap="square" lIns="0" tIns="0" rIns="0" bIns="0" rtlCol="0" anchor="t"/>
          <a:lstStyle/>
          <a:p>
            <a:pPr indent="0" marL="0">
              <a:buNone/>
            </a:pPr>
            <a:r>
              <a:rPr lang="en-US" sz="1800" dirty="0">
                <a:solidFill>
                  <a:srgbClr val="F6F4EE"/>
                </a:solidFill>
                <a:latin typeface="Geist Medium" pitchFamily="34" charset="0"/>
                <a:ea typeface="Geist Medium" pitchFamily="34" charset="-122"/>
                <a:cs typeface="Geist Medium" pitchFamily="34" charset="-120"/>
              </a:rPr>
              <a:t>4</a:t>
            </a:r>
            <a:endParaRPr lang="en-US" sz="1800" dirty="0"/>
          </a:p>
        </p:txBody>
      </p:sp>
      <p:sp>
        <p:nvSpPr>
          <p:cNvPr id="38" name="Shape 38"/>
          <p:cNvSpPr/>
          <p:nvPr/>
        </p:nvSpPr>
        <p:spPr>
          <a:xfrm>
            <a:off x="10012680" y="4334256"/>
            <a:ext cx="109728" cy="109728"/>
          </a:xfrm>
          <a:prstGeom prst="ellipse">
            <a:avLst/>
          </a:prstGeom>
          <a:solidFill>
            <a:srgbClr val="F6F4EE"/>
          </a:solidFill>
          <a:ln w="12700">
            <a:solidFill>
              <a:srgbClr val="F6F4EE"/>
            </a:solidFill>
            <a:prstDash val="solid"/>
          </a:ln>
        </p:spPr>
      </p:sp>
      <p:sp>
        <p:nvSpPr>
          <p:cNvPr id="39" name="Shape 39"/>
          <p:cNvSpPr/>
          <p:nvPr/>
        </p:nvSpPr>
        <p:spPr>
          <a:xfrm>
            <a:off x="10195560" y="4334256"/>
            <a:ext cx="109728" cy="109728"/>
          </a:xfrm>
          <a:prstGeom prst="ellipse">
            <a:avLst/>
          </a:prstGeom>
          <a:solidFill>
            <a:srgbClr val="F6F4EE"/>
          </a:solidFill>
          <a:ln w="12700">
            <a:solidFill>
              <a:srgbClr val="F6F4EE"/>
            </a:solidFill>
            <a:prstDash val="solid"/>
          </a:ln>
        </p:spPr>
      </p:sp>
      <p:sp>
        <p:nvSpPr>
          <p:cNvPr id="40" name="Shape 40"/>
          <p:cNvSpPr/>
          <p:nvPr/>
        </p:nvSpPr>
        <p:spPr>
          <a:xfrm>
            <a:off x="10378440" y="4334256"/>
            <a:ext cx="109728" cy="109728"/>
          </a:xfrm>
          <a:prstGeom prst="ellipse">
            <a:avLst/>
          </a:prstGeom>
          <a:solidFill>
            <a:srgbClr val="F6F4EE"/>
          </a:solidFill>
          <a:ln w="12700">
            <a:solidFill>
              <a:srgbClr val="F6F4EE"/>
            </a:solidFill>
            <a:prstDash val="solid"/>
          </a:ln>
        </p:spPr>
      </p:sp>
      <p:sp>
        <p:nvSpPr>
          <p:cNvPr id="41" name="Shape 41"/>
          <p:cNvSpPr/>
          <p:nvPr/>
        </p:nvSpPr>
        <p:spPr>
          <a:xfrm>
            <a:off x="10561320" y="4334256"/>
            <a:ext cx="109728" cy="109728"/>
          </a:xfrm>
          <a:prstGeom prst="ellipse">
            <a:avLst/>
          </a:prstGeom>
          <a:solidFill>
            <a:srgbClr val="F6F4EE"/>
          </a:solidFill>
          <a:ln w="12700">
            <a:solidFill>
              <a:srgbClr val="F6F4EE"/>
            </a:solidFill>
            <a:prstDash val="solid"/>
          </a:ln>
        </p:spPr>
      </p:sp>
      <p:sp>
        <p:nvSpPr>
          <p:cNvPr id="42" name="Shape 42"/>
          <p:cNvSpPr/>
          <p:nvPr/>
        </p:nvSpPr>
        <p:spPr>
          <a:xfrm>
            <a:off x="10744200" y="4334256"/>
            <a:ext cx="109728" cy="109728"/>
          </a:xfrm>
          <a:prstGeom prst="ellipse">
            <a:avLst/>
          </a:prstGeom>
          <a:solidFill>
            <a:srgbClr val="3A4D53"/>
          </a:solidFill>
          <a:ln w="12700">
            <a:solidFill>
              <a:srgbClr val="3A4D53"/>
            </a:solidFill>
            <a:prstDash val="solid"/>
          </a:ln>
        </p:spPr>
      </p:sp>
      <p:sp>
        <p:nvSpPr>
          <p:cNvPr id="43" name="Text 43"/>
          <p:cNvSpPr txBox="1"/>
          <p:nvPr/>
        </p:nvSpPr>
        <p:spPr>
          <a:xfrm>
            <a:off x="12115800" y="4233672"/>
            <a:ext cx="365760" cy="310896"/>
          </a:xfrm>
          <a:prstGeom prst="rect">
            <a:avLst/>
          </a:prstGeom>
          <a:noFill/>
          <a:ln/>
        </p:spPr>
        <p:txBody>
          <a:bodyPr wrap="square" lIns="0" tIns="0" rIns="0" bIns="0" rtlCol="0" anchor="t"/>
          <a:lstStyle/>
          <a:p>
            <a:pPr indent="0" marL="0">
              <a:buNone/>
            </a:pPr>
            <a:r>
              <a:rPr lang="en-US" sz="1800" dirty="0">
                <a:solidFill>
                  <a:srgbClr val="F6F4EE"/>
                </a:solidFill>
                <a:latin typeface="Geist Medium" pitchFamily="34" charset="0"/>
                <a:ea typeface="Geist Medium" pitchFamily="34" charset="-122"/>
                <a:cs typeface="Geist Medium" pitchFamily="34" charset="-120"/>
              </a:rPr>
              <a:t>5</a:t>
            </a:r>
            <a:endParaRPr lang="en-US" sz="1800" dirty="0"/>
          </a:p>
        </p:txBody>
      </p:sp>
      <p:sp>
        <p:nvSpPr>
          <p:cNvPr id="44" name="Shape 44"/>
          <p:cNvSpPr/>
          <p:nvPr/>
        </p:nvSpPr>
        <p:spPr>
          <a:xfrm>
            <a:off x="12573000" y="4334256"/>
            <a:ext cx="109728" cy="109728"/>
          </a:xfrm>
          <a:prstGeom prst="ellipse">
            <a:avLst/>
          </a:prstGeom>
          <a:solidFill>
            <a:srgbClr val="F6F4EE"/>
          </a:solidFill>
          <a:ln w="12700">
            <a:solidFill>
              <a:srgbClr val="F6F4EE"/>
            </a:solidFill>
            <a:prstDash val="solid"/>
          </a:ln>
        </p:spPr>
      </p:sp>
      <p:sp>
        <p:nvSpPr>
          <p:cNvPr id="45" name="Shape 45"/>
          <p:cNvSpPr/>
          <p:nvPr/>
        </p:nvSpPr>
        <p:spPr>
          <a:xfrm>
            <a:off x="12755880" y="4334256"/>
            <a:ext cx="109728" cy="109728"/>
          </a:xfrm>
          <a:prstGeom prst="ellipse">
            <a:avLst/>
          </a:prstGeom>
          <a:solidFill>
            <a:srgbClr val="F6F4EE"/>
          </a:solidFill>
          <a:ln w="12700">
            <a:solidFill>
              <a:srgbClr val="F6F4EE"/>
            </a:solidFill>
            <a:prstDash val="solid"/>
          </a:ln>
        </p:spPr>
      </p:sp>
      <p:sp>
        <p:nvSpPr>
          <p:cNvPr id="46" name="Shape 46"/>
          <p:cNvSpPr/>
          <p:nvPr/>
        </p:nvSpPr>
        <p:spPr>
          <a:xfrm>
            <a:off x="12938760" y="4334256"/>
            <a:ext cx="109728" cy="109728"/>
          </a:xfrm>
          <a:prstGeom prst="ellipse">
            <a:avLst/>
          </a:prstGeom>
          <a:solidFill>
            <a:srgbClr val="F6F4EE"/>
          </a:solidFill>
          <a:ln w="12700">
            <a:solidFill>
              <a:srgbClr val="F6F4EE"/>
            </a:solidFill>
            <a:prstDash val="solid"/>
          </a:ln>
        </p:spPr>
      </p:sp>
      <p:sp>
        <p:nvSpPr>
          <p:cNvPr id="47" name="Shape 47"/>
          <p:cNvSpPr/>
          <p:nvPr/>
        </p:nvSpPr>
        <p:spPr>
          <a:xfrm>
            <a:off x="13121640" y="4334256"/>
            <a:ext cx="109728" cy="109728"/>
          </a:xfrm>
          <a:prstGeom prst="ellipse">
            <a:avLst/>
          </a:prstGeom>
          <a:solidFill>
            <a:srgbClr val="F6F4EE"/>
          </a:solidFill>
          <a:ln w="12700">
            <a:solidFill>
              <a:srgbClr val="F6F4EE"/>
            </a:solidFill>
            <a:prstDash val="solid"/>
          </a:ln>
        </p:spPr>
      </p:sp>
      <p:sp>
        <p:nvSpPr>
          <p:cNvPr id="48" name="Shape 48"/>
          <p:cNvSpPr/>
          <p:nvPr/>
        </p:nvSpPr>
        <p:spPr>
          <a:xfrm>
            <a:off x="13304520" y="4334256"/>
            <a:ext cx="109728" cy="109728"/>
          </a:xfrm>
          <a:prstGeom prst="ellipse">
            <a:avLst/>
          </a:prstGeom>
          <a:solidFill>
            <a:srgbClr val="F6F4EE"/>
          </a:solidFill>
          <a:ln w="12700">
            <a:solidFill>
              <a:srgbClr val="F6F4EE"/>
            </a:solidFill>
            <a:prstDash val="solid"/>
          </a:ln>
        </p:spPr>
      </p:sp>
      <p:sp>
        <p:nvSpPr>
          <p:cNvPr id="49" name="Text 49"/>
          <p:cNvSpPr txBox="1"/>
          <p:nvPr/>
        </p:nvSpPr>
        <p:spPr>
          <a:xfrm>
            <a:off x="14676120" y="4224528"/>
            <a:ext cx="548640" cy="329184"/>
          </a:xfrm>
          <a:prstGeom prst="rect">
            <a:avLst/>
          </a:prstGeom>
          <a:noFill/>
          <a:ln/>
        </p:spPr>
        <p:txBody>
          <a:bodyPr wrap="square" lIns="0" tIns="0" rIns="0" bIns="0" rtlCol="0" anchor="t"/>
          <a:lstStyle/>
          <a:p>
            <a:pPr indent="0" marL="0">
              <a:buNone/>
            </a:pPr>
            <a:r>
              <a:rPr lang="en-US" sz="2000" dirty="0">
                <a:solidFill>
                  <a:srgbClr val="F6F4EE"/>
                </a:solidFill>
                <a:latin typeface="Geist Medium" pitchFamily="34" charset="0"/>
                <a:ea typeface="Geist Medium" pitchFamily="34" charset="-122"/>
                <a:cs typeface="Geist Medium" pitchFamily="34" charset="-120"/>
              </a:rPr>
              <a:t>18</a:t>
            </a:r>
            <a:endParaRPr lang="en-US" sz="2000" dirty="0"/>
          </a:p>
        </p:txBody>
      </p:sp>
      <p:sp>
        <p:nvSpPr>
          <p:cNvPr id="50" name="Shape 50"/>
          <p:cNvSpPr/>
          <p:nvPr/>
        </p:nvSpPr>
        <p:spPr>
          <a:xfrm>
            <a:off x="15361920" y="4352544"/>
            <a:ext cx="1508760" cy="82296"/>
          </a:xfrm>
          <a:prstGeom prst="roundRect">
            <a:avLst>
              <a:gd name="adj" fmla="val 44444"/>
            </a:avLst>
          </a:prstGeom>
          <a:solidFill>
            <a:srgbClr val="3A4D53"/>
          </a:solidFill>
          <a:ln w="12700">
            <a:solidFill>
              <a:srgbClr val="3A4D53"/>
            </a:solidFill>
            <a:prstDash val="solid"/>
          </a:ln>
        </p:spPr>
      </p:sp>
      <p:sp>
        <p:nvSpPr>
          <p:cNvPr id="51" name="Shape 51"/>
          <p:cNvSpPr/>
          <p:nvPr/>
        </p:nvSpPr>
        <p:spPr>
          <a:xfrm>
            <a:off x="15361920" y="4352544"/>
            <a:ext cx="1357884" cy="82296"/>
          </a:xfrm>
          <a:prstGeom prst="roundRect">
            <a:avLst>
              <a:gd name="adj" fmla="val 44444"/>
            </a:avLst>
          </a:prstGeom>
          <a:solidFill>
            <a:srgbClr val="F6F4EE"/>
          </a:solidFill>
          <a:ln w="12700">
            <a:solidFill>
              <a:srgbClr val="F6F4EE"/>
            </a:solidFill>
            <a:prstDash val="solid"/>
          </a:ln>
        </p:spPr>
      </p:sp>
      <p:sp>
        <p:nvSpPr>
          <p:cNvPr id="52" name="Shape 52"/>
          <p:cNvSpPr/>
          <p:nvPr/>
        </p:nvSpPr>
        <p:spPr>
          <a:xfrm>
            <a:off x="1143000" y="4636008"/>
            <a:ext cx="16002000" cy="420624"/>
          </a:xfrm>
          <a:prstGeom prst="roundRect">
            <a:avLst>
              <a:gd name="adj" fmla="val 21739"/>
            </a:avLst>
          </a:prstGeom>
          <a:solidFill>
            <a:srgbClr val="FCFBF8"/>
          </a:solidFill>
          <a:ln w="9525">
            <a:solidFill>
              <a:srgbClr val="E3E0D7"/>
            </a:solidFill>
            <a:prstDash val="solid"/>
          </a:ln>
        </p:spPr>
      </p:sp>
      <p:sp>
        <p:nvSpPr>
          <p:cNvPr id="53" name="Shape 53"/>
          <p:cNvSpPr/>
          <p:nvPr/>
        </p:nvSpPr>
        <p:spPr>
          <a:xfrm>
            <a:off x="4297680" y="4636008"/>
            <a:ext cx="2331720" cy="420624"/>
          </a:xfrm>
          <a:prstGeom prst="rect">
            <a:avLst/>
          </a:prstGeom>
          <a:solidFill>
            <a:srgbClr val="E7EDEC"/>
          </a:solidFill>
          <a:ln w="12700">
            <a:solidFill>
              <a:srgbClr val="E7EDEC"/>
            </a:solidFill>
            <a:prstDash val="solid"/>
          </a:ln>
        </p:spPr>
      </p:sp>
      <p:sp>
        <p:nvSpPr>
          <p:cNvPr id="54" name="Text 54"/>
          <p:cNvSpPr txBox="1"/>
          <p:nvPr/>
        </p:nvSpPr>
        <p:spPr>
          <a:xfrm>
            <a:off x="1417320" y="4736592"/>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2.</a:t>
            </a:r>
            <a:endParaRPr lang="en-US" sz="1500" dirty="0"/>
          </a:p>
        </p:txBody>
      </p:sp>
      <p:sp>
        <p:nvSpPr>
          <p:cNvPr id="55" name="Text 55"/>
          <p:cNvSpPr txBox="1"/>
          <p:nvPr/>
        </p:nvSpPr>
        <p:spPr>
          <a:xfrm>
            <a:off x="1828800" y="4718304"/>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Sweden</a:t>
            </a:r>
            <a:endParaRPr lang="en-US" sz="1700" dirty="0"/>
          </a:p>
        </p:txBody>
      </p:sp>
      <p:sp>
        <p:nvSpPr>
          <p:cNvPr id="56" name="Text 56"/>
          <p:cNvSpPr txBox="1"/>
          <p:nvPr/>
        </p:nvSpPr>
        <p:spPr>
          <a:xfrm>
            <a:off x="4434840" y="470916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57" name="Shape 57"/>
          <p:cNvSpPr/>
          <p:nvPr/>
        </p:nvSpPr>
        <p:spPr>
          <a:xfrm>
            <a:off x="4892040" y="4809744"/>
            <a:ext cx="109728" cy="109728"/>
          </a:xfrm>
          <a:prstGeom prst="ellipse">
            <a:avLst/>
          </a:prstGeom>
          <a:solidFill>
            <a:srgbClr val="1C2B2F"/>
          </a:solidFill>
          <a:ln w="12700">
            <a:solidFill>
              <a:srgbClr val="1C2B2F"/>
            </a:solidFill>
            <a:prstDash val="solid"/>
          </a:ln>
        </p:spPr>
      </p:sp>
      <p:sp>
        <p:nvSpPr>
          <p:cNvPr id="58" name="Shape 58"/>
          <p:cNvSpPr/>
          <p:nvPr/>
        </p:nvSpPr>
        <p:spPr>
          <a:xfrm>
            <a:off x="5074920" y="4809744"/>
            <a:ext cx="109728" cy="109728"/>
          </a:xfrm>
          <a:prstGeom prst="ellipse">
            <a:avLst/>
          </a:prstGeom>
          <a:solidFill>
            <a:srgbClr val="1C2B2F"/>
          </a:solidFill>
          <a:ln w="12700">
            <a:solidFill>
              <a:srgbClr val="1C2B2F"/>
            </a:solidFill>
            <a:prstDash val="solid"/>
          </a:ln>
        </p:spPr>
      </p:sp>
      <p:sp>
        <p:nvSpPr>
          <p:cNvPr id="59" name="Shape 59"/>
          <p:cNvSpPr/>
          <p:nvPr/>
        </p:nvSpPr>
        <p:spPr>
          <a:xfrm>
            <a:off x="5257800" y="4809744"/>
            <a:ext cx="109728" cy="109728"/>
          </a:xfrm>
          <a:prstGeom prst="ellipse">
            <a:avLst/>
          </a:prstGeom>
          <a:solidFill>
            <a:srgbClr val="1C2B2F"/>
          </a:solidFill>
          <a:ln w="12700">
            <a:solidFill>
              <a:srgbClr val="1C2B2F"/>
            </a:solidFill>
            <a:prstDash val="solid"/>
          </a:ln>
        </p:spPr>
      </p:sp>
      <p:sp>
        <p:nvSpPr>
          <p:cNvPr id="60" name="Shape 60"/>
          <p:cNvSpPr/>
          <p:nvPr/>
        </p:nvSpPr>
        <p:spPr>
          <a:xfrm>
            <a:off x="5440680" y="4809744"/>
            <a:ext cx="109728" cy="109728"/>
          </a:xfrm>
          <a:prstGeom prst="ellipse">
            <a:avLst/>
          </a:prstGeom>
          <a:solidFill>
            <a:srgbClr val="1C2B2F"/>
          </a:solidFill>
          <a:ln w="12700">
            <a:solidFill>
              <a:srgbClr val="1C2B2F"/>
            </a:solidFill>
            <a:prstDash val="solid"/>
          </a:ln>
        </p:spPr>
      </p:sp>
      <p:sp>
        <p:nvSpPr>
          <p:cNvPr id="61" name="Shape 61"/>
          <p:cNvSpPr/>
          <p:nvPr/>
        </p:nvSpPr>
        <p:spPr>
          <a:xfrm>
            <a:off x="5623560" y="4809744"/>
            <a:ext cx="109728" cy="109728"/>
          </a:xfrm>
          <a:prstGeom prst="ellipse">
            <a:avLst/>
          </a:prstGeom>
          <a:solidFill>
            <a:srgbClr val="1C2B2F"/>
          </a:solidFill>
          <a:ln w="12700">
            <a:solidFill>
              <a:srgbClr val="1C2B2F"/>
            </a:solidFill>
            <a:prstDash val="solid"/>
          </a:ln>
        </p:spPr>
      </p:sp>
      <p:sp>
        <p:nvSpPr>
          <p:cNvPr id="62" name="Text 62"/>
          <p:cNvSpPr txBox="1"/>
          <p:nvPr/>
        </p:nvSpPr>
        <p:spPr>
          <a:xfrm>
            <a:off x="6995160" y="470916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63" name="Shape 63"/>
          <p:cNvSpPr/>
          <p:nvPr/>
        </p:nvSpPr>
        <p:spPr>
          <a:xfrm>
            <a:off x="7452360" y="4809744"/>
            <a:ext cx="109728" cy="109728"/>
          </a:xfrm>
          <a:prstGeom prst="ellipse">
            <a:avLst/>
          </a:prstGeom>
          <a:solidFill>
            <a:srgbClr val="1C2B2F"/>
          </a:solidFill>
          <a:ln w="12700">
            <a:solidFill>
              <a:srgbClr val="1C2B2F"/>
            </a:solidFill>
            <a:prstDash val="solid"/>
          </a:ln>
        </p:spPr>
      </p:sp>
      <p:sp>
        <p:nvSpPr>
          <p:cNvPr id="64" name="Shape 64"/>
          <p:cNvSpPr/>
          <p:nvPr/>
        </p:nvSpPr>
        <p:spPr>
          <a:xfrm>
            <a:off x="7635240" y="4809744"/>
            <a:ext cx="109728" cy="109728"/>
          </a:xfrm>
          <a:prstGeom prst="ellipse">
            <a:avLst/>
          </a:prstGeom>
          <a:solidFill>
            <a:srgbClr val="1C2B2F"/>
          </a:solidFill>
          <a:ln w="12700">
            <a:solidFill>
              <a:srgbClr val="1C2B2F"/>
            </a:solidFill>
            <a:prstDash val="solid"/>
          </a:ln>
        </p:spPr>
      </p:sp>
      <p:sp>
        <p:nvSpPr>
          <p:cNvPr id="65" name="Shape 65"/>
          <p:cNvSpPr/>
          <p:nvPr/>
        </p:nvSpPr>
        <p:spPr>
          <a:xfrm>
            <a:off x="7818120" y="4809744"/>
            <a:ext cx="109728" cy="109728"/>
          </a:xfrm>
          <a:prstGeom prst="ellipse">
            <a:avLst/>
          </a:prstGeom>
          <a:solidFill>
            <a:srgbClr val="1C2B2F"/>
          </a:solidFill>
          <a:ln w="12700">
            <a:solidFill>
              <a:srgbClr val="1C2B2F"/>
            </a:solidFill>
            <a:prstDash val="solid"/>
          </a:ln>
        </p:spPr>
      </p:sp>
      <p:sp>
        <p:nvSpPr>
          <p:cNvPr id="66" name="Shape 66"/>
          <p:cNvSpPr/>
          <p:nvPr/>
        </p:nvSpPr>
        <p:spPr>
          <a:xfrm>
            <a:off x="8001000" y="4809744"/>
            <a:ext cx="109728" cy="109728"/>
          </a:xfrm>
          <a:prstGeom prst="ellipse">
            <a:avLst/>
          </a:prstGeom>
          <a:solidFill>
            <a:srgbClr val="E3E0D7"/>
          </a:solidFill>
          <a:ln w="12700">
            <a:solidFill>
              <a:srgbClr val="E3E0D7"/>
            </a:solidFill>
            <a:prstDash val="solid"/>
          </a:ln>
        </p:spPr>
      </p:sp>
      <p:sp>
        <p:nvSpPr>
          <p:cNvPr id="67" name="Shape 67"/>
          <p:cNvSpPr/>
          <p:nvPr/>
        </p:nvSpPr>
        <p:spPr>
          <a:xfrm>
            <a:off x="8183880" y="4809744"/>
            <a:ext cx="109728" cy="109728"/>
          </a:xfrm>
          <a:prstGeom prst="ellipse">
            <a:avLst/>
          </a:prstGeom>
          <a:solidFill>
            <a:srgbClr val="E3E0D7"/>
          </a:solidFill>
          <a:ln w="12700">
            <a:solidFill>
              <a:srgbClr val="E3E0D7"/>
            </a:solidFill>
            <a:prstDash val="solid"/>
          </a:ln>
        </p:spPr>
      </p:sp>
      <p:sp>
        <p:nvSpPr>
          <p:cNvPr id="68" name="Text 68"/>
          <p:cNvSpPr txBox="1"/>
          <p:nvPr/>
        </p:nvSpPr>
        <p:spPr>
          <a:xfrm>
            <a:off x="9555480" y="470916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69" name="Shape 69"/>
          <p:cNvSpPr/>
          <p:nvPr/>
        </p:nvSpPr>
        <p:spPr>
          <a:xfrm>
            <a:off x="10012680" y="4809744"/>
            <a:ext cx="109728" cy="109728"/>
          </a:xfrm>
          <a:prstGeom prst="ellipse">
            <a:avLst/>
          </a:prstGeom>
          <a:solidFill>
            <a:srgbClr val="1C2B2F"/>
          </a:solidFill>
          <a:ln w="12700">
            <a:solidFill>
              <a:srgbClr val="1C2B2F"/>
            </a:solidFill>
            <a:prstDash val="solid"/>
          </a:ln>
        </p:spPr>
      </p:sp>
      <p:sp>
        <p:nvSpPr>
          <p:cNvPr id="70" name="Shape 70"/>
          <p:cNvSpPr/>
          <p:nvPr/>
        </p:nvSpPr>
        <p:spPr>
          <a:xfrm>
            <a:off x="10195560" y="4809744"/>
            <a:ext cx="109728" cy="109728"/>
          </a:xfrm>
          <a:prstGeom prst="ellipse">
            <a:avLst/>
          </a:prstGeom>
          <a:solidFill>
            <a:srgbClr val="1C2B2F"/>
          </a:solidFill>
          <a:ln w="12700">
            <a:solidFill>
              <a:srgbClr val="1C2B2F"/>
            </a:solidFill>
            <a:prstDash val="solid"/>
          </a:ln>
        </p:spPr>
      </p:sp>
      <p:sp>
        <p:nvSpPr>
          <p:cNvPr id="71" name="Shape 71"/>
          <p:cNvSpPr/>
          <p:nvPr/>
        </p:nvSpPr>
        <p:spPr>
          <a:xfrm>
            <a:off x="10378440" y="4809744"/>
            <a:ext cx="109728" cy="109728"/>
          </a:xfrm>
          <a:prstGeom prst="ellipse">
            <a:avLst/>
          </a:prstGeom>
          <a:solidFill>
            <a:srgbClr val="1C2B2F"/>
          </a:solidFill>
          <a:ln w="12700">
            <a:solidFill>
              <a:srgbClr val="1C2B2F"/>
            </a:solidFill>
            <a:prstDash val="solid"/>
          </a:ln>
        </p:spPr>
      </p:sp>
      <p:sp>
        <p:nvSpPr>
          <p:cNvPr id="72" name="Shape 72"/>
          <p:cNvSpPr/>
          <p:nvPr/>
        </p:nvSpPr>
        <p:spPr>
          <a:xfrm>
            <a:off x="10561320" y="4809744"/>
            <a:ext cx="109728" cy="109728"/>
          </a:xfrm>
          <a:prstGeom prst="ellipse">
            <a:avLst/>
          </a:prstGeom>
          <a:solidFill>
            <a:srgbClr val="1C2B2F"/>
          </a:solidFill>
          <a:ln w="12700">
            <a:solidFill>
              <a:srgbClr val="1C2B2F"/>
            </a:solidFill>
            <a:prstDash val="solid"/>
          </a:ln>
        </p:spPr>
      </p:sp>
      <p:sp>
        <p:nvSpPr>
          <p:cNvPr id="73" name="Shape 73"/>
          <p:cNvSpPr/>
          <p:nvPr/>
        </p:nvSpPr>
        <p:spPr>
          <a:xfrm>
            <a:off x="10744200" y="4809744"/>
            <a:ext cx="109728" cy="109728"/>
          </a:xfrm>
          <a:prstGeom prst="ellipse">
            <a:avLst/>
          </a:prstGeom>
          <a:solidFill>
            <a:srgbClr val="1C2B2F"/>
          </a:solidFill>
          <a:ln w="12700">
            <a:solidFill>
              <a:srgbClr val="1C2B2F"/>
            </a:solidFill>
            <a:prstDash val="solid"/>
          </a:ln>
        </p:spPr>
      </p:sp>
      <p:sp>
        <p:nvSpPr>
          <p:cNvPr id="74" name="Text 74"/>
          <p:cNvSpPr txBox="1"/>
          <p:nvPr/>
        </p:nvSpPr>
        <p:spPr>
          <a:xfrm>
            <a:off x="12115800" y="470916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4</a:t>
            </a:r>
            <a:endParaRPr lang="en-US" sz="1800" dirty="0"/>
          </a:p>
        </p:txBody>
      </p:sp>
      <p:sp>
        <p:nvSpPr>
          <p:cNvPr id="75" name="Shape 75"/>
          <p:cNvSpPr/>
          <p:nvPr/>
        </p:nvSpPr>
        <p:spPr>
          <a:xfrm>
            <a:off x="12573000" y="4809744"/>
            <a:ext cx="109728" cy="109728"/>
          </a:xfrm>
          <a:prstGeom prst="ellipse">
            <a:avLst/>
          </a:prstGeom>
          <a:solidFill>
            <a:srgbClr val="1C2B2F"/>
          </a:solidFill>
          <a:ln w="12700">
            <a:solidFill>
              <a:srgbClr val="1C2B2F"/>
            </a:solidFill>
            <a:prstDash val="solid"/>
          </a:ln>
        </p:spPr>
      </p:sp>
      <p:sp>
        <p:nvSpPr>
          <p:cNvPr id="76" name="Shape 76"/>
          <p:cNvSpPr/>
          <p:nvPr/>
        </p:nvSpPr>
        <p:spPr>
          <a:xfrm>
            <a:off x="12755880" y="4809744"/>
            <a:ext cx="109728" cy="109728"/>
          </a:xfrm>
          <a:prstGeom prst="ellipse">
            <a:avLst/>
          </a:prstGeom>
          <a:solidFill>
            <a:srgbClr val="1C2B2F"/>
          </a:solidFill>
          <a:ln w="12700">
            <a:solidFill>
              <a:srgbClr val="1C2B2F"/>
            </a:solidFill>
            <a:prstDash val="solid"/>
          </a:ln>
        </p:spPr>
      </p:sp>
      <p:sp>
        <p:nvSpPr>
          <p:cNvPr id="77" name="Shape 77"/>
          <p:cNvSpPr/>
          <p:nvPr/>
        </p:nvSpPr>
        <p:spPr>
          <a:xfrm>
            <a:off x="12938760" y="4809744"/>
            <a:ext cx="109728" cy="109728"/>
          </a:xfrm>
          <a:prstGeom prst="ellipse">
            <a:avLst/>
          </a:prstGeom>
          <a:solidFill>
            <a:srgbClr val="1C2B2F"/>
          </a:solidFill>
          <a:ln w="12700">
            <a:solidFill>
              <a:srgbClr val="1C2B2F"/>
            </a:solidFill>
            <a:prstDash val="solid"/>
          </a:ln>
        </p:spPr>
      </p:sp>
      <p:sp>
        <p:nvSpPr>
          <p:cNvPr id="78" name="Shape 78"/>
          <p:cNvSpPr/>
          <p:nvPr/>
        </p:nvSpPr>
        <p:spPr>
          <a:xfrm>
            <a:off x="13121640" y="4809744"/>
            <a:ext cx="109728" cy="109728"/>
          </a:xfrm>
          <a:prstGeom prst="ellipse">
            <a:avLst/>
          </a:prstGeom>
          <a:solidFill>
            <a:srgbClr val="1C2B2F"/>
          </a:solidFill>
          <a:ln w="12700">
            <a:solidFill>
              <a:srgbClr val="1C2B2F"/>
            </a:solidFill>
            <a:prstDash val="solid"/>
          </a:ln>
        </p:spPr>
      </p:sp>
      <p:sp>
        <p:nvSpPr>
          <p:cNvPr id="79" name="Shape 79"/>
          <p:cNvSpPr/>
          <p:nvPr/>
        </p:nvSpPr>
        <p:spPr>
          <a:xfrm>
            <a:off x="13304520" y="4809744"/>
            <a:ext cx="109728" cy="109728"/>
          </a:xfrm>
          <a:prstGeom prst="ellipse">
            <a:avLst/>
          </a:prstGeom>
          <a:solidFill>
            <a:srgbClr val="E3E0D7"/>
          </a:solidFill>
          <a:ln w="12700">
            <a:solidFill>
              <a:srgbClr val="E3E0D7"/>
            </a:solidFill>
            <a:prstDash val="solid"/>
          </a:ln>
        </p:spPr>
      </p:sp>
      <p:sp>
        <p:nvSpPr>
          <p:cNvPr id="80" name="Text 80"/>
          <p:cNvSpPr txBox="1"/>
          <p:nvPr/>
        </p:nvSpPr>
        <p:spPr>
          <a:xfrm>
            <a:off x="14676120" y="4700016"/>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17</a:t>
            </a:r>
            <a:endParaRPr lang="en-US" sz="2000" dirty="0"/>
          </a:p>
        </p:txBody>
      </p:sp>
      <p:sp>
        <p:nvSpPr>
          <p:cNvPr id="81" name="Shape 81"/>
          <p:cNvSpPr/>
          <p:nvPr/>
        </p:nvSpPr>
        <p:spPr>
          <a:xfrm>
            <a:off x="15361920" y="4828032"/>
            <a:ext cx="1508760" cy="82296"/>
          </a:xfrm>
          <a:prstGeom prst="roundRect">
            <a:avLst>
              <a:gd name="adj" fmla="val 44444"/>
            </a:avLst>
          </a:prstGeom>
          <a:solidFill>
            <a:srgbClr val="E3E0D7"/>
          </a:solidFill>
          <a:ln w="12700">
            <a:solidFill>
              <a:srgbClr val="E3E0D7"/>
            </a:solidFill>
            <a:prstDash val="solid"/>
          </a:ln>
        </p:spPr>
      </p:sp>
      <p:sp>
        <p:nvSpPr>
          <p:cNvPr id="82" name="Shape 82"/>
          <p:cNvSpPr/>
          <p:nvPr/>
        </p:nvSpPr>
        <p:spPr>
          <a:xfrm>
            <a:off x="15361920" y="4828032"/>
            <a:ext cx="1282446" cy="82296"/>
          </a:xfrm>
          <a:prstGeom prst="roundRect">
            <a:avLst>
              <a:gd name="adj" fmla="val 44444"/>
            </a:avLst>
          </a:prstGeom>
          <a:solidFill>
            <a:srgbClr val="3E6670"/>
          </a:solidFill>
          <a:ln w="12700">
            <a:solidFill>
              <a:srgbClr val="3E6670"/>
            </a:solidFill>
            <a:prstDash val="solid"/>
          </a:ln>
        </p:spPr>
      </p:sp>
      <p:sp>
        <p:nvSpPr>
          <p:cNvPr id="83" name="Shape 83"/>
          <p:cNvSpPr/>
          <p:nvPr/>
        </p:nvSpPr>
        <p:spPr>
          <a:xfrm>
            <a:off x="1143000" y="5111496"/>
            <a:ext cx="16002000" cy="420624"/>
          </a:xfrm>
          <a:prstGeom prst="roundRect">
            <a:avLst>
              <a:gd name="adj" fmla="val 21739"/>
            </a:avLst>
          </a:prstGeom>
          <a:solidFill>
            <a:srgbClr val="FCFBF8"/>
          </a:solidFill>
          <a:ln w="9525">
            <a:solidFill>
              <a:srgbClr val="E3E0D7"/>
            </a:solidFill>
            <a:prstDash val="solid"/>
          </a:ln>
        </p:spPr>
      </p:sp>
      <p:sp>
        <p:nvSpPr>
          <p:cNvPr id="84" name="Shape 84"/>
          <p:cNvSpPr/>
          <p:nvPr/>
        </p:nvSpPr>
        <p:spPr>
          <a:xfrm>
            <a:off x="4297680" y="5111496"/>
            <a:ext cx="2331720" cy="420624"/>
          </a:xfrm>
          <a:prstGeom prst="rect">
            <a:avLst/>
          </a:prstGeom>
          <a:solidFill>
            <a:srgbClr val="E7EDEC"/>
          </a:solidFill>
          <a:ln w="12700">
            <a:solidFill>
              <a:srgbClr val="E7EDEC"/>
            </a:solidFill>
            <a:prstDash val="solid"/>
          </a:ln>
        </p:spPr>
      </p:sp>
      <p:sp>
        <p:nvSpPr>
          <p:cNvPr id="85" name="Text 85"/>
          <p:cNvSpPr txBox="1"/>
          <p:nvPr/>
        </p:nvSpPr>
        <p:spPr>
          <a:xfrm>
            <a:off x="1417320" y="5212080"/>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3.</a:t>
            </a:r>
            <a:endParaRPr lang="en-US" sz="1500" dirty="0"/>
          </a:p>
        </p:txBody>
      </p:sp>
      <p:sp>
        <p:nvSpPr>
          <p:cNvPr id="86" name="Text 86"/>
          <p:cNvSpPr txBox="1"/>
          <p:nvPr/>
        </p:nvSpPr>
        <p:spPr>
          <a:xfrm>
            <a:off x="1828800" y="5193792"/>
            <a:ext cx="1737360" cy="292608"/>
          </a:xfrm>
          <a:prstGeom prst="rect">
            <a:avLst/>
          </a:prstGeom>
          <a:noFill/>
          <a:ln/>
        </p:spPr>
        <p:txBody>
          <a:bodyPr wrap="square" lIns="0" tIns="0" rIns="0" bIns="0" rtlCol="0" anchor="t"/>
          <a:lstStyle/>
          <a:p>
            <a:pPr indent="0" marL="0">
              <a:buNone/>
            </a:pPr>
            <a:r>
              <a:rPr lang="en-US" sz="1700" dirty="0">
                <a:solidFill>
                  <a:srgbClr val="55676B"/>
                </a:solidFill>
                <a:latin typeface="Geist Medium" pitchFamily="34" charset="0"/>
                <a:ea typeface="Geist Medium" pitchFamily="34" charset="-122"/>
                <a:cs typeface="Geist Medium" pitchFamily="34" charset="-120"/>
              </a:rPr>
              <a:t>Germany</a:t>
            </a:r>
            <a:endParaRPr lang="en-US" sz="1700" dirty="0"/>
          </a:p>
        </p:txBody>
      </p:sp>
      <p:sp>
        <p:nvSpPr>
          <p:cNvPr id="87" name="Text 87"/>
          <p:cNvSpPr txBox="1"/>
          <p:nvPr/>
        </p:nvSpPr>
        <p:spPr>
          <a:xfrm>
            <a:off x="4434840" y="5184648"/>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2</a:t>
            </a:r>
            <a:endParaRPr lang="en-US" sz="1800" dirty="0"/>
          </a:p>
        </p:txBody>
      </p:sp>
      <p:sp>
        <p:nvSpPr>
          <p:cNvPr id="88" name="Shape 88"/>
          <p:cNvSpPr/>
          <p:nvPr/>
        </p:nvSpPr>
        <p:spPr>
          <a:xfrm>
            <a:off x="4892040" y="5285232"/>
            <a:ext cx="109728" cy="109728"/>
          </a:xfrm>
          <a:prstGeom prst="ellipse">
            <a:avLst/>
          </a:prstGeom>
          <a:solidFill>
            <a:srgbClr val="8A9A9D"/>
          </a:solidFill>
          <a:ln w="12700">
            <a:solidFill>
              <a:srgbClr val="8A9A9D"/>
            </a:solidFill>
            <a:prstDash val="solid"/>
          </a:ln>
        </p:spPr>
      </p:sp>
      <p:sp>
        <p:nvSpPr>
          <p:cNvPr id="89" name="Shape 89"/>
          <p:cNvSpPr/>
          <p:nvPr/>
        </p:nvSpPr>
        <p:spPr>
          <a:xfrm>
            <a:off x="5074920" y="5285232"/>
            <a:ext cx="109728" cy="109728"/>
          </a:xfrm>
          <a:prstGeom prst="ellipse">
            <a:avLst/>
          </a:prstGeom>
          <a:solidFill>
            <a:srgbClr val="8A9A9D"/>
          </a:solidFill>
          <a:ln w="12700">
            <a:solidFill>
              <a:srgbClr val="8A9A9D"/>
            </a:solidFill>
            <a:prstDash val="solid"/>
          </a:ln>
        </p:spPr>
      </p:sp>
      <p:sp>
        <p:nvSpPr>
          <p:cNvPr id="90" name="Shape 90"/>
          <p:cNvSpPr/>
          <p:nvPr/>
        </p:nvSpPr>
        <p:spPr>
          <a:xfrm>
            <a:off x="5257800" y="5285232"/>
            <a:ext cx="109728" cy="109728"/>
          </a:xfrm>
          <a:prstGeom prst="ellipse">
            <a:avLst/>
          </a:prstGeom>
          <a:solidFill>
            <a:srgbClr val="E3E0D7"/>
          </a:solidFill>
          <a:ln w="12700">
            <a:solidFill>
              <a:srgbClr val="E3E0D7"/>
            </a:solidFill>
            <a:prstDash val="solid"/>
          </a:ln>
        </p:spPr>
      </p:sp>
      <p:sp>
        <p:nvSpPr>
          <p:cNvPr id="91" name="Shape 91"/>
          <p:cNvSpPr/>
          <p:nvPr/>
        </p:nvSpPr>
        <p:spPr>
          <a:xfrm>
            <a:off x="5440680" y="5285232"/>
            <a:ext cx="109728" cy="109728"/>
          </a:xfrm>
          <a:prstGeom prst="ellipse">
            <a:avLst/>
          </a:prstGeom>
          <a:solidFill>
            <a:srgbClr val="E3E0D7"/>
          </a:solidFill>
          <a:ln w="12700">
            <a:solidFill>
              <a:srgbClr val="E3E0D7"/>
            </a:solidFill>
            <a:prstDash val="solid"/>
          </a:ln>
        </p:spPr>
      </p:sp>
      <p:sp>
        <p:nvSpPr>
          <p:cNvPr id="92" name="Shape 92"/>
          <p:cNvSpPr/>
          <p:nvPr/>
        </p:nvSpPr>
        <p:spPr>
          <a:xfrm>
            <a:off x="5623560" y="5285232"/>
            <a:ext cx="109728" cy="109728"/>
          </a:xfrm>
          <a:prstGeom prst="ellipse">
            <a:avLst/>
          </a:prstGeom>
          <a:solidFill>
            <a:srgbClr val="E3E0D7"/>
          </a:solidFill>
          <a:ln w="12700">
            <a:solidFill>
              <a:srgbClr val="E3E0D7"/>
            </a:solidFill>
            <a:prstDash val="solid"/>
          </a:ln>
        </p:spPr>
      </p:sp>
      <p:sp>
        <p:nvSpPr>
          <p:cNvPr id="93" name="Text 93"/>
          <p:cNvSpPr txBox="1"/>
          <p:nvPr/>
        </p:nvSpPr>
        <p:spPr>
          <a:xfrm>
            <a:off x="6995160" y="5184648"/>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5</a:t>
            </a:r>
            <a:endParaRPr lang="en-US" sz="1800" dirty="0"/>
          </a:p>
        </p:txBody>
      </p:sp>
      <p:sp>
        <p:nvSpPr>
          <p:cNvPr id="94" name="Shape 94"/>
          <p:cNvSpPr/>
          <p:nvPr/>
        </p:nvSpPr>
        <p:spPr>
          <a:xfrm>
            <a:off x="7452360" y="5285232"/>
            <a:ext cx="109728" cy="109728"/>
          </a:xfrm>
          <a:prstGeom prst="ellipse">
            <a:avLst/>
          </a:prstGeom>
          <a:solidFill>
            <a:srgbClr val="8A9A9D"/>
          </a:solidFill>
          <a:ln w="12700">
            <a:solidFill>
              <a:srgbClr val="8A9A9D"/>
            </a:solidFill>
            <a:prstDash val="solid"/>
          </a:ln>
        </p:spPr>
      </p:sp>
      <p:sp>
        <p:nvSpPr>
          <p:cNvPr id="95" name="Shape 95"/>
          <p:cNvSpPr/>
          <p:nvPr/>
        </p:nvSpPr>
        <p:spPr>
          <a:xfrm>
            <a:off x="7635240" y="5285232"/>
            <a:ext cx="109728" cy="109728"/>
          </a:xfrm>
          <a:prstGeom prst="ellipse">
            <a:avLst/>
          </a:prstGeom>
          <a:solidFill>
            <a:srgbClr val="8A9A9D"/>
          </a:solidFill>
          <a:ln w="12700">
            <a:solidFill>
              <a:srgbClr val="8A9A9D"/>
            </a:solidFill>
            <a:prstDash val="solid"/>
          </a:ln>
        </p:spPr>
      </p:sp>
      <p:sp>
        <p:nvSpPr>
          <p:cNvPr id="96" name="Shape 96"/>
          <p:cNvSpPr/>
          <p:nvPr/>
        </p:nvSpPr>
        <p:spPr>
          <a:xfrm>
            <a:off x="7818120" y="5285232"/>
            <a:ext cx="109728" cy="109728"/>
          </a:xfrm>
          <a:prstGeom prst="ellipse">
            <a:avLst/>
          </a:prstGeom>
          <a:solidFill>
            <a:srgbClr val="8A9A9D"/>
          </a:solidFill>
          <a:ln w="12700">
            <a:solidFill>
              <a:srgbClr val="8A9A9D"/>
            </a:solidFill>
            <a:prstDash val="solid"/>
          </a:ln>
        </p:spPr>
      </p:sp>
      <p:sp>
        <p:nvSpPr>
          <p:cNvPr id="97" name="Shape 97"/>
          <p:cNvSpPr/>
          <p:nvPr/>
        </p:nvSpPr>
        <p:spPr>
          <a:xfrm>
            <a:off x="8001000" y="5285232"/>
            <a:ext cx="109728" cy="109728"/>
          </a:xfrm>
          <a:prstGeom prst="ellipse">
            <a:avLst/>
          </a:prstGeom>
          <a:solidFill>
            <a:srgbClr val="8A9A9D"/>
          </a:solidFill>
          <a:ln w="12700">
            <a:solidFill>
              <a:srgbClr val="8A9A9D"/>
            </a:solidFill>
            <a:prstDash val="solid"/>
          </a:ln>
        </p:spPr>
      </p:sp>
      <p:sp>
        <p:nvSpPr>
          <p:cNvPr id="98" name="Shape 98"/>
          <p:cNvSpPr/>
          <p:nvPr/>
        </p:nvSpPr>
        <p:spPr>
          <a:xfrm>
            <a:off x="8183880" y="5285232"/>
            <a:ext cx="109728" cy="109728"/>
          </a:xfrm>
          <a:prstGeom prst="ellipse">
            <a:avLst/>
          </a:prstGeom>
          <a:solidFill>
            <a:srgbClr val="8A9A9D"/>
          </a:solidFill>
          <a:ln w="12700">
            <a:solidFill>
              <a:srgbClr val="8A9A9D"/>
            </a:solidFill>
            <a:prstDash val="solid"/>
          </a:ln>
        </p:spPr>
      </p:sp>
      <p:sp>
        <p:nvSpPr>
          <p:cNvPr id="99" name="Text 99"/>
          <p:cNvSpPr txBox="1"/>
          <p:nvPr/>
        </p:nvSpPr>
        <p:spPr>
          <a:xfrm>
            <a:off x="9555480" y="5184648"/>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4</a:t>
            </a:r>
            <a:endParaRPr lang="en-US" sz="1800" dirty="0"/>
          </a:p>
        </p:txBody>
      </p:sp>
      <p:sp>
        <p:nvSpPr>
          <p:cNvPr id="100" name="Shape 100"/>
          <p:cNvSpPr/>
          <p:nvPr/>
        </p:nvSpPr>
        <p:spPr>
          <a:xfrm>
            <a:off x="10012680" y="5285232"/>
            <a:ext cx="109728" cy="109728"/>
          </a:xfrm>
          <a:prstGeom prst="ellipse">
            <a:avLst/>
          </a:prstGeom>
          <a:solidFill>
            <a:srgbClr val="8A9A9D"/>
          </a:solidFill>
          <a:ln w="12700">
            <a:solidFill>
              <a:srgbClr val="8A9A9D"/>
            </a:solidFill>
            <a:prstDash val="solid"/>
          </a:ln>
        </p:spPr>
      </p:sp>
      <p:sp>
        <p:nvSpPr>
          <p:cNvPr id="101" name="Shape 101"/>
          <p:cNvSpPr/>
          <p:nvPr/>
        </p:nvSpPr>
        <p:spPr>
          <a:xfrm>
            <a:off x="10195560" y="5285232"/>
            <a:ext cx="109728" cy="109728"/>
          </a:xfrm>
          <a:prstGeom prst="ellipse">
            <a:avLst/>
          </a:prstGeom>
          <a:solidFill>
            <a:srgbClr val="8A9A9D"/>
          </a:solidFill>
          <a:ln w="12700">
            <a:solidFill>
              <a:srgbClr val="8A9A9D"/>
            </a:solidFill>
            <a:prstDash val="solid"/>
          </a:ln>
        </p:spPr>
      </p:sp>
      <p:sp>
        <p:nvSpPr>
          <p:cNvPr id="102" name="Shape 102"/>
          <p:cNvSpPr/>
          <p:nvPr/>
        </p:nvSpPr>
        <p:spPr>
          <a:xfrm>
            <a:off x="10378440" y="5285232"/>
            <a:ext cx="109728" cy="109728"/>
          </a:xfrm>
          <a:prstGeom prst="ellipse">
            <a:avLst/>
          </a:prstGeom>
          <a:solidFill>
            <a:srgbClr val="8A9A9D"/>
          </a:solidFill>
          <a:ln w="12700">
            <a:solidFill>
              <a:srgbClr val="8A9A9D"/>
            </a:solidFill>
            <a:prstDash val="solid"/>
          </a:ln>
        </p:spPr>
      </p:sp>
      <p:sp>
        <p:nvSpPr>
          <p:cNvPr id="103" name="Shape 103"/>
          <p:cNvSpPr/>
          <p:nvPr/>
        </p:nvSpPr>
        <p:spPr>
          <a:xfrm>
            <a:off x="10561320" y="5285232"/>
            <a:ext cx="109728" cy="109728"/>
          </a:xfrm>
          <a:prstGeom prst="ellipse">
            <a:avLst/>
          </a:prstGeom>
          <a:solidFill>
            <a:srgbClr val="8A9A9D"/>
          </a:solidFill>
          <a:ln w="12700">
            <a:solidFill>
              <a:srgbClr val="8A9A9D"/>
            </a:solidFill>
            <a:prstDash val="solid"/>
          </a:ln>
        </p:spPr>
      </p:sp>
      <p:sp>
        <p:nvSpPr>
          <p:cNvPr id="104" name="Shape 104"/>
          <p:cNvSpPr/>
          <p:nvPr/>
        </p:nvSpPr>
        <p:spPr>
          <a:xfrm>
            <a:off x="10744200" y="5285232"/>
            <a:ext cx="109728" cy="109728"/>
          </a:xfrm>
          <a:prstGeom prst="ellipse">
            <a:avLst/>
          </a:prstGeom>
          <a:solidFill>
            <a:srgbClr val="E3E0D7"/>
          </a:solidFill>
          <a:ln w="12700">
            <a:solidFill>
              <a:srgbClr val="E3E0D7"/>
            </a:solidFill>
            <a:prstDash val="solid"/>
          </a:ln>
        </p:spPr>
      </p:sp>
      <p:sp>
        <p:nvSpPr>
          <p:cNvPr id="105" name="Text 105"/>
          <p:cNvSpPr txBox="1"/>
          <p:nvPr/>
        </p:nvSpPr>
        <p:spPr>
          <a:xfrm>
            <a:off x="12115800" y="5184648"/>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4</a:t>
            </a:r>
            <a:endParaRPr lang="en-US" sz="1800" dirty="0"/>
          </a:p>
        </p:txBody>
      </p:sp>
      <p:sp>
        <p:nvSpPr>
          <p:cNvPr id="106" name="Shape 106"/>
          <p:cNvSpPr/>
          <p:nvPr/>
        </p:nvSpPr>
        <p:spPr>
          <a:xfrm>
            <a:off x="12573000" y="5285232"/>
            <a:ext cx="109728" cy="109728"/>
          </a:xfrm>
          <a:prstGeom prst="ellipse">
            <a:avLst/>
          </a:prstGeom>
          <a:solidFill>
            <a:srgbClr val="8A9A9D"/>
          </a:solidFill>
          <a:ln w="12700">
            <a:solidFill>
              <a:srgbClr val="8A9A9D"/>
            </a:solidFill>
            <a:prstDash val="solid"/>
          </a:ln>
        </p:spPr>
      </p:sp>
      <p:sp>
        <p:nvSpPr>
          <p:cNvPr id="107" name="Shape 107"/>
          <p:cNvSpPr/>
          <p:nvPr/>
        </p:nvSpPr>
        <p:spPr>
          <a:xfrm>
            <a:off x="12755880" y="5285232"/>
            <a:ext cx="109728" cy="109728"/>
          </a:xfrm>
          <a:prstGeom prst="ellipse">
            <a:avLst/>
          </a:prstGeom>
          <a:solidFill>
            <a:srgbClr val="8A9A9D"/>
          </a:solidFill>
          <a:ln w="12700">
            <a:solidFill>
              <a:srgbClr val="8A9A9D"/>
            </a:solidFill>
            <a:prstDash val="solid"/>
          </a:ln>
        </p:spPr>
      </p:sp>
      <p:sp>
        <p:nvSpPr>
          <p:cNvPr id="108" name="Shape 108"/>
          <p:cNvSpPr/>
          <p:nvPr/>
        </p:nvSpPr>
        <p:spPr>
          <a:xfrm>
            <a:off x="12938760" y="5285232"/>
            <a:ext cx="109728" cy="109728"/>
          </a:xfrm>
          <a:prstGeom prst="ellipse">
            <a:avLst/>
          </a:prstGeom>
          <a:solidFill>
            <a:srgbClr val="8A9A9D"/>
          </a:solidFill>
          <a:ln w="12700">
            <a:solidFill>
              <a:srgbClr val="8A9A9D"/>
            </a:solidFill>
            <a:prstDash val="solid"/>
          </a:ln>
        </p:spPr>
      </p:sp>
      <p:sp>
        <p:nvSpPr>
          <p:cNvPr id="109" name="Shape 109"/>
          <p:cNvSpPr/>
          <p:nvPr/>
        </p:nvSpPr>
        <p:spPr>
          <a:xfrm>
            <a:off x="13121640" y="5285232"/>
            <a:ext cx="109728" cy="109728"/>
          </a:xfrm>
          <a:prstGeom prst="ellipse">
            <a:avLst/>
          </a:prstGeom>
          <a:solidFill>
            <a:srgbClr val="8A9A9D"/>
          </a:solidFill>
          <a:ln w="12700">
            <a:solidFill>
              <a:srgbClr val="8A9A9D"/>
            </a:solidFill>
            <a:prstDash val="solid"/>
          </a:ln>
        </p:spPr>
      </p:sp>
      <p:sp>
        <p:nvSpPr>
          <p:cNvPr id="110" name="Shape 110"/>
          <p:cNvSpPr/>
          <p:nvPr/>
        </p:nvSpPr>
        <p:spPr>
          <a:xfrm>
            <a:off x="13304520" y="5285232"/>
            <a:ext cx="109728" cy="109728"/>
          </a:xfrm>
          <a:prstGeom prst="ellipse">
            <a:avLst/>
          </a:prstGeom>
          <a:solidFill>
            <a:srgbClr val="E3E0D7"/>
          </a:solidFill>
          <a:ln w="12700">
            <a:solidFill>
              <a:srgbClr val="E3E0D7"/>
            </a:solidFill>
            <a:prstDash val="solid"/>
          </a:ln>
        </p:spPr>
      </p:sp>
      <p:sp>
        <p:nvSpPr>
          <p:cNvPr id="111" name="Text 111"/>
          <p:cNvSpPr txBox="1"/>
          <p:nvPr/>
        </p:nvSpPr>
        <p:spPr>
          <a:xfrm>
            <a:off x="14676120" y="5175504"/>
            <a:ext cx="548640" cy="329184"/>
          </a:xfrm>
          <a:prstGeom prst="rect">
            <a:avLst/>
          </a:prstGeom>
          <a:noFill/>
          <a:ln/>
        </p:spPr>
        <p:txBody>
          <a:bodyPr wrap="square" lIns="0" tIns="0" rIns="0" bIns="0" rtlCol="0" anchor="t"/>
          <a:lstStyle/>
          <a:p>
            <a:pPr indent="0" marL="0">
              <a:buNone/>
            </a:pPr>
            <a:r>
              <a:rPr lang="en-US" sz="2000" dirty="0">
                <a:solidFill>
                  <a:srgbClr val="55676B"/>
                </a:solidFill>
                <a:latin typeface="Geist Medium" pitchFamily="34" charset="0"/>
                <a:ea typeface="Geist Medium" pitchFamily="34" charset="-122"/>
                <a:cs typeface="Geist Medium" pitchFamily="34" charset="-120"/>
              </a:rPr>
              <a:t>15</a:t>
            </a:r>
            <a:endParaRPr lang="en-US" sz="2000" dirty="0"/>
          </a:p>
        </p:txBody>
      </p:sp>
      <p:sp>
        <p:nvSpPr>
          <p:cNvPr id="112" name="Shape 112"/>
          <p:cNvSpPr/>
          <p:nvPr/>
        </p:nvSpPr>
        <p:spPr>
          <a:xfrm>
            <a:off x="15361920" y="5303520"/>
            <a:ext cx="1508760" cy="82296"/>
          </a:xfrm>
          <a:prstGeom prst="roundRect">
            <a:avLst>
              <a:gd name="adj" fmla="val 44444"/>
            </a:avLst>
          </a:prstGeom>
          <a:solidFill>
            <a:srgbClr val="E3E0D7"/>
          </a:solidFill>
          <a:ln w="12700">
            <a:solidFill>
              <a:srgbClr val="E3E0D7"/>
            </a:solidFill>
            <a:prstDash val="solid"/>
          </a:ln>
        </p:spPr>
      </p:sp>
      <p:sp>
        <p:nvSpPr>
          <p:cNvPr id="113" name="Shape 113"/>
          <p:cNvSpPr/>
          <p:nvPr/>
        </p:nvSpPr>
        <p:spPr>
          <a:xfrm>
            <a:off x="15361920" y="5303520"/>
            <a:ext cx="1131570" cy="82296"/>
          </a:xfrm>
          <a:prstGeom prst="roundRect">
            <a:avLst>
              <a:gd name="adj" fmla="val 44444"/>
            </a:avLst>
          </a:prstGeom>
          <a:solidFill>
            <a:srgbClr val="CFD6D3"/>
          </a:solidFill>
          <a:ln w="12700">
            <a:solidFill>
              <a:srgbClr val="CFD6D3"/>
            </a:solidFill>
            <a:prstDash val="solid"/>
          </a:ln>
        </p:spPr>
      </p:sp>
      <p:sp>
        <p:nvSpPr>
          <p:cNvPr id="114" name="Shape 114"/>
          <p:cNvSpPr/>
          <p:nvPr/>
        </p:nvSpPr>
        <p:spPr>
          <a:xfrm>
            <a:off x="1143000" y="5586984"/>
            <a:ext cx="16002000" cy="420624"/>
          </a:xfrm>
          <a:prstGeom prst="roundRect">
            <a:avLst>
              <a:gd name="adj" fmla="val 21739"/>
            </a:avLst>
          </a:prstGeom>
          <a:solidFill>
            <a:srgbClr val="FCFBF8"/>
          </a:solidFill>
          <a:ln w="9525">
            <a:solidFill>
              <a:srgbClr val="E3E0D7"/>
            </a:solidFill>
            <a:prstDash val="solid"/>
          </a:ln>
        </p:spPr>
      </p:sp>
      <p:sp>
        <p:nvSpPr>
          <p:cNvPr id="115" name="Shape 115"/>
          <p:cNvSpPr/>
          <p:nvPr/>
        </p:nvSpPr>
        <p:spPr>
          <a:xfrm>
            <a:off x="4297680" y="5586984"/>
            <a:ext cx="2331720" cy="420624"/>
          </a:xfrm>
          <a:prstGeom prst="rect">
            <a:avLst/>
          </a:prstGeom>
          <a:solidFill>
            <a:srgbClr val="E7EDEC"/>
          </a:solidFill>
          <a:ln w="12700">
            <a:solidFill>
              <a:srgbClr val="E7EDEC"/>
            </a:solidFill>
            <a:prstDash val="solid"/>
          </a:ln>
        </p:spPr>
      </p:sp>
      <p:sp>
        <p:nvSpPr>
          <p:cNvPr id="116" name="Text 116"/>
          <p:cNvSpPr txBox="1"/>
          <p:nvPr/>
        </p:nvSpPr>
        <p:spPr>
          <a:xfrm>
            <a:off x="1417320" y="5687568"/>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4.</a:t>
            </a:r>
            <a:endParaRPr lang="en-US" sz="1500" dirty="0"/>
          </a:p>
        </p:txBody>
      </p:sp>
      <p:sp>
        <p:nvSpPr>
          <p:cNvPr id="117" name="Text 117"/>
          <p:cNvSpPr txBox="1"/>
          <p:nvPr/>
        </p:nvSpPr>
        <p:spPr>
          <a:xfrm>
            <a:off x="1828800" y="5669280"/>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Belgium</a:t>
            </a:r>
            <a:endParaRPr lang="en-US" sz="1700" dirty="0"/>
          </a:p>
        </p:txBody>
      </p:sp>
      <p:sp>
        <p:nvSpPr>
          <p:cNvPr id="118" name="Text 118"/>
          <p:cNvSpPr txBox="1"/>
          <p:nvPr/>
        </p:nvSpPr>
        <p:spPr>
          <a:xfrm>
            <a:off x="4434840" y="566013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119" name="Shape 119"/>
          <p:cNvSpPr/>
          <p:nvPr/>
        </p:nvSpPr>
        <p:spPr>
          <a:xfrm>
            <a:off x="4892040" y="5760720"/>
            <a:ext cx="109728" cy="109728"/>
          </a:xfrm>
          <a:prstGeom prst="ellipse">
            <a:avLst/>
          </a:prstGeom>
          <a:solidFill>
            <a:srgbClr val="1C2B2F"/>
          </a:solidFill>
          <a:ln w="12700">
            <a:solidFill>
              <a:srgbClr val="1C2B2F"/>
            </a:solidFill>
            <a:prstDash val="solid"/>
          </a:ln>
        </p:spPr>
      </p:sp>
      <p:sp>
        <p:nvSpPr>
          <p:cNvPr id="120" name="Shape 120"/>
          <p:cNvSpPr/>
          <p:nvPr/>
        </p:nvSpPr>
        <p:spPr>
          <a:xfrm>
            <a:off x="5074920" y="5760720"/>
            <a:ext cx="109728" cy="109728"/>
          </a:xfrm>
          <a:prstGeom prst="ellipse">
            <a:avLst/>
          </a:prstGeom>
          <a:solidFill>
            <a:srgbClr val="1C2B2F"/>
          </a:solidFill>
          <a:ln w="12700">
            <a:solidFill>
              <a:srgbClr val="1C2B2F"/>
            </a:solidFill>
            <a:prstDash val="solid"/>
          </a:ln>
        </p:spPr>
      </p:sp>
      <p:sp>
        <p:nvSpPr>
          <p:cNvPr id="121" name="Shape 121"/>
          <p:cNvSpPr/>
          <p:nvPr/>
        </p:nvSpPr>
        <p:spPr>
          <a:xfrm>
            <a:off x="5257800" y="5760720"/>
            <a:ext cx="109728" cy="109728"/>
          </a:xfrm>
          <a:prstGeom prst="ellipse">
            <a:avLst/>
          </a:prstGeom>
          <a:solidFill>
            <a:srgbClr val="1C2B2F"/>
          </a:solidFill>
          <a:ln w="12700">
            <a:solidFill>
              <a:srgbClr val="1C2B2F"/>
            </a:solidFill>
            <a:prstDash val="solid"/>
          </a:ln>
        </p:spPr>
      </p:sp>
      <p:sp>
        <p:nvSpPr>
          <p:cNvPr id="122" name="Shape 122"/>
          <p:cNvSpPr/>
          <p:nvPr/>
        </p:nvSpPr>
        <p:spPr>
          <a:xfrm>
            <a:off x="5440680" y="5760720"/>
            <a:ext cx="109728" cy="109728"/>
          </a:xfrm>
          <a:prstGeom prst="ellipse">
            <a:avLst/>
          </a:prstGeom>
          <a:solidFill>
            <a:srgbClr val="1C2B2F"/>
          </a:solidFill>
          <a:ln w="12700">
            <a:solidFill>
              <a:srgbClr val="1C2B2F"/>
            </a:solidFill>
            <a:prstDash val="solid"/>
          </a:ln>
        </p:spPr>
      </p:sp>
      <p:sp>
        <p:nvSpPr>
          <p:cNvPr id="123" name="Shape 123"/>
          <p:cNvSpPr/>
          <p:nvPr/>
        </p:nvSpPr>
        <p:spPr>
          <a:xfrm>
            <a:off x="5623560" y="5760720"/>
            <a:ext cx="109728" cy="109728"/>
          </a:xfrm>
          <a:prstGeom prst="ellipse">
            <a:avLst/>
          </a:prstGeom>
          <a:solidFill>
            <a:srgbClr val="1C2B2F"/>
          </a:solidFill>
          <a:ln w="12700">
            <a:solidFill>
              <a:srgbClr val="1C2B2F"/>
            </a:solidFill>
            <a:prstDash val="solid"/>
          </a:ln>
        </p:spPr>
      </p:sp>
      <p:sp>
        <p:nvSpPr>
          <p:cNvPr id="124" name="Text 124"/>
          <p:cNvSpPr txBox="1"/>
          <p:nvPr/>
        </p:nvSpPr>
        <p:spPr>
          <a:xfrm>
            <a:off x="6995160" y="566013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125" name="Shape 125"/>
          <p:cNvSpPr/>
          <p:nvPr/>
        </p:nvSpPr>
        <p:spPr>
          <a:xfrm>
            <a:off x="7452360" y="5760720"/>
            <a:ext cx="109728" cy="109728"/>
          </a:xfrm>
          <a:prstGeom prst="ellipse">
            <a:avLst/>
          </a:prstGeom>
          <a:solidFill>
            <a:srgbClr val="1C2B2F"/>
          </a:solidFill>
          <a:ln w="12700">
            <a:solidFill>
              <a:srgbClr val="1C2B2F"/>
            </a:solidFill>
            <a:prstDash val="solid"/>
          </a:ln>
        </p:spPr>
      </p:sp>
      <p:sp>
        <p:nvSpPr>
          <p:cNvPr id="126" name="Shape 126"/>
          <p:cNvSpPr/>
          <p:nvPr/>
        </p:nvSpPr>
        <p:spPr>
          <a:xfrm>
            <a:off x="7635240" y="5760720"/>
            <a:ext cx="109728" cy="109728"/>
          </a:xfrm>
          <a:prstGeom prst="ellipse">
            <a:avLst/>
          </a:prstGeom>
          <a:solidFill>
            <a:srgbClr val="1C2B2F"/>
          </a:solidFill>
          <a:ln w="12700">
            <a:solidFill>
              <a:srgbClr val="1C2B2F"/>
            </a:solidFill>
            <a:prstDash val="solid"/>
          </a:ln>
        </p:spPr>
      </p:sp>
      <p:sp>
        <p:nvSpPr>
          <p:cNvPr id="127" name="Shape 127"/>
          <p:cNvSpPr/>
          <p:nvPr/>
        </p:nvSpPr>
        <p:spPr>
          <a:xfrm>
            <a:off x="7818120" y="5760720"/>
            <a:ext cx="109728" cy="109728"/>
          </a:xfrm>
          <a:prstGeom prst="ellipse">
            <a:avLst/>
          </a:prstGeom>
          <a:solidFill>
            <a:srgbClr val="1C2B2F"/>
          </a:solidFill>
          <a:ln w="12700">
            <a:solidFill>
              <a:srgbClr val="1C2B2F"/>
            </a:solidFill>
            <a:prstDash val="solid"/>
          </a:ln>
        </p:spPr>
      </p:sp>
      <p:sp>
        <p:nvSpPr>
          <p:cNvPr id="128" name="Shape 128"/>
          <p:cNvSpPr/>
          <p:nvPr/>
        </p:nvSpPr>
        <p:spPr>
          <a:xfrm>
            <a:off x="8001000" y="5760720"/>
            <a:ext cx="109728" cy="109728"/>
          </a:xfrm>
          <a:prstGeom prst="ellipse">
            <a:avLst/>
          </a:prstGeom>
          <a:solidFill>
            <a:srgbClr val="E3E0D7"/>
          </a:solidFill>
          <a:ln w="12700">
            <a:solidFill>
              <a:srgbClr val="E3E0D7"/>
            </a:solidFill>
            <a:prstDash val="solid"/>
          </a:ln>
        </p:spPr>
      </p:sp>
      <p:sp>
        <p:nvSpPr>
          <p:cNvPr id="129" name="Shape 129"/>
          <p:cNvSpPr/>
          <p:nvPr/>
        </p:nvSpPr>
        <p:spPr>
          <a:xfrm>
            <a:off x="8183880" y="5760720"/>
            <a:ext cx="109728" cy="109728"/>
          </a:xfrm>
          <a:prstGeom prst="ellipse">
            <a:avLst/>
          </a:prstGeom>
          <a:solidFill>
            <a:srgbClr val="E3E0D7"/>
          </a:solidFill>
          <a:ln w="12700">
            <a:solidFill>
              <a:srgbClr val="E3E0D7"/>
            </a:solidFill>
            <a:prstDash val="solid"/>
          </a:ln>
        </p:spPr>
      </p:sp>
      <p:sp>
        <p:nvSpPr>
          <p:cNvPr id="130" name="Text 130"/>
          <p:cNvSpPr txBox="1"/>
          <p:nvPr/>
        </p:nvSpPr>
        <p:spPr>
          <a:xfrm>
            <a:off x="9555480" y="566013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131" name="Shape 131"/>
          <p:cNvSpPr/>
          <p:nvPr/>
        </p:nvSpPr>
        <p:spPr>
          <a:xfrm>
            <a:off x="10012680" y="5760720"/>
            <a:ext cx="109728" cy="109728"/>
          </a:xfrm>
          <a:prstGeom prst="ellipse">
            <a:avLst/>
          </a:prstGeom>
          <a:solidFill>
            <a:srgbClr val="1C2B2F"/>
          </a:solidFill>
          <a:ln w="12700">
            <a:solidFill>
              <a:srgbClr val="1C2B2F"/>
            </a:solidFill>
            <a:prstDash val="solid"/>
          </a:ln>
        </p:spPr>
      </p:sp>
      <p:sp>
        <p:nvSpPr>
          <p:cNvPr id="132" name="Shape 132"/>
          <p:cNvSpPr/>
          <p:nvPr/>
        </p:nvSpPr>
        <p:spPr>
          <a:xfrm>
            <a:off x="10195560" y="5760720"/>
            <a:ext cx="109728" cy="109728"/>
          </a:xfrm>
          <a:prstGeom prst="ellipse">
            <a:avLst/>
          </a:prstGeom>
          <a:solidFill>
            <a:srgbClr val="1C2B2F"/>
          </a:solidFill>
          <a:ln w="12700">
            <a:solidFill>
              <a:srgbClr val="1C2B2F"/>
            </a:solidFill>
            <a:prstDash val="solid"/>
          </a:ln>
        </p:spPr>
      </p:sp>
      <p:sp>
        <p:nvSpPr>
          <p:cNvPr id="133" name="Shape 133"/>
          <p:cNvSpPr/>
          <p:nvPr/>
        </p:nvSpPr>
        <p:spPr>
          <a:xfrm>
            <a:off x="10378440" y="5760720"/>
            <a:ext cx="109728" cy="109728"/>
          </a:xfrm>
          <a:prstGeom prst="ellipse">
            <a:avLst/>
          </a:prstGeom>
          <a:solidFill>
            <a:srgbClr val="1C2B2F"/>
          </a:solidFill>
          <a:ln w="12700">
            <a:solidFill>
              <a:srgbClr val="1C2B2F"/>
            </a:solidFill>
            <a:prstDash val="solid"/>
          </a:ln>
        </p:spPr>
      </p:sp>
      <p:sp>
        <p:nvSpPr>
          <p:cNvPr id="134" name="Shape 134"/>
          <p:cNvSpPr/>
          <p:nvPr/>
        </p:nvSpPr>
        <p:spPr>
          <a:xfrm>
            <a:off x="10561320" y="5760720"/>
            <a:ext cx="109728" cy="109728"/>
          </a:xfrm>
          <a:prstGeom prst="ellipse">
            <a:avLst/>
          </a:prstGeom>
          <a:solidFill>
            <a:srgbClr val="E3E0D7"/>
          </a:solidFill>
          <a:ln w="12700">
            <a:solidFill>
              <a:srgbClr val="E3E0D7"/>
            </a:solidFill>
            <a:prstDash val="solid"/>
          </a:ln>
        </p:spPr>
      </p:sp>
      <p:sp>
        <p:nvSpPr>
          <p:cNvPr id="135" name="Shape 135"/>
          <p:cNvSpPr/>
          <p:nvPr/>
        </p:nvSpPr>
        <p:spPr>
          <a:xfrm>
            <a:off x="10744200" y="5760720"/>
            <a:ext cx="109728" cy="109728"/>
          </a:xfrm>
          <a:prstGeom prst="ellipse">
            <a:avLst/>
          </a:prstGeom>
          <a:solidFill>
            <a:srgbClr val="E3E0D7"/>
          </a:solidFill>
          <a:ln w="12700">
            <a:solidFill>
              <a:srgbClr val="E3E0D7"/>
            </a:solidFill>
            <a:prstDash val="solid"/>
          </a:ln>
        </p:spPr>
      </p:sp>
      <p:sp>
        <p:nvSpPr>
          <p:cNvPr id="136" name="Text 136"/>
          <p:cNvSpPr txBox="1"/>
          <p:nvPr/>
        </p:nvSpPr>
        <p:spPr>
          <a:xfrm>
            <a:off x="12115800" y="566013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137" name="Shape 137"/>
          <p:cNvSpPr/>
          <p:nvPr/>
        </p:nvSpPr>
        <p:spPr>
          <a:xfrm>
            <a:off x="12573000" y="5760720"/>
            <a:ext cx="109728" cy="109728"/>
          </a:xfrm>
          <a:prstGeom prst="ellipse">
            <a:avLst/>
          </a:prstGeom>
          <a:solidFill>
            <a:srgbClr val="1C2B2F"/>
          </a:solidFill>
          <a:ln w="12700">
            <a:solidFill>
              <a:srgbClr val="1C2B2F"/>
            </a:solidFill>
            <a:prstDash val="solid"/>
          </a:ln>
        </p:spPr>
      </p:sp>
      <p:sp>
        <p:nvSpPr>
          <p:cNvPr id="138" name="Shape 138"/>
          <p:cNvSpPr/>
          <p:nvPr/>
        </p:nvSpPr>
        <p:spPr>
          <a:xfrm>
            <a:off x="12755880" y="5760720"/>
            <a:ext cx="109728" cy="109728"/>
          </a:xfrm>
          <a:prstGeom prst="ellipse">
            <a:avLst/>
          </a:prstGeom>
          <a:solidFill>
            <a:srgbClr val="1C2B2F"/>
          </a:solidFill>
          <a:ln w="12700">
            <a:solidFill>
              <a:srgbClr val="1C2B2F"/>
            </a:solidFill>
            <a:prstDash val="solid"/>
          </a:ln>
        </p:spPr>
      </p:sp>
      <p:sp>
        <p:nvSpPr>
          <p:cNvPr id="139" name="Shape 139"/>
          <p:cNvSpPr/>
          <p:nvPr/>
        </p:nvSpPr>
        <p:spPr>
          <a:xfrm>
            <a:off x="12938760" y="5760720"/>
            <a:ext cx="109728" cy="109728"/>
          </a:xfrm>
          <a:prstGeom prst="ellipse">
            <a:avLst/>
          </a:prstGeom>
          <a:solidFill>
            <a:srgbClr val="1C2B2F"/>
          </a:solidFill>
          <a:ln w="12700">
            <a:solidFill>
              <a:srgbClr val="1C2B2F"/>
            </a:solidFill>
            <a:prstDash val="solid"/>
          </a:ln>
        </p:spPr>
      </p:sp>
      <p:sp>
        <p:nvSpPr>
          <p:cNvPr id="140" name="Shape 140"/>
          <p:cNvSpPr/>
          <p:nvPr/>
        </p:nvSpPr>
        <p:spPr>
          <a:xfrm>
            <a:off x="13121640" y="5760720"/>
            <a:ext cx="109728" cy="109728"/>
          </a:xfrm>
          <a:prstGeom prst="ellipse">
            <a:avLst/>
          </a:prstGeom>
          <a:solidFill>
            <a:srgbClr val="E3E0D7"/>
          </a:solidFill>
          <a:ln w="12700">
            <a:solidFill>
              <a:srgbClr val="E3E0D7"/>
            </a:solidFill>
            <a:prstDash val="solid"/>
          </a:ln>
        </p:spPr>
      </p:sp>
      <p:sp>
        <p:nvSpPr>
          <p:cNvPr id="141" name="Shape 141"/>
          <p:cNvSpPr/>
          <p:nvPr/>
        </p:nvSpPr>
        <p:spPr>
          <a:xfrm>
            <a:off x="13304520" y="5760720"/>
            <a:ext cx="109728" cy="109728"/>
          </a:xfrm>
          <a:prstGeom prst="ellipse">
            <a:avLst/>
          </a:prstGeom>
          <a:solidFill>
            <a:srgbClr val="E3E0D7"/>
          </a:solidFill>
          <a:ln w="12700">
            <a:solidFill>
              <a:srgbClr val="E3E0D7"/>
            </a:solidFill>
            <a:prstDash val="solid"/>
          </a:ln>
        </p:spPr>
      </p:sp>
      <p:sp>
        <p:nvSpPr>
          <p:cNvPr id="142" name="Text 142"/>
          <p:cNvSpPr txBox="1"/>
          <p:nvPr/>
        </p:nvSpPr>
        <p:spPr>
          <a:xfrm>
            <a:off x="14676120" y="5650992"/>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14</a:t>
            </a:r>
            <a:endParaRPr lang="en-US" sz="2000" dirty="0"/>
          </a:p>
        </p:txBody>
      </p:sp>
      <p:sp>
        <p:nvSpPr>
          <p:cNvPr id="143" name="Shape 143"/>
          <p:cNvSpPr/>
          <p:nvPr/>
        </p:nvSpPr>
        <p:spPr>
          <a:xfrm>
            <a:off x="15361920" y="5779008"/>
            <a:ext cx="1508760" cy="82296"/>
          </a:xfrm>
          <a:prstGeom prst="roundRect">
            <a:avLst>
              <a:gd name="adj" fmla="val 44444"/>
            </a:avLst>
          </a:prstGeom>
          <a:solidFill>
            <a:srgbClr val="E3E0D7"/>
          </a:solidFill>
          <a:ln w="12700">
            <a:solidFill>
              <a:srgbClr val="E3E0D7"/>
            </a:solidFill>
            <a:prstDash val="solid"/>
          </a:ln>
        </p:spPr>
      </p:sp>
      <p:sp>
        <p:nvSpPr>
          <p:cNvPr id="144" name="Shape 144"/>
          <p:cNvSpPr/>
          <p:nvPr/>
        </p:nvSpPr>
        <p:spPr>
          <a:xfrm>
            <a:off x="15361920" y="5779008"/>
            <a:ext cx="1056132" cy="82296"/>
          </a:xfrm>
          <a:prstGeom prst="roundRect">
            <a:avLst>
              <a:gd name="adj" fmla="val 44444"/>
            </a:avLst>
          </a:prstGeom>
          <a:solidFill>
            <a:srgbClr val="3E6670"/>
          </a:solidFill>
          <a:ln w="12700">
            <a:solidFill>
              <a:srgbClr val="3E6670"/>
            </a:solidFill>
            <a:prstDash val="solid"/>
          </a:ln>
        </p:spPr>
      </p:sp>
      <p:sp>
        <p:nvSpPr>
          <p:cNvPr id="145" name="Shape 145"/>
          <p:cNvSpPr/>
          <p:nvPr/>
        </p:nvSpPr>
        <p:spPr>
          <a:xfrm>
            <a:off x="1143000" y="6062472"/>
            <a:ext cx="16002000" cy="420624"/>
          </a:xfrm>
          <a:prstGeom prst="roundRect">
            <a:avLst>
              <a:gd name="adj" fmla="val 21739"/>
            </a:avLst>
          </a:prstGeom>
          <a:solidFill>
            <a:srgbClr val="FCFBF8"/>
          </a:solidFill>
          <a:ln w="9525">
            <a:solidFill>
              <a:srgbClr val="E3E0D7"/>
            </a:solidFill>
            <a:prstDash val="solid"/>
          </a:ln>
        </p:spPr>
      </p:sp>
      <p:sp>
        <p:nvSpPr>
          <p:cNvPr id="146" name="Shape 146"/>
          <p:cNvSpPr/>
          <p:nvPr/>
        </p:nvSpPr>
        <p:spPr>
          <a:xfrm>
            <a:off x="4297680" y="6062472"/>
            <a:ext cx="2331720" cy="420624"/>
          </a:xfrm>
          <a:prstGeom prst="rect">
            <a:avLst/>
          </a:prstGeom>
          <a:solidFill>
            <a:srgbClr val="E7EDEC"/>
          </a:solidFill>
          <a:ln w="12700">
            <a:solidFill>
              <a:srgbClr val="E7EDEC"/>
            </a:solidFill>
            <a:prstDash val="solid"/>
          </a:ln>
        </p:spPr>
      </p:sp>
      <p:sp>
        <p:nvSpPr>
          <p:cNvPr id="147" name="Text 147"/>
          <p:cNvSpPr txBox="1"/>
          <p:nvPr/>
        </p:nvSpPr>
        <p:spPr>
          <a:xfrm>
            <a:off x="1417320" y="6163056"/>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5.</a:t>
            </a:r>
            <a:endParaRPr lang="en-US" sz="1500" dirty="0"/>
          </a:p>
        </p:txBody>
      </p:sp>
      <p:sp>
        <p:nvSpPr>
          <p:cNvPr id="148" name="Text 148"/>
          <p:cNvSpPr txBox="1"/>
          <p:nvPr/>
        </p:nvSpPr>
        <p:spPr>
          <a:xfrm>
            <a:off x="1828800" y="6144768"/>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Italy</a:t>
            </a:r>
            <a:endParaRPr lang="en-US" sz="1700" dirty="0"/>
          </a:p>
        </p:txBody>
      </p:sp>
      <p:sp>
        <p:nvSpPr>
          <p:cNvPr id="149" name="Text 149"/>
          <p:cNvSpPr txBox="1"/>
          <p:nvPr/>
        </p:nvSpPr>
        <p:spPr>
          <a:xfrm>
            <a:off x="4434840" y="613562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150" name="Shape 150"/>
          <p:cNvSpPr/>
          <p:nvPr/>
        </p:nvSpPr>
        <p:spPr>
          <a:xfrm>
            <a:off x="4892040" y="6236208"/>
            <a:ext cx="109728" cy="109728"/>
          </a:xfrm>
          <a:prstGeom prst="ellipse">
            <a:avLst/>
          </a:prstGeom>
          <a:solidFill>
            <a:srgbClr val="1C2B2F"/>
          </a:solidFill>
          <a:ln w="12700">
            <a:solidFill>
              <a:srgbClr val="1C2B2F"/>
            </a:solidFill>
            <a:prstDash val="solid"/>
          </a:ln>
        </p:spPr>
      </p:sp>
      <p:sp>
        <p:nvSpPr>
          <p:cNvPr id="151" name="Shape 151"/>
          <p:cNvSpPr/>
          <p:nvPr/>
        </p:nvSpPr>
        <p:spPr>
          <a:xfrm>
            <a:off x="5074920" y="6236208"/>
            <a:ext cx="109728" cy="109728"/>
          </a:xfrm>
          <a:prstGeom prst="ellipse">
            <a:avLst/>
          </a:prstGeom>
          <a:solidFill>
            <a:srgbClr val="1C2B2F"/>
          </a:solidFill>
          <a:ln w="12700">
            <a:solidFill>
              <a:srgbClr val="1C2B2F"/>
            </a:solidFill>
            <a:prstDash val="solid"/>
          </a:ln>
        </p:spPr>
      </p:sp>
      <p:sp>
        <p:nvSpPr>
          <p:cNvPr id="152" name="Shape 152"/>
          <p:cNvSpPr/>
          <p:nvPr/>
        </p:nvSpPr>
        <p:spPr>
          <a:xfrm>
            <a:off x="5257800" y="6236208"/>
            <a:ext cx="109728" cy="109728"/>
          </a:xfrm>
          <a:prstGeom prst="ellipse">
            <a:avLst/>
          </a:prstGeom>
          <a:solidFill>
            <a:srgbClr val="1C2B2F"/>
          </a:solidFill>
          <a:ln w="12700">
            <a:solidFill>
              <a:srgbClr val="1C2B2F"/>
            </a:solidFill>
            <a:prstDash val="solid"/>
          </a:ln>
        </p:spPr>
      </p:sp>
      <p:sp>
        <p:nvSpPr>
          <p:cNvPr id="153" name="Shape 153"/>
          <p:cNvSpPr/>
          <p:nvPr/>
        </p:nvSpPr>
        <p:spPr>
          <a:xfrm>
            <a:off x="5440680" y="6236208"/>
            <a:ext cx="109728" cy="109728"/>
          </a:xfrm>
          <a:prstGeom prst="ellipse">
            <a:avLst/>
          </a:prstGeom>
          <a:solidFill>
            <a:srgbClr val="E3E0D7"/>
          </a:solidFill>
          <a:ln w="12700">
            <a:solidFill>
              <a:srgbClr val="E3E0D7"/>
            </a:solidFill>
            <a:prstDash val="solid"/>
          </a:ln>
        </p:spPr>
      </p:sp>
      <p:sp>
        <p:nvSpPr>
          <p:cNvPr id="154" name="Shape 154"/>
          <p:cNvSpPr/>
          <p:nvPr/>
        </p:nvSpPr>
        <p:spPr>
          <a:xfrm>
            <a:off x="5623560" y="6236208"/>
            <a:ext cx="109728" cy="109728"/>
          </a:xfrm>
          <a:prstGeom prst="ellipse">
            <a:avLst/>
          </a:prstGeom>
          <a:solidFill>
            <a:srgbClr val="E3E0D7"/>
          </a:solidFill>
          <a:ln w="12700">
            <a:solidFill>
              <a:srgbClr val="E3E0D7"/>
            </a:solidFill>
            <a:prstDash val="solid"/>
          </a:ln>
        </p:spPr>
      </p:sp>
      <p:sp>
        <p:nvSpPr>
          <p:cNvPr id="155" name="Text 155"/>
          <p:cNvSpPr txBox="1"/>
          <p:nvPr/>
        </p:nvSpPr>
        <p:spPr>
          <a:xfrm>
            <a:off x="6995160" y="613562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156" name="Shape 156"/>
          <p:cNvSpPr/>
          <p:nvPr/>
        </p:nvSpPr>
        <p:spPr>
          <a:xfrm>
            <a:off x="7452360" y="6236208"/>
            <a:ext cx="109728" cy="109728"/>
          </a:xfrm>
          <a:prstGeom prst="ellipse">
            <a:avLst/>
          </a:prstGeom>
          <a:solidFill>
            <a:srgbClr val="1C2B2F"/>
          </a:solidFill>
          <a:ln w="12700">
            <a:solidFill>
              <a:srgbClr val="1C2B2F"/>
            </a:solidFill>
            <a:prstDash val="solid"/>
          </a:ln>
        </p:spPr>
      </p:sp>
      <p:sp>
        <p:nvSpPr>
          <p:cNvPr id="157" name="Shape 157"/>
          <p:cNvSpPr/>
          <p:nvPr/>
        </p:nvSpPr>
        <p:spPr>
          <a:xfrm>
            <a:off x="7635240" y="6236208"/>
            <a:ext cx="109728" cy="109728"/>
          </a:xfrm>
          <a:prstGeom prst="ellipse">
            <a:avLst/>
          </a:prstGeom>
          <a:solidFill>
            <a:srgbClr val="1C2B2F"/>
          </a:solidFill>
          <a:ln w="12700">
            <a:solidFill>
              <a:srgbClr val="1C2B2F"/>
            </a:solidFill>
            <a:prstDash val="solid"/>
          </a:ln>
        </p:spPr>
      </p:sp>
      <p:sp>
        <p:nvSpPr>
          <p:cNvPr id="158" name="Shape 158"/>
          <p:cNvSpPr/>
          <p:nvPr/>
        </p:nvSpPr>
        <p:spPr>
          <a:xfrm>
            <a:off x="7818120" y="6236208"/>
            <a:ext cx="109728" cy="109728"/>
          </a:xfrm>
          <a:prstGeom prst="ellipse">
            <a:avLst/>
          </a:prstGeom>
          <a:solidFill>
            <a:srgbClr val="1C2B2F"/>
          </a:solidFill>
          <a:ln w="12700">
            <a:solidFill>
              <a:srgbClr val="1C2B2F"/>
            </a:solidFill>
            <a:prstDash val="solid"/>
          </a:ln>
        </p:spPr>
      </p:sp>
      <p:sp>
        <p:nvSpPr>
          <p:cNvPr id="159" name="Shape 159"/>
          <p:cNvSpPr/>
          <p:nvPr/>
        </p:nvSpPr>
        <p:spPr>
          <a:xfrm>
            <a:off x="8001000" y="6236208"/>
            <a:ext cx="109728" cy="109728"/>
          </a:xfrm>
          <a:prstGeom prst="ellipse">
            <a:avLst/>
          </a:prstGeom>
          <a:solidFill>
            <a:srgbClr val="1C2B2F"/>
          </a:solidFill>
          <a:ln w="12700">
            <a:solidFill>
              <a:srgbClr val="1C2B2F"/>
            </a:solidFill>
            <a:prstDash val="solid"/>
          </a:ln>
        </p:spPr>
      </p:sp>
      <p:sp>
        <p:nvSpPr>
          <p:cNvPr id="160" name="Shape 160"/>
          <p:cNvSpPr/>
          <p:nvPr/>
        </p:nvSpPr>
        <p:spPr>
          <a:xfrm>
            <a:off x="8183880" y="6236208"/>
            <a:ext cx="109728" cy="109728"/>
          </a:xfrm>
          <a:prstGeom prst="ellipse">
            <a:avLst/>
          </a:prstGeom>
          <a:solidFill>
            <a:srgbClr val="1C2B2F"/>
          </a:solidFill>
          <a:ln w="12700">
            <a:solidFill>
              <a:srgbClr val="1C2B2F"/>
            </a:solidFill>
            <a:prstDash val="solid"/>
          </a:ln>
        </p:spPr>
      </p:sp>
      <p:sp>
        <p:nvSpPr>
          <p:cNvPr id="161" name="Text 161"/>
          <p:cNvSpPr txBox="1"/>
          <p:nvPr/>
        </p:nvSpPr>
        <p:spPr>
          <a:xfrm>
            <a:off x="9555480" y="613562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2</a:t>
            </a:r>
            <a:endParaRPr lang="en-US" sz="1800" dirty="0"/>
          </a:p>
        </p:txBody>
      </p:sp>
      <p:sp>
        <p:nvSpPr>
          <p:cNvPr id="162" name="Shape 162"/>
          <p:cNvSpPr/>
          <p:nvPr/>
        </p:nvSpPr>
        <p:spPr>
          <a:xfrm>
            <a:off x="10012680" y="6236208"/>
            <a:ext cx="109728" cy="109728"/>
          </a:xfrm>
          <a:prstGeom prst="ellipse">
            <a:avLst/>
          </a:prstGeom>
          <a:solidFill>
            <a:srgbClr val="1C2B2F"/>
          </a:solidFill>
          <a:ln w="12700">
            <a:solidFill>
              <a:srgbClr val="1C2B2F"/>
            </a:solidFill>
            <a:prstDash val="solid"/>
          </a:ln>
        </p:spPr>
      </p:sp>
      <p:sp>
        <p:nvSpPr>
          <p:cNvPr id="163" name="Shape 163"/>
          <p:cNvSpPr/>
          <p:nvPr/>
        </p:nvSpPr>
        <p:spPr>
          <a:xfrm>
            <a:off x="10195560" y="6236208"/>
            <a:ext cx="109728" cy="109728"/>
          </a:xfrm>
          <a:prstGeom prst="ellipse">
            <a:avLst/>
          </a:prstGeom>
          <a:solidFill>
            <a:srgbClr val="1C2B2F"/>
          </a:solidFill>
          <a:ln w="12700">
            <a:solidFill>
              <a:srgbClr val="1C2B2F"/>
            </a:solidFill>
            <a:prstDash val="solid"/>
          </a:ln>
        </p:spPr>
      </p:sp>
      <p:sp>
        <p:nvSpPr>
          <p:cNvPr id="164" name="Shape 164"/>
          <p:cNvSpPr/>
          <p:nvPr/>
        </p:nvSpPr>
        <p:spPr>
          <a:xfrm>
            <a:off x="10378440" y="6236208"/>
            <a:ext cx="109728" cy="109728"/>
          </a:xfrm>
          <a:prstGeom prst="ellipse">
            <a:avLst/>
          </a:prstGeom>
          <a:solidFill>
            <a:srgbClr val="E3E0D7"/>
          </a:solidFill>
          <a:ln w="12700">
            <a:solidFill>
              <a:srgbClr val="E3E0D7"/>
            </a:solidFill>
            <a:prstDash val="solid"/>
          </a:ln>
        </p:spPr>
      </p:sp>
      <p:sp>
        <p:nvSpPr>
          <p:cNvPr id="165" name="Shape 165"/>
          <p:cNvSpPr/>
          <p:nvPr/>
        </p:nvSpPr>
        <p:spPr>
          <a:xfrm>
            <a:off x="10561320" y="6236208"/>
            <a:ext cx="109728" cy="109728"/>
          </a:xfrm>
          <a:prstGeom prst="ellipse">
            <a:avLst/>
          </a:prstGeom>
          <a:solidFill>
            <a:srgbClr val="E3E0D7"/>
          </a:solidFill>
          <a:ln w="12700">
            <a:solidFill>
              <a:srgbClr val="E3E0D7"/>
            </a:solidFill>
            <a:prstDash val="solid"/>
          </a:ln>
        </p:spPr>
      </p:sp>
      <p:sp>
        <p:nvSpPr>
          <p:cNvPr id="166" name="Shape 166"/>
          <p:cNvSpPr/>
          <p:nvPr/>
        </p:nvSpPr>
        <p:spPr>
          <a:xfrm>
            <a:off x="10744200" y="6236208"/>
            <a:ext cx="109728" cy="109728"/>
          </a:xfrm>
          <a:prstGeom prst="ellipse">
            <a:avLst/>
          </a:prstGeom>
          <a:solidFill>
            <a:srgbClr val="E3E0D7"/>
          </a:solidFill>
          <a:ln w="12700">
            <a:solidFill>
              <a:srgbClr val="E3E0D7"/>
            </a:solidFill>
            <a:prstDash val="solid"/>
          </a:ln>
        </p:spPr>
      </p:sp>
      <p:sp>
        <p:nvSpPr>
          <p:cNvPr id="167" name="Text 167"/>
          <p:cNvSpPr txBox="1"/>
          <p:nvPr/>
        </p:nvSpPr>
        <p:spPr>
          <a:xfrm>
            <a:off x="12115800" y="613562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4</a:t>
            </a:r>
            <a:endParaRPr lang="en-US" sz="1800" dirty="0"/>
          </a:p>
        </p:txBody>
      </p:sp>
      <p:sp>
        <p:nvSpPr>
          <p:cNvPr id="168" name="Shape 168"/>
          <p:cNvSpPr/>
          <p:nvPr/>
        </p:nvSpPr>
        <p:spPr>
          <a:xfrm>
            <a:off x="12573000" y="6236208"/>
            <a:ext cx="109728" cy="109728"/>
          </a:xfrm>
          <a:prstGeom prst="ellipse">
            <a:avLst/>
          </a:prstGeom>
          <a:solidFill>
            <a:srgbClr val="1C2B2F"/>
          </a:solidFill>
          <a:ln w="12700">
            <a:solidFill>
              <a:srgbClr val="1C2B2F"/>
            </a:solidFill>
            <a:prstDash val="solid"/>
          </a:ln>
        </p:spPr>
      </p:sp>
      <p:sp>
        <p:nvSpPr>
          <p:cNvPr id="169" name="Shape 169"/>
          <p:cNvSpPr/>
          <p:nvPr/>
        </p:nvSpPr>
        <p:spPr>
          <a:xfrm>
            <a:off x="12755880" y="6236208"/>
            <a:ext cx="109728" cy="109728"/>
          </a:xfrm>
          <a:prstGeom prst="ellipse">
            <a:avLst/>
          </a:prstGeom>
          <a:solidFill>
            <a:srgbClr val="1C2B2F"/>
          </a:solidFill>
          <a:ln w="12700">
            <a:solidFill>
              <a:srgbClr val="1C2B2F"/>
            </a:solidFill>
            <a:prstDash val="solid"/>
          </a:ln>
        </p:spPr>
      </p:sp>
      <p:sp>
        <p:nvSpPr>
          <p:cNvPr id="170" name="Shape 170"/>
          <p:cNvSpPr/>
          <p:nvPr/>
        </p:nvSpPr>
        <p:spPr>
          <a:xfrm>
            <a:off x="12938760" y="6236208"/>
            <a:ext cx="109728" cy="109728"/>
          </a:xfrm>
          <a:prstGeom prst="ellipse">
            <a:avLst/>
          </a:prstGeom>
          <a:solidFill>
            <a:srgbClr val="1C2B2F"/>
          </a:solidFill>
          <a:ln w="12700">
            <a:solidFill>
              <a:srgbClr val="1C2B2F"/>
            </a:solidFill>
            <a:prstDash val="solid"/>
          </a:ln>
        </p:spPr>
      </p:sp>
      <p:sp>
        <p:nvSpPr>
          <p:cNvPr id="171" name="Shape 171"/>
          <p:cNvSpPr/>
          <p:nvPr/>
        </p:nvSpPr>
        <p:spPr>
          <a:xfrm>
            <a:off x="13121640" y="6236208"/>
            <a:ext cx="109728" cy="109728"/>
          </a:xfrm>
          <a:prstGeom prst="ellipse">
            <a:avLst/>
          </a:prstGeom>
          <a:solidFill>
            <a:srgbClr val="1C2B2F"/>
          </a:solidFill>
          <a:ln w="12700">
            <a:solidFill>
              <a:srgbClr val="1C2B2F"/>
            </a:solidFill>
            <a:prstDash val="solid"/>
          </a:ln>
        </p:spPr>
      </p:sp>
      <p:sp>
        <p:nvSpPr>
          <p:cNvPr id="172" name="Shape 172"/>
          <p:cNvSpPr/>
          <p:nvPr/>
        </p:nvSpPr>
        <p:spPr>
          <a:xfrm>
            <a:off x="13304520" y="6236208"/>
            <a:ext cx="109728" cy="109728"/>
          </a:xfrm>
          <a:prstGeom prst="ellipse">
            <a:avLst/>
          </a:prstGeom>
          <a:solidFill>
            <a:srgbClr val="E3E0D7"/>
          </a:solidFill>
          <a:ln w="12700">
            <a:solidFill>
              <a:srgbClr val="E3E0D7"/>
            </a:solidFill>
            <a:prstDash val="solid"/>
          </a:ln>
        </p:spPr>
      </p:sp>
      <p:sp>
        <p:nvSpPr>
          <p:cNvPr id="173" name="Text 173"/>
          <p:cNvSpPr txBox="1"/>
          <p:nvPr/>
        </p:nvSpPr>
        <p:spPr>
          <a:xfrm>
            <a:off x="14676120" y="6126480"/>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14</a:t>
            </a:r>
            <a:endParaRPr lang="en-US" sz="2000" dirty="0"/>
          </a:p>
        </p:txBody>
      </p:sp>
      <p:sp>
        <p:nvSpPr>
          <p:cNvPr id="174" name="Shape 174"/>
          <p:cNvSpPr/>
          <p:nvPr/>
        </p:nvSpPr>
        <p:spPr>
          <a:xfrm>
            <a:off x="15361920" y="6254496"/>
            <a:ext cx="1508760" cy="82296"/>
          </a:xfrm>
          <a:prstGeom prst="roundRect">
            <a:avLst>
              <a:gd name="adj" fmla="val 44444"/>
            </a:avLst>
          </a:prstGeom>
          <a:solidFill>
            <a:srgbClr val="E3E0D7"/>
          </a:solidFill>
          <a:ln w="12700">
            <a:solidFill>
              <a:srgbClr val="E3E0D7"/>
            </a:solidFill>
            <a:prstDash val="solid"/>
          </a:ln>
        </p:spPr>
      </p:sp>
      <p:sp>
        <p:nvSpPr>
          <p:cNvPr id="175" name="Shape 175"/>
          <p:cNvSpPr/>
          <p:nvPr/>
        </p:nvSpPr>
        <p:spPr>
          <a:xfrm>
            <a:off x="15361920" y="6254496"/>
            <a:ext cx="1056132" cy="82296"/>
          </a:xfrm>
          <a:prstGeom prst="roundRect">
            <a:avLst>
              <a:gd name="adj" fmla="val 44444"/>
            </a:avLst>
          </a:prstGeom>
          <a:solidFill>
            <a:srgbClr val="3E6670"/>
          </a:solidFill>
          <a:ln w="12700">
            <a:solidFill>
              <a:srgbClr val="3E6670"/>
            </a:solidFill>
            <a:prstDash val="solid"/>
          </a:ln>
        </p:spPr>
      </p:sp>
      <p:sp>
        <p:nvSpPr>
          <p:cNvPr id="176" name="Shape 176"/>
          <p:cNvSpPr/>
          <p:nvPr/>
        </p:nvSpPr>
        <p:spPr>
          <a:xfrm>
            <a:off x="1143000" y="6537960"/>
            <a:ext cx="16002000" cy="420624"/>
          </a:xfrm>
          <a:prstGeom prst="roundRect">
            <a:avLst>
              <a:gd name="adj" fmla="val 21739"/>
            </a:avLst>
          </a:prstGeom>
          <a:solidFill>
            <a:srgbClr val="FCFBF8"/>
          </a:solidFill>
          <a:ln w="9525">
            <a:solidFill>
              <a:srgbClr val="E3E0D7"/>
            </a:solidFill>
            <a:prstDash val="solid"/>
          </a:ln>
        </p:spPr>
      </p:sp>
      <p:sp>
        <p:nvSpPr>
          <p:cNvPr id="177" name="Shape 177"/>
          <p:cNvSpPr/>
          <p:nvPr/>
        </p:nvSpPr>
        <p:spPr>
          <a:xfrm>
            <a:off x="4297680" y="6537960"/>
            <a:ext cx="2331720" cy="420624"/>
          </a:xfrm>
          <a:prstGeom prst="rect">
            <a:avLst/>
          </a:prstGeom>
          <a:solidFill>
            <a:srgbClr val="E7EDEC"/>
          </a:solidFill>
          <a:ln w="12700">
            <a:solidFill>
              <a:srgbClr val="E7EDEC"/>
            </a:solidFill>
            <a:prstDash val="solid"/>
          </a:ln>
        </p:spPr>
      </p:sp>
      <p:sp>
        <p:nvSpPr>
          <p:cNvPr id="178" name="Text 178"/>
          <p:cNvSpPr txBox="1"/>
          <p:nvPr/>
        </p:nvSpPr>
        <p:spPr>
          <a:xfrm>
            <a:off x="1417320" y="6638544"/>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6.</a:t>
            </a:r>
            <a:endParaRPr lang="en-US" sz="1500" dirty="0"/>
          </a:p>
        </p:txBody>
      </p:sp>
      <p:sp>
        <p:nvSpPr>
          <p:cNvPr id="179" name="Text 179"/>
          <p:cNvSpPr txBox="1"/>
          <p:nvPr/>
        </p:nvSpPr>
        <p:spPr>
          <a:xfrm>
            <a:off x="1828800" y="6620256"/>
            <a:ext cx="1737360" cy="292608"/>
          </a:xfrm>
          <a:prstGeom prst="rect">
            <a:avLst/>
          </a:prstGeom>
          <a:noFill/>
          <a:ln/>
        </p:spPr>
        <p:txBody>
          <a:bodyPr wrap="square" lIns="0" tIns="0" rIns="0" bIns="0" rtlCol="0" anchor="t"/>
          <a:lstStyle/>
          <a:p>
            <a:pPr indent="0" marL="0">
              <a:buNone/>
            </a:pPr>
            <a:r>
              <a:rPr lang="en-US" sz="1700" dirty="0">
                <a:solidFill>
                  <a:srgbClr val="55676B"/>
                </a:solidFill>
                <a:latin typeface="Geist Medium" pitchFamily="34" charset="0"/>
                <a:ea typeface="Geist Medium" pitchFamily="34" charset="-122"/>
                <a:cs typeface="Geist Medium" pitchFamily="34" charset="-120"/>
              </a:rPr>
              <a:t>Austria</a:t>
            </a:r>
            <a:endParaRPr lang="en-US" sz="1700" dirty="0"/>
          </a:p>
        </p:txBody>
      </p:sp>
      <p:sp>
        <p:nvSpPr>
          <p:cNvPr id="180" name="Text 180"/>
          <p:cNvSpPr txBox="1"/>
          <p:nvPr/>
        </p:nvSpPr>
        <p:spPr>
          <a:xfrm>
            <a:off x="4434840" y="6611112"/>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1</a:t>
            </a:r>
            <a:endParaRPr lang="en-US" sz="1800" dirty="0"/>
          </a:p>
        </p:txBody>
      </p:sp>
      <p:sp>
        <p:nvSpPr>
          <p:cNvPr id="181" name="Shape 181"/>
          <p:cNvSpPr/>
          <p:nvPr/>
        </p:nvSpPr>
        <p:spPr>
          <a:xfrm>
            <a:off x="4892040" y="6711696"/>
            <a:ext cx="109728" cy="109728"/>
          </a:xfrm>
          <a:prstGeom prst="ellipse">
            <a:avLst/>
          </a:prstGeom>
          <a:solidFill>
            <a:srgbClr val="8A9A9D"/>
          </a:solidFill>
          <a:ln w="12700">
            <a:solidFill>
              <a:srgbClr val="8A9A9D"/>
            </a:solidFill>
            <a:prstDash val="solid"/>
          </a:ln>
        </p:spPr>
      </p:sp>
      <p:sp>
        <p:nvSpPr>
          <p:cNvPr id="182" name="Shape 182"/>
          <p:cNvSpPr/>
          <p:nvPr/>
        </p:nvSpPr>
        <p:spPr>
          <a:xfrm>
            <a:off x="5074920" y="6711696"/>
            <a:ext cx="109728" cy="109728"/>
          </a:xfrm>
          <a:prstGeom prst="ellipse">
            <a:avLst/>
          </a:prstGeom>
          <a:solidFill>
            <a:srgbClr val="E3E0D7"/>
          </a:solidFill>
          <a:ln w="12700">
            <a:solidFill>
              <a:srgbClr val="E3E0D7"/>
            </a:solidFill>
            <a:prstDash val="solid"/>
          </a:ln>
        </p:spPr>
      </p:sp>
      <p:sp>
        <p:nvSpPr>
          <p:cNvPr id="183" name="Shape 183"/>
          <p:cNvSpPr/>
          <p:nvPr/>
        </p:nvSpPr>
        <p:spPr>
          <a:xfrm>
            <a:off x="5257800" y="6711696"/>
            <a:ext cx="109728" cy="109728"/>
          </a:xfrm>
          <a:prstGeom prst="ellipse">
            <a:avLst/>
          </a:prstGeom>
          <a:solidFill>
            <a:srgbClr val="E3E0D7"/>
          </a:solidFill>
          <a:ln w="12700">
            <a:solidFill>
              <a:srgbClr val="E3E0D7"/>
            </a:solidFill>
            <a:prstDash val="solid"/>
          </a:ln>
        </p:spPr>
      </p:sp>
      <p:sp>
        <p:nvSpPr>
          <p:cNvPr id="184" name="Shape 184"/>
          <p:cNvSpPr/>
          <p:nvPr/>
        </p:nvSpPr>
        <p:spPr>
          <a:xfrm>
            <a:off x="5440680" y="6711696"/>
            <a:ext cx="109728" cy="109728"/>
          </a:xfrm>
          <a:prstGeom prst="ellipse">
            <a:avLst/>
          </a:prstGeom>
          <a:solidFill>
            <a:srgbClr val="E3E0D7"/>
          </a:solidFill>
          <a:ln w="12700">
            <a:solidFill>
              <a:srgbClr val="E3E0D7"/>
            </a:solidFill>
            <a:prstDash val="solid"/>
          </a:ln>
        </p:spPr>
      </p:sp>
      <p:sp>
        <p:nvSpPr>
          <p:cNvPr id="185" name="Shape 185"/>
          <p:cNvSpPr/>
          <p:nvPr/>
        </p:nvSpPr>
        <p:spPr>
          <a:xfrm>
            <a:off x="5623560" y="6711696"/>
            <a:ext cx="109728" cy="109728"/>
          </a:xfrm>
          <a:prstGeom prst="ellipse">
            <a:avLst/>
          </a:prstGeom>
          <a:solidFill>
            <a:srgbClr val="E3E0D7"/>
          </a:solidFill>
          <a:ln w="12700">
            <a:solidFill>
              <a:srgbClr val="E3E0D7"/>
            </a:solidFill>
            <a:prstDash val="solid"/>
          </a:ln>
        </p:spPr>
      </p:sp>
      <p:sp>
        <p:nvSpPr>
          <p:cNvPr id="186" name="Text 186"/>
          <p:cNvSpPr txBox="1"/>
          <p:nvPr/>
        </p:nvSpPr>
        <p:spPr>
          <a:xfrm>
            <a:off x="6995160" y="6611112"/>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3</a:t>
            </a:r>
            <a:endParaRPr lang="en-US" sz="1800" dirty="0"/>
          </a:p>
        </p:txBody>
      </p:sp>
      <p:sp>
        <p:nvSpPr>
          <p:cNvPr id="187" name="Shape 187"/>
          <p:cNvSpPr/>
          <p:nvPr/>
        </p:nvSpPr>
        <p:spPr>
          <a:xfrm>
            <a:off x="7452360" y="6711696"/>
            <a:ext cx="109728" cy="109728"/>
          </a:xfrm>
          <a:prstGeom prst="ellipse">
            <a:avLst/>
          </a:prstGeom>
          <a:solidFill>
            <a:srgbClr val="8A9A9D"/>
          </a:solidFill>
          <a:ln w="12700">
            <a:solidFill>
              <a:srgbClr val="8A9A9D"/>
            </a:solidFill>
            <a:prstDash val="solid"/>
          </a:ln>
        </p:spPr>
      </p:sp>
      <p:sp>
        <p:nvSpPr>
          <p:cNvPr id="188" name="Shape 188"/>
          <p:cNvSpPr/>
          <p:nvPr/>
        </p:nvSpPr>
        <p:spPr>
          <a:xfrm>
            <a:off x="7635240" y="6711696"/>
            <a:ext cx="109728" cy="109728"/>
          </a:xfrm>
          <a:prstGeom prst="ellipse">
            <a:avLst/>
          </a:prstGeom>
          <a:solidFill>
            <a:srgbClr val="8A9A9D"/>
          </a:solidFill>
          <a:ln w="12700">
            <a:solidFill>
              <a:srgbClr val="8A9A9D"/>
            </a:solidFill>
            <a:prstDash val="solid"/>
          </a:ln>
        </p:spPr>
      </p:sp>
      <p:sp>
        <p:nvSpPr>
          <p:cNvPr id="189" name="Shape 189"/>
          <p:cNvSpPr/>
          <p:nvPr/>
        </p:nvSpPr>
        <p:spPr>
          <a:xfrm>
            <a:off x="7818120" y="6711696"/>
            <a:ext cx="109728" cy="109728"/>
          </a:xfrm>
          <a:prstGeom prst="ellipse">
            <a:avLst/>
          </a:prstGeom>
          <a:solidFill>
            <a:srgbClr val="8A9A9D"/>
          </a:solidFill>
          <a:ln w="12700">
            <a:solidFill>
              <a:srgbClr val="8A9A9D"/>
            </a:solidFill>
            <a:prstDash val="solid"/>
          </a:ln>
        </p:spPr>
      </p:sp>
      <p:sp>
        <p:nvSpPr>
          <p:cNvPr id="190" name="Shape 190"/>
          <p:cNvSpPr/>
          <p:nvPr/>
        </p:nvSpPr>
        <p:spPr>
          <a:xfrm>
            <a:off x="8001000" y="6711696"/>
            <a:ext cx="109728" cy="109728"/>
          </a:xfrm>
          <a:prstGeom prst="ellipse">
            <a:avLst/>
          </a:prstGeom>
          <a:solidFill>
            <a:srgbClr val="E3E0D7"/>
          </a:solidFill>
          <a:ln w="12700">
            <a:solidFill>
              <a:srgbClr val="E3E0D7"/>
            </a:solidFill>
            <a:prstDash val="solid"/>
          </a:ln>
        </p:spPr>
      </p:sp>
      <p:sp>
        <p:nvSpPr>
          <p:cNvPr id="191" name="Shape 191"/>
          <p:cNvSpPr/>
          <p:nvPr/>
        </p:nvSpPr>
        <p:spPr>
          <a:xfrm>
            <a:off x="8183880" y="6711696"/>
            <a:ext cx="109728" cy="109728"/>
          </a:xfrm>
          <a:prstGeom prst="ellipse">
            <a:avLst/>
          </a:prstGeom>
          <a:solidFill>
            <a:srgbClr val="E3E0D7"/>
          </a:solidFill>
          <a:ln w="12700">
            <a:solidFill>
              <a:srgbClr val="E3E0D7"/>
            </a:solidFill>
            <a:prstDash val="solid"/>
          </a:ln>
        </p:spPr>
      </p:sp>
      <p:sp>
        <p:nvSpPr>
          <p:cNvPr id="192" name="Text 192"/>
          <p:cNvSpPr txBox="1"/>
          <p:nvPr/>
        </p:nvSpPr>
        <p:spPr>
          <a:xfrm>
            <a:off x="9555480" y="6611112"/>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5</a:t>
            </a:r>
            <a:endParaRPr lang="en-US" sz="1800" dirty="0"/>
          </a:p>
        </p:txBody>
      </p:sp>
      <p:sp>
        <p:nvSpPr>
          <p:cNvPr id="193" name="Shape 193"/>
          <p:cNvSpPr/>
          <p:nvPr/>
        </p:nvSpPr>
        <p:spPr>
          <a:xfrm>
            <a:off x="10012680" y="6711696"/>
            <a:ext cx="109728" cy="109728"/>
          </a:xfrm>
          <a:prstGeom prst="ellipse">
            <a:avLst/>
          </a:prstGeom>
          <a:solidFill>
            <a:srgbClr val="8A9A9D"/>
          </a:solidFill>
          <a:ln w="12700">
            <a:solidFill>
              <a:srgbClr val="8A9A9D"/>
            </a:solidFill>
            <a:prstDash val="solid"/>
          </a:ln>
        </p:spPr>
      </p:sp>
      <p:sp>
        <p:nvSpPr>
          <p:cNvPr id="194" name="Shape 194"/>
          <p:cNvSpPr/>
          <p:nvPr/>
        </p:nvSpPr>
        <p:spPr>
          <a:xfrm>
            <a:off x="10195560" y="6711696"/>
            <a:ext cx="109728" cy="109728"/>
          </a:xfrm>
          <a:prstGeom prst="ellipse">
            <a:avLst/>
          </a:prstGeom>
          <a:solidFill>
            <a:srgbClr val="8A9A9D"/>
          </a:solidFill>
          <a:ln w="12700">
            <a:solidFill>
              <a:srgbClr val="8A9A9D"/>
            </a:solidFill>
            <a:prstDash val="solid"/>
          </a:ln>
        </p:spPr>
      </p:sp>
      <p:sp>
        <p:nvSpPr>
          <p:cNvPr id="195" name="Shape 195"/>
          <p:cNvSpPr/>
          <p:nvPr/>
        </p:nvSpPr>
        <p:spPr>
          <a:xfrm>
            <a:off x="10378440" y="6711696"/>
            <a:ext cx="109728" cy="109728"/>
          </a:xfrm>
          <a:prstGeom prst="ellipse">
            <a:avLst/>
          </a:prstGeom>
          <a:solidFill>
            <a:srgbClr val="8A9A9D"/>
          </a:solidFill>
          <a:ln w="12700">
            <a:solidFill>
              <a:srgbClr val="8A9A9D"/>
            </a:solidFill>
            <a:prstDash val="solid"/>
          </a:ln>
        </p:spPr>
      </p:sp>
      <p:sp>
        <p:nvSpPr>
          <p:cNvPr id="196" name="Shape 196"/>
          <p:cNvSpPr/>
          <p:nvPr/>
        </p:nvSpPr>
        <p:spPr>
          <a:xfrm>
            <a:off x="10561320" y="6711696"/>
            <a:ext cx="109728" cy="109728"/>
          </a:xfrm>
          <a:prstGeom prst="ellipse">
            <a:avLst/>
          </a:prstGeom>
          <a:solidFill>
            <a:srgbClr val="8A9A9D"/>
          </a:solidFill>
          <a:ln w="12700">
            <a:solidFill>
              <a:srgbClr val="8A9A9D"/>
            </a:solidFill>
            <a:prstDash val="solid"/>
          </a:ln>
        </p:spPr>
      </p:sp>
      <p:sp>
        <p:nvSpPr>
          <p:cNvPr id="197" name="Shape 197"/>
          <p:cNvSpPr/>
          <p:nvPr/>
        </p:nvSpPr>
        <p:spPr>
          <a:xfrm>
            <a:off x="10744200" y="6711696"/>
            <a:ext cx="109728" cy="109728"/>
          </a:xfrm>
          <a:prstGeom prst="ellipse">
            <a:avLst/>
          </a:prstGeom>
          <a:solidFill>
            <a:srgbClr val="8A9A9D"/>
          </a:solidFill>
          <a:ln w="12700">
            <a:solidFill>
              <a:srgbClr val="8A9A9D"/>
            </a:solidFill>
            <a:prstDash val="solid"/>
          </a:ln>
        </p:spPr>
      </p:sp>
      <p:sp>
        <p:nvSpPr>
          <p:cNvPr id="198" name="Text 198"/>
          <p:cNvSpPr txBox="1"/>
          <p:nvPr/>
        </p:nvSpPr>
        <p:spPr>
          <a:xfrm>
            <a:off x="12115800" y="6611112"/>
            <a:ext cx="365760" cy="310896"/>
          </a:xfrm>
          <a:prstGeom prst="rect">
            <a:avLst/>
          </a:prstGeom>
          <a:noFill/>
          <a:ln/>
        </p:spPr>
        <p:txBody>
          <a:bodyPr wrap="square" lIns="0" tIns="0" rIns="0" bIns="0" rtlCol="0" anchor="t"/>
          <a:lstStyle/>
          <a:p>
            <a:pPr indent="0" marL="0">
              <a:buNone/>
            </a:pPr>
            <a:r>
              <a:rPr lang="en-US" sz="1800" dirty="0">
                <a:solidFill>
                  <a:srgbClr val="55676B"/>
                </a:solidFill>
                <a:latin typeface="Geist Medium" pitchFamily="34" charset="0"/>
                <a:ea typeface="Geist Medium" pitchFamily="34" charset="-122"/>
                <a:cs typeface="Geist Medium" pitchFamily="34" charset="-120"/>
              </a:rPr>
              <a:t>5</a:t>
            </a:r>
            <a:endParaRPr lang="en-US" sz="1800" dirty="0"/>
          </a:p>
        </p:txBody>
      </p:sp>
      <p:sp>
        <p:nvSpPr>
          <p:cNvPr id="199" name="Shape 199"/>
          <p:cNvSpPr/>
          <p:nvPr/>
        </p:nvSpPr>
        <p:spPr>
          <a:xfrm>
            <a:off x="12573000" y="6711696"/>
            <a:ext cx="109728" cy="109728"/>
          </a:xfrm>
          <a:prstGeom prst="ellipse">
            <a:avLst/>
          </a:prstGeom>
          <a:solidFill>
            <a:srgbClr val="8A9A9D"/>
          </a:solidFill>
          <a:ln w="12700">
            <a:solidFill>
              <a:srgbClr val="8A9A9D"/>
            </a:solidFill>
            <a:prstDash val="solid"/>
          </a:ln>
        </p:spPr>
      </p:sp>
      <p:sp>
        <p:nvSpPr>
          <p:cNvPr id="200" name="Shape 200"/>
          <p:cNvSpPr/>
          <p:nvPr/>
        </p:nvSpPr>
        <p:spPr>
          <a:xfrm>
            <a:off x="12755880" y="6711696"/>
            <a:ext cx="109728" cy="109728"/>
          </a:xfrm>
          <a:prstGeom prst="ellipse">
            <a:avLst/>
          </a:prstGeom>
          <a:solidFill>
            <a:srgbClr val="8A9A9D"/>
          </a:solidFill>
          <a:ln w="12700">
            <a:solidFill>
              <a:srgbClr val="8A9A9D"/>
            </a:solidFill>
            <a:prstDash val="solid"/>
          </a:ln>
        </p:spPr>
      </p:sp>
      <p:sp>
        <p:nvSpPr>
          <p:cNvPr id="201" name="Shape 201"/>
          <p:cNvSpPr/>
          <p:nvPr/>
        </p:nvSpPr>
        <p:spPr>
          <a:xfrm>
            <a:off x="12938760" y="6711696"/>
            <a:ext cx="109728" cy="109728"/>
          </a:xfrm>
          <a:prstGeom prst="ellipse">
            <a:avLst/>
          </a:prstGeom>
          <a:solidFill>
            <a:srgbClr val="8A9A9D"/>
          </a:solidFill>
          <a:ln w="12700">
            <a:solidFill>
              <a:srgbClr val="8A9A9D"/>
            </a:solidFill>
            <a:prstDash val="solid"/>
          </a:ln>
        </p:spPr>
      </p:sp>
      <p:sp>
        <p:nvSpPr>
          <p:cNvPr id="202" name="Shape 202"/>
          <p:cNvSpPr/>
          <p:nvPr/>
        </p:nvSpPr>
        <p:spPr>
          <a:xfrm>
            <a:off x="13121640" y="6711696"/>
            <a:ext cx="109728" cy="109728"/>
          </a:xfrm>
          <a:prstGeom prst="ellipse">
            <a:avLst/>
          </a:prstGeom>
          <a:solidFill>
            <a:srgbClr val="8A9A9D"/>
          </a:solidFill>
          <a:ln w="12700">
            <a:solidFill>
              <a:srgbClr val="8A9A9D"/>
            </a:solidFill>
            <a:prstDash val="solid"/>
          </a:ln>
        </p:spPr>
      </p:sp>
      <p:sp>
        <p:nvSpPr>
          <p:cNvPr id="203" name="Shape 203"/>
          <p:cNvSpPr/>
          <p:nvPr/>
        </p:nvSpPr>
        <p:spPr>
          <a:xfrm>
            <a:off x="13304520" y="6711696"/>
            <a:ext cx="109728" cy="109728"/>
          </a:xfrm>
          <a:prstGeom prst="ellipse">
            <a:avLst/>
          </a:prstGeom>
          <a:solidFill>
            <a:srgbClr val="8A9A9D"/>
          </a:solidFill>
          <a:ln w="12700">
            <a:solidFill>
              <a:srgbClr val="8A9A9D"/>
            </a:solidFill>
            <a:prstDash val="solid"/>
          </a:ln>
        </p:spPr>
      </p:sp>
      <p:sp>
        <p:nvSpPr>
          <p:cNvPr id="204" name="Text 204"/>
          <p:cNvSpPr txBox="1"/>
          <p:nvPr/>
        </p:nvSpPr>
        <p:spPr>
          <a:xfrm>
            <a:off x="14676120" y="6601968"/>
            <a:ext cx="548640" cy="329184"/>
          </a:xfrm>
          <a:prstGeom prst="rect">
            <a:avLst/>
          </a:prstGeom>
          <a:noFill/>
          <a:ln/>
        </p:spPr>
        <p:txBody>
          <a:bodyPr wrap="square" lIns="0" tIns="0" rIns="0" bIns="0" rtlCol="0" anchor="t"/>
          <a:lstStyle/>
          <a:p>
            <a:pPr indent="0" marL="0">
              <a:buNone/>
            </a:pPr>
            <a:r>
              <a:rPr lang="en-US" sz="2000" dirty="0">
                <a:solidFill>
                  <a:srgbClr val="55676B"/>
                </a:solidFill>
                <a:latin typeface="Geist Medium" pitchFamily="34" charset="0"/>
                <a:ea typeface="Geist Medium" pitchFamily="34" charset="-122"/>
                <a:cs typeface="Geist Medium" pitchFamily="34" charset="-120"/>
              </a:rPr>
              <a:t>14</a:t>
            </a:r>
            <a:endParaRPr lang="en-US" sz="2000" dirty="0"/>
          </a:p>
        </p:txBody>
      </p:sp>
      <p:sp>
        <p:nvSpPr>
          <p:cNvPr id="205" name="Shape 205"/>
          <p:cNvSpPr/>
          <p:nvPr/>
        </p:nvSpPr>
        <p:spPr>
          <a:xfrm>
            <a:off x="15361920" y="6729984"/>
            <a:ext cx="1508760" cy="82296"/>
          </a:xfrm>
          <a:prstGeom prst="roundRect">
            <a:avLst>
              <a:gd name="adj" fmla="val 44444"/>
            </a:avLst>
          </a:prstGeom>
          <a:solidFill>
            <a:srgbClr val="E3E0D7"/>
          </a:solidFill>
          <a:ln w="12700">
            <a:solidFill>
              <a:srgbClr val="E3E0D7"/>
            </a:solidFill>
            <a:prstDash val="solid"/>
          </a:ln>
        </p:spPr>
      </p:sp>
      <p:sp>
        <p:nvSpPr>
          <p:cNvPr id="206" name="Shape 206"/>
          <p:cNvSpPr/>
          <p:nvPr/>
        </p:nvSpPr>
        <p:spPr>
          <a:xfrm>
            <a:off x="15361920" y="6729984"/>
            <a:ext cx="1056132" cy="82296"/>
          </a:xfrm>
          <a:prstGeom prst="roundRect">
            <a:avLst>
              <a:gd name="adj" fmla="val 44444"/>
            </a:avLst>
          </a:prstGeom>
          <a:solidFill>
            <a:srgbClr val="CFD6D3"/>
          </a:solidFill>
          <a:ln w="12700">
            <a:solidFill>
              <a:srgbClr val="CFD6D3"/>
            </a:solidFill>
            <a:prstDash val="solid"/>
          </a:ln>
        </p:spPr>
      </p:sp>
      <p:sp>
        <p:nvSpPr>
          <p:cNvPr id="207" name="Shape 207"/>
          <p:cNvSpPr/>
          <p:nvPr/>
        </p:nvSpPr>
        <p:spPr>
          <a:xfrm>
            <a:off x="1143000" y="7013448"/>
            <a:ext cx="16002000" cy="420624"/>
          </a:xfrm>
          <a:prstGeom prst="roundRect">
            <a:avLst>
              <a:gd name="adj" fmla="val 21739"/>
            </a:avLst>
          </a:prstGeom>
          <a:solidFill>
            <a:srgbClr val="FCFBF8"/>
          </a:solidFill>
          <a:ln w="9525">
            <a:solidFill>
              <a:srgbClr val="E3E0D7"/>
            </a:solidFill>
            <a:prstDash val="solid"/>
          </a:ln>
        </p:spPr>
      </p:sp>
      <p:sp>
        <p:nvSpPr>
          <p:cNvPr id="208" name="Shape 208"/>
          <p:cNvSpPr/>
          <p:nvPr/>
        </p:nvSpPr>
        <p:spPr>
          <a:xfrm>
            <a:off x="4297680" y="7013448"/>
            <a:ext cx="2331720" cy="420624"/>
          </a:xfrm>
          <a:prstGeom prst="rect">
            <a:avLst/>
          </a:prstGeom>
          <a:solidFill>
            <a:srgbClr val="E7EDEC"/>
          </a:solidFill>
          <a:ln w="12700">
            <a:solidFill>
              <a:srgbClr val="E7EDEC"/>
            </a:solidFill>
            <a:prstDash val="solid"/>
          </a:ln>
        </p:spPr>
      </p:sp>
      <p:sp>
        <p:nvSpPr>
          <p:cNvPr id="209" name="Text 209"/>
          <p:cNvSpPr txBox="1"/>
          <p:nvPr/>
        </p:nvSpPr>
        <p:spPr>
          <a:xfrm>
            <a:off x="1417320" y="7114032"/>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7.</a:t>
            </a:r>
            <a:endParaRPr lang="en-US" sz="1500" dirty="0"/>
          </a:p>
        </p:txBody>
      </p:sp>
      <p:sp>
        <p:nvSpPr>
          <p:cNvPr id="210" name="Text 210"/>
          <p:cNvSpPr txBox="1"/>
          <p:nvPr/>
        </p:nvSpPr>
        <p:spPr>
          <a:xfrm>
            <a:off x="1828800" y="7095744"/>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Denmark</a:t>
            </a:r>
            <a:endParaRPr lang="en-US" sz="1700" dirty="0"/>
          </a:p>
        </p:txBody>
      </p:sp>
      <p:sp>
        <p:nvSpPr>
          <p:cNvPr id="211" name="Text 211"/>
          <p:cNvSpPr txBox="1"/>
          <p:nvPr/>
        </p:nvSpPr>
        <p:spPr>
          <a:xfrm>
            <a:off x="4434840" y="708660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212" name="Shape 212"/>
          <p:cNvSpPr/>
          <p:nvPr/>
        </p:nvSpPr>
        <p:spPr>
          <a:xfrm>
            <a:off x="4892040" y="7187184"/>
            <a:ext cx="109728" cy="109728"/>
          </a:xfrm>
          <a:prstGeom prst="ellipse">
            <a:avLst/>
          </a:prstGeom>
          <a:solidFill>
            <a:srgbClr val="1C2B2F"/>
          </a:solidFill>
          <a:ln w="12700">
            <a:solidFill>
              <a:srgbClr val="1C2B2F"/>
            </a:solidFill>
            <a:prstDash val="solid"/>
          </a:ln>
        </p:spPr>
      </p:sp>
      <p:sp>
        <p:nvSpPr>
          <p:cNvPr id="213" name="Shape 213"/>
          <p:cNvSpPr/>
          <p:nvPr/>
        </p:nvSpPr>
        <p:spPr>
          <a:xfrm>
            <a:off x="5074920" y="7187184"/>
            <a:ext cx="109728" cy="109728"/>
          </a:xfrm>
          <a:prstGeom prst="ellipse">
            <a:avLst/>
          </a:prstGeom>
          <a:solidFill>
            <a:srgbClr val="1C2B2F"/>
          </a:solidFill>
          <a:ln w="12700">
            <a:solidFill>
              <a:srgbClr val="1C2B2F"/>
            </a:solidFill>
            <a:prstDash val="solid"/>
          </a:ln>
        </p:spPr>
      </p:sp>
      <p:sp>
        <p:nvSpPr>
          <p:cNvPr id="214" name="Shape 214"/>
          <p:cNvSpPr/>
          <p:nvPr/>
        </p:nvSpPr>
        <p:spPr>
          <a:xfrm>
            <a:off x="5257800" y="7187184"/>
            <a:ext cx="109728" cy="109728"/>
          </a:xfrm>
          <a:prstGeom prst="ellipse">
            <a:avLst/>
          </a:prstGeom>
          <a:solidFill>
            <a:srgbClr val="1C2B2F"/>
          </a:solidFill>
          <a:ln w="12700">
            <a:solidFill>
              <a:srgbClr val="1C2B2F"/>
            </a:solidFill>
            <a:prstDash val="solid"/>
          </a:ln>
        </p:spPr>
      </p:sp>
      <p:sp>
        <p:nvSpPr>
          <p:cNvPr id="215" name="Shape 215"/>
          <p:cNvSpPr/>
          <p:nvPr/>
        </p:nvSpPr>
        <p:spPr>
          <a:xfrm>
            <a:off x="5440680" y="7187184"/>
            <a:ext cx="109728" cy="109728"/>
          </a:xfrm>
          <a:prstGeom prst="ellipse">
            <a:avLst/>
          </a:prstGeom>
          <a:solidFill>
            <a:srgbClr val="1C2B2F"/>
          </a:solidFill>
          <a:ln w="12700">
            <a:solidFill>
              <a:srgbClr val="1C2B2F"/>
            </a:solidFill>
            <a:prstDash val="solid"/>
          </a:ln>
        </p:spPr>
      </p:sp>
      <p:sp>
        <p:nvSpPr>
          <p:cNvPr id="216" name="Shape 216"/>
          <p:cNvSpPr/>
          <p:nvPr/>
        </p:nvSpPr>
        <p:spPr>
          <a:xfrm>
            <a:off x="5623560" y="7187184"/>
            <a:ext cx="109728" cy="109728"/>
          </a:xfrm>
          <a:prstGeom prst="ellipse">
            <a:avLst/>
          </a:prstGeom>
          <a:solidFill>
            <a:srgbClr val="1C2B2F"/>
          </a:solidFill>
          <a:ln w="12700">
            <a:solidFill>
              <a:srgbClr val="1C2B2F"/>
            </a:solidFill>
            <a:prstDash val="solid"/>
          </a:ln>
        </p:spPr>
      </p:sp>
      <p:sp>
        <p:nvSpPr>
          <p:cNvPr id="217" name="Text 217"/>
          <p:cNvSpPr txBox="1"/>
          <p:nvPr/>
        </p:nvSpPr>
        <p:spPr>
          <a:xfrm>
            <a:off x="6995160" y="708660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2</a:t>
            </a:r>
            <a:endParaRPr lang="en-US" sz="1800" dirty="0"/>
          </a:p>
        </p:txBody>
      </p:sp>
      <p:sp>
        <p:nvSpPr>
          <p:cNvPr id="218" name="Shape 218"/>
          <p:cNvSpPr/>
          <p:nvPr/>
        </p:nvSpPr>
        <p:spPr>
          <a:xfrm>
            <a:off x="7452360" y="7187184"/>
            <a:ext cx="109728" cy="109728"/>
          </a:xfrm>
          <a:prstGeom prst="ellipse">
            <a:avLst/>
          </a:prstGeom>
          <a:solidFill>
            <a:srgbClr val="1C2B2F"/>
          </a:solidFill>
          <a:ln w="12700">
            <a:solidFill>
              <a:srgbClr val="1C2B2F"/>
            </a:solidFill>
            <a:prstDash val="solid"/>
          </a:ln>
        </p:spPr>
      </p:sp>
      <p:sp>
        <p:nvSpPr>
          <p:cNvPr id="219" name="Shape 219"/>
          <p:cNvSpPr/>
          <p:nvPr/>
        </p:nvSpPr>
        <p:spPr>
          <a:xfrm>
            <a:off x="7635240" y="7187184"/>
            <a:ext cx="109728" cy="109728"/>
          </a:xfrm>
          <a:prstGeom prst="ellipse">
            <a:avLst/>
          </a:prstGeom>
          <a:solidFill>
            <a:srgbClr val="1C2B2F"/>
          </a:solidFill>
          <a:ln w="12700">
            <a:solidFill>
              <a:srgbClr val="1C2B2F"/>
            </a:solidFill>
            <a:prstDash val="solid"/>
          </a:ln>
        </p:spPr>
      </p:sp>
      <p:sp>
        <p:nvSpPr>
          <p:cNvPr id="220" name="Shape 220"/>
          <p:cNvSpPr/>
          <p:nvPr/>
        </p:nvSpPr>
        <p:spPr>
          <a:xfrm>
            <a:off x="7818120" y="7187184"/>
            <a:ext cx="109728" cy="109728"/>
          </a:xfrm>
          <a:prstGeom prst="ellipse">
            <a:avLst/>
          </a:prstGeom>
          <a:solidFill>
            <a:srgbClr val="E3E0D7"/>
          </a:solidFill>
          <a:ln w="12700">
            <a:solidFill>
              <a:srgbClr val="E3E0D7"/>
            </a:solidFill>
            <a:prstDash val="solid"/>
          </a:ln>
        </p:spPr>
      </p:sp>
      <p:sp>
        <p:nvSpPr>
          <p:cNvPr id="221" name="Shape 221"/>
          <p:cNvSpPr/>
          <p:nvPr/>
        </p:nvSpPr>
        <p:spPr>
          <a:xfrm>
            <a:off x="8001000" y="7187184"/>
            <a:ext cx="109728" cy="109728"/>
          </a:xfrm>
          <a:prstGeom prst="ellipse">
            <a:avLst/>
          </a:prstGeom>
          <a:solidFill>
            <a:srgbClr val="E3E0D7"/>
          </a:solidFill>
          <a:ln w="12700">
            <a:solidFill>
              <a:srgbClr val="E3E0D7"/>
            </a:solidFill>
            <a:prstDash val="solid"/>
          </a:ln>
        </p:spPr>
      </p:sp>
      <p:sp>
        <p:nvSpPr>
          <p:cNvPr id="222" name="Shape 222"/>
          <p:cNvSpPr/>
          <p:nvPr/>
        </p:nvSpPr>
        <p:spPr>
          <a:xfrm>
            <a:off x="8183880" y="7187184"/>
            <a:ext cx="109728" cy="109728"/>
          </a:xfrm>
          <a:prstGeom prst="ellipse">
            <a:avLst/>
          </a:prstGeom>
          <a:solidFill>
            <a:srgbClr val="E3E0D7"/>
          </a:solidFill>
          <a:ln w="12700">
            <a:solidFill>
              <a:srgbClr val="E3E0D7"/>
            </a:solidFill>
            <a:prstDash val="solid"/>
          </a:ln>
        </p:spPr>
      </p:sp>
      <p:sp>
        <p:nvSpPr>
          <p:cNvPr id="223" name="Text 223"/>
          <p:cNvSpPr txBox="1"/>
          <p:nvPr/>
        </p:nvSpPr>
        <p:spPr>
          <a:xfrm>
            <a:off x="9555480" y="708660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224" name="Shape 224"/>
          <p:cNvSpPr/>
          <p:nvPr/>
        </p:nvSpPr>
        <p:spPr>
          <a:xfrm>
            <a:off x="10012680" y="7187184"/>
            <a:ext cx="109728" cy="109728"/>
          </a:xfrm>
          <a:prstGeom prst="ellipse">
            <a:avLst/>
          </a:prstGeom>
          <a:solidFill>
            <a:srgbClr val="1C2B2F"/>
          </a:solidFill>
          <a:ln w="12700">
            <a:solidFill>
              <a:srgbClr val="1C2B2F"/>
            </a:solidFill>
            <a:prstDash val="solid"/>
          </a:ln>
        </p:spPr>
      </p:sp>
      <p:sp>
        <p:nvSpPr>
          <p:cNvPr id="225" name="Shape 225"/>
          <p:cNvSpPr/>
          <p:nvPr/>
        </p:nvSpPr>
        <p:spPr>
          <a:xfrm>
            <a:off x="10195560" y="7187184"/>
            <a:ext cx="109728" cy="109728"/>
          </a:xfrm>
          <a:prstGeom prst="ellipse">
            <a:avLst/>
          </a:prstGeom>
          <a:solidFill>
            <a:srgbClr val="1C2B2F"/>
          </a:solidFill>
          <a:ln w="12700">
            <a:solidFill>
              <a:srgbClr val="1C2B2F"/>
            </a:solidFill>
            <a:prstDash val="solid"/>
          </a:ln>
        </p:spPr>
      </p:sp>
      <p:sp>
        <p:nvSpPr>
          <p:cNvPr id="226" name="Shape 226"/>
          <p:cNvSpPr/>
          <p:nvPr/>
        </p:nvSpPr>
        <p:spPr>
          <a:xfrm>
            <a:off x="10378440" y="7187184"/>
            <a:ext cx="109728" cy="109728"/>
          </a:xfrm>
          <a:prstGeom prst="ellipse">
            <a:avLst/>
          </a:prstGeom>
          <a:solidFill>
            <a:srgbClr val="1C2B2F"/>
          </a:solidFill>
          <a:ln w="12700">
            <a:solidFill>
              <a:srgbClr val="1C2B2F"/>
            </a:solidFill>
            <a:prstDash val="solid"/>
          </a:ln>
        </p:spPr>
      </p:sp>
      <p:sp>
        <p:nvSpPr>
          <p:cNvPr id="227" name="Shape 227"/>
          <p:cNvSpPr/>
          <p:nvPr/>
        </p:nvSpPr>
        <p:spPr>
          <a:xfrm>
            <a:off x="10561320" y="7187184"/>
            <a:ext cx="109728" cy="109728"/>
          </a:xfrm>
          <a:prstGeom prst="ellipse">
            <a:avLst/>
          </a:prstGeom>
          <a:solidFill>
            <a:srgbClr val="E3E0D7"/>
          </a:solidFill>
          <a:ln w="12700">
            <a:solidFill>
              <a:srgbClr val="E3E0D7"/>
            </a:solidFill>
            <a:prstDash val="solid"/>
          </a:ln>
        </p:spPr>
      </p:sp>
      <p:sp>
        <p:nvSpPr>
          <p:cNvPr id="228" name="Shape 228"/>
          <p:cNvSpPr/>
          <p:nvPr/>
        </p:nvSpPr>
        <p:spPr>
          <a:xfrm>
            <a:off x="10744200" y="7187184"/>
            <a:ext cx="109728" cy="109728"/>
          </a:xfrm>
          <a:prstGeom prst="ellipse">
            <a:avLst/>
          </a:prstGeom>
          <a:solidFill>
            <a:srgbClr val="E3E0D7"/>
          </a:solidFill>
          <a:ln w="12700">
            <a:solidFill>
              <a:srgbClr val="E3E0D7"/>
            </a:solidFill>
            <a:prstDash val="solid"/>
          </a:ln>
        </p:spPr>
      </p:sp>
      <p:sp>
        <p:nvSpPr>
          <p:cNvPr id="229" name="Text 229"/>
          <p:cNvSpPr txBox="1"/>
          <p:nvPr/>
        </p:nvSpPr>
        <p:spPr>
          <a:xfrm>
            <a:off x="12115800" y="7086600"/>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230" name="Shape 230"/>
          <p:cNvSpPr/>
          <p:nvPr/>
        </p:nvSpPr>
        <p:spPr>
          <a:xfrm>
            <a:off x="12573000" y="7187184"/>
            <a:ext cx="109728" cy="109728"/>
          </a:xfrm>
          <a:prstGeom prst="ellipse">
            <a:avLst/>
          </a:prstGeom>
          <a:solidFill>
            <a:srgbClr val="1C2B2F"/>
          </a:solidFill>
          <a:ln w="12700">
            <a:solidFill>
              <a:srgbClr val="1C2B2F"/>
            </a:solidFill>
            <a:prstDash val="solid"/>
          </a:ln>
        </p:spPr>
      </p:sp>
      <p:sp>
        <p:nvSpPr>
          <p:cNvPr id="231" name="Shape 231"/>
          <p:cNvSpPr/>
          <p:nvPr/>
        </p:nvSpPr>
        <p:spPr>
          <a:xfrm>
            <a:off x="12755880" y="7187184"/>
            <a:ext cx="109728" cy="109728"/>
          </a:xfrm>
          <a:prstGeom prst="ellipse">
            <a:avLst/>
          </a:prstGeom>
          <a:solidFill>
            <a:srgbClr val="1C2B2F"/>
          </a:solidFill>
          <a:ln w="12700">
            <a:solidFill>
              <a:srgbClr val="1C2B2F"/>
            </a:solidFill>
            <a:prstDash val="solid"/>
          </a:ln>
        </p:spPr>
      </p:sp>
      <p:sp>
        <p:nvSpPr>
          <p:cNvPr id="232" name="Shape 232"/>
          <p:cNvSpPr/>
          <p:nvPr/>
        </p:nvSpPr>
        <p:spPr>
          <a:xfrm>
            <a:off x="12938760" y="7187184"/>
            <a:ext cx="109728" cy="109728"/>
          </a:xfrm>
          <a:prstGeom prst="ellipse">
            <a:avLst/>
          </a:prstGeom>
          <a:solidFill>
            <a:srgbClr val="1C2B2F"/>
          </a:solidFill>
          <a:ln w="12700">
            <a:solidFill>
              <a:srgbClr val="1C2B2F"/>
            </a:solidFill>
            <a:prstDash val="solid"/>
          </a:ln>
        </p:spPr>
      </p:sp>
      <p:sp>
        <p:nvSpPr>
          <p:cNvPr id="233" name="Shape 233"/>
          <p:cNvSpPr/>
          <p:nvPr/>
        </p:nvSpPr>
        <p:spPr>
          <a:xfrm>
            <a:off x="13121640" y="7187184"/>
            <a:ext cx="109728" cy="109728"/>
          </a:xfrm>
          <a:prstGeom prst="ellipse">
            <a:avLst/>
          </a:prstGeom>
          <a:solidFill>
            <a:srgbClr val="E3E0D7"/>
          </a:solidFill>
          <a:ln w="12700">
            <a:solidFill>
              <a:srgbClr val="E3E0D7"/>
            </a:solidFill>
            <a:prstDash val="solid"/>
          </a:ln>
        </p:spPr>
      </p:sp>
      <p:sp>
        <p:nvSpPr>
          <p:cNvPr id="234" name="Shape 234"/>
          <p:cNvSpPr/>
          <p:nvPr/>
        </p:nvSpPr>
        <p:spPr>
          <a:xfrm>
            <a:off x="13304520" y="7187184"/>
            <a:ext cx="109728" cy="109728"/>
          </a:xfrm>
          <a:prstGeom prst="ellipse">
            <a:avLst/>
          </a:prstGeom>
          <a:solidFill>
            <a:srgbClr val="E3E0D7"/>
          </a:solidFill>
          <a:ln w="12700">
            <a:solidFill>
              <a:srgbClr val="E3E0D7"/>
            </a:solidFill>
            <a:prstDash val="solid"/>
          </a:ln>
        </p:spPr>
      </p:sp>
      <p:sp>
        <p:nvSpPr>
          <p:cNvPr id="235" name="Text 235"/>
          <p:cNvSpPr txBox="1"/>
          <p:nvPr/>
        </p:nvSpPr>
        <p:spPr>
          <a:xfrm>
            <a:off x="14676120" y="7077456"/>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13</a:t>
            </a:r>
            <a:endParaRPr lang="en-US" sz="2000" dirty="0"/>
          </a:p>
        </p:txBody>
      </p:sp>
      <p:sp>
        <p:nvSpPr>
          <p:cNvPr id="236" name="Shape 236"/>
          <p:cNvSpPr/>
          <p:nvPr/>
        </p:nvSpPr>
        <p:spPr>
          <a:xfrm>
            <a:off x="15361920" y="7205472"/>
            <a:ext cx="1508760" cy="82296"/>
          </a:xfrm>
          <a:prstGeom prst="roundRect">
            <a:avLst>
              <a:gd name="adj" fmla="val 44444"/>
            </a:avLst>
          </a:prstGeom>
          <a:solidFill>
            <a:srgbClr val="E3E0D7"/>
          </a:solidFill>
          <a:ln w="12700">
            <a:solidFill>
              <a:srgbClr val="E3E0D7"/>
            </a:solidFill>
            <a:prstDash val="solid"/>
          </a:ln>
        </p:spPr>
      </p:sp>
      <p:sp>
        <p:nvSpPr>
          <p:cNvPr id="237" name="Shape 237"/>
          <p:cNvSpPr/>
          <p:nvPr/>
        </p:nvSpPr>
        <p:spPr>
          <a:xfrm>
            <a:off x="15361920" y="7205472"/>
            <a:ext cx="980694" cy="82296"/>
          </a:xfrm>
          <a:prstGeom prst="roundRect">
            <a:avLst>
              <a:gd name="adj" fmla="val 44444"/>
            </a:avLst>
          </a:prstGeom>
          <a:solidFill>
            <a:srgbClr val="3E6670"/>
          </a:solidFill>
          <a:ln w="12700">
            <a:solidFill>
              <a:srgbClr val="3E6670"/>
            </a:solidFill>
            <a:prstDash val="solid"/>
          </a:ln>
        </p:spPr>
      </p:sp>
      <p:sp>
        <p:nvSpPr>
          <p:cNvPr id="238" name="Shape 238"/>
          <p:cNvSpPr/>
          <p:nvPr/>
        </p:nvSpPr>
        <p:spPr>
          <a:xfrm>
            <a:off x="1143000" y="7488936"/>
            <a:ext cx="16002000" cy="420624"/>
          </a:xfrm>
          <a:prstGeom prst="roundRect">
            <a:avLst>
              <a:gd name="adj" fmla="val 21739"/>
            </a:avLst>
          </a:prstGeom>
          <a:solidFill>
            <a:srgbClr val="FCFBF8"/>
          </a:solidFill>
          <a:ln w="9525">
            <a:solidFill>
              <a:srgbClr val="E3E0D7"/>
            </a:solidFill>
            <a:prstDash val="solid"/>
          </a:ln>
        </p:spPr>
      </p:sp>
      <p:sp>
        <p:nvSpPr>
          <p:cNvPr id="239" name="Shape 239"/>
          <p:cNvSpPr/>
          <p:nvPr/>
        </p:nvSpPr>
        <p:spPr>
          <a:xfrm>
            <a:off x="4297680" y="7488936"/>
            <a:ext cx="2331720" cy="420624"/>
          </a:xfrm>
          <a:prstGeom prst="rect">
            <a:avLst/>
          </a:prstGeom>
          <a:solidFill>
            <a:srgbClr val="E7EDEC"/>
          </a:solidFill>
          <a:ln w="12700">
            <a:solidFill>
              <a:srgbClr val="E7EDEC"/>
            </a:solidFill>
            <a:prstDash val="solid"/>
          </a:ln>
        </p:spPr>
      </p:sp>
      <p:sp>
        <p:nvSpPr>
          <p:cNvPr id="240" name="Text 240"/>
          <p:cNvSpPr txBox="1"/>
          <p:nvPr/>
        </p:nvSpPr>
        <p:spPr>
          <a:xfrm>
            <a:off x="1417320" y="7589520"/>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8.</a:t>
            </a:r>
            <a:endParaRPr lang="en-US" sz="1500" dirty="0"/>
          </a:p>
        </p:txBody>
      </p:sp>
      <p:sp>
        <p:nvSpPr>
          <p:cNvPr id="241" name="Text 241"/>
          <p:cNvSpPr txBox="1"/>
          <p:nvPr/>
        </p:nvSpPr>
        <p:spPr>
          <a:xfrm>
            <a:off x="1828800" y="7571232"/>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Finland</a:t>
            </a:r>
            <a:endParaRPr lang="en-US" sz="1700" dirty="0"/>
          </a:p>
        </p:txBody>
      </p:sp>
      <p:sp>
        <p:nvSpPr>
          <p:cNvPr id="242" name="Text 242"/>
          <p:cNvSpPr txBox="1"/>
          <p:nvPr/>
        </p:nvSpPr>
        <p:spPr>
          <a:xfrm>
            <a:off x="4434840" y="7562088"/>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243" name="Shape 243"/>
          <p:cNvSpPr/>
          <p:nvPr/>
        </p:nvSpPr>
        <p:spPr>
          <a:xfrm>
            <a:off x="4892040" y="7662672"/>
            <a:ext cx="109728" cy="109728"/>
          </a:xfrm>
          <a:prstGeom prst="ellipse">
            <a:avLst/>
          </a:prstGeom>
          <a:solidFill>
            <a:srgbClr val="1C2B2F"/>
          </a:solidFill>
          <a:ln w="12700">
            <a:solidFill>
              <a:srgbClr val="1C2B2F"/>
            </a:solidFill>
            <a:prstDash val="solid"/>
          </a:ln>
        </p:spPr>
      </p:sp>
      <p:sp>
        <p:nvSpPr>
          <p:cNvPr id="244" name="Shape 244"/>
          <p:cNvSpPr/>
          <p:nvPr/>
        </p:nvSpPr>
        <p:spPr>
          <a:xfrm>
            <a:off x="5074920" y="7662672"/>
            <a:ext cx="109728" cy="109728"/>
          </a:xfrm>
          <a:prstGeom prst="ellipse">
            <a:avLst/>
          </a:prstGeom>
          <a:solidFill>
            <a:srgbClr val="1C2B2F"/>
          </a:solidFill>
          <a:ln w="12700">
            <a:solidFill>
              <a:srgbClr val="1C2B2F"/>
            </a:solidFill>
            <a:prstDash val="solid"/>
          </a:ln>
        </p:spPr>
      </p:sp>
      <p:sp>
        <p:nvSpPr>
          <p:cNvPr id="245" name="Shape 245"/>
          <p:cNvSpPr/>
          <p:nvPr/>
        </p:nvSpPr>
        <p:spPr>
          <a:xfrm>
            <a:off x="5257800" y="7662672"/>
            <a:ext cx="109728" cy="109728"/>
          </a:xfrm>
          <a:prstGeom prst="ellipse">
            <a:avLst/>
          </a:prstGeom>
          <a:solidFill>
            <a:srgbClr val="1C2B2F"/>
          </a:solidFill>
          <a:ln w="12700">
            <a:solidFill>
              <a:srgbClr val="1C2B2F"/>
            </a:solidFill>
            <a:prstDash val="solid"/>
          </a:ln>
        </p:spPr>
      </p:sp>
      <p:sp>
        <p:nvSpPr>
          <p:cNvPr id="246" name="Shape 246"/>
          <p:cNvSpPr/>
          <p:nvPr/>
        </p:nvSpPr>
        <p:spPr>
          <a:xfrm>
            <a:off x="5440680" y="7662672"/>
            <a:ext cx="109728" cy="109728"/>
          </a:xfrm>
          <a:prstGeom prst="ellipse">
            <a:avLst/>
          </a:prstGeom>
          <a:solidFill>
            <a:srgbClr val="1C2B2F"/>
          </a:solidFill>
          <a:ln w="12700">
            <a:solidFill>
              <a:srgbClr val="1C2B2F"/>
            </a:solidFill>
            <a:prstDash val="solid"/>
          </a:ln>
        </p:spPr>
      </p:sp>
      <p:sp>
        <p:nvSpPr>
          <p:cNvPr id="247" name="Shape 247"/>
          <p:cNvSpPr/>
          <p:nvPr/>
        </p:nvSpPr>
        <p:spPr>
          <a:xfrm>
            <a:off x="5623560" y="7662672"/>
            <a:ext cx="109728" cy="109728"/>
          </a:xfrm>
          <a:prstGeom prst="ellipse">
            <a:avLst/>
          </a:prstGeom>
          <a:solidFill>
            <a:srgbClr val="1C2B2F"/>
          </a:solidFill>
          <a:ln w="12700">
            <a:solidFill>
              <a:srgbClr val="1C2B2F"/>
            </a:solidFill>
            <a:prstDash val="solid"/>
          </a:ln>
        </p:spPr>
      </p:sp>
      <p:sp>
        <p:nvSpPr>
          <p:cNvPr id="248" name="Text 248"/>
          <p:cNvSpPr txBox="1"/>
          <p:nvPr/>
        </p:nvSpPr>
        <p:spPr>
          <a:xfrm>
            <a:off x="6995160" y="7562088"/>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2</a:t>
            </a:r>
            <a:endParaRPr lang="en-US" sz="1800" dirty="0"/>
          </a:p>
        </p:txBody>
      </p:sp>
      <p:sp>
        <p:nvSpPr>
          <p:cNvPr id="249" name="Shape 249"/>
          <p:cNvSpPr/>
          <p:nvPr/>
        </p:nvSpPr>
        <p:spPr>
          <a:xfrm>
            <a:off x="7452360" y="7662672"/>
            <a:ext cx="109728" cy="109728"/>
          </a:xfrm>
          <a:prstGeom prst="ellipse">
            <a:avLst/>
          </a:prstGeom>
          <a:solidFill>
            <a:srgbClr val="1C2B2F"/>
          </a:solidFill>
          <a:ln w="12700">
            <a:solidFill>
              <a:srgbClr val="1C2B2F"/>
            </a:solidFill>
            <a:prstDash val="solid"/>
          </a:ln>
        </p:spPr>
      </p:sp>
      <p:sp>
        <p:nvSpPr>
          <p:cNvPr id="250" name="Shape 250"/>
          <p:cNvSpPr/>
          <p:nvPr/>
        </p:nvSpPr>
        <p:spPr>
          <a:xfrm>
            <a:off x="7635240" y="7662672"/>
            <a:ext cx="109728" cy="109728"/>
          </a:xfrm>
          <a:prstGeom prst="ellipse">
            <a:avLst/>
          </a:prstGeom>
          <a:solidFill>
            <a:srgbClr val="1C2B2F"/>
          </a:solidFill>
          <a:ln w="12700">
            <a:solidFill>
              <a:srgbClr val="1C2B2F"/>
            </a:solidFill>
            <a:prstDash val="solid"/>
          </a:ln>
        </p:spPr>
      </p:sp>
      <p:sp>
        <p:nvSpPr>
          <p:cNvPr id="251" name="Shape 251"/>
          <p:cNvSpPr/>
          <p:nvPr/>
        </p:nvSpPr>
        <p:spPr>
          <a:xfrm>
            <a:off x="7818120" y="7662672"/>
            <a:ext cx="109728" cy="109728"/>
          </a:xfrm>
          <a:prstGeom prst="ellipse">
            <a:avLst/>
          </a:prstGeom>
          <a:solidFill>
            <a:srgbClr val="E3E0D7"/>
          </a:solidFill>
          <a:ln w="12700">
            <a:solidFill>
              <a:srgbClr val="E3E0D7"/>
            </a:solidFill>
            <a:prstDash val="solid"/>
          </a:ln>
        </p:spPr>
      </p:sp>
      <p:sp>
        <p:nvSpPr>
          <p:cNvPr id="252" name="Shape 252"/>
          <p:cNvSpPr/>
          <p:nvPr/>
        </p:nvSpPr>
        <p:spPr>
          <a:xfrm>
            <a:off x="8001000" y="7662672"/>
            <a:ext cx="109728" cy="109728"/>
          </a:xfrm>
          <a:prstGeom prst="ellipse">
            <a:avLst/>
          </a:prstGeom>
          <a:solidFill>
            <a:srgbClr val="E3E0D7"/>
          </a:solidFill>
          <a:ln w="12700">
            <a:solidFill>
              <a:srgbClr val="E3E0D7"/>
            </a:solidFill>
            <a:prstDash val="solid"/>
          </a:ln>
        </p:spPr>
      </p:sp>
      <p:sp>
        <p:nvSpPr>
          <p:cNvPr id="253" name="Shape 253"/>
          <p:cNvSpPr/>
          <p:nvPr/>
        </p:nvSpPr>
        <p:spPr>
          <a:xfrm>
            <a:off x="8183880" y="7662672"/>
            <a:ext cx="109728" cy="109728"/>
          </a:xfrm>
          <a:prstGeom prst="ellipse">
            <a:avLst/>
          </a:prstGeom>
          <a:solidFill>
            <a:srgbClr val="E3E0D7"/>
          </a:solidFill>
          <a:ln w="12700">
            <a:solidFill>
              <a:srgbClr val="E3E0D7"/>
            </a:solidFill>
            <a:prstDash val="solid"/>
          </a:ln>
        </p:spPr>
      </p:sp>
      <p:sp>
        <p:nvSpPr>
          <p:cNvPr id="254" name="Text 254"/>
          <p:cNvSpPr txBox="1"/>
          <p:nvPr/>
        </p:nvSpPr>
        <p:spPr>
          <a:xfrm>
            <a:off x="9555480" y="7562088"/>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2</a:t>
            </a:r>
            <a:endParaRPr lang="en-US" sz="1800" dirty="0"/>
          </a:p>
        </p:txBody>
      </p:sp>
      <p:sp>
        <p:nvSpPr>
          <p:cNvPr id="255" name="Shape 255"/>
          <p:cNvSpPr/>
          <p:nvPr/>
        </p:nvSpPr>
        <p:spPr>
          <a:xfrm>
            <a:off x="10012680" y="7662672"/>
            <a:ext cx="109728" cy="109728"/>
          </a:xfrm>
          <a:prstGeom prst="ellipse">
            <a:avLst/>
          </a:prstGeom>
          <a:solidFill>
            <a:srgbClr val="1C2B2F"/>
          </a:solidFill>
          <a:ln w="12700">
            <a:solidFill>
              <a:srgbClr val="1C2B2F"/>
            </a:solidFill>
            <a:prstDash val="solid"/>
          </a:ln>
        </p:spPr>
      </p:sp>
      <p:sp>
        <p:nvSpPr>
          <p:cNvPr id="256" name="Shape 256"/>
          <p:cNvSpPr/>
          <p:nvPr/>
        </p:nvSpPr>
        <p:spPr>
          <a:xfrm>
            <a:off x="10195560" y="7662672"/>
            <a:ext cx="109728" cy="109728"/>
          </a:xfrm>
          <a:prstGeom prst="ellipse">
            <a:avLst/>
          </a:prstGeom>
          <a:solidFill>
            <a:srgbClr val="1C2B2F"/>
          </a:solidFill>
          <a:ln w="12700">
            <a:solidFill>
              <a:srgbClr val="1C2B2F"/>
            </a:solidFill>
            <a:prstDash val="solid"/>
          </a:ln>
        </p:spPr>
      </p:sp>
      <p:sp>
        <p:nvSpPr>
          <p:cNvPr id="257" name="Shape 257"/>
          <p:cNvSpPr/>
          <p:nvPr/>
        </p:nvSpPr>
        <p:spPr>
          <a:xfrm>
            <a:off x="10378440" y="7662672"/>
            <a:ext cx="109728" cy="109728"/>
          </a:xfrm>
          <a:prstGeom prst="ellipse">
            <a:avLst/>
          </a:prstGeom>
          <a:solidFill>
            <a:srgbClr val="E3E0D7"/>
          </a:solidFill>
          <a:ln w="12700">
            <a:solidFill>
              <a:srgbClr val="E3E0D7"/>
            </a:solidFill>
            <a:prstDash val="solid"/>
          </a:ln>
        </p:spPr>
      </p:sp>
      <p:sp>
        <p:nvSpPr>
          <p:cNvPr id="258" name="Shape 258"/>
          <p:cNvSpPr/>
          <p:nvPr/>
        </p:nvSpPr>
        <p:spPr>
          <a:xfrm>
            <a:off x="10561320" y="7662672"/>
            <a:ext cx="109728" cy="109728"/>
          </a:xfrm>
          <a:prstGeom prst="ellipse">
            <a:avLst/>
          </a:prstGeom>
          <a:solidFill>
            <a:srgbClr val="E3E0D7"/>
          </a:solidFill>
          <a:ln w="12700">
            <a:solidFill>
              <a:srgbClr val="E3E0D7"/>
            </a:solidFill>
            <a:prstDash val="solid"/>
          </a:ln>
        </p:spPr>
      </p:sp>
      <p:sp>
        <p:nvSpPr>
          <p:cNvPr id="259" name="Shape 259"/>
          <p:cNvSpPr/>
          <p:nvPr/>
        </p:nvSpPr>
        <p:spPr>
          <a:xfrm>
            <a:off x="10744200" y="7662672"/>
            <a:ext cx="109728" cy="109728"/>
          </a:xfrm>
          <a:prstGeom prst="ellipse">
            <a:avLst/>
          </a:prstGeom>
          <a:solidFill>
            <a:srgbClr val="E3E0D7"/>
          </a:solidFill>
          <a:ln w="12700">
            <a:solidFill>
              <a:srgbClr val="E3E0D7"/>
            </a:solidFill>
            <a:prstDash val="solid"/>
          </a:ln>
        </p:spPr>
      </p:sp>
      <p:sp>
        <p:nvSpPr>
          <p:cNvPr id="260" name="Text 260"/>
          <p:cNvSpPr txBox="1"/>
          <p:nvPr/>
        </p:nvSpPr>
        <p:spPr>
          <a:xfrm>
            <a:off x="12115800" y="7562088"/>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261" name="Shape 261"/>
          <p:cNvSpPr/>
          <p:nvPr/>
        </p:nvSpPr>
        <p:spPr>
          <a:xfrm>
            <a:off x="12573000" y="7662672"/>
            <a:ext cx="109728" cy="109728"/>
          </a:xfrm>
          <a:prstGeom prst="ellipse">
            <a:avLst/>
          </a:prstGeom>
          <a:solidFill>
            <a:srgbClr val="1C2B2F"/>
          </a:solidFill>
          <a:ln w="12700">
            <a:solidFill>
              <a:srgbClr val="1C2B2F"/>
            </a:solidFill>
            <a:prstDash val="solid"/>
          </a:ln>
        </p:spPr>
      </p:sp>
      <p:sp>
        <p:nvSpPr>
          <p:cNvPr id="262" name="Shape 262"/>
          <p:cNvSpPr/>
          <p:nvPr/>
        </p:nvSpPr>
        <p:spPr>
          <a:xfrm>
            <a:off x="12755880" y="7662672"/>
            <a:ext cx="109728" cy="109728"/>
          </a:xfrm>
          <a:prstGeom prst="ellipse">
            <a:avLst/>
          </a:prstGeom>
          <a:solidFill>
            <a:srgbClr val="1C2B2F"/>
          </a:solidFill>
          <a:ln w="12700">
            <a:solidFill>
              <a:srgbClr val="1C2B2F"/>
            </a:solidFill>
            <a:prstDash val="solid"/>
          </a:ln>
        </p:spPr>
      </p:sp>
      <p:sp>
        <p:nvSpPr>
          <p:cNvPr id="263" name="Shape 263"/>
          <p:cNvSpPr/>
          <p:nvPr/>
        </p:nvSpPr>
        <p:spPr>
          <a:xfrm>
            <a:off x="12938760" y="7662672"/>
            <a:ext cx="109728" cy="109728"/>
          </a:xfrm>
          <a:prstGeom prst="ellipse">
            <a:avLst/>
          </a:prstGeom>
          <a:solidFill>
            <a:srgbClr val="1C2B2F"/>
          </a:solidFill>
          <a:ln w="12700">
            <a:solidFill>
              <a:srgbClr val="1C2B2F"/>
            </a:solidFill>
            <a:prstDash val="solid"/>
          </a:ln>
        </p:spPr>
      </p:sp>
      <p:sp>
        <p:nvSpPr>
          <p:cNvPr id="264" name="Shape 264"/>
          <p:cNvSpPr/>
          <p:nvPr/>
        </p:nvSpPr>
        <p:spPr>
          <a:xfrm>
            <a:off x="13121640" y="7662672"/>
            <a:ext cx="109728" cy="109728"/>
          </a:xfrm>
          <a:prstGeom prst="ellipse">
            <a:avLst/>
          </a:prstGeom>
          <a:solidFill>
            <a:srgbClr val="E3E0D7"/>
          </a:solidFill>
          <a:ln w="12700">
            <a:solidFill>
              <a:srgbClr val="E3E0D7"/>
            </a:solidFill>
            <a:prstDash val="solid"/>
          </a:ln>
        </p:spPr>
      </p:sp>
      <p:sp>
        <p:nvSpPr>
          <p:cNvPr id="265" name="Shape 265"/>
          <p:cNvSpPr/>
          <p:nvPr/>
        </p:nvSpPr>
        <p:spPr>
          <a:xfrm>
            <a:off x="13304520" y="7662672"/>
            <a:ext cx="109728" cy="109728"/>
          </a:xfrm>
          <a:prstGeom prst="ellipse">
            <a:avLst/>
          </a:prstGeom>
          <a:solidFill>
            <a:srgbClr val="E3E0D7"/>
          </a:solidFill>
          <a:ln w="12700">
            <a:solidFill>
              <a:srgbClr val="E3E0D7"/>
            </a:solidFill>
            <a:prstDash val="solid"/>
          </a:ln>
        </p:spPr>
      </p:sp>
      <p:sp>
        <p:nvSpPr>
          <p:cNvPr id="266" name="Text 266"/>
          <p:cNvSpPr txBox="1"/>
          <p:nvPr/>
        </p:nvSpPr>
        <p:spPr>
          <a:xfrm>
            <a:off x="14676120" y="7552944"/>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12</a:t>
            </a:r>
            <a:endParaRPr lang="en-US" sz="2000" dirty="0"/>
          </a:p>
        </p:txBody>
      </p:sp>
      <p:sp>
        <p:nvSpPr>
          <p:cNvPr id="267" name="Shape 267"/>
          <p:cNvSpPr/>
          <p:nvPr/>
        </p:nvSpPr>
        <p:spPr>
          <a:xfrm>
            <a:off x="15361920" y="7680960"/>
            <a:ext cx="1508760" cy="82296"/>
          </a:xfrm>
          <a:prstGeom prst="roundRect">
            <a:avLst>
              <a:gd name="adj" fmla="val 44444"/>
            </a:avLst>
          </a:prstGeom>
          <a:solidFill>
            <a:srgbClr val="E3E0D7"/>
          </a:solidFill>
          <a:ln w="12700">
            <a:solidFill>
              <a:srgbClr val="E3E0D7"/>
            </a:solidFill>
            <a:prstDash val="solid"/>
          </a:ln>
        </p:spPr>
      </p:sp>
      <p:sp>
        <p:nvSpPr>
          <p:cNvPr id="268" name="Shape 268"/>
          <p:cNvSpPr/>
          <p:nvPr/>
        </p:nvSpPr>
        <p:spPr>
          <a:xfrm>
            <a:off x="15361920" y="7680960"/>
            <a:ext cx="905256" cy="82296"/>
          </a:xfrm>
          <a:prstGeom prst="roundRect">
            <a:avLst>
              <a:gd name="adj" fmla="val 44444"/>
            </a:avLst>
          </a:prstGeom>
          <a:solidFill>
            <a:srgbClr val="3E6670"/>
          </a:solidFill>
          <a:ln w="12700">
            <a:solidFill>
              <a:srgbClr val="3E6670"/>
            </a:solidFill>
            <a:prstDash val="solid"/>
          </a:ln>
        </p:spPr>
      </p:sp>
      <p:sp>
        <p:nvSpPr>
          <p:cNvPr id="269" name="Shape 269"/>
          <p:cNvSpPr/>
          <p:nvPr/>
        </p:nvSpPr>
        <p:spPr>
          <a:xfrm>
            <a:off x="1143000" y="7964424"/>
            <a:ext cx="16002000" cy="420624"/>
          </a:xfrm>
          <a:prstGeom prst="roundRect">
            <a:avLst>
              <a:gd name="adj" fmla="val 21739"/>
            </a:avLst>
          </a:prstGeom>
          <a:solidFill>
            <a:srgbClr val="FCFBF8"/>
          </a:solidFill>
          <a:ln w="9525">
            <a:solidFill>
              <a:srgbClr val="E3E0D7"/>
            </a:solidFill>
            <a:prstDash val="solid"/>
          </a:ln>
        </p:spPr>
      </p:sp>
      <p:sp>
        <p:nvSpPr>
          <p:cNvPr id="270" name="Shape 270"/>
          <p:cNvSpPr/>
          <p:nvPr/>
        </p:nvSpPr>
        <p:spPr>
          <a:xfrm>
            <a:off x="4297680" y="7964424"/>
            <a:ext cx="2331720" cy="420624"/>
          </a:xfrm>
          <a:prstGeom prst="rect">
            <a:avLst/>
          </a:prstGeom>
          <a:solidFill>
            <a:srgbClr val="E7EDEC"/>
          </a:solidFill>
          <a:ln w="12700">
            <a:solidFill>
              <a:srgbClr val="E7EDEC"/>
            </a:solidFill>
            <a:prstDash val="solid"/>
          </a:ln>
        </p:spPr>
      </p:sp>
      <p:sp>
        <p:nvSpPr>
          <p:cNvPr id="271" name="Text 271"/>
          <p:cNvSpPr txBox="1"/>
          <p:nvPr/>
        </p:nvSpPr>
        <p:spPr>
          <a:xfrm>
            <a:off x="1417320" y="8065008"/>
            <a:ext cx="457200" cy="274320"/>
          </a:xfrm>
          <a:prstGeom prst="rect">
            <a:avLst/>
          </a:prstGeom>
          <a:noFill/>
          <a:ln/>
        </p:spPr>
        <p:txBody>
          <a:bodyPr wrap="square" lIns="0" tIns="0" rIns="0" bIns="0" rtlCol="0" anchor="t"/>
          <a:lstStyle/>
          <a:p>
            <a:pPr indent="0" marL="0">
              <a:buNone/>
            </a:pPr>
            <a:r>
              <a:rPr lang="en-US" sz="1500" dirty="0">
                <a:solidFill>
                  <a:srgbClr val="8A9A9D"/>
                </a:solidFill>
                <a:latin typeface="Geist" pitchFamily="34" charset="0"/>
                <a:ea typeface="Geist" pitchFamily="34" charset="-122"/>
                <a:cs typeface="Geist" pitchFamily="34" charset="-120"/>
              </a:rPr>
              <a:t>9.</a:t>
            </a:r>
            <a:endParaRPr lang="en-US" sz="1500" dirty="0"/>
          </a:p>
        </p:txBody>
      </p:sp>
      <p:sp>
        <p:nvSpPr>
          <p:cNvPr id="272" name="Text 272"/>
          <p:cNvSpPr txBox="1"/>
          <p:nvPr/>
        </p:nvSpPr>
        <p:spPr>
          <a:xfrm>
            <a:off x="1828800" y="8046720"/>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Poland</a:t>
            </a:r>
            <a:endParaRPr lang="en-US" sz="1700" dirty="0"/>
          </a:p>
        </p:txBody>
      </p:sp>
      <p:sp>
        <p:nvSpPr>
          <p:cNvPr id="273" name="Text 273"/>
          <p:cNvSpPr txBox="1"/>
          <p:nvPr/>
        </p:nvSpPr>
        <p:spPr>
          <a:xfrm>
            <a:off x="4434840" y="803757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274" name="Shape 274"/>
          <p:cNvSpPr/>
          <p:nvPr/>
        </p:nvSpPr>
        <p:spPr>
          <a:xfrm>
            <a:off x="4892040" y="8138160"/>
            <a:ext cx="109728" cy="109728"/>
          </a:xfrm>
          <a:prstGeom prst="ellipse">
            <a:avLst/>
          </a:prstGeom>
          <a:solidFill>
            <a:srgbClr val="1C2B2F"/>
          </a:solidFill>
          <a:ln w="12700">
            <a:solidFill>
              <a:srgbClr val="1C2B2F"/>
            </a:solidFill>
            <a:prstDash val="solid"/>
          </a:ln>
        </p:spPr>
      </p:sp>
      <p:sp>
        <p:nvSpPr>
          <p:cNvPr id="275" name="Shape 275"/>
          <p:cNvSpPr/>
          <p:nvPr/>
        </p:nvSpPr>
        <p:spPr>
          <a:xfrm>
            <a:off x="5074920" y="8138160"/>
            <a:ext cx="109728" cy="109728"/>
          </a:xfrm>
          <a:prstGeom prst="ellipse">
            <a:avLst/>
          </a:prstGeom>
          <a:solidFill>
            <a:srgbClr val="1C2B2F"/>
          </a:solidFill>
          <a:ln w="12700">
            <a:solidFill>
              <a:srgbClr val="1C2B2F"/>
            </a:solidFill>
            <a:prstDash val="solid"/>
          </a:ln>
        </p:spPr>
      </p:sp>
      <p:sp>
        <p:nvSpPr>
          <p:cNvPr id="276" name="Shape 276"/>
          <p:cNvSpPr/>
          <p:nvPr/>
        </p:nvSpPr>
        <p:spPr>
          <a:xfrm>
            <a:off x="5257800" y="8138160"/>
            <a:ext cx="109728" cy="109728"/>
          </a:xfrm>
          <a:prstGeom prst="ellipse">
            <a:avLst/>
          </a:prstGeom>
          <a:solidFill>
            <a:srgbClr val="1C2B2F"/>
          </a:solidFill>
          <a:ln w="12700">
            <a:solidFill>
              <a:srgbClr val="1C2B2F"/>
            </a:solidFill>
            <a:prstDash val="solid"/>
          </a:ln>
        </p:spPr>
      </p:sp>
      <p:sp>
        <p:nvSpPr>
          <p:cNvPr id="277" name="Shape 277"/>
          <p:cNvSpPr/>
          <p:nvPr/>
        </p:nvSpPr>
        <p:spPr>
          <a:xfrm>
            <a:off x="5440680" y="8138160"/>
            <a:ext cx="109728" cy="109728"/>
          </a:xfrm>
          <a:prstGeom prst="ellipse">
            <a:avLst/>
          </a:prstGeom>
          <a:solidFill>
            <a:srgbClr val="1C2B2F"/>
          </a:solidFill>
          <a:ln w="12700">
            <a:solidFill>
              <a:srgbClr val="1C2B2F"/>
            </a:solidFill>
            <a:prstDash val="solid"/>
          </a:ln>
        </p:spPr>
      </p:sp>
      <p:sp>
        <p:nvSpPr>
          <p:cNvPr id="278" name="Shape 278"/>
          <p:cNvSpPr/>
          <p:nvPr/>
        </p:nvSpPr>
        <p:spPr>
          <a:xfrm>
            <a:off x="5623560" y="8138160"/>
            <a:ext cx="109728" cy="109728"/>
          </a:xfrm>
          <a:prstGeom prst="ellipse">
            <a:avLst/>
          </a:prstGeom>
          <a:solidFill>
            <a:srgbClr val="1C2B2F"/>
          </a:solidFill>
          <a:ln w="12700">
            <a:solidFill>
              <a:srgbClr val="1C2B2F"/>
            </a:solidFill>
            <a:prstDash val="solid"/>
          </a:ln>
        </p:spPr>
      </p:sp>
      <p:sp>
        <p:nvSpPr>
          <p:cNvPr id="279" name="Text 279"/>
          <p:cNvSpPr txBox="1"/>
          <p:nvPr/>
        </p:nvSpPr>
        <p:spPr>
          <a:xfrm>
            <a:off x="6995160" y="803757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4</a:t>
            </a:r>
            <a:endParaRPr lang="en-US" sz="1800" dirty="0"/>
          </a:p>
        </p:txBody>
      </p:sp>
      <p:sp>
        <p:nvSpPr>
          <p:cNvPr id="280" name="Shape 280"/>
          <p:cNvSpPr/>
          <p:nvPr/>
        </p:nvSpPr>
        <p:spPr>
          <a:xfrm>
            <a:off x="7452360" y="8138160"/>
            <a:ext cx="109728" cy="109728"/>
          </a:xfrm>
          <a:prstGeom prst="ellipse">
            <a:avLst/>
          </a:prstGeom>
          <a:solidFill>
            <a:srgbClr val="1C2B2F"/>
          </a:solidFill>
          <a:ln w="12700">
            <a:solidFill>
              <a:srgbClr val="1C2B2F"/>
            </a:solidFill>
            <a:prstDash val="solid"/>
          </a:ln>
        </p:spPr>
      </p:sp>
      <p:sp>
        <p:nvSpPr>
          <p:cNvPr id="281" name="Shape 281"/>
          <p:cNvSpPr/>
          <p:nvPr/>
        </p:nvSpPr>
        <p:spPr>
          <a:xfrm>
            <a:off x="7635240" y="8138160"/>
            <a:ext cx="109728" cy="109728"/>
          </a:xfrm>
          <a:prstGeom prst="ellipse">
            <a:avLst/>
          </a:prstGeom>
          <a:solidFill>
            <a:srgbClr val="1C2B2F"/>
          </a:solidFill>
          <a:ln w="12700">
            <a:solidFill>
              <a:srgbClr val="1C2B2F"/>
            </a:solidFill>
            <a:prstDash val="solid"/>
          </a:ln>
        </p:spPr>
      </p:sp>
      <p:sp>
        <p:nvSpPr>
          <p:cNvPr id="282" name="Shape 282"/>
          <p:cNvSpPr/>
          <p:nvPr/>
        </p:nvSpPr>
        <p:spPr>
          <a:xfrm>
            <a:off x="7818120" y="8138160"/>
            <a:ext cx="109728" cy="109728"/>
          </a:xfrm>
          <a:prstGeom prst="ellipse">
            <a:avLst/>
          </a:prstGeom>
          <a:solidFill>
            <a:srgbClr val="1C2B2F"/>
          </a:solidFill>
          <a:ln w="12700">
            <a:solidFill>
              <a:srgbClr val="1C2B2F"/>
            </a:solidFill>
            <a:prstDash val="solid"/>
          </a:ln>
        </p:spPr>
      </p:sp>
      <p:sp>
        <p:nvSpPr>
          <p:cNvPr id="283" name="Shape 283"/>
          <p:cNvSpPr/>
          <p:nvPr/>
        </p:nvSpPr>
        <p:spPr>
          <a:xfrm>
            <a:off x="8001000" y="8138160"/>
            <a:ext cx="109728" cy="109728"/>
          </a:xfrm>
          <a:prstGeom prst="ellipse">
            <a:avLst/>
          </a:prstGeom>
          <a:solidFill>
            <a:srgbClr val="1C2B2F"/>
          </a:solidFill>
          <a:ln w="12700">
            <a:solidFill>
              <a:srgbClr val="1C2B2F"/>
            </a:solidFill>
            <a:prstDash val="solid"/>
          </a:ln>
        </p:spPr>
      </p:sp>
      <p:sp>
        <p:nvSpPr>
          <p:cNvPr id="284" name="Shape 284"/>
          <p:cNvSpPr/>
          <p:nvPr/>
        </p:nvSpPr>
        <p:spPr>
          <a:xfrm>
            <a:off x="8183880" y="8138160"/>
            <a:ext cx="109728" cy="109728"/>
          </a:xfrm>
          <a:prstGeom prst="ellipse">
            <a:avLst/>
          </a:prstGeom>
          <a:solidFill>
            <a:srgbClr val="E3E0D7"/>
          </a:solidFill>
          <a:ln w="12700">
            <a:solidFill>
              <a:srgbClr val="E3E0D7"/>
            </a:solidFill>
            <a:prstDash val="solid"/>
          </a:ln>
        </p:spPr>
      </p:sp>
      <p:sp>
        <p:nvSpPr>
          <p:cNvPr id="285" name="Text 285"/>
          <p:cNvSpPr txBox="1"/>
          <p:nvPr/>
        </p:nvSpPr>
        <p:spPr>
          <a:xfrm>
            <a:off x="9555480" y="803757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1</a:t>
            </a:r>
            <a:endParaRPr lang="en-US" sz="1800" dirty="0"/>
          </a:p>
        </p:txBody>
      </p:sp>
      <p:sp>
        <p:nvSpPr>
          <p:cNvPr id="286" name="Shape 286"/>
          <p:cNvSpPr/>
          <p:nvPr/>
        </p:nvSpPr>
        <p:spPr>
          <a:xfrm>
            <a:off x="10012680" y="8138160"/>
            <a:ext cx="109728" cy="109728"/>
          </a:xfrm>
          <a:prstGeom prst="ellipse">
            <a:avLst/>
          </a:prstGeom>
          <a:solidFill>
            <a:srgbClr val="1C2B2F"/>
          </a:solidFill>
          <a:ln w="12700">
            <a:solidFill>
              <a:srgbClr val="1C2B2F"/>
            </a:solidFill>
            <a:prstDash val="solid"/>
          </a:ln>
        </p:spPr>
      </p:sp>
      <p:sp>
        <p:nvSpPr>
          <p:cNvPr id="287" name="Shape 287"/>
          <p:cNvSpPr/>
          <p:nvPr/>
        </p:nvSpPr>
        <p:spPr>
          <a:xfrm>
            <a:off x="10195560" y="8138160"/>
            <a:ext cx="109728" cy="109728"/>
          </a:xfrm>
          <a:prstGeom prst="ellipse">
            <a:avLst/>
          </a:prstGeom>
          <a:solidFill>
            <a:srgbClr val="E3E0D7"/>
          </a:solidFill>
          <a:ln w="12700">
            <a:solidFill>
              <a:srgbClr val="E3E0D7"/>
            </a:solidFill>
            <a:prstDash val="solid"/>
          </a:ln>
        </p:spPr>
      </p:sp>
      <p:sp>
        <p:nvSpPr>
          <p:cNvPr id="288" name="Shape 288"/>
          <p:cNvSpPr/>
          <p:nvPr/>
        </p:nvSpPr>
        <p:spPr>
          <a:xfrm>
            <a:off x="10378440" y="8138160"/>
            <a:ext cx="109728" cy="109728"/>
          </a:xfrm>
          <a:prstGeom prst="ellipse">
            <a:avLst/>
          </a:prstGeom>
          <a:solidFill>
            <a:srgbClr val="E3E0D7"/>
          </a:solidFill>
          <a:ln w="12700">
            <a:solidFill>
              <a:srgbClr val="E3E0D7"/>
            </a:solidFill>
            <a:prstDash val="solid"/>
          </a:ln>
        </p:spPr>
      </p:sp>
      <p:sp>
        <p:nvSpPr>
          <p:cNvPr id="289" name="Shape 289"/>
          <p:cNvSpPr/>
          <p:nvPr/>
        </p:nvSpPr>
        <p:spPr>
          <a:xfrm>
            <a:off x="10561320" y="8138160"/>
            <a:ext cx="109728" cy="109728"/>
          </a:xfrm>
          <a:prstGeom prst="ellipse">
            <a:avLst/>
          </a:prstGeom>
          <a:solidFill>
            <a:srgbClr val="E3E0D7"/>
          </a:solidFill>
          <a:ln w="12700">
            <a:solidFill>
              <a:srgbClr val="E3E0D7"/>
            </a:solidFill>
            <a:prstDash val="solid"/>
          </a:ln>
        </p:spPr>
      </p:sp>
      <p:sp>
        <p:nvSpPr>
          <p:cNvPr id="290" name="Shape 290"/>
          <p:cNvSpPr/>
          <p:nvPr/>
        </p:nvSpPr>
        <p:spPr>
          <a:xfrm>
            <a:off x="10744200" y="8138160"/>
            <a:ext cx="109728" cy="109728"/>
          </a:xfrm>
          <a:prstGeom prst="ellipse">
            <a:avLst/>
          </a:prstGeom>
          <a:solidFill>
            <a:srgbClr val="E3E0D7"/>
          </a:solidFill>
          <a:ln w="12700">
            <a:solidFill>
              <a:srgbClr val="E3E0D7"/>
            </a:solidFill>
            <a:prstDash val="solid"/>
          </a:ln>
        </p:spPr>
      </p:sp>
      <p:sp>
        <p:nvSpPr>
          <p:cNvPr id="291" name="Text 291"/>
          <p:cNvSpPr txBox="1"/>
          <p:nvPr/>
        </p:nvSpPr>
        <p:spPr>
          <a:xfrm>
            <a:off x="12115800" y="8037576"/>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2</a:t>
            </a:r>
            <a:endParaRPr lang="en-US" sz="1800" dirty="0"/>
          </a:p>
        </p:txBody>
      </p:sp>
      <p:sp>
        <p:nvSpPr>
          <p:cNvPr id="292" name="Shape 292"/>
          <p:cNvSpPr/>
          <p:nvPr/>
        </p:nvSpPr>
        <p:spPr>
          <a:xfrm>
            <a:off x="12573000" y="8138160"/>
            <a:ext cx="109728" cy="109728"/>
          </a:xfrm>
          <a:prstGeom prst="ellipse">
            <a:avLst/>
          </a:prstGeom>
          <a:solidFill>
            <a:srgbClr val="1C2B2F"/>
          </a:solidFill>
          <a:ln w="12700">
            <a:solidFill>
              <a:srgbClr val="1C2B2F"/>
            </a:solidFill>
            <a:prstDash val="solid"/>
          </a:ln>
        </p:spPr>
      </p:sp>
      <p:sp>
        <p:nvSpPr>
          <p:cNvPr id="293" name="Shape 293"/>
          <p:cNvSpPr/>
          <p:nvPr/>
        </p:nvSpPr>
        <p:spPr>
          <a:xfrm>
            <a:off x="12755880" y="8138160"/>
            <a:ext cx="109728" cy="109728"/>
          </a:xfrm>
          <a:prstGeom prst="ellipse">
            <a:avLst/>
          </a:prstGeom>
          <a:solidFill>
            <a:srgbClr val="1C2B2F"/>
          </a:solidFill>
          <a:ln w="12700">
            <a:solidFill>
              <a:srgbClr val="1C2B2F"/>
            </a:solidFill>
            <a:prstDash val="solid"/>
          </a:ln>
        </p:spPr>
      </p:sp>
      <p:sp>
        <p:nvSpPr>
          <p:cNvPr id="294" name="Shape 294"/>
          <p:cNvSpPr/>
          <p:nvPr/>
        </p:nvSpPr>
        <p:spPr>
          <a:xfrm>
            <a:off x="12938760" y="8138160"/>
            <a:ext cx="109728" cy="109728"/>
          </a:xfrm>
          <a:prstGeom prst="ellipse">
            <a:avLst/>
          </a:prstGeom>
          <a:solidFill>
            <a:srgbClr val="E3E0D7"/>
          </a:solidFill>
          <a:ln w="12700">
            <a:solidFill>
              <a:srgbClr val="E3E0D7"/>
            </a:solidFill>
            <a:prstDash val="solid"/>
          </a:ln>
        </p:spPr>
      </p:sp>
      <p:sp>
        <p:nvSpPr>
          <p:cNvPr id="295" name="Shape 295"/>
          <p:cNvSpPr/>
          <p:nvPr/>
        </p:nvSpPr>
        <p:spPr>
          <a:xfrm>
            <a:off x="13121640" y="8138160"/>
            <a:ext cx="109728" cy="109728"/>
          </a:xfrm>
          <a:prstGeom prst="ellipse">
            <a:avLst/>
          </a:prstGeom>
          <a:solidFill>
            <a:srgbClr val="E3E0D7"/>
          </a:solidFill>
          <a:ln w="12700">
            <a:solidFill>
              <a:srgbClr val="E3E0D7"/>
            </a:solidFill>
            <a:prstDash val="solid"/>
          </a:ln>
        </p:spPr>
      </p:sp>
      <p:sp>
        <p:nvSpPr>
          <p:cNvPr id="296" name="Shape 296"/>
          <p:cNvSpPr/>
          <p:nvPr/>
        </p:nvSpPr>
        <p:spPr>
          <a:xfrm>
            <a:off x="13304520" y="8138160"/>
            <a:ext cx="109728" cy="109728"/>
          </a:xfrm>
          <a:prstGeom prst="ellipse">
            <a:avLst/>
          </a:prstGeom>
          <a:solidFill>
            <a:srgbClr val="E3E0D7"/>
          </a:solidFill>
          <a:ln w="12700">
            <a:solidFill>
              <a:srgbClr val="E3E0D7"/>
            </a:solidFill>
            <a:prstDash val="solid"/>
          </a:ln>
        </p:spPr>
      </p:sp>
      <p:sp>
        <p:nvSpPr>
          <p:cNvPr id="297" name="Text 297"/>
          <p:cNvSpPr txBox="1"/>
          <p:nvPr/>
        </p:nvSpPr>
        <p:spPr>
          <a:xfrm>
            <a:off x="14676120" y="8028432"/>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12</a:t>
            </a:r>
            <a:endParaRPr lang="en-US" sz="2000" dirty="0"/>
          </a:p>
        </p:txBody>
      </p:sp>
      <p:sp>
        <p:nvSpPr>
          <p:cNvPr id="298" name="Shape 298"/>
          <p:cNvSpPr/>
          <p:nvPr/>
        </p:nvSpPr>
        <p:spPr>
          <a:xfrm>
            <a:off x="15361920" y="8156448"/>
            <a:ext cx="1508760" cy="82296"/>
          </a:xfrm>
          <a:prstGeom prst="roundRect">
            <a:avLst>
              <a:gd name="adj" fmla="val 44444"/>
            </a:avLst>
          </a:prstGeom>
          <a:solidFill>
            <a:srgbClr val="E3E0D7"/>
          </a:solidFill>
          <a:ln w="12700">
            <a:solidFill>
              <a:srgbClr val="E3E0D7"/>
            </a:solidFill>
            <a:prstDash val="solid"/>
          </a:ln>
        </p:spPr>
      </p:sp>
      <p:sp>
        <p:nvSpPr>
          <p:cNvPr id="299" name="Shape 299"/>
          <p:cNvSpPr/>
          <p:nvPr/>
        </p:nvSpPr>
        <p:spPr>
          <a:xfrm>
            <a:off x="15361920" y="8156448"/>
            <a:ext cx="905256" cy="82296"/>
          </a:xfrm>
          <a:prstGeom prst="roundRect">
            <a:avLst>
              <a:gd name="adj" fmla="val 44444"/>
            </a:avLst>
          </a:prstGeom>
          <a:solidFill>
            <a:srgbClr val="3E6670"/>
          </a:solidFill>
          <a:ln w="12700">
            <a:solidFill>
              <a:srgbClr val="3E6670"/>
            </a:solidFill>
            <a:prstDash val="solid"/>
          </a:ln>
        </p:spPr>
      </p:sp>
      <p:sp>
        <p:nvSpPr>
          <p:cNvPr id="300" name="Shape 300"/>
          <p:cNvSpPr/>
          <p:nvPr/>
        </p:nvSpPr>
        <p:spPr>
          <a:xfrm>
            <a:off x="1143000" y="8439912"/>
            <a:ext cx="16002000" cy="420624"/>
          </a:xfrm>
          <a:prstGeom prst="roundRect">
            <a:avLst>
              <a:gd name="adj" fmla="val 21739"/>
            </a:avLst>
          </a:prstGeom>
          <a:solidFill>
            <a:srgbClr val="FCFBF8"/>
          </a:solidFill>
          <a:ln w="9525">
            <a:solidFill>
              <a:srgbClr val="E3E0D7"/>
            </a:solidFill>
            <a:prstDash val="solid"/>
          </a:ln>
        </p:spPr>
      </p:sp>
      <p:sp>
        <p:nvSpPr>
          <p:cNvPr id="301" name="Shape 301"/>
          <p:cNvSpPr/>
          <p:nvPr/>
        </p:nvSpPr>
        <p:spPr>
          <a:xfrm>
            <a:off x="4297680" y="8439912"/>
            <a:ext cx="2331720" cy="420624"/>
          </a:xfrm>
          <a:prstGeom prst="rect">
            <a:avLst/>
          </a:prstGeom>
          <a:solidFill>
            <a:srgbClr val="E7EDEC"/>
          </a:solidFill>
          <a:ln w="12700">
            <a:solidFill>
              <a:srgbClr val="E7EDEC"/>
            </a:solidFill>
            <a:prstDash val="solid"/>
          </a:ln>
        </p:spPr>
      </p:sp>
      <p:sp>
        <p:nvSpPr>
          <p:cNvPr id="302" name="Text 302"/>
          <p:cNvSpPr txBox="1"/>
          <p:nvPr/>
        </p:nvSpPr>
        <p:spPr>
          <a:xfrm>
            <a:off x="1417320" y="8540496"/>
            <a:ext cx="457200" cy="274320"/>
          </a:xfrm>
          <a:prstGeom prst="rect">
            <a:avLst/>
          </a:prstGeom>
          <a:noFill/>
          <a:ln/>
        </p:spPr>
        <p:txBody>
          <a:bodyPr wrap="square" lIns="0" tIns="0" rIns="0" bIns="0" rtlCol="0" anchor="t"/>
          <a:lstStyle/>
          <a:p>
            <a:pPr indent="0" marL="0">
              <a:buNone/>
            </a:pPr>
            <a:endParaRPr lang="en-US" sz="1500" dirty="0"/>
          </a:p>
        </p:txBody>
      </p:sp>
      <p:sp>
        <p:nvSpPr>
          <p:cNvPr id="303" name="Text 303"/>
          <p:cNvSpPr txBox="1"/>
          <p:nvPr/>
        </p:nvSpPr>
        <p:spPr>
          <a:xfrm>
            <a:off x="1828800" y="8522208"/>
            <a:ext cx="1737360" cy="292608"/>
          </a:xfrm>
          <a:prstGeom prst="rect">
            <a:avLst/>
          </a:prstGeom>
          <a:noFill/>
          <a:ln/>
        </p:spPr>
        <p:txBody>
          <a:bodyPr wrap="square" lIns="0" tIns="0" rIns="0" bIns="0" rtlCol="0" anchor="t"/>
          <a:lstStyle/>
          <a:p>
            <a:pPr indent="0" marL="0">
              <a:buNone/>
            </a:pPr>
            <a:r>
              <a:rPr lang="en-US" sz="1700" dirty="0">
                <a:solidFill>
                  <a:srgbClr val="1C2B2F"/>
                </a:solidFill>
                <a:latin typeface="Geist Medium" pitchFamily="34" charset="0"/>
                <a:ea typeface="Geist Medium" pitchFamily="34" charset="-122"/>
                <a:cs typeface="Geist Medium" pitchFamily="34" charset="-120"/>
              </a:rPr>
              <a:t>Switzerland</a:t>
            </a:r>
            <a:endParaRPr lang="en-US" sz="1700" dirty="0"/>
          </a:p>
        </p:txBody>
      </p:sp>
      <p:sp>
        <p:nvSpPr>
          <p:cNvPr id="304" name="Text 304"/>
          <p:cNvSpPr txBox="1"/>
          <p:nvPr/>
        </p:nvSpPr>
        <p:spPr>
          <a:xfrm>
            <a:off x="3154680" y="8567928"/>
            <a:ext cx="1097280" cy="274320"/>
          </a:xfrm>
          <a:prstGeom prst="rect">
            <a:avLst/>
          </a:prstGeom>
          <a:noFill/>
          <a:ln/>
        </p:spPr>
        <p:txBody>
          <a:bodyPr wrap="square" lIns="0" tIns="0" rIns="0" bIns="0" rtlCol="0" anchor="t"/>
          <a:lstStyle/>
          <a:p>
            <a:pPr indent="0" marL="0">
              <a:buNone/>
            </a:pPr>
            <a:r>
              <a:rPr lang="en-US" sz="1150" dirty="0">
                <a:solidFill>
                  <a:srgbClr val="8A9A9D"/>
                </a:solidFill>
                <a:latin typeface="Geist" pitchFamily="34" charset="0"/>
                <a:ea typeface="Geist" pitchFamily="34" charset="-122"/>
                <a:cs typeface="Geist" pitchFamily="34" charset="-120"/>
              </a:rPr>
              <a:t>outside EU</a:t>
            </a:r>
            <a:endParaRPr lang="en-US" sz="1150" dirty="0"/>
          </a:p>
        </p:txBody>
      </p:sp>
      <p:sp>
        <p:nvSpPr>
          <p:cNvPr id="305" name="Text 305"/>
          <p:cNvSpPr txBox="1"/>
          <p:nvPr/>
        </p:nvSpPr>
        <p:spPr>
          <a:xfrm>
            <a:off x="4434840" y="851306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306" name="Shape 306"/>
          <p:cNvSpPr/>
          <p:nvPr/>
        </p:nvSpPr>
        <p:spPr>
          <a:xfrm>
            <a:off x="4892040" y="8613648"/>
            <a:ext cx="109728" cy="109728"/>
          </a:xfrm>
          <a:prstGeom prst="ellipse">
            <a:avLst/>
          </a:prstGeom>
          <a:solidFill>
            <a:srgbClr val="1C2B2F"/>
          </a:solidFill>
          <a:ln w="12700">
            <a:solidFill>
              <a:srgbClr val="1C2B2F"/>
            </a:solidFill>
            <a:prstDash val="solid"/>
          </a:ln>
        </p:spPr>
      </p:sp>
      <p:sp>
        <p:nvSpPr>
          <p:cNvPr id="307" name="Shape 307"/>
          <p:cNvSpPr/>
          <p:nvPr/>
        </p:nvSpPr>
        <p:spPr>
          <a:xfrm>
            <a:off x="5074920" y="8613648"/>
            <a:ext cx="109728" cy="109728"/>
          </a:xfrm>
          <a:prstGeom prst="ellipse">
            <a:avLst/>
          </a:prstGeom>
          <a:solidFill>
            <a:srgbClr val="1C2B2F"/>
          </a:solidFill>
          <a:ln w="12700">
            <a:solidFill>
              <a:srgbClr val="1C2B2F"/>
            </a:solidFill>
            <a:prstDash val="solid"/>
          </a:ln>
        </p:spPr>
      </p:sp>
      <p:sp>
        <p:nvSpPr>
          <p:cNvPr id="308" name="Shape 308"/>
          <p:cNvSpPr/>
          <p:nvPr/>
        </p:nvSpPr>
        <p:spPr>
          <a:xfrm>
            <a:off x="5257800" y="8613648"/>
            <a:ext cx="109728" cy="109728"/>
          </a:xfrm>
          <a:prstGeom prst="ellipse">
            <a:avLst/>
          </a:prstGeom>
          <a:solidFill>
            <a:srgbClr val="1C2B2F"/>
          </a:solidFill>
          <a:ln w="12700">
            <a:solidFill>
              <a:srgbClr val="1C2B2F"/>
            </a:solidFill>
            <a:prstDash val="solid"/>
          </a:ln>
        </p:spPr>
      </p:sp>
      <p:sp>
        <p:nvSpPr>
          <p:cNvPr id="309" name="Shape 309"/>
          <p:cNvSpPr/>
          <p:nvPr/>
        </p:nvSpPr>
        <p:spPr>
          <a:xfrm>
            <a:off x="5440680" y="8613648"/>
            <a:ext cx="109728" cy="109728"/>
          </a:xfrm>
          <a:prstGeom prst="ellipse">
            <a:avLst/>
          </a:prstGeom>
          <a:solidFill>
            <a:srgbClr val="1C2B2F"/>
          </a:solidFill>
          <a:ln w="12700">
            <a:solidFill>
              <a:srgbClr val="1C2B2F"/>
            </a:solidFill>
            <a:prstDash val="solid"/>
          </a:ln>
        </p:spPr>
      </p:sp>
      <p:sp>
        <p:nvSpPr>
          <p:cNvPr id="310" name="Shape 310"/>
          <p:cNvSpPr/>
          <p:nvPr/>
        </p:nvSpPr>
        <p:spPr>
          <a:xfrm>
            <a:off x="5623560" y="8613648"/>
            <a:ext cx="109728" cy="109728"/>
          </a:xfrm>
          <a:prstGeom prst="ellipse">
            <a:avLst/>
          </a:prstGeom>
          <a:solidFill>
            <a:srgbClr val="1C2B2F"/>
          </a:solidFill>
          <a:ln w="12700">
            <a:solidFill>
              <a:srgbClr val="1C2B2F"/>
            </a:solidFill>
            <a:prstDash val="solid"/>
          </a:ln>
        </p:spPr>
      </p:sp>
      <p:sp>
        <p:nvSpPr>
          <p:cNvPr id="311" name="Text 311"/>
          <p:cNvSpPr txBox="1"/>
          <p:nvPr/>
        </p:nvSpPr>
        <p:spPr>
          <a:xfrm>
            <a:off x="6995160" y="851306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3</a:t>
            </a:r>
            <a:endParaRPr lang="en-US" sz="1800" dirty="0"/>
          </a:p>
        </p:txBody>
      </p:sp>
      <p:sp>
        <p:nvSpPr>
          <p:cNvPr id="312" name="Shape 312"/>
          <p:cNvSpPr/>
          <p:nvPr/>
        </p:nvSpPr>
        <p:spPr>
          <a:xfrm>
            <a:off x="7452360" y="8613648"/>
            <a:ext cx="109728" cy="109728"/>
          </a:xfrm>
          <a:prstGeom prst="ellipse">
            <a:avLst/>
          </a:prstGeom>
          <a:solidFill>
            <a:srgbClr val="1C2B2F"/>
          </a:solidFill>
          <a:ln w="12700">
            <a:solidFill>
              <a:srgbClr val="1C2B2F"/>
            </a:solidFill>
            <a:prstDash val="solid"/>
          </a:ln>
        </p:spPr>
      </p:sp>
      <p:sp>
        <p:nvSpPr>
          <p:cNvPr id="313" name="Shape 313"/>
          <p:cNvSpPr/>
          <p:nvPr/>
        </p:nvSpPr>
        <p:spPr>
          <a:xfrm>
            <a:off x="7635240" y="8613648"/>
            <a:ext cx="109728" cy="109728"/>
          </a:xfrm>
          <a:prstGeom prst="ellipse">
            <a:avLst/>
          </a:prstGeom>
          <a:solidFill>
            <a:srgbClr val="1C2B2F"/>
          </a:solidFill>
          <a:ln w="12700">
            <a:solidFill>
              <a:srgbClr val="1C2B2F"/>
            </a:solidFill>
            <a:prstDash val="solid"/>
          </a:ln>
        </p:spPr>
      </p:sp>
      <p:sp>
        <p:nvSpPr>
          <p:cNvPr id="314" name="Shape 314"/>
          <p:cNvSpPr/>
          <p:nvPr/>
        </p:nvSpPr>
        <p:spPr>
          <a:xfrm>
            <a:off x="7818120" y="8613648"/>
            <a:ext cx="109728" cy="109728"/>
          </a:xfrm>
          <a:prstGeom prst="ellipse">
            <a:avLst/>
          </a:prstGeom>
          <a:solidFill>
            <a:srgbClr val="1C2B2F"/>
          </a:solidFill>
          <a:ln w="12700">
            <a:solidFill>
              <a:srgbClr val="1C2B2F"/>
            </a:solidFill>
            <a:prstDash val="solid"/>
          </a:ln>
        </p:spPr>
      </p:sp>
      <p:sp>
        <p:nvSpPr>
          <p:cNvPr id="315" name="Shape 315"/>
          <p:cNvSpPr/>
          <p:nvPr/>
        </p:nvSpPr>
        <p:spPr>
          <a:xfrm>
            <a:off x="8001000" y="8613648"/>
            <a:ext cx="109728" cy="109728"/>
          </a:xfrm>
          <a:prstGeom prst="ellipse">
            <a:avLst/>
          </a:prstGeom>
          <a:solidFill>
            <a:srgbClr val="E3E0D7"/>
          </a:solidFill>
          <a:ln w="12700">
            <a:solidFill>
              <a:srgbClr val="E3E0D7"/>
            </a:solidFill>
            <a:prstDash val="solid"/>
          </a:ln>
        </p:spPr>
      </p:sp>
      <p:sp>
        <p:nvSpPr>
          <p:cNvPr id="316" name="Shape 316"/>
          <p:cNvSpPr/>
          <p:nvPr/>
        </p:nvSpPr>
        <p:spPr>
          <a:xfrm>
            <a:off x="8183880" y="8613648"/>
            <a:ext cx="109728" cy="109728"/>
          </a:xfrm>
          <a:prstGeom prst="ellipse">
            <a:avLst/>
          </a:prstGeom>
          <a:solidFill>
            <a:srgbClr val="E3E0D7"/>
          </a:solidFill>
          <a:ln w="12700">
            <a:solidFill>
              <a:srgbClr val="E3E0D7"/>
            </a:solidFill>
            <a:prstDash val="solid"/>
          </a:ln>
        </p:spPr>
      </p:sp>
      <p:sp>
        <p:nvSpPr>
          <p:cNvPr id="317" name="Text 317"/>
          <p:cNvSpPr txBox="1"/>
          <p:nvPr/>
        </p:nvSpPr>
        <p:spPr>
          <a:xfrm>
            <a:off x="9555480" y="851306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5</a:t>
            </a:r>
            <a:endParaRPr lang="en-US" sz="1800" dirty="0"/>
          </a:p>
        </p:txBody>
      </p:sp>
      <p:sp>
        <p:nvSpPr>
          <p:cNvPr id="318" name="Shape 318"/>
          <p:cNvSpPr/>
          <p:nvPr/>
        </p:nvSpPr>
        <p:spPr>
          <a:xfrm>
            <a:off x="10012680" y="8613648"/>
            <a:ext cx="109728" cy="109728"/>
          </a:xfrm>
          <a:prstGeom prst="ellipse">
            <a:avLst/>
          </a:prstGeom>
          <a:solidFill>
            <a:srgbClr val="1C2B2F"/>
          </a:solidFill>
          <a:ln w="12700">
            <a:solidFill>
              <a:srgbClr val="1C2B2F"/>
            </a:solidFill>
            <a:prstDash val="solid"/>
          </a:ln>
        </p:spPr>
      </p:sp>
      <p:sp>
        <p:nvSpPr>
          <p:cNvPr id="319" name="Shape 319"/>
          <p:cNvSpPr/>
          <p:nvPr/>
        </p:nvSpPr>
        <p:spPr>
          <a:xfrm>
            <a:off x="10195560" y="8613648"/>
            <a:ext cx="109728" cy="109728"/>
          </a:xfrm>
          <a:prstGeom prst="ellipse">
            <a:avLst/>
          </a:prstGeom>
          <a:solidFill>
            <a:srgbClr val="1C2B2F"/>
          </a:solidFill>
          <a:ln w="12700">
            <a:solidFill>
              <a:srgbClr val="1C2B2F"/>
            </a:solidFill>
            <a:prstDash val="solid"/>
          </a:ln>
        </p:spPr>
      </p:sp>
      <p:sp>
        <p:nvSpPr>
          <p:cNvPr id="320" name="Shape 320"/>
          <p:cNvSpPr/>
          <p:nvPr/>
        </p:nvSpPr>
        <p:spPr>
          <a:xfrm>
            <a:off x="10378440" y="8613648"/>
            <a:ext cx="109728" cy="109728"/>
          </a:xfrm>
          <a:prstGeom prst="ellipse">
            <a:avLst/>
          </a:prstGeom>
          <a:solidFill>
            <a:srgbClr val="1C2B2F"/>
          </a:solidFill>
          <a:ln w="12700">
            <a:solidFill>
              <a:srgbClr val="1C2B2F"/>
            </a:solidFill>
            <a:prstDash val="solid"/>
          </a:ln>
        </p:spPr>
      </p:sp>
      <p:sp>
        <p:nvSpPr>
          <p:cNvPr id="321" name="Shape 321"/>
          <p:cNvSpPr/>
          <p:nvPr/>
        </p:nvSpPr>
        <p:spPr>
          <a:xfrm>
            <a:off x="10561320" y="8613648"/>
            <a:ext cx="109728" cy="109728"/>
          </a:xfrm>
          <a:prstGeom prst="ellipse">
            <a:avLst/>
          </a:prstGeom>
          <a:solidFill>
            <a:srgbClr val="1C2B2F"/>
          </a:solidFill>
          <a:ln w="12700">
            <a:solidFill>
              <a:srgbClr val="1C2B2F"/>
            </a:solidFill>
            <a:prstDash val="solid"/>
          </a:ln>
        </p:spPr>
      </p:sp>
      <p:sp>
        <p:nvSpPr>
          <p:cNvPr id="322" name="Shape 322"/>
          <p:cNvSpPr/>
          <p:nvPr/>
        </p:nvSpPr>
        <p:spPr>
          <a:xfrm>
            <a:off x="10744200" y="8613648"/>
            <a:ext cx="109728" cy="109728"/>
          </a:xfrm>
          <a:prstGeom prst="ellipse">
            <a:avLst/>
          </a:prstGeom>
          <a:solidFill>
            <a:srgbClr val="1C2B2F"/>
          </a:solidFill>
          <a:ln w="12700">
            <a:solidFill>
              <a:srgbClr val="1C2B2F"/>
            </a:solidFill>
            <a:prstDash val="solid"/>
          </a:ln>
        </p:spPr>
      </p:sp>
      <p:sp>
        <p:nvSpPr>
          <p:cNvPr id="323" name="Text 323"/>
          <p:cNvSpPr txBox="1"/>
          <p:nvPr/>
        </p:nvSpPr>
        <p:spPr>
          <a:xfrm>
            <a:off x="12115800" y="8513064"/>
            <a:ext cx="365760" cy="310896"/>
          </a:xfrm>
          <a:prstGeom prst="rect">
            <a:avLst/>
          </a:prstGeom>
          <a:noFill/>
          <a:ln/>
        </p:spPr>
        <p:txBody>
          <a:bodyPr wrap="square" lIns="0" tIns="0" rIns="0" bIns="0" rtlCol="0" anchor="t"/>
          <a:lstStyle/>
          <a:p>
            <a:pPr indent="0" marL="0">
              <a:buNone/>
            </a:pPr>
            <a:r>
              <a:rPr lang="en-US" sz="1800" dirty="0">
                <a:solidFill>
                  <a:srgbClr val="1C2B2F"/>
                </a:solidFill>
                <a:latin typeface="Geist Medium" pitchFamily="34" charset="0"/>
                <a:ea typeface="Geist Medium" pitchFamily="34" charset="-122"/>
                <a:cs typeface="Geist Medium" pitchFamily="34" charset="-120"/>
              </a:rPr>
              <a:t>1</a:t>
            </a:r>
            <a:endParaRPr lang="en-US" sz="1800" dirty="0"/>
          </a:p>
        </p:txBody>
      </p:sp>
      <p:sp>
        <p:nvSpPr>
          <p:cNvPr id="324" name="Shape 324"/>
          <p:cNvSpPr/>
          <p:nvPr/>
        </p:nvSpPr>
        <p:spPr>
          <a:xfrm>
            <a:off x="12573000" y="8613648"/>
            <a:ext cx="109728" cy="109728"/>
          </a:xfrm>
          <a:prstGeom prst="ellipse">
            <a:avLst/>
          </a:prstGeom>
          <a:solidFill>
            <a:srgbClr val="1C2B2F"/>
          </a:solidFill>
          <a:ln w="12700">
            <a:solidFill>
              <a:srgbClr val="1C2B2F"/>
            </a:solidFill>
            <a:prstDash val="solid"/>
          </a:ln>
        </p:spPr>
      </p:sp>
      <p:sp>
        <p:nvSpPr>
          <p:cNvPr id="325" name="Shape 325"/>
          <p:cNvSpPr/>
          <p:nvPr/>
        </p:nvSpPr>
        <p:spPr>
          <a:xfrm>
            <a:off x="12755880" y="8613648"/>
            <a:ext cx="109728" cy="109728"/>
          </a:xfrm>
          <a:prstGeom prst="ellipse">
            <a:avLst/>
          </a:prstGeom>
          <a:solidFill>
            <a:srgbClr val="E3E0D7"/>
          </a:solidFill>
          <a:ln w="12700">
            <a:solidFill>
              <a:srgbClr val="E3E0D7"/>
            </a:solidFill>
            <a:prstDash val="solid"/>
          </a:ln>
        </p:spPr>
      </p:sp>
      <p:sp>
        <p:nvSpPr>
          <p:cNvPr id="326" name="Shape 326"/>
          <p:cNvSpPr/>
          <p:nvPr/>
        </p:nvSpPr>
        <p:spPr>
          <a:xfrm>
            <a:off x="12938760" y="8613648"/>
            <a:ext cx="109728" cy="109728"/>
          </a:xfrm>
          <a:prstGeom prst="ellipse">
            <a:avLst/>
          </a:prstGeom>
          <a:solidFill>
            <a:srgbClr val="E3E0D7"/>
          </a:solidFill>
          <a:ln w="12700">
            <a:solidFill>
              <a:srgbClr val="E3E0D7"/>
            </a:solidFill>
            <a:prstDash val="solid"/>
          </a:ln>
        </p:spPr>
      </p:sp>
      <p:sp>
        <p:nvSpPr>
          <p:cNvPr id="327" name="Shape 327"/>
          <p:cNvSpPr/>
          <p:nvPr/>
        </p:nvSpPr>
        <p:spPr>
          <a:xfrm>
            <a:off x="13121640" y="8613648"/>
            <a:ext cx="109728" cy="109728"/>
          </a:xfrm>
          <a:prstGeom prst="ellipse">
            <a:avLst/>
          </a:prstGeom>
          <a:solidFill>
            <a:srgbClr val="E3E0D7"/>
          </a:solidFill>
          <a:ln w="12700">
            <a:solidFill>
              <a:srgbClr val="E3E0D7"/>
            </a:solidFill>
            <a:prstDash val="solid"/>
          </a:ln>
        </p:spPr>
      </p:sp>
      <p:sp>
        <p:nvSpPr>
          <p:cNvPr id="328" name="Shape 328"/>
          <p:cNvSpPr/>
          <p:nvPr/>
        </p:nvSpPr>
        <p:spPr>
          <a:xfrm>
            <a:off x="13304520" y="8613648"/>
            <a:ext cx="109728" cy="109728"/>
          </a:xfrm>
          <a:prstGeom prst="ellipse">
            <a:avLst/>
          </a:prstGeom>
          <a:solidFill>
            <a:srgbClr val="E3E0D7"/>
          </a:solidFill>
          <a:ln w="12700">
            <a:solidFill>
              <a:srgbClr val="E3E0D7"/>
            </a:solidFill>
            <a:prstDash val="solid"/>
          </a:ln>
        </p:spPr>
      </p:sp>
      <p:sp>
        <p:nvSpPr>
          <p:cNvPr id="329" name="Text 329"/>
          <p:cNvSpPr txBox="1"/>
          <p:nvPr/>
        </p:nvSpPr>
        <p:spPr>
          <a:xfrm>
            <a:off x="14676120" y="8503920"/>
            <a:ext cx="548640" cy="329184"/>
          </a:xfrm>
          <a:prstGeom prst="rect">
            <a:avLst/>
          </a:prstGeom>
          <a:noFill/>
          <a:ln/>
        </p:spPr>
        <p:txBody>
          <a:bodyPr wrap="square" lIns="0" tIns="0" rIns="0" bIns="0" rtlCol="0" anchor="t"/>
          <a:lstStyle/>
          <a:p>
            <a:pPr indent="0" marL="0">
              <a:buNone/>
            </a:pPr>
            <a:r>
              <a:rPr lang="en-US" sz="2000" dirty="0">
                <a:solidFill>
                  <a:srgbClr val="1C2B2F"/>
                </a:solidFill>
                <a:latin typeface="Geist Medium" pitchFamily="34" charset="0"/>
                <a:ea typeface="Geist Medium" pitchFamily="34" charset="-122"/>
                <a:cs typeface="Geist Medium" pitchFamily="34" charset="-120"/>
              </a:rPr>
              <a:t>14</a:t>
            </a:r>
            <a:endParaRPr lang="en-US" sz="2000" dirty="0"/>
          </a:p>
        </p:txBody>
      </p:sp>
      <p:sp>
        <p:nvSpPr>
          <p:cNvPr id="330" name="Shape 330"/>
          <p:cNvSpPr/>
          <p:nvPr/>
        </p:nvSpPr>
        <p:spPr>
          <a:xfrm>
            <a:off x="15361920" y="8631936"/>
            <a:ext cx="1508760" cy="82296"/>
          </a:xfrm>
          <a:prstGeom prst="roundRect">
            <a:avLst>
              <a:gd name="adj" fmla="val 44444"/>
            </a:avLst>
          </a:prstGeom>
          <a:solidFill>
            <a:srgbClr val="E3E0D7"/>
          </a:solidFill>
          <a:ln w="12700">
            <a:solidFill>
              <a:srgbClr val="E3E0D7"/>
            </a:solidFill>
            <a:prstDash val="solid"/>
          </a:ln>
        </p:spPr>
      </p:sp>
      <p:sp>
        <p:nvSpPr>
          <p:cNvPr id="331" name="Shape 331"/>
          <p:cNvSpPr/>
          <p:nvPr/>
        </p:nvSpPr>
        <p:spPr>
          <a:xfrm>
            <a:off x="15361920" y="8631936"/>
            <a:ext cx="1056132" cy="82296"/>
          </a:xfrm>
          <a:prstGeom prst="roundRect">
            <a:avLst>
              <a:gd name="adj" fmla="val 44444"/>
            </a:avLst>
          </a:prstGeom>
          <a:solidFill>
            <a:srgbClr val="3E6670"/>
          </a:solidFill>
          <a:ln w="12700">
            <a:solidFill>
              <a:srgbClr val="3E6670"/>
            </a:solidFill>
            <a:prstDash val="solid"/>
          </a:ln>
        </p:spPr>
      </p:sp>
      <p:sp>
        <p:nvSpPr>
          <p:cNvPr id="332" name="Text 332"/>
          <p:cNvSpPr txBox="1"/>
          <p:nvPr/>
        </p:nvSpPr>
        <p:spPr>
          <a:xfrm>
            <a:off x="1143000" y="9006840"/>
            <a:ext cx="16002000" cy="1005840"/>
          </a:xfrm>
          <a:prstGeom prst="rect">
            <a:avLst/>
          </a:prstGeom>
          <a:noFill/>
          <a:ln/>
        </p:spPr>
        <p:txBody>
          <a:bodyPr wrap="square" lIns="0" tIns="0" rIns="0" bIns="0" rtlCol="0" anchor="t"/>
          <a:lstStyle/>
          <a:p>
            <a:pPr indent="0" marL="0">
              <a:spcAft>
                <a:spcPts val="300"/>
              </a:spcAft>
              <a:buNone/>
            </a:pPr>
            <a:r>
              <a:rPr lang="en-US" sz="950" dirty="0">
                <a:solidFill>
                  <a:srgbClr val="8A9A9D"/>
                </a:solidFill>
                <a:latin typeface="Geist Medium" pitchFamily="34" charset="0"/>
                <a:ea typeface="Geist Medium" pitchFamily="34" charset="-122"/>
                <a:cs typeface="Geist Medium" pitchFamily="34" charset="-120"/>
              </a:rPr>
              <a:t>1  Adviser legal  </a:t>
            </a:r>
            <a:pPr indent="0" marL="0">
              <a:spcAft>
                <a:spcPts val="300"/>
              </a:spcAft>
              <a:buNone/>
            </a:pPr>
            <a:r>
              <a:rPr lang="en-US" sz="950" dirty="0">
                <a:solidFill>
                  <a:srgbClr val="8A9A9D"/>
                </a:solidFill>
                <a:latin typeface="Geist" pitchFamily="34" charset="0"/>
                <a:ea typeface="Geist" pitchFamily="34" charset="-122"/>
                <a:cs typeface="Geist" pitchFamily="34" charset="-120"/>
              </a:rPr>
              <a:t>NL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 invalidUrl="" action="" tgtFrame="" tooltip="" history="1" highlightClick="0" endSnd="0">
                  <a:extLst>
                    <a:ext uri="{A12FA001-AC4F-418D-AE19-62706E023703}">
                      <ahyp:hlinkClr xmlns:ahyp="http://schemas.microsoft.com/office/drawing/2018/hyperlinkcolor" val="tx"/>
                    </a:ext>
                  </a:extLst>
                </a:hlinkClick>
              </a:rPr>
              <a:t>wetten.overheid.nl</a:t>
            </a:r>
            <a:pPr indent="0" marL="0">
              <a:spcAft>
                <a:spcPts val="300"/>
              </a:spcAft>
              <a:buNone/>
            </a:pPr>
            <a:r>
              <a:rPr lang="en-US" sz="950" dirty="0">
                <a:solidFill>
                  <a:srgbClr val="8A9A9D"/>
                </a:solidFill>
                <a:latin typeface="Geist" pitchFamily="34" charset="0"/>
                <a:ea typeface="Geist" pitchFamily="34" charset="-122"/>
                <a:cs typeface="Geist" pitchFamily="34" charset="-120"/>
              </a:rPr>
              <a:t>  SE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2" invalidUrl="" action="" tgtFrame="" tooltip="" history="1" highlightClick="0" endSnd="0">
                  <a:extLst>
                    <a:ext uri="{A12FA001-AC4F-418D-AE19-62706E023703}">
                      <ahyp:hlinkClr xmlns:ahyp="http://schemas.microsoft.com/office/drawing/2018/hyperlinkcolor" val="tx"/>
                    </a:ext>
                  </a:extLst>
                </a:hlinkClick>
              </a:rPr>
              <a:t>riksdagen.se</a:t>
            </a:r>
            <a:pPr indent="0" marL="0">
              <a:spcAft>
                <a:spcPts val="300"/>
              </a:spcAft>
              <a:buNone/>
            </a:pPr>
            <a:r>
              <a:rPr lang="en-US" sz="950" dirty="0">
                <a:solidFill>
                  <a:srgbClr val="8A9A9D"/>
                </a:solidFill>
                <a:latin typeface="Geist" pitchFamily="34" charset="0"/>
                <a:ea typeface="Geist" pitchFamily="34" charset="-122"/>
                <a:cs typeface="Geist" pitchFamily="34" charset="-120"/>
              </a:rPr>
              <a:t>  DK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3" invalidUrl="" action="" tgtFrame="" tooltip="" history="1" highlightClick="0" endSnd="0">
                  <a:extLst>
                    <a:ext uri="{A12FA001-AC4F-418D-AE19-62706E023703}">
                      <ahyp:hlinkClr xmlns:ahyp="http://schemas.microsoft.com/office/drawing/2018/hyperlinkcolor" val="tx"/>
                    </a:ext>
                  </a:extLst>
                </a:hlinkClick>
              </a:rPr>
              <a:t>retsinformation.dk</a:t>
            </a:r>
            <a:pPr indent="0" marL="0">
              <a:spcAft>
                <a:spcPts val="300"/>
              </a:spcAft>
              <a:buNone/>
            </a:pPr>
            <a:r>
              <a:rPr lang="en-US" sz="950" dirty="0">
                <a:solidFill>
                  <a:srgbClr val="8A9A9D"/>
                </a:solidFill>
                <a:latin typeface="Geist" pitchFamily="34" charset="0"/>
                <a:ea typeface="Geist" pitchFamily="34" charset="-122"/>
                <a:cs typeface="Geist" pitchFamily="34" charset="-120"/>
              </a:rPr>
              <a:t>  FI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4" invalidUrl="" action="" tgtFrame="" tooltip="" history="1" highlightClick="0" endSnd="0">
                  <a:extLst>
                    <a:ext uri="{A12FA001-AC4F-418D-AE19-62706E023703}">
                      <ahyp:hlinkClr xmlns:ahyp="http://schemas.microsoft.com/office/drawing/2018/hyperlinkcolor" val="tx"/>
                    </a:ext>
                  </a:extLst>
                </a:hlinkClick>
              </a:rPr>
              <a:t>finlex.fi</a:t>
            </a:r>
            <a:pPr indent="0" marL="0">
              <a:spcAft>
                <a:spcPts val="300"/>
              </a:spcAft>
              <a:buNone/>
            </a:pPr>
            <a:r>
              <a:rPr lang="en-US" sz="950" dirty="0">
                <a:solidFill>
                  <a:srgbClr val="8A9A9D"/>
                </a:solidFill>
                <a:latin typeface="Geist" pitchFamily="34" charset="0"/>
                <a:ea typeface="Geist" pitchFamily="34" charset="-122"/>
                <a:cs typeface="Geist" pitchFamily="34" charset="-120"/>
              </a:rPr>
              <a:t>  PL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5" invalidUrl="" action="" tgtFrame="" tooltip="" history="1" highlightClick="0" endSnd="0">
                  <a:extLst>
                    <a:ext uri="{A12FA001-AC4F-418D-AE19-62706E023703}">
                      <ahyp:hlinkClr xmlns:ahyp="http://schemas.microsoft.com/office/drawing/2018/hyperlinkcolor" val="tx"/>
                    </a:ext>
                  </a:extLst>
                </a:hlinkClick>
              </a:rPr>
              <a:t>sejm.gov.pl</a:t>
            </a:r>
            <a:pPr indent="0" marL="0">
              <a:spcAft>
                <a:spcPts val="300"/>
              </a:spcAft>
              <a:buNone/>
            </a:pPr>
            <a:r>
              <a:rPr lang="en-US" sz="950" dirty="0">
                <a:solidFill>
                  <a:srgbClr val="8A9A9D"/>
                </a:solidFill>
                <a:latin typeface="Geist" pitchFamily="34" charset="0"/>
                <a:ea typeface="Geist" pitchFamily="34" charset="-122"/>
                <a:cs typeface="Geist" pitchFamily="34" charset="-120"/>
              </a:rPr>
              <a:t>  BE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6" invalidUrl="" action="" tgtFrame="" tooltip="" history="1" highlightClick="0" endSnd="0">
                  <a:extLst>
                    <a:ext uri="{A12FA001-AC4F-418D-AE19-62706E023703}">
                      <ahyp:hlinkClr xmlns:ahyp="http://schemas.microsoft.com/office/drawing/2018/hyperlinkcolor" val="tx"/>
                    </a:ext>
                  </a:extLst>
                </a:hlinkClick>
              </a:rPr>
              <a:t>ejustice.just.fgov.be</a:t>
            </a:r>
            <a:pPr indent="0" marL="0">
              <a:spcAft>
                <a:spcPts val="300"/>
              </a:spcAft>
              <a:buNone/>
            </a:pPr>
            <a:r>
              <a:rPr lang="en-US" sz="950" dirty="0">
                <a:solidFill>
                  <a:srgbClr val="8A9A9D"/>
                </a:solidFill>
                <a:latin typeface="Geist" pitchFamily="34" charset="0"/>
                <a:ea typeface="Geist" pitchFamily="34" charset="-122"/>
                <a:cs typeface="Geist" pitchFamily="34" charset="-120"/>
              </a:rPr>
              <a:t>  CH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7" invalidUrl="" action="" tgtFrame="" tooltip="" history="1" highlightClick="0" endSnd="0">
                  <a:extLst>
                    <a:ext uri="{A12FA001-AC4F-418D-AE19-62706E023703}">
                      <ahyp:hlinkClr xmlns:ahyp="http://schemas.microsoft.com/office/drawing/2018/hyperlinkcolor" val="tx"/>
                    </a:ext>
                  </a:extLst>
                </a:hlinkClick>
              </a:rPr>
              <a:t>fedlex.admin.ch</a:t>
            </a:r>
            <a:pPr indent="0" marL="0">
              <a:spcAft>
                <a:spcPts val="300"/>
              </a:spcAft>
              <a:buNone/>
            </a:pPr>
            <a:r>
              <a:rPr lang="en-US" sz="950" dirty="0">
                <a:solidFill>
                  <a:srgbClr val="8A9A9D"/>
                </a:solidFill>
                <a:latin typeface="Geist" pitchFamily="34" charset="0"/>
                <a:ea typeface="Geist" pitchFamily="34" charset="-122"/>
                <a:cs typeface="Geist" pitchFamily="34" charset="-120"/>
              </a:rPr>
              <a:t>  DE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8" invalidUrl="" action="" tgtFrame="" tooltip="" history="1" highlightClick="0" endSnd="0">
                  <a:extLst>
                    <a:ext uri="{A12FA001-AC4F-418D-AE19-62706E023703}">
                      <ahyp:hlinkClr xmlns:ahyp="http://schemas.microsoft.com/office/drawing/2018/hyperlinkcolor" val="tx"/>
                    </a:ext>
                  </a:extLst>
                </a:hlinkClick>
              </a:rPr>
              <a:t>gesetze-im-internet.de</a:t>
            </a:r>
            <a:pPr indent="0" marL="0">
              <a:spcAft>
                <a:spcPts val="300"/>
              </a:spcAft>
              <a:buNone/>
            </a:pPr>
            <a:r>
              <a:rPr lang="en-US" sz="950" dirty="0">
                <a:solidFill>
                  <a:srgbClr val="8A9A9D"/>
                </a:solidFill>
                <a:latin typeface="Geist" pitchFamily="34" charset="0"/>
                <a:ea typeface="Geist" pitchFamily="34" charset="-122"/>
                <a:cs typeface="Geist" pitchFamily="34" charset="-120"/>
              </a:rPr>
              <a:t>,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9" invalidUrl="" action="" tgtFrame="" tooltip="" history="1" highlightClick="0" endSnd="0">
                  <a:extLst>
                    <a:ext uri="{A12FA001-AC4F-418D-AE19-62706E023703}">
                      <ahyp:hlinkClr xmlns:ahyp="http://schemas.microsoft.com/office/drawing/2018/hyperlinkcolor" val="tx"/>
                    </a:ext>
                  </a:extLst>
                </a:hlinkClick>
              </a:rPr>
              <a:t>bundesgerichtshof.de</a:t>
            </a:r>
            <a:pPr indent="0" marL="0">
              <a:spcAft>
                <a:spcPts val="300"/>
              </a:spcAft>
              <a:buNone/>
            </a:pPr>
            <a:r>
              <a:rPr lang="en-US" sz="950" dirty="0">
                <a:solidFill>
                  <a:srgbClr val="8A9A9D"/>
                </a:solidFill>
                <a:latin typeface="Geist" pitchFamily="34" charset="0"/>
                <a:ea typeface="Geist" pitchFamily="34" charset="-122"/>
                <a:cs typeface="Geist" pitchFamily="34" charset="-120"/>
              </a:rPr>
              <a:t>  IT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0" invalidUrl="" action="" tgtFrame="" tooltip="" history="1" highlightClick="0" endSnd="0">
                  <a:extLst>
                    <a:ext uri="{A12FA001-AC4F-418D-AE19-62706E023703}">
                      <ahyp:hlinkClr xmlns:ahyp="http://schemas.microsoft.com/office/drawing/2018/hyperlinkcolor" val="tx"/>
                    </a:ext>
                  </a:extLst>
                </a:hlinkClick>
              </a:rPr>
              <a:t>normattiva.it</a:t>
            </a:r>
            <a:pPr indent="0" marL="0">
              <a:spcAft>
                <a:spcPts val="300"/>
              </a:spcAft>
              <a:buNone/>
            </a:pPr>
            <a:r>
              <a:rPr lang="en-US" sz="950" dirty="0">
                <a:solidFill>
                  <a:srgbClr val="8A9A9D"/>
                </a:solidFill>
                <a:latin typeface="Geist" pitchFamily="34" charset="0"/>
                <a:ea typeface="Geist" pitchFamily="34" charset="-122"/>
                <a:cs typeface="Geist" pitchFamily="34" charset="-120"/>
              </a:rPr>
              <a:t>  AT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1" invalidUrl="" action="" tgtFrame="" tooltip="" history="1" highlightClick="0" endSnd="0">
                  <a:extLst>
                    <a:ext uri="{A12FA001-AC4F-418D-AE19-62706E023703}">
                      <ahyp:hlinkClr xmlns:ahyp="http://schemas.microsoft.com/office/drawing/2018/hyperlinkcolor" val="tx"/>
                    </a:ext>
                  </a:extLst>
                </a:hlinkClick>
              </a:rPr>
              <a:t>ris.bka.gv.at</a:t>
            </a:r>
            <a:pPr indent="0" marL="0">
              <a:spcAft>
                <a:spcPts val="300"/>
              </a:spcAft>
              <a:buNone/>
            </a:pPr>
            <a:endParaRPr lang="en-US" sz="950" dirty="0"/>
          </a:p>
          <a:p>
            <a:pPr indent="0" marL="0">
              <a:spcAft>
                <a:spcPts val="300"/>
              </a:spcAft>
              <a:buNone/>
            </a:pPr>
            <a:r>
              <a:rPr lang="en-US" sz="950" dirty="0">
                <a:solidFill>
                  <a:srgbClr val="8A9A9D"/>
                </a:solidFill>
                <a:latin typeface="Geist Medium" pitchFamily="34" charset="0"/>
                <a:ea typeface="Geist Medium" pitchFamily="34" charset="-122"/>
                <a:cs typeface="Geist Medium" pitchFamily="34" charset="-120"/>
              </a:rPr>
              <a:t>2  Market size  </a:t>
            </a:r>
            <a:pPr indent="0" marL="0">
              <a:spcAft>
                <a:spcPts val="300"/>
              </a:spcAft>
              <a:buNone/>
            </a:pPr>
            <a:r>
              <a:rPr lang="en-US" sz="950" dirty="0">
                <a:solidFill>
                  <a:srgbClr val="8A9A9D"/>
                </a:solidFill>
                <a:latin typeface="Geist" pitchFamily="34" charset="0"/>
                <a:ea typeface="Geist" pitchFamily="34" charset="-122"/>
                <a:cs typeface="Geist" pitchFamily="34" charset="-120"/>
              </a:rPr>
              <a:t>Eurostat sbs_sc_ovw 2024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2" invalidUrl="" action="" tgtFrame="" tooltip="" history="1" highlightClick="0" endSnd="0">
                  <a:extLst>
                    <a:ext uri="{A12FA001-AC4F-418D-AE19-62706E023703}">
                      <ahyp:hlinkClr xmlns:ahyp="http://schemas.microsoft.com/office/drawing/2018/hyperlinkcolor" val="tx"/>
                    </a:ext>
                  </a:extLst>
                </a:hlinkClick>
              </a:rPr>
              <a:t>ec.europa.eu/eurostat</a:t>
            </a:r>
            <a:pPr indent="0" marL="0">
              <a:spcAft>
                <a:spcPts val="300"/>
              </a:spcAft>
              <a:buNone/>
            </a:pPr>
            <a:r>
              <a:rPr lang="en-US" sz="950" dirty="0">
                <a:solidFill>
                  <a:srgbClr val="8A9A9D"/>
                </a:solidFill>
                <a:latin typeface="Geist" pitchFamily="34" charset="0"/>
                <a:ea typeface="Geist" pitchFamily="34" charset="-122"/>
                <a:cs typeface="Geist" pitchFamily="34" charset="-120"/>
              </a:rPr>
              <a:t>  CH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3" invalidUrl="" action="" tgtFrame="" tooltip="" history="1" highlightClick="0" endSnd="0">
                  <a:extLst>
                    <a:ext uri="{A12FA001-AC4F-418D-AE19-62706E023703}">
                      <ahyp:hlinkClr xmlns:ahyp="http://schemas.microsoft.com/office/drawing/2018/hyperlinkcolor" val="tx"/>
                    </a:ext>
                  </a:extLst>
                </a:hlinkClick>
              </a:rPr>
              <a:t>bfs.admin.ch</a:t>
            </a:r>
            <a:pPr indent="0" marL="0">
              <a:spcAft>
                <a:spcPts val="300"/>
              </a:spcAft>
              <a:buNone/>
            </a:pPr>
            <a:endParaRPr lang="en-US" sz="950" dirty="0"/>
          </a:p>
          <a:p>
            <a:pPr indent="0" marL="0">
              <a:spcAft>
                <a:spcPts val="300"/>
              </a:spcAft>
              <a:buNone/>
            </a:pPr>
            <a:r>
              <a:rPr lang="en-US" sz="950" dirty="0">
                <a:solidFill>
                  <a:srgbClr val="8A9A9D"/>
                </a:solidFill>
                <a:latin typeface="Geist Medium" pitchFamily="34" charset="0"/>
                <a:ea typeface="Geist Medium" pitchFamily="34" charset="-122"/>
                <a:cs typeface="Geist Medium" pitchFamily="34" charset="-120"/>
              </a:rPr>
              <a:t>3  Savings potential  </a:t>
            </a:r>
            <a:pPr indent="0" marL="0">
              <a:spcAft>
                <a:spcPts val="300"/>
              </a:spcAft>
              <a:buNone/>
            </a:pPr>
            <a:r>
              <a:rPr lang="en-US" sz="950" dirty="0">
                <a:solidFill>
                  <a:srgbClr val="8A9A9D"/>
                </a:solidFill>
                <a:latin typeface="Geist" pitchFamily="34" charset="0"/>
                <a:ea typeface="Geist" pitchFamily="34" charset="-122"/>
                <a:cs typeface="Geist" pitchFamily="34" charset="-120"/>
              </a:rPr>
              <a:t>Eurostat sbs_ovw_act, tps00001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4" invalidUrl="" action="" tgtFrame="" tooltip="" history="1" highlightClick="0" endSnd="0">
                  <a:extLst>
                    <a:ext uri="{A12FA001-AC4F-418D-AE19-62706E023703}">
                      <ahyp:hlinkClr xmlns:ahyp="http://schemas.microsoft.com/office/drawing/2018/hyperlinkcolor" val="tx"/>
                    </a:ext>
                  </a:extLst>
                </a:hlinkClick>
              </a:rPr>
              <a:t>ec.europa.eu/eurostat</a:t>
            </a:r>
            <a:pPr indent="0" marL="0">
              <a:spcAft>
                <a:spcPts val="300"/>
              </a:spcAft>
              <a:buNone/>
            </a:pPr>
            <a:r>
              <a:rPr lang="en-US" sz="950" dirty="0">
                <a:solidFill>
                  <a:srgbClr val="8A9A9D"/>
                </a:solidFill>
                <a:latin typeface="Geist" pitchFamily="34" charset="0"/>
                <a:ea typeface="Geist" pitchFamily="34" charset="-122"/>
                <a:cs typeface="Geist" pitchFamily="34" charset="-120"/>
              </a:rPr>
              <a:t>  BE, IT, PL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5" invalidUrl="" action="" tgtFrame="" tooltip="" history="1" highlightClick="0" endSnd="0">
                  <a:extLst>
                    <a:ext uri="{A12FA001-AC4F-418D-AE19-62706E023703}">
                      <ahyp:hlinkClr xmlns:ahyp="http://schemas.microsoft.com/office/drawing/2018/hyperlinkcolor" val="tx"/>
                    </a:ext>
                  </a:extLst>
                </a:hlinkClick>
              </a:rPr>
              <a:t>e-justice.europa.eu</a:t>
            </a:r>
            <a:pPr indent="0" marL="0">
              <a:spcAft>
                <a:spcPts val="300"/>
              </a:spcAft>
              <a:buNone/>
            </a:pPr>
            <a:r>
              <a:rPr lang="en-US" sz="950" dirty="0">
                <a:solidFill>
                  <a:srgbClr val="8A9A9D"/>
                </a:solidFill>
                <a:latin typeface="Geist" pitchFamily="34" charset="0"/>
                <a:ea typeface="Geist" pitchFamily="34" charset="-122"/>
                <a:cs typeface="Geist" pitchFamily="34" charset="-120"/>
              </a:rPr>
              <a:t> (2007)</a:t>
            </a:r>
            <a:pPr indent="0" marL="0">
              <a:spcAft>
                <a:spcPts val="300"/>
              </a:spcAft>
              <a:buNone/>
            </a:pPr>
            <a:endParaRPr lang="en-US" sz="950" dirty="0"/>
          </a:p>
          <a:p>
            <a:pPr indent="0" marL="0">
              <a:spcAft>
                <a:spcPts val="300"/>
              </a:spcAft>
              <a:buNone/>
            </a:pPr>
            <a:r>
              <a:rPr lang="en-US" sz="950" dirty="0">
                <a:solidFill>
                  <a:srgbClr val="8A9A9D"/>
                </a:solidFill>
                <a:latin typeface="Geist Medium" pitchFamily="34" charset="0"/>
                <a:ea typeface="Geist Medium" pitchFamily="34" charset="-122"/>
                <a:cs typeface="Geist Medium" pitchFamily="34" charset="-120"/>
              </a:rPr>
              <a:t>4  Trigger freshness  </a:t>
            </a:r>
            <a:pPr indent="0" marL="0">
              <a:spcAft>
                <a:spcPts val="300"/>
              </a:spcAft>
              <a:buNone/>
            </a:pPr>
            <a:r>
              <a:rPr lang="en-US" sz="950" dirty="0">
                <a:solidFill>
                  <a:srgbClr val="8A9A9D"/>
                </a:solidFill>
                <a:latin typeface="Geist" pitchFamily="34" charset="0"/>
                <a:ea typeface="Geist" pitchFamily="34" charset="-122"/>
                <a:cs typeface="Geist" pitchFamily="34" charset="-120"/>
              </a:rPr>
              <a:t>NL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6" invalidUrl="" action="" tgtFrame="" tooltip="" history="1" highlightClick="0" endSnd="0">
                  <a:extLst>
                    <a:ext uri="{A12FA001-AC4F-418D-AE19-62706E023703}">
                      <ahyp:hlinkClr xmlns:ahyp="http://schemas.microsoft.com/office/drawing/2018/hyperlinkcolor" val="tx"/>
                    </a:ext>
                  </a:extLst>
                </a:hlinkClick>
              </a:rPr>
              <a:t>rdi.nl</a:t>
            </a:r>
            <a:pPr indent="0" marL="0">
              <a:spcAft>
                <a:spcPts val="300"/>
              </a:spcAft>
              <a:buNone/>
            </a:pPr>
            <a:r>
              <a:rPr lang="en-US" sz="950" dirty="0">
                <a:solidFill>
                  <a:srgbClr val="8A9A9D"/>
                </a:solidFill>
                <a:latin typeface="Geist" pitchFamily="34" charset="0"/>
                <a:ea typeface="Geist" pitchFamily="34" charset="-122"/>
                <a:cs typeface="Geist" pitchFamily="34" charset="-120"/>
              </a:rPr>
              <a:t>  SE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7" invalidUrl="" action="" tgtFrame="" tooltip="" history="1" highlightClick="0" endSnd="0">
                  <a:extLst>
                    <a:ext uri="{A12FA001-AC4F-418D-AE19-62706E023703}">
                      <ahyp:hlinkClr xmlns:ahyp="http://schemas.microsoft.com/office/drawing/2018/hyperlinkcolor" val="tx"/>
                    </a:ext>
                  </a:extLst>
                </a:hlinkClick>
              </a:rPr>
              <a:t>riksdagen.se</a:t>
            </a:r>
            <a:pPr indent="0" marL="0">
              <a:spcAft>
                <a:spcPts val="300"/>
              </a:spcAft>
              <a:buNone/>
            </a:pPr>
            <a:r>
              <a:rPr lang="en-US" sz="950" dirty="0">
                <a:solidFill>
                  <a:srgbClr val="8A9A9D"/>
                </a:solidFill>
                <a:latin typeface="Geist" pitchFamily="34" charset="0"/>
                <a:ea typeface="Geist" pitchFamily="34" charset="-122"/>
                <a:cs typeface="Geist" pitchFamily="34" charset="-120"/>
              </a:rPr>
              <a:t>  DK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8" invalidUrl="" action="" tgtFrame="" tooltip="" history="1" highlightClick="0" endSnd="0">
                  <a:extLst>
                    <a:ext uri="{A12FA001-AC4F-418D-AE19-62706E023703}">
                      <ahyp:hlinkClr xmlns:ahyp="http://schemas.microsoft.com/office/drawing/2018/hyperlinkcolor" val="tx"/>
                    </a:ext>
                  </a:extLst>
                </a:hlinkClick>
              </a:rPr>
              <a:t>retsinformation.dk</a:t>
            </a:r>
            <a:pPr indent="0" marL="0">
              <a:spcAft>
                <a:spcPts val="300"/>
              </a:spcAft>
              <a:buNone/>
            </a:pPr>
            <a:r>
              <a:rPr lang="en-US" sz="950" dirty="0">
                <a:solidFill>
                  <a:srgbClr val="8A9A9D"/>
                </a:solidFill>
                <a:latin typeface="Geist" pitchFamily="34" charset="0"/>
                <a:ea typeface="Geist" pitchFamily="34" charset="-122"/>
                <a:cs typeface="Geist" pitchFamily="34" charset="-120"/>
              </a:rPr>
              <a:t>  FI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19" invalidUrl="" action="" tgtFrame="" tooltip="" history="1" highlightClick="0" endSnd="0">
                  <a:extLst>
                    <a:ext uri="{A12FA001-AC4F-418D-AE19-62706E023703}">
                      <ahyp:hlinkClr xmlns:ahyp="http://schemas.microsoft.com/office/drawing/2018/hyperlinkcolor" val="tx"/>
                    </a:ext>
                  </a:extLst>
                </a:hlinkClick>
              </a:rPr>
              <a:t>finlex.fi</a:t>
            </a:r>
            <a:pPr indent="0" marL="0">
              <a:spcAft>
                <a:spcPts val="300"/>
              </a:spcAft>
              <a:buNone/>
            </a:pPr>
            <a:r>
              <a:rPr lang="en-US" sz="950" dirty="0">
                <a:solidFill>
                  <a:srgbClr val="8A9A9D"/>
                </a:solidFill>
                <a:latin typeface="Geist" pitchFamily="34" charset="0"/>
                <a:ea typeface="Geist" pitchFamily="34" charset="-122"/>
                <a:cs typeface="Geist" pitchFamily="34" charset="-120"/>
              </a:rPr>
              <a:t>  PL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20" invalidUrl="" action="" tgtFrame="" tooltip="" history="1" highlightClick="0" endSnd="0">
                  <a:extLst>
                    <a:ext uri="{A12FA001-AC4F-418D-AE19-62706E023703}">
                      <ahyp:hlinkClr xmlns:ahyp="http://schemas.microsoft.com/office/drawing/2018/hyperlinkcolor" val="tx"/>
                    </a:ext>
                  </a:extLst>
                </a:hlinkClick>
              </a:rPr>
              <a:t>sejm.gov.pl</a:t>
            </a:r>
            <a:pPr indent="0" marL="0">
              <a:spcAft>
                <a:spcPts val="300"/>
              </a:spcAft>
              <a:buNone/>
            </a:pPr>
            <a:r>
              <a:rPr lang="en-US" sz="950" dirty="0">
                <a:solidFill>
                  <a:srgbClr val="8A9A9D"/>
                </a:solidFill>
                <a:latin typeface="Geist" pitchFamily="34" charset="0"/>
                <a:ea typeface="Geist" pitchFamily="34" charset="-122"/>
                <a:cs typeface="Geist" pitchFamily="34" charset="-120"/>
              </a:rPr>
              <a:t>  DE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21" invalidUrl="" action="" tgtFrame="" tooltip="" history="1" highlightClick="0" endSnd="0">
                  <a:extLst>
                    <a:ext uri="{A12FA001-AC4F-418D-AE19-62706E023703}">
                      <ahyp:hlinkClr xmlns:ahyp="http://schemas.microsoft.com/office/drawing/2018/hyperlinkcolor" val="tx"/>
                    </a:ext>
                  </a:extLst>
                </a:hlinkClick>
              </a:rPr>
              <a:t>bsi.bund.de</a:t>
            </a:r>
            <a:pPr indent="0" marL="0">
              <a:spcAft>
                <a:spcPts val="300"/>
              </a:spcAft>
              <a:buNone/>
            </a:pPr>
            <a:r>
              <a:rPr lang="en-US" sz="950" dirty="0">
                <a:solidFill>
                  <a:srgbClr val="8A9A9D"/>
                </a:solidFill>
                <a:latin typeface="Geist" pitchFamily="34" charset="0"/>
                <a:ea typeface="Geist" pitchFamily="34" charset="-122"/>
                <a:cs typeface="Geist" pitchFamily="34" charset="-120"/>
              </a:rPr>
              <a:t>  IT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22" invalidUrl="" action="" tgtFrame="" tooltip="" history="1" highlightClick="0" endSnd="0">
                  <a:extLst>
                    <a:ext uri="{A12FA001-AC4F-418D-AE19-62706E023703}">
                      <ahyp:hlinkClr xmlns:ahyp="http://schemas.microsoft.com/office/drawing/2018/hyperlinkcolor" val="tx"/>
                    </a:ext>
                  </a:extLst>
                </a:hlinkClick>
              </a:rPr>
              <a:t>gazzettaufficiale.it</a:t>
            </a:r>
            <a:pPr indent="0" marL="0">
              <a:spcAft>
                <a:spcPts val="300"/>
              </a:spcAft>
              <a:buNone/>
            </a:pPr>
            <a:r>
              <a:rPr lang="en-US" sz="950" dirty="0">
                <a:solidFill>
                  <a:srgbClr val="8A9A9D"/>
                </a:solidFill>
                <a:latin typeface="Geist" pitchFamily="34" charset="0"/>
                <a:ea typeface="Geist" pitchFamily="34" charset="-122"/>
                <a:cs typeface="Geist" pitchFamily="34" charset="-120"/>
              </a:rPr>
              <a:t>  AT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23" invalidUrl="" action="" tgtFrame="" tooltip="" history="1" highlightClick="0" endSnd="0">
                  <a:extLst>
                    <a:ext uri="{A12FA001-AC4F-418D-AE19-62706E023703}">
                      <ahyp:hlinkClr xmlns:ahyp="http://schemas.microsoft.com/office/drawing/2018/hyperlinkcolor" val="tx"/>
                    </a:ext>
                  </a:extLst>
                </a:hlinkClick>
              </a:rPr>
              <a:t>ris.bka.gv.at</a:t>
            </a:r>
            <a:pPr indent="0" marL="0">
              <a:spcAft>
                <a:spcPts val="300"/>
              </a:spcAft>
              <a:buNone/>
            </a:pPr>
            <a:r>
              <a:rPr lang="en-US" sz="950" dirty="0">
                <a:solidFill>
                  <a:srgbClr val="8A9A9D"/>
                </a:solidFill>
                <a:latin typeface="Geist" pitchFamily="34" charset="0"/>
                <a:ea typeface="Geist" pitchFamily="34" charset="-122"/>
                <a:cs typeface="Geist" pitchFamily="34" charset="-120"/>
              </a:rPr>
              <a:t>  EU </a:t>
            </a:r>
            <a:pPr indent="0" marL="0">
              <a:spcAft>
                <a:spcPts val="300"/>
              </a:spcAft>
              <a:buNone/>
            </a:pPr>
            <a:r>
              <a:rPr lang="en-US" sz="950" u="sng" dirty="0">
                <a:solidFill>
                  <a:srgbClr val="8A9A9D"/>
                </a:solidFill>
                <a:latin typeface="Geist" pitchFamily="34" charset="0"/>
                <a:ea typeface="Geist" pitchFamily="34" charset="-122"/>
                <a:cs typeface="Geist" pitchFamily="34" charset="-120"/>
                <a:hlinkClick r:id="rId24" invalidUrl="" action="" tgtFrame="" tooltip="" history="1" highlightClick="0" endSnd="0">
                  <a:extLst>
                    <a:ext uri="{A12FA001-AC4F-418D-AE19-62706E023703}">
                      <ahyp:hlinkClr xmlns:ahyp="http://schemas.microsoft.com/office/drawing/2018/hyperlinkcolor" val="tx"/>
                    </a:ext>
                  </a:extLst>
                </a:hlinkClick>
              </a:rPr>
              <a:t>digital-strategy.ec.europa.eu</a:t>
            </a:r>
            <a:pPr indent="0" marL="0">
              <a:spcAft>
                <a:spcPts val="300"/>
              </a:spcAft>
              <a:buNone/>
            </a:pPr>
            <a:endParaRPr lang="en-US" sz="950" dirty="0"/>
          </a:p>
        </p:txBody>
      </p:sp>
      <p:grpSp>
        <p:nvGrpSpPr>
          <p:cNvPr name="Group 15" id="333"/>
          <p:cNvGrpSpPr/>
          <p:nvPr/>
        </p:nvGrpSpPr>
        <p:grpSpPr>
          <a:xfrm rot="0">
            <a:off x="4027427" y="1117625"/>
            <a:ext cx="10233146" cy="530810"/>
            <a:chOff x="0" y="0"/>
            <a:chExt cx="2988982" cy="155043"/>
          </a:xfrm>
        </p:grpSpPr>
        <p:sp>
          <p:nvSpPr>
            <p:cNvPr name="Freeform 16" id="334"/>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7" id="335"/>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3" id="336"/>
          <p:cNvGrpSpPr/>
          <p:nvPr/>
        </p:nvGrpSpPr>
        <p:grpSpPr>
          <a:xfrm rot="0">
            <a:off x="4100894" y="1190732"/>
            <a:ext cx="2511996" cy="384596"/>
            <a:chOff x="0" y="0"/>
            <a:chExt cx="3349328" cy="512795"/>
          </a:xfrm>
        </p:grpSpPr>
        <p:grpSp>
          <p:nvGrpSpPr>
            <p:cNvPr name="Group 34" id="337"/>
            <p:cNvGrpSpPr/>
            <p:nvPr/>
          </p:nvGrpSpPr>
          <p:grpSpPr>
            <a:xfrm rot="0">
              <a:off x="0" y="0"/>
              <a:ext cx="512795" cy="512795"/>
              <a:chOff x="0" y="0"/>
              <a:chExt cx="812800" cy="812800"/>
            </a:xfrm>
          </p:grpSpPr>
          <p:sp>
            <p:nvSpPr>
              <p:cNvPr name="Freeform 35" id="338"/>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6" id="339"/>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7" id="340"/>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26">
                <a:extLst>
                  <a:ext uri="{96DAC541-7B7A-43D3-8B79-37D633B846F1}">
                    <asvg:svgBlip xmlns:asvg="http://schemas.microsoft.com/office/drawing/2016/SVG/main" r:embed="rId27"/>
                  </a:ext>
                </a:extLst>
              </a:blip>
              <a:stretch>
                <a:fillRect l="0" t="0" r="0" b="0"/>
              </a:stretch>
            </a:blipFill>
          </p:spPr>
          <p:txBody>
            <a:bodyPr/>
            <a:p/>
          </p:txBody>
        </p:sp>
        <p:sp>
          <p:nvSpPr>
            <p:cNvPr name="TextBox 38" id="341"/>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342" name="Section navigation: About">
            <a:hlinkClick action="ppaction://hlinksldjump" r:id="rId28"/>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About</a:t>
            </a:r>
          </a:p>
        </p:txBody>
      </p:sp>
      <p:sp>
        <p:nvSpPr>
          <p:cNvPr id="343" name="Section navigation: Service (current)">
            <a:hlinkClick action="ppaction://hlinksldjump" r:id="rId29"/>
          </p:cNvPr>
          <p:cNvSpPr/>
          <p:nvPr/>
        </p:nvSpPr>
        <p:spPr>
          <a:xfrm>
            <a:off x="921258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FAFAFA"/>
                </a:solidFill>
                <a:latin typeface="Poppins"/>
              </a:rPr>
              <a:t>Service</a:t>
            </a:r>
          </a:p>
        </p:txBody>
      </p:sp>
      <p:sp>
        <p:nvSpPr>
          <p:cNvPr id="344" name="Section navigation: Team">
            <a:hlinkClick action="ppaction://hlinksldjump" r:id="rId30"/>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Team</a:t>
            </a:r>
          </a:p>
        </p:txBody>
      </p:sp>
      <p:sp>
        <p:nvSpPr>
          <p:cNvPr id="345" name="Section navigation: Conclusion">
            <a:hlinkClick action="ppaction://hlinksldjump" r:id="rId31"/>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Conclusion</a:t>
            </a:r>
          </a:p>
        </p:txBody>
      </p:sp>
      <p:sp>
        <p:nvSpPr>
          <p:cNvPr id="346" name="Compact margin page number 09"/>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11</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2">
    <p:spTree>
      <p:nvGrpSpPr>
        <p:cNvPr id="2" name=""/>
        <p:cNvGrpSpPr/>
        <p:nvPr/>
      </p:nvGrpSpPr>
      <p:grpSpPr>
        <a:xfrm>
          <a:off x="0" y="0"/>
          <a:ext cx="0" cy="0"/>
          <a:chOff x="0" y="0"/>
          <a:chExt cx="0" cy="0"/>
        </a:xfrm>
      </p:grpSpPr>
      <p:sp>
        <p:nvSpPr>
          <p:cNvPr id="3" name="Text 3"/>
          <p:cNvSpPr txBox="1"/>
          <p:nvPr/>
        </p:nvSpPr>
        <p:spPr>
          <a:xfrm>
            <a:off x="1143000" y="1920240"/>
            <a:ext cx="16002000" cy="960120"/>
          </a:xfrm>
          <a:prstGeom prst="rect">
            <a:avLst/>
          </a:prstGeom>
          <a:noFill/>
          <a:ln/>
        </p:spPr>
        <p:txBody>
          <a:bodyPr wrap="square" lIns="0" tIns="0" rIns="0" bIns="0" rtlCol="0" anchor="t"/>
          <a:lstStyle/>
          <a:p>
            <a:pPr indent="0" marL="0">
              <a:buNone/>
            </a:pPr>
            <a:r>
              <a:rPr lang="en-US" sz="5400" spc="-150" kern="0" dirty="0">
                <a:solidFill>
                  <a:srgbClr val="1C2B2F"/>
                </a:solidFill>
                <a:latin typeface="Geist Medium" pitchFamily="34" charset="0"/>
                <a:ea typeface="Geist Medium" pitchFamily="34" charset="-122"/>
                <a:cs typeface="Geist Medium" pitchFamily="34" charset="-120"/>
              </a:rPr>
              <a:t>Enter open. Grow north. Win Germany.</a:t>
            </a:r>
            <a:endParaRPr lang="en-US" sz="5400" dirty="0"/>
          </a:p>
        </p:txBody>
      </p:sp>
      <p:sp>
        <p:nvSpPr>
          <p:cNvPr id="4" name="Text 4"/>
          <p:cNvSpPr txBox="1"/>
          <p:nvPr/>
        </p:nvSpPr>
        <p:spPr>
          <a:xfrm>
            <a:off x="1143000" y="2926080"/>
            <a:ext cx="12710160" cy="365760"/>
          </a:xfrm>
          <a:prstGeom prst="rect">
            <a:avLst/>
          </a:prstGeom>
          <a:noFill/>
          <a:ln/>
        </p:spPr>
        <p:txBody>
          <a:bodyPr wrap="square" lIns="0" tIns="0" rIns="0" bIns="0" rtlCol="0" anchor="t"/>
          <a:lstStyle/>
          <a:p>
            <a:pPr indent="0" marL="0">
              <a:buNone/>
            </a:pPr>
            <a:endParaRPr lang="en-US" sz="1800" dirty="0"/>
          </a:p>
        </p:txBody>
      </p:sp>
      <p:sp>
        <p:nvSpPr>
          <p:cNvPr id="5" name="Text 5"/>
          <p:cNvSpPr txBox="1"/>
          <p:nvPr/>
        </p:nvSpPr>
        <p:spPr>
          <a:xfrm>
            <a:off x="1143000" y="3063240"/>
            <a:ext cx="10515600" cy="320040"/>
          </a:xfrm>
          <a:prstGeom prst="rect">
            <a:avLst/>
          </a:prstGeom>
          <a:noFill/>
          <a:ln/>
        </p:spPr>
        <p:txBody>
          <a:bodyPr wrap="square" lIns="0" tIns="0" rIns="0" bIns="0" rtlCol="0" anchor="t"/>
          <a:lstStyle/>
          <a:p>
            <a:pPr indent="0" marL="0">
              <a:buNone/>
            </a:pPr>
            <a:r>
              <a:rPr lang="en-US" sz="1400" dirty="0">
                <a:solidFill>
                  <a:srgbClr val="55676B"/>
                </a:solidFill>
                <a:latin typeface="Geist" pitchFamily="34" charset="0"/>
                <a:ea typeface="Geist" pitchFamily="34" charset="-122"/>
                <a:cs typeface="Geist" pitchFamily="34" charset="-120"/>
              </a:rPr>
              <a:t>Wedge: NIS2, live in all three markets.  Second module: AI Act, from Q1 2027.  Base: GDPR.</a:t>
            </a:r>
            <a:endParaRPr lang="en-US" sz="1400" dirty="0"/>
          </a:p>
        </p:txBody>
      </p:sp>
      <p:sp>
        <p:nvSpPr>
          <p:cNvPr id="6" name="Text 6"/>
          <p:cNvSpPr txBox="1"/>
          <p:nvPr/>
        </p:nvSpPr>
        <p:spPr>
          <a:xfrm>
            <a:off x="11658600" y="3063240"/>
            <a:ext cx="5486400" cy="320040"/>
          </a:xfrm>
          <a:prstGeom prst="rect">
            <a:avLst/>
          </a:prstGeom>
          <a:noFill/>
          <a:ln/>
        </p:spPr>
        <p:txBody>
          <a:bodyPr wrap="square" lIns="0" tIns="0" rIns="0" bIns="0" rtlCol="0" anchor="t"/>
          <a:lstStyle/>
          <a:p>
            <a:pPr algn="r" indent="0" marL="0">
              <a:buNone/>
            </a:pPr>
            <a:r>
              <a:rPr lang="en-US" sz="1400" dirty="0">
                <a:solidFill>
                  <a:srgbClr val="55676B"/>
                </a:solidFill>
                <a:latin typeface="Geist" pitchFamily="34" charset="0"/>
                <a:ea typeface="Geist" pitchFamily="34" charset="-122"/>
                <a:cs typeface="Geist" pitchFamily="34" charset="-120"/>
              </a:rPr>
              <a:t>Seat in Austria, pilots from Budapest</a:t>
            </a:r>
            <a:endParaRPr lang="en-US" sz="1400" dirty="0"/>
          </a:p>
        </p:txBody>
      </p:sp>
      <p:sp>
        <p:nvSpPr>
          <p:cNvPr id="7" name="Shape 7"/>
          <p:cNvSpPr/>
          <p:nvPr/>
        </p:nvSpPr>
        <p:spPr>
          <a:xfrm>
            <a:off x="1143000" y="3611880"/>
            <a:ext cx="5090160" cy="5623560"/>
          </a:xfrm>
          <a:prstGeom prst="roundRect">
            <a:avLst>
              <a:gd name="adj" fmla="val 3234"/>
            </a:avLst>
          </a:prstGeom>
          <a:solidFill>
            <a:srgbClr val="E7EDEC"/>
          </a:solidFill>
          <a:ln w="9525">
            <a:solidFill>
              <a:srgbClr val="E7EDEC"/>
            </a:solidFill>
            <a:prstDash val="solid"/>
          </a:ln>
        </p:spPr>
      </p:sp>
      <p:sp>
        <p:nvSpPr>
          <p:cNvPr id="8" name="Text 8"/>
          <p:cNvSpPr txBox="1"/>
          <p:nvPr/>
        </p:nvSpPr>
        <p:spPr>
          <a:xfrm>
            <a:off x="1554480" y="3977640"/>
            <a:ext cx="4267200" cy="274320"/>
          </a:xfrm>
          <a:prstGeom prst="rect">
            <a:avLst/>
          </a:prstGeom>
          <a:noFill/>
          <a:ln/>
        </p:spPr>
        <p:txBody>
          <a:bodyPr wrap="square" lIns="0" tIns="0" rIns="0" bIns="0" rtlCol="0" anchor="t"/>
          <a:lstStyle/>
          <a:p>
            <a:pPr indent="0" marL="0">
              <a:buNone/>
            </a:pPr>
            <a:r>
              <a:rPr lang="en-US" sz="1300" dirty="0">
                <a:solidFill>
                  <a:srgbClr val="8A9A9D"/>
                </a:solidFill>
                <a:latin typeface="Geist" pitchFamily="34" charset="0"/>
                <a:ea typeface="Geist" pitchFamily="34" charset="-122"/>
                <a:cs typeface="Geist" pitchFamily="34" charset="-120"/>
              </a:rPr>
              <a:t>01  Enter</a:t>
            </a:r>
            <a:endParaRPr lang="en-US" sz="1300" dirty="0"/>
          </a:p>
        </p:txBody>
      </p:sp>
      <p:sp>
        <p:nvSpPr>
          <p:cNvPr id="9" name="Text 9"/>
          <p:cNvSpPr txBox="1"/>
          <p:nvPr/>
        </p:nvSpPr>
        <p:spPr>
          <a:xfrm>
            <a:off x="1554480" y="3977640"/>
            <a:ext cx="4267200" cy="274320"/>
          </a:xfrm>
          <a:prstGeom prst="rect">
            <a:avLst/>
          </a:prstGeom>
          <a:noFill/>
          <a:ln/>
        </p:spPr>
        <p:txBody>
          <a:bodyPr wrap="square" lIns="0" tIns="0" rIns="0" bIns="0" rtlCol="0" anchor="t"/>
          <a:lstStyle/>
          <a:p>
            <a:pPr algn="r" indent="0" marL="0">
              <a:buNone/>
            </a:pPr>
            <a:r>
              <a:rPr lang="en-US" sz="1300" dirty="0">
                <a:solidFill>
                  <a:srgbClr val="8A9A9D"/>
                </a:solidFill>
                <a:latin typeface="Geist" pitchFamily="34" charset="0"/>
                <a:ea typeface="Geist" pitchFamily="34" charset="-122"/>
                <a:cs typeface="Geist" pitchFamily="34" charset="-120"/>
              </a:rPr>
              <a:t>2027, first half</a:t>
            </a:r>
            <a:endParaRPr lang="en-US" sz="1300" dirty="0"/>
          </a:p>
        </p:txBody>
      </p:sp>
      <p:sp>
        <p:nvSpPr>
          <p:cNvPr id="10" name="Text 10"/>
          <p:cNvSpPr txBox="1"/>
          <p:nvPr/>
        </p:nvSpPr>
        <p:spPr>
          <a:xfrm>
            <a:off x="1554480" y="4297680"/>
            <a:ext cx="4267200" cy="548640"/>
          </a:xfrm>
          <a:prstGeom prst="rect">
            <a:avLst/>
          </a:prstGeom>
          <a:noFill/>
          <a:ln/>
        </p:spPr>
        <p:txBody>
          <a:bodyPr wrap="square" lIns="0" tIns="0" rIns="0" bIns="0" rtlCol="0" anchor="t"/>
          <a:lstStyle/>
          <a:p>
            <a:pPr indent="0" marL="0">
              <a:buNone/>
            </a:pPr>
            <a:r>
              <a:rPr lang="en-US" sz="3000" dirty="0">
                <a:solidFill>
                  <a:srgbClr val="1C2B2F"/>
                </a:solidFill>
                <a:latin typeface="Geist Medium" pitchFamily="34" charset="0"/>
                <a:ea typeface="Geist Medium" pitchFamily="34" charset="-122"/>
                <a:cs typeface="Geist Medium" pitchFamily="34" charset="-120"/>
              </a:rPr>
              <a:t>Netherlands</a:t>
            </a:r>
            <a:endParaRPr lang="en-US" sz="3000" dirty="0"/>
          </a:p>
        </p:txBody>
      </p:sp>
      <p:sp>
        <p:nvSpPr>
          <p:cNvPr id="11" name="Shape 11"/>
          <p:cNvSpPr/>
          <p:nvPr/>
        </p:nvSpPr>
        <p:spPr>
          <a:xfrm>
            <a:off x="1554480" y="5029200"/>
            <a:ext cx="1554480" cy="329184"/>
          </a:xfrm>
          <a:prstGeom prst="roundRect">
            <a:avLst>
              <a:gd name="adj" fmla="val 50000"/>
            </a:avLst>
          </a:prstGeom>
          <a:solidFill>
            <a:srgbClr val="FCFBF8"/>
          </a:solidFill>
          <a:ln w="9525">
            <a:solidFill>
              <a:srgbClr val="CFD6D3"/>
            </a:solidFill>
            <a:prstDash val="solid"/>
          </a:ln>
        </p:spPr>
      </p:sp>
      <p:sp>
        <p:nvSpPr>
          <p:cNvPr id="12" name="Text 12"/>
          <p:cNvSpPr txBox="1"/>
          <p:nvPr/>
        </p:nvSpPr>
        <p:spPr>
          <a:xfrm>
            <a:off x="1554480" y="5029200"/>
            <a:ext cx="1554480" cy="329184"/>
          </a:xfrm>
          <a:prstGeom prst="rect">
            <a:avLst/>
          </a:prstGeom>
          <a:noFill/>
          <a:ln/>
        </p:spPr>
        <p:txBody>
          <a:bodyPr wrap="square" lIns="0" tIns="0" rIns="0" bIns="0" rtlCol="0" anchor="ctr"/>
          <a:lstStyle/>
          <a:p>
            <a:pPr algn="ctr" indent="0" marL="0">
              <a:buNone/>
            </a:pPr>
            <a:r>
              <a:rPr lang="en-US" sz="1200" dirty="0">
                <a:solidFill>
                  <a:srgbClr val="1C2B2F"/>
                </a:solidFill>
                <a:latin typeface="Geist" pitchFamily="34" charset="0"/>
                <a:ea typeface="Geist" pitchFamily="34" charset="-122"/>
                <a:cs typeface="Geist" pitchFamily="34" charset="-120"/>
              </a:rPr>
              <a:t>adviser legal</a:t>
            </a:r>
            <a:endParaRPr lang="en-US" sz="1200" dirty="0"/>
          </a:p>
        </p:txBody>
      </p:sp>
      <p:sp>
        <p:nvSpPr>
          <p:cNvPr id="13" name="Shape 13"/>
          <p:cNvSpPr/>
          <p:nvPr/>
        </p:nvSpPr>
        <p:spPr>
          <a:xfrm>
            <a:off x="1554480" y="5760720"/>
            <a:ext cx="4267200" cy="0"/>
          </a:xfrm>
          <a:prstGeom prst="line">
            <a:avLst/>
          </a:prstGeom>
          <a:noFill/>
          <a:ln w="9525">
            <a:solidFill>
              <a:srgbClr val="CFD6D3"/>
            </a:solidFill>
            <a:prstDash val="solid"/>
          </a:ln>
        </p:spPr>
      </p:sp>
      <p:sp>
        <p:nvSpPr>
          <p:cNvPr id="14" name="Text 14"/>
          <p:cNvSpPr txBox="1"/>
          <p:nvPr/>
        </p:nvSpPr>
        <p:spPr>
          <a:xfrm>
            <a:off x="1554480" y="5870448"/>
            <a:ext cx="4267200" cy="256032"/>
          </a:xfrm>
          <a:prstGeom prst="rect">
            <a:avLst/>
          </a:prstGeom>
          <a:noFill/>
          <a:ln/>
        </p:spPr>
        <p:txBody>
          <a:bodyPr wrap="square" lIns="0" tIns="0" rIns="0" bIns="0" rtlCol="0" anchor="t"/>
          <a:lstStyle/>
          <a:p>
            <a:pPr indent="0" marL="0">
              <a:buNone/>
            </a:pPr>
            <a:r>
              <a:rPr lang="en-US" sz="1100" dirty="0">
                <a:solidFill>
                  <a:srgbClr val="8A9A9D"/>
                </a:solidFill>
                <a:latin typeface="Geist" pitchFamily="34" charset="0"/>
                <a:ea typeface="Geist" pitchFamily="34" charset="-122"/>
                <a:cs typeface="Geist" pitchFamily="34" charset="-120"/>
              </a:rPr>
              <a:t>Trigger</a:t>
            </a:r>
            <a:endParaRPr lang="en-US" sz="1100" dirty="0"/>
          </a:p>
        </p:txBody>
      </p:sp>
      <p:sp>
        <p:nvSpPr>
          <p:cNvPr id="15" name="Text 15"/>
          <p:cNvSpPr txBox="1"/>
          <p:nvPr/>
        </p:nvSpPr>
        <p:spPr>
          <a:xfrm>
            <a:off x="1554480" y="6126480"/>
            <a:ext cx="4267200" cy="68580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NIS2 live since 15 Aug 2026. Registration open, about 8,000 entities.</a:t>
            </a:r>
            <a:endParaRPr lang="en-US" sz="1400" dirty="0"/>
          </a:p>
        </p:txBody>
      </p:sp>
      <p:sp>
        <p:nvSpPr>
          <p:cNvPr id="16" name="Shape 16"/>
          <p:cNvSpPr/>
          <p:nvPr/>
        </p:nvSpPr>
        <p:spPr>
          <a:xfrm>
            <a:off x="1554480" y="6903720"/>
            <a:ext cx="4267200" cy="0"/>
          </a:xfrm>
          <a:prstGeom prst="line">
            <a:avLst/>
          </a:prstGeom>
          <a:noFill/>
          <a:ln w="9525">
            <a:solidFill>
              <a:srgbClr val="CFD6D3"/>
            </a:solidFill>
            <a:prstDash val="solid"/>
          </a:ln>
        </p:spPr>
      </p:sp>
      <p:sp>
        <p:nvSpPr>
          <p:cNvPr id="17" name="Text 17"/>
          <p:cNvSpPr txBox="1"/>
          <p:nvPr/>
        </p:nvSpPr>
        <p:spPr>
          <a:xfrm>
            <a:off x="1554480" y="7013448"/>
            <a:ext cx="4267200" cy="256032"/>
          </a:xfrm>
          <a:prstGeom prst="rect">
            <a:avLst/>
          </a:prstGeom>
          <a:noFill/>
          <a:ln/>
        </p:spPr>
        <p:txBody>
          <a:bodyPr wrap="square" lIns="0" tIns="0" rIns="0" bIns="0" rtlCol="0" anchor="t"/>
          <a:lstStyle/>
          <a:p>
            <a:pPr indent="0" marL="0">
              <a:buNone/>
            </a:pPr>
            <a:r>
              <a:rPr lang="en-US" sz="1100" dirty="0">
                <a:solidFill>
                  <a:srgbClr val="8A9A9D"/>
                </a:solidFill>
                <a:latin typeface="Geist" pitchFamily="34" charset="0"/>
                <a:ea typeface="Geist" pitchFamily="34" charset="-122"/>
                <a:cs typeface="Geist" pitchFamily="34" charset="-120"/>
              </a:rPr>
              <a:t>We need</a:t>
            </a:r>
            <a:endParaRPr lang="en-US" sz="1100" dirty="0"/>
          </a:p>
        </p:txBody>
      </p:sp>
      <p:sp>
        <p:nvSpPr>
          <p:cNvPr id="18" name="Text 18"/>
          <p:cNvSpPr txBox="1"/>
          <p:nvPr/>
        </p:nvSpPr>
        <p:spPr>
          <a:xfrm>
            <a:off x="1554480" y="7269480"/>
            <a:ext cx="4267200" cy="640080"/>
          </a:xfrm>
          <a:prstGeom prst="rect">
            <a:avLst/>
          </a:prstGeom>
          <a:noFill/>
          <a:ln/>
        </p:spPr>
        <p:txBody>
          <a:bodyPr wrap="square" lIns="0" tIns="0" rIns="0" bIns="0" rtlCol="0" anchor="t"/>
          <a:lstStyle/>
          <a:p>
            <a:pPr indent="0" marL="0">
              <a:buNone/>
            </a:pPr>
            <a:r>
              <a:rPr lang="en-US" sz="1350" dirty="0">
                <a:solidFill>
                  <a:srgbClr val="55676B"/>
                </a:solidFill>
                <a:latin typeface="Geist" pitchFamily="34" charset="0"/>
                <a:ea typeface="Geist" pitchFamily="34" charset="-122"/>
                <a:cs typeface="Geist" pitchFamily="34" charset="-120"/>
              </a:rPr>
              <a:t>One Dutch firm. 15 interviews. Two design partners.</a:t>
            </a:r>
            <a:endParaRPr lang="en-US" sz="1350" dirty="0"/>
          </a:p>
        </p:txBody>
      </p:sp>
      <p:sp>
        <p:nvSpPr>
          <p:cNvPr id="19" name="Shape 19"/>
          <p:cNvSpPr/>
          <p:nvPr/>
        </p:nvSpPr>
        <p:spPr>
          <a:xfrm>
            <a:off x="6598920" y="3611880"/>
            <a:ext cx="5090160" cy="5623560"/>
          </a:xfrm>
          <a:prstGeom prst="roundRect">
            <a:avLst>
              <a:gd name="adj" fmla="val 3234"/>
            </a:avLst>
          </a:prstGeom>
          <a:solidFill>
            <a:srgbClr val="E7EDEC"/>
          </a:solidFill>
          <a:ln w="9525">
            <a:solidFill>
              <a:srgbClr val="E7EDEC"/>
            </a:solidFill>
            <a:prstDash val="solid"/>
          </a:ln>
        </p:spPr>
      </p:sp>
      <p:sp>
        <p:nvSpPr>
          <p:cNvPr id="20" name="Text 20"/>
          <p:cNvSpPr txBox="1"/>
          <p:nvPr/>
        </p:nvSpPr>
        <p:spPr>
          <a:xfrm>
            <a:off x="7010400" y="3977640"/>
            <a:ext cx="4267200" cy="274320"/>
          </a:xfrm>
          <a:prstGeom prst="rect">
            <a:avLst/>
          </a:prstGeom>
          <a:noFill/>
          <a:ln/>
        </p:spPr>
        <p:txBody>
          <a:bodyPr wrap="square" lIns="0" tIns="0" rIns="0" bIns="0" rtlCol="0" anchor="t"/>
          <a:lstStyle/>
          <a:p>
            <a:pPr indent="0" marL="0">
              <a:buNone/>
            </a:pPr>
            <a:r>
              <a:rPr lang="en-US" sz="1300" dirty="0">
                <a:solidFill>
                  <a:srgbClr val="8A9A9D"/>
                </a:solidFill>
                <a:latin typeface="Geist" pitchFamily="34" charset="0"/>
                <a:ea typeface="Geist" pitchFamily="34" charset="-122"/>
                <a:cs typeface="Geist" pitchFamily="34" charset="-120"/>
              </a:rPr>
              <a:t>02  Grow</a:t>
            </a:r>
            <a:endParaRPr lang="en-US" sz="1300" dirty="0"/>
          </a:p>
        </p:txBody>
      </p:sp>
      <p:sp>
        <p:nvSpPr>
          <p:cNvPr id="21" name="Text 21"/>
          <p:cNvSpPr txBox="1"/>
          <p:nvPr/>
        </p:nvSpPr>
        <p:spPr>
          <a:xfrm>
            <a:off x="7010400" y="3977640"/>
            <a:ext cx="4267200" cy="274320"/>
          </a:xfrm>
          <a:prstGeom prst="rect">
            <a:avLst/>
          </a:prstGeom>
          <a:noFill/>
          <a:ln/>
        </p:spPr>
        <p:txBody>
          <a:bodyPr wrap="square" lIns="0" tIns="0" rIns="0" bIns="0" rtlCol="0" anchor="t"/>
          <a:lstStyle/>
          <a:p>
            <a:pPr algn="r" indent="0" marL="0">
              <a:buNone/>
            </a:pPr>
            <a:r>
              <a:rPr lang="en-US" sz="1300" dirty="0">
                <a:solidFill>
                  <a:srgbClr val="8A9A9D"/>
                </a:solidFill>
                <a:latin typeface="Geist" pitchFamily="34" charset="0"/>
                <a:ea typeface="Geist" pitchFamily="34" charset="-122"/>
                <a:cs typeface="Geist" pitchFamily="34" charset="-120"/>
              </a:rPr>
              <a:t>2027, second half</a:t>
            </a:r>
            <a:endParaRPr lang="en-US" sz="1300" dirty="0"/>
          </a:p>
        </p:txBody>
      </p:sp>
      <p:sp>
        <p:nvSpPr>
          <p:cNvPr id="22" name="Text 22"/>
          <p:cNvSpPr txBox="1"/>
          <p:nvPr/>
        </p:nvSpPr>
        <p:spPr>
          <a:xfrm>
            <a:off x="7010400" y="4297680"/>
            <a:ext cx="4267200" cy="548640"/>
          </a:xfrm>
          <a:prstGeom prst="rect">
            <a:avLst/>
          </a:prstGeom>
          <a:noFill/>
          <a:ln/>
        </p:spPr>
        <p:txBody>
          <a:bodyPr wrap="square" lIns="0" tIns="0" rIns="0" bIns="0" rtlCol="0" anchor="t"/>
          <a:lstStyle/>
          <a:p>
            <a:pPr indent="0" marL="0">
              <a:buNone/>
            </a:pPr>
            <a:r>
              <a:rPr lang="en-US" sz="3000" dirty="0">
                <a:solidFill>
                  <a:srgbClr val="1C2B2F"/>
                </a:solidFill>
                <a:latin typeface="Geist Medium" pitchFamily="34" charset="0"/>
                <a:ea typeface="Geist Medium" pitchFamily="34" charset="-122"/>
                <a:cs typeface="Geist Medium" pitchFamily="34" charset="-120"/>
              </a:rPr>
              <a:t>Sweden</a:t>
            </a:r>
            <a:endParaRPr lang="en-US" sz="3000" dirty="0"/>
          </a:p>
        </p:txBody>
      </p:sp>
      <p:sp>
        <p:nvSpPr>
          <p:cNvPr id="23" name="Shape 23"/>
          <p:cNvSpPr/>
          <p:nvPr/>
        </p:nvSpPr>
        <p:spPr>
          <a:xfrm>
            <a:off x="7010400" y="5029200"/>
            <a:ext cx="1554480" cy="329184"/>
          </a:xfrm>
          <a:prstGeom prst="roundRect">
            <a:avLst>
              <a:gd name="adj" fmla="val 50000"/>
            </a:avLst>
          </a:prstGeom>
          <a:solidFill>
            <a:srgbClr val="FCFBF8"/>
          </a:solidFill>
          <a:ln w="9525">
            <a:solidFill>
              <a:srgbClr val="CFD6D3"/>
            </a:solidFill>
            <a:prstDash val="solid"/>
          </a:ln>
        </p:spPr>
      </p:sp>
      <p:sp>
        <p:nvSpPr>
          <p:cNvPr id="24" name="Text 24"/>
          <p:cNvSpPr txBox="1"/>
          <p:nvPr/>
        </p:nvSpPr>
        <p:spPr>
          <a:xfrm>
            <a:off x="7010400" y="5029200"/>
            <a:ext cx="1554480" cy="329184"/>
          </a:xfrm>
          <a:prstGeom prst="rect">
            <a:avLst/>
          </a:prstGeom>
          <a:noFill/>
          <a:ln/>
        </p:spPr>
        <p:txBody>
          <a:bodyPr wrap="square" lIns="0" tIns="0" rIns="0" bIns="0" rtlCol="0" anchor="ctr"/>
          <a:lstStyle/>
          <a:p>
            <a:pPr algn="ctr" indent="0" marL="0">
              <a:buNone/>
            </a:pPr>
            <a:r>
              <a:rPr lang="en-US" sz="1200" dirty="0">
                <a:solidFill>
                  <a:srgbClr val="1C2B2F"/>
                </a:solidFill>
                <a:latin typeface="Geist" pitchFamily="34" charset="0"/>
                <a:ea typeface="Geist" pitchFamily="34" charset="-122"/>
                <a:cs typeface="Geist" pitchFamily="34" charset="-120"/>
              </a:rPr>
              <a:t>adviser legal</a:t>
            </a:r>
            <a:endParaRPr lang="en-US" sz="1200" dirty="0"/>
          </a:p>
        </p:txBody>
      </p:sp>
      <p:sp>
        <p:nvSpPr>
          <p:cNvPr id="25" name="Shape 25"/>
          <p:cNvSpPr/>
          <p:nvPr/>
        </p:nvSpPr>
        <p:spPr>
          <a:xfrm>
            <a:off x="7010400" y="5760720"/>
            <a:ext cx="4267200" cy="0"/>
          </a:xfrm>
          <a:prstGeom prst="line">
            <a:avLst/>
          </a:prstGeom>
          <a:noFill/>
          <a:ln w="9525">
            <a:solidFill>
              <a:srgbClr val="CFD6D3"/>
            </a:solidFill>
            <a:prstDash val="solid"/>
          </a:ln>
        </p:spPr>
      </p:sp>
      <p:sp>
        <p:nvSpPr>
          <p:cNvPr id="26" name="Text 26"/>
          <p:cNvSpPr txBox="1"/>
          <p:nvPr/>
        </p:nvSpPr>
        <p:spPr>
          <a:xfrm>
            <a:off x="7010400" y="5870448"/>
            <a:ext cx="4267200" cy="256032"/>
          </a:xfrm>
          <a:prstGeom prst="rect">
            <a:avLst/>
          </a:prstGeom>
          <a:noFill/>
          <a:ln/>
        </p:spPr>
        <p:txBody>
          <a:bodyPr wrap="square" lIns="0" tIns="0" rIns="0" bIns="0" rtlCol="0" anchor="t"/>
          <a:lstStyle/>
          <a:p>
            <a:pPr indent="0" marL="0">
              <a:buNone/>
            </a:pPr>
            <a:r>
              <a:rPr lang="en-US" sz="1100" dirty="0">
                <a:solidFill>
                  <a:srgbClr val="8A9A9D"/>
                </a:solidFill>
                <a:latin typeface="Geist" pitchFamily="34" charset="0"/>
                <a:ea typeface="Geist" pitchFamily="34" charset="-122"/>
                <a:cs typeface="Geist" pitchFamily="34" charset="-120"/>
              </a:rPr>
              <a:t>Trigger</a:t>
            </a:r>
            <a:endParaRPr lang="en-US" sz="1100" dirty="0"/>
          </a:p>
        </p:txBody>
      </p:sp>
      <p:sp>
        <p:nvSpPr>
          <p:cNvPr id="27" name="Text 27"/>
          <p:cNvSpPr txBox="1"/>
          <p:nvPr/>
        </p:nvSpPr>
        <p:spPr>
          <a:xfrm>
            <a:off x="7010400" y="6126480"/>
            <a:ext cx="4267200" cy="685800"/>
          </a:xfrm>
          <a:prstGeom prst="rect">
            <a:avLst/>
          </a:prstGeom>
          <a:noFill/>
          <a:ln/>
        </p:spPr>
        <p:txBody>
          <a:bodyPr wrap="square" lIns="0" tIns="0" rIns="0" bIns="0" rtlCol="0" anchor="t"/>
          <a:lstStyle/>
          <a:p>
            <a:pPr indent="0" marL="0">
              <a:buNone/>
            </a:pPr>
            <a:r>
              <a:rPr lang="en-US" sz="1400" dirty="0">
                <a:solidFill>
                  <a:srgbClr val="1C2B2F"/>
                </a:solidFill>
                <a:latin typeface="Geist Medium" pitchFamily="34" charset="0"/>
                <a:ea typeface="Geist Medium" pitchFamily="34" charset="-122"/>
                <a:cs typeface="Geist Medium" pitchFamily="34" charset="-120"/>
              </a:rPr>
              <a:t>NIS2 live since 15 Jan 2026. One firm for Sweden, Denmark, Finland.</a:t>
            </a:r>
            <a:endParaRPr lang="en-US" sz="1400" dirty="0"/>
          </a:p>
        </p:txBody>
      </p:sp>
      <p:sp>
        <p:nvSpPr>
          <p:cNvPr id="28" name="Shape 28"/>
          <p:cNvSpPr/>
          <p:nvPr/>
        </p:nvSpPr>
        <p:spPr>
          <a:xfrm>
            <a:off x="7010400" y="6903720"/>
            <a:ext cx="4267200" cy="0"/>
          </a:xfrm>
          <a:prstGeom prst="line">
            <a:avLst/>
          </a:prstGeom>
          <a:noFill/>
          <a:ln w="9525">
            <a:solidFill>
              <a:srgbClr val="CFD6D3"/>
            </a:solidFill>
            <a:prstDash val="solid"/>
          </a:ln>
        </p:spPr>
      </p:sp>
      <p:sp>
        <p:nvSpPr>
          <p:cNvPr id="29" name="Text 29"/>
          <p:cNvSpPr txBox="1"/>
          <p:nvPr/>
        </p:nvSpPr>
        <p:spPr>
          <a:xfrm>
            <a:off x="7010400" y="7013448"/>
            <a:ext cx="4267200" cy="256032"/>
          </a:xfrm>
          <a:prstGeom prst="rect">
            <a:avLst/>
          </a:prstGeom>
          <a:noFill/>
          <a:ln/>
        </p:spPr>
        <p:txBody>
          <a:bodyPr wrap="square" lIns="0" tIns="0" rIns="0" bIns="0" rtlCol="0" anchor="t"/>
          <a:lstStyle/>
          <a:p>
            <a:pPr indent="0" marL="0">
              <a:buNone/>
            </a:pPr>
            <a:r>
              <a:rPr lang="en-US" sz="1100" dirty="0">
                <a:solidFill>
                  <a:srgbClr val="8A9A9D"/>
                </a:solidFill>
                <a:latin typeface="Geist" pitchFamily="34" charset="0"/>
                <a:ea typeface="Geist" pitchFamily="34" charset="-122"/>
                <a:cs typeface="Geist" pitchFamily="34" charset="-120"/>
              </a:rPr>
              <a:t>We need</a:t>
            </a:r>
            <a:endParaRPr lang="en-US" sz="1100" dirty="0"/>
          </a:p>
        </p:txBody>
      </p:sp>
      <p:sp>
        <p:nvSpPr>
          <p:cNvPr id="30" name="Text 30"/>
          <p:cNvSpPr txBox="1"/>
          <p:nvPr/>
        </p:nvSpPr>
        <p:spPr>
          <a:xfrm>
            <a:off x="7010400" y="7269480"/>
            <a:ext cx="4267200" cy="640080"/>
          </a:xfrm>
          <a:prstGeom prst="rect">
            <a:avLst/>
          </a:prstGeom>
          <a:noFill/>
          <a:ln/>
        </p:spPr>
        <p:txBody>
          <a:bodyPr wrap="square" lIns="0" tIns="0" rIns="0" bIns="0" rtlCol="0" anchor="t"/>
          <a:lstStyle/>
          <a:p>
            <a:pPr indent="0" marL="0">
              <a:buNone/>
            </a:pPr>
            <a:r>
              <a:rPr lang="en-US" sz="1350" dirty="0">
                <a:solidFill>
                  <a:srgbClr val="55676B"/>
                </a:solidFill>
                <a:latin typeface="Geist" pitchFamily="34" charset="0"/>
                <a:ea typeface="Geist" pitchFamily="34" charset="-122"/>
                <a:cs typeface="Geist" pitchFamily="34" charset="-120"/>
              </a:rPr>
              <a:t>One Swedish firm. First Expand pack, Netherlands to Sweden.</a:t>
            </a:r>
            <a:endParaRPr lang="en-US" sz="1350" dirty="0"/>
          </a:p>
        </p:txBody>
      </p:sp>
      <p:sp>
        <p:nvSpPr>
          <p:cNvPr id="31" name="Shape 31"/>
          <p:cNvSpPr/>
          <p:nvPr/>
        </p:nvSpPr>
        <p:spPr>
          <a:xfrm>
            <a:off x="12054840" y="3611880"/>
            <a:ext cx="5090160" cy="5623560"/>
          </a:xfrm>
          <a:prstGeom prst="roundRect">
            <a:avLst>
              <a:gd name="adj" fmla="val 3234"/>
            </a:avLst>
          </a:prstGeom>
          <a:solidFill>
            <a:srgbClr val="1C2B2F"/>
          </a:solidFill>
          <a:ln w="9525">
            <a:solidFill>
              <a:srgbClr val="1C2B2F"/>
            </a:solidFill>
            <a:prstDash val="solid"/>
          </a:ln>
        </p:spPr>
      </p:sp>
      <p:sp>
        <p:nvSpPr>
          <p:cNvPr id="32" name="Text 32"/>
          <p:cNvSpPr txBox="1"/>
          <p:nvPr/>
        </p:nvSpPr>
        <p:spPr>
          <a:xfrm>
            <a:off x="12466320" y="3977640"/>
            <a:ext cx="4267200" cy="274320"/>
          </a:xfrm>
          <a:prstGeom prst="rect">
            <a:avLst/>
          </a:prstGeom>
          <a:noFill/>
          <a:ln/>
        </p:spPr>
        <p:txBody>
          <a:bodyPr wrap="square" lIns="0" tIns="0" rIns="0" bIns="0" rtlCol="0" anchor="t"/>
          <a:lstStyle/>
          <a:p>
            <a:pPr indent="0" marL="0">
              <a:buNone/>
            </a:pPr>
            <a:r>
              <a:rPr lang="en-US" sz="1300" dirty="0">
                <a:solidFill>
                  <a:srgbClr val="8FA3A8"/>
                </a:solidFill>
                <a:latin typeface="Geist" pitchFamily="34" charset="0"/>
                <a:ea typeface="Geist" pitchFamily="34" charset="-122"/>
                <a:cs typeface="Geist" pitchFamily="34" charset="-120"/>
              </a:rPr>
              <a:t>03  Win</a:t>
            </a:r>
            <a:endParaRPr lang="en-US" sz="1300" dirty="0"/>
          </a:p>
        </p:txBody>
      </p:sp>
      <p:sp>
        <p:nvSpPr>
          <p:cNvPr id="33" name="Text 33"/>
          <p:cNvSpPr txBox="1"/>
          <p:nvPr/>
        </p:nvSpPr>
        <p:spPr>
          <a:xfrm>
            <a:off x="12466320" y="3977640"/>
            <a:ext cx="4267200" cy="274320"/>
          </a:xfrm>
          <a:prstGeom prst="rect">
            <a:avLst/>
          </a:prstGeom>
          <a:noFill/>
          <a:ln/>
        </p:spPr>
        <p:txBody>
          <a:bodyPr wrap="square" lIns="0" tIns="0" rIns="0" bIns="0" rtlCol="0" anchor="t"/>
          <a:lstStyle/>
          <a:p>
            <a:pPr algn="r" indent="0" marL="0">
              <a:buNone/>
            </a:pPr>
            <a:r>
              <a:rPr lang="en-US" sz="1300" dirty="0">
                <a:solidFill>
                  <a:srgbClr val="8FA3A8"/>
                </a:solidFill>
                <a:latin typeface="Geist" pitchFamily="34" charset="0"/>
                <a:ea typeface="Geist" pitchFamily="34" charset="-122"/>
                <a:cs typeface="Geist" pitchFamily="34" charset="-120"/>
              </a:rPr>
              <a:t>2028</a:t>
            </a:r>
            <a:endParaRPr lang="en-US" sz="1300" dirty="0"/>
          </a:p>
        </p:txBody>
      </p:sp>
      <p:sp>
        <p:nvSpPr>
          <p:cNvPr id="34" name="Text 34"/>
          <p:cNvSpPr txBox="1"/>
          <p:nvPr/>
        </p:nvSpPr>
        <p:spPr>
          <a:xfrm>
            <a:off x="12466320" y="4297680"/>
            <a:ext cx="4267200" cy="548640"/>
          </a:xfrm>
          <a:prstGeom prst="rect">
            <a:avLst/>
          </a:prstGeom>
          <a:noFill/>
          <a:ln/>
        </p:spPr>
        <p:txBody>
          <a:bodyPr wrap="square" lIns="0" tIns="0" rIns="0" bIns="0" rtlCol="0" anchor="t"/>
          <a:lstStyle/>
          <a:p>
            <a:pPr indent="0" marL="0">
              <a:buNone/>
            </a:pPr>
            <a:r>
              <a:rPr lang="en-US" sz="3000" dirty="0">
                <a:solidFill>
                  <a:srgbClr val="F6F4EE"/>
                </a:solidFill>
                <a:latin typeface="Geist Medium" pitchFamily="34" charset="0"/>
                <a:ea typeface="Geist Medium" pitchFamily="34" charset="-122"/>
                <a:cs typeface="Geist Medium" pitchFamily="34" charset="-120"/>
              </a:rPr>
              <a:t>Germany</a:t>
            </a:r>
            <a:endParaRPr lang="en-US" sz="3000" dirty="0"/>
          </a:p>
        </p:txBody>
      </p:sp>
      <p:sp>
        <p:nvSpPr>
          <p:cNvPr id="35" name="Shape 35"/>
          <p:cNvSpPr/>
          <p:nvPr/>
        </p:nvSpPr>
        <p:spPr>
          <a:xfrm>
            <a:off x="12466320" y="5029200"/>
            <a:ext cx="2377440" cy="329184"/>
          </a:xfrm>
          <a:prstGeom prst="roundRect">
            <a:avLst>
              <a:gd name="adj" fmla="val 50000"/>
            </a:avLst>
          </a:prstGeom>
          <a:solidFill>
            <a:srgbClr val="2E4147"/>
          </a:solidFill>
          <a:ln w="9525">
            <a:solidFill>
              <a:srgbClr val="2E4147"/>
            </a:solidFill>
            <a:prstDash val="solid"/>
          </a:ln>
        </p:spPr>
      </p:sp>
      <p:sp>
        <p:nvSpPr>
          <p:cNvPr id="36" name="Text 36"/>
          <p:cNvSpPr txBox="1"/>
          <p:nvPr/>
        </p:nvSpPr>
        <p:spPr>
          <a:xfrm>
            <a:off x="12466320" y="5029200"/>
            <a:ext cx="2377440" cy="329184"/>
          </a:xfrm>
          <a:prstGeom prst="rect">
            <a:avLst/>
          </a:prstGeom>
          <a:noFill/>
          <a:ln/>
        </p:spPr>
        <p:txBody>
          <a:bodyPr wrap="square" lIns="0" tIns="0" rIns="0" bIns="0" rtlCol="0" anchor="ctr"/>
          <a:lstStyle/>
          <a:p>
            <a:pPr algn="ctr" indent="0" marL="0">
              <a:buNone/>
            </a:pPr>
            <a:r>
              <a:rPr lang="en-US" sz="1200" dirty="0">
                <a:solidFill>
                  <a:srgbClr val="F6F4EE"/>
                </a:solidFill>
                <a:latin typeface="Geist" pitchFamily="34" charset="0"/>
                <a:ea typeface="Geist" pitchFamily="34" charset="-122"/>
                <a:cs typeface="Geist" pitchFamily="34" charset="-120"/>
              </a:rPr>
              <a:t>adviser gated, firm signs</a:t>
            </a:r>
            <a:endParaRPr lang="en-US" sz="1200" dirty="0"/>
          </a:p>
        </p:txBody>
      </p:sp>
      <p:sp>
        <p:nvSpPr>
          <p:cNvPr id="37" name="Shape 37"/>
          <p:cNvSpPr/>
          <p:nvPr/>
        </p:nvSpPr>
        <p:spPr>
          <a:xfrm>
            <a:off x="12466320" y="5760720"/>
            <a:ext cx="4267200" cy="0"/>
          </a:xfrm>
          <a:prstGeom prst="line">
            <a:avLst/>
          </a:prstGeom>
          <a:noFill/>
          <a:ln w="9525">
            <a:solidFill>
              <a:srgbClr val="4A5E64"/>
            </a:solidFill>
            <a:prstDash val="solid"/>
          </a:ln>
        </p:spPr>
      </p:sp>
      <p:sp>
        <p:nvSpPr>
          <p:cNvPr id="38" name="Text 38"/>
          <p:cNvSpPr txBox="1"/>
          <p:nvPr/>
        </p:nvSpPr>
        <p:spPr>
          <a:xfrm>
            <a:off x="12466320" y="5870448"/>
            <a:ext cx="4267200" cy="256032"/>
          </a:xfrm>
          <a:prstGeom prst="rect">
            <a:avLst/>
          </a:prstGeom>
          <a:noFill/>
          <a:ln/>
        </p:spPr>
        <p:txBody>
          <a:bodyPr wrap="square" lIns="0" tIns="0" rIns="0" bIns="0" rtlCol="0" anchor="t"/>
          <a:lstStyle/>
          <a:p>
            <a:pPr indent="0" marL="0">
              <a:buNone/>
            </a:pPr>
            <a:r>
              <a:rPr lang="en-US" sz="1100" dirty="0">
                <a:solidFill>
                  <a:srgbClr val="8FA3A8"/>
                </a:solidFill>
                <a:latin typeface="Geist" pitchFamily="34" charset="0"/>
                <a:ea typeface="Geist" pitchFamily="34" charset="-122"/>
                <a:cs typeface="Geist" pitchFamily="34" charset="-120"/>
              </a:rPr>
              <a:t>Trigger</a:t>
            </a:r>
            <a:endParaRPr lang="en-US" sz="1100" dirty="0"/>
          </a:p>
        </p:txBody>
      </p:sp>
      <p:sp>
        <p:nvSpPr>
          <p:cNvPr id="39" name="Text 39"/>
          <p:cNvSpPr txBox="1"/>
          <p:nvPr/>
        </p:nvSpPr>
        <p:spPr>
          <a:xfrm>
            <a:off x="12466320" y="6126480"/>
            <a:ext cx="4267200" cy="685800"/>
          </a:xfrm>
          <a:prstGeom prst="rect">
            <a:avLst/>
          </a:prstGeom>
          <a:noFill/>
          <a:ln/>
        </p:spPr>
        <p:txBody>
          <a:bodyPr wrap="square" lIns="0" tIns="0" rIns="0" bIns="0" rtlCol="0" anchor="t"/>
          <a:lstStyle/>
          <a:p>
            <a:pPr indent="0" marL="0">
              <a:buNone/>
            </a:pPr>
            <a:r>
              <a:rPr lang="en-US" sz="1400" dirty="0">
                <a:solidFill>
                  <a:srgbClr val="F6F4EE"/>
                </a:solidFill>
                <a:latin typeface="Geist Medium" pitchFamily="34" charset="0"/>
                <a:ea typeface="Geist Medium" pitchFamily="34" charset="-122"/>
                <a:cs typeface="Geist Medium" pitchFamily="34" charset="-120"/>
              </a:rPr>
              <a:t>NIS2 live since 6 Dec 2025. 20,141 registered. 80,043 firms with 50 or more staff.</a:t>
            </a:r>
            <a:endParaRPr lang="en-US" sz="1400" dirty="0"/>
          </a:p>
        </p:txBody>
      </p:sp>
      <p:sp>
        <p:nvSpPr>
          <p:cNvPr id="40" name="Shape 40"/>
          <p:cNvSpPr/>
          <p:nvPr/>
        </p:nvSpPr>
        <p:spPr>
          <a:xfrm>
            <a:off x="12466320" y="6903720"/>
            <a:ext cx="4267200" cy="0"/>
          </a:xfrm>
          <a:prstGeom prst="line">
            <a:avLst/>
          </a:prstGeom>
          <a:noFill/>
          <a:ln w="9525">
            <a:solidFill>
              <a:srgbClr val="4A5E64"/>
            </a:solidFill>
            <a:prstDash val="solid"/>
          </a:ln>
        </p:spPr>
      </p:sp>
      <p:sp>
        <p:nvSpPr>
          <p:cNvPr id="41" name="Text 41"/>
          <p:cNvSpPr txBox="1"/>
          <p:nvPr/>
        </p:nvSpPr>
        <p:spPr>
          <a:xfrm>
            <a:off x="12466320" y="7013448"/>
            <a:ext cx="4267200" cy="256032"/>
          </a:xfrm>
          <a:prstGeom prst="rect">
            <a:avLst/>
          </a:prstGeom>
          <a:noFill/>
          <a:ln/>
        </p:spPr>
        <p:txBody>
          <a:bodyPr wrap="square" lIns="0" tIns="0" rIns="0" bIns="0" rtlCol="0" anchor="t"/>
          <a:lstStyle/>
          <a:p>
            <a:pPr indent="0" marL="0">
              <a:buNone/>
            </a:pPr>
            <a:r>
              <a:rPr lang="en-US" sz="1100" dirty="0">
                <a:solidFill>
                  <a:srgbClr val="8FA3A8"/>
                </a:solidFill>
                <a:latin typeface="Geist" pitchFamily="34" charset="0"/>
                <a:ea typeface="Geist" pitchFamily="34" charset="-122"/>
                <a:cs typeface="Geist" pitchFamily="34" charset="-120"/>
              </a:rPr>
              <a:t>We need</a:t>
            </a:r>
            <a:endParaRPr lang="en-US" sz="1100" dirty="0"/>
          </a:p>
        </p:txBody>
      </p:sp>
      <p:sp>
        <p:nvSpPr>
          <p:cNvPr id="42" name="Text 42"/>
          <p:cNvSpPr txBox="1"/>
          <p:nvPr/>
        </p:nvSpPr>
        <p:spPr>
          <a:xfrm>
            <a:off x="12466320" y="7269480"/>
            <a:ext cx="4267200" cy="640080"/>
          </a:xfrm>
          <a:prstGeom prst="rect">
            <a:avLst/>
          </a:prstGeom>
          <a:noFill/>
          <a:ln/>
        </p:spPr>
        <p:txBody>
          <a:bodyPr wrap="square" lIns="0" tIns="0" rIns="0" bIns="0" rtlCol="0" anchor="t"/>
          <a:lstStyle/>
          <a:p>
            <a:pPr indent="0" marL="0">
              <a:buNone/>
            </a:pPr>
            <a:r>
              <a:rPr lang="en-US" sz="1350" dirty="0">
                <a:solidFill>
                  <a:srgbClr val="B7C4C7"/>
                </a:solidFill>
                <a:latin typeface="Geist" pitchFamily="34" charset="0"/>
                <a:ea typeface="Geist" pitchFamily="34" charset="-122"/>
                <a:cs typeface="Geist" pitchFamily="34" charset="-120"/>
              </a:rPr>
              <a:t>One German firm. German NIS2 rule set as the second Expand pack.</a:t>
            </a:r>
            <a:endParaRPr lang="en-US" sz="1350" dirty="0"/>
          </a:p>
        </p:txBody>
      </p:sp>
      <p:sp>
        <p:nvSpPr>
          <p:cNvPr id="43" name="Shape 43"/>
          <p:cNvSpPr/>
          <p:nvPr/>
        </p:nvSpPr>
        <p:spPr>
          <a:xfrm>
            <a:off x="12466320" y="7909560"/>
            <a:ext cx="4267200" cy="0"/>
          </a:xfrm>
          <a:prstGeom prst="line">
            <a:avLst/>
          </a:prstGeom>
          <a:noFill/>
          <a:ln w="9525">
            <a:solidFill>
              <a:srgbClr val="4A5E64"/>
            </a:solidFill>
            <a:prstDash val="solid"/>
          </a:ln>
        </p:spPr>
      </p:sp>
      <p:sp>
        <p:nvSpPr>
          <p:cNvPr id="44" name="Text 44"/>
          <p:cNvSpPr txBox="1"/>
          <p:nvPr/>
        </p:nvSpPr>
        <p:spPr>
          <a:xfrm>
            <a:off x="12466320" y="8019288"/>
            <a:ext cx="4267200" cy="256032"/>
          </a:xfrm>
          <a:prstGeom prst="rect">
            <a:avLst/>
          </a:prstGeom>
          <a:noFill/>
          <a:ln/>
        </p:spPr>
        <p:txBody>
          <a:bodyPr wrap="square" lIns="0" tIns="0" rIns="0" bIns="0" rtlCol="0" anchor="t"/>
          <a:lstStyle/>
          <a:p>
            <a:pPr indent="0" marL="0">
              <a:buNone/>
            </a:pPr>
            <a:r>
              <a:rPr lang="en-US" sz="1100" dirty="0">
                <a:solidFill>
                  <a:srgbClr val="8FA3A8"/>
                </a:solidFill>
                <a:latin typeface="Geist" pitchFamily="34" charset="0"/>
                <a:ea typeface="Geist" pitchFamily="34" charset="-122"/>
                <a:cs typeface="Geist" pitchFamily="34" charset="-120"/>
              </a:rPr>
              <a:t>The path in</a:t>
            </a:r>
            <a:endParaRPr lang="en-US" sz="1100" dirty="0"/>
          </a:p>
        </p:txBody>
      </p:sp>
      <p:sp>
        <p:nvSpPr>
          <p:cNvPr id="45" name="Text 45"/>
          <p:cNvSpPr txBox="1"/>
          <p:nvPr/>
        </p:nvSpPr>
        <p:spPr>
          <a:xfrm>
            <a:off x="12466320" y="8275320"/>
            <a:ext cx="4267200" cy="292608"/>
          </a:xfrm>
          <a:prstGeom prst="rect">
            <a:avLst/>
          </a:prstGeom>
          <a:noFill/>
          <a:ln/>
        </p:spPr>
        <p:txBody>
          <a:bodyPr wrap="square" lIns="0" tIns="0" rIns="0" bIns="0" rtlCol="0" anchor="t"/>
          <a:lstStyle/>
          <a:p>
            <a:pPr indent="0" marL="0">
              <a:buNone/>
            </a:pPr>
            <a:r>
              <a:rPr lang="en-US" sz="1350" dirty="0">
                <a:solidFill>
                  <a:srgbClr val="F6F4EE"/>
                </a:solidFill>
                <a:latin typeface="Geist Medium" pitchFamily="34" charset="0"/>
                <a:ea typeface="Geist Medium" pitchFamily="34" charset="-122"/>
                <a:cs typeface="Geist Medium" pitchFamily="34" charset="-120"/>
              </a:rPr>
              <a:t>1   Arrive with customers</a:t>
            </a:r>
            <a:endParaRPr lang="en-US" sz="1350" dirty="0"/>
          </a:p>
        </p:txBody>
      </p:sp>
      <p:sp>
        <p:nvSpPr>
          <p:cNvPr id="46" name="Text 46"/>
          <p:cNvSpPr txBox="1"/>
          <p:nvPr/>
        </p:nvSpPr>
        <p:spPr>
          <a:xfrm>
            <a:off x="12466320" y="8577072"/>
            <a:ext cx="4267200" cy="292608"/>
          </a:xfrm>
          <a:prstGeom prst="rect">
            <a:avLst/>
          </a:prstGeom>
          <a:noFill/>
          <a:ln/>
        </p:spPr>
        <p:txBody>
          <a:bodyPr wrap="square" lIns="0" tIns="0" rIns="0" bIns="0" rtlCol="0" anchor="t"/>
          <a:lstStyle/>
          <a:p>
            <a:pPr indent="0" marL="0">
              <a:buNone/>
            </a:pPr>
            <a:r>
              <a:rPr lang="en-US" sz="1350" dirty="0">
                <a:solidFill>
                  <a:srgbClr val="F6F4EE"/>
                </a:solidFill>
                <a:latin typeface="Geist Medium" pitchFamily="34" charset="0"/>
                <a:ea typeface="Geist Medium" pitchFamily="34" charset="-122"/>
                <a:cs typeface="Geist Medium" pitchFamily="34" charset="-120"/>
              </a:rPr>
              <a:t>2   Arrive with a firm</a:t>
            </a:r>
            <a:endParaRPr lang="en-US" sz="1350" dirty="0"/>
          </a:p>
        </p:txBody>
      </p:sp>
      <p:sp>
        <p:nvSpPr>
          <p:cNvPr id="47" name="Text 47"/>
          <p:cNvSpPr txBox="1"/>
          <p:nvPr/>
        </p:nvSpPr>
        <p:spPr>
          <a:xfrm>
            <a:off x="12466320" y="8878824"/>
            <a:ext cx="4267200" cy="292608"/>
          </a:xfrm>
          <a:prstGeom prst="rect">
            <a:avLst/>
          </a:prstGeom>
          <a:noFill/>
          <a:ln/>
        </p:spPr>
        <p:txBody>
          <a:bodyPr wrap="square" lIns="0" tIns="0" rIns="0" bIns="0" rtlCol="0" anchor="t"/>
          <a:lstStyle/>
          <a:p>
            <a:pPr indent="0" marL="0">
              <a:buNone/>
            </a:pPr>
            <a:r>
              <a:rPr lang="en-US" sz="1350" dirty="0">
                <a:solidFill>
                  <a:srgbClr val="F6F4EE"/>
                </a:solidFill>
                <a:latin typeface="Geist Medium" pitchFamily="34" charset="0"/>
                <a:ea typeface="Geist Medium" pitchFamily="34" charset="-122"/>
                <a:cs typeface="Geist Medium" pitchFamily="34" charset="-120"/>
              </a:rPr>
              <a:t>3   Then sell, firm-led</a:t>
            </a:r>
            <a:endParaRPr lang="en-US" sz="1350" dirty="0"/>
          </a:p>
        </p:txBody>
      </p:sp>
      <p:sp>
        <p:nvSpPr>
          <p:cNvPr id="48" name="Text 48"/>
          <p:cNvSpPr txBox="1"/>
          <p:nvPr/>
        </p:nvSpPr>
        <p:spPr>
          <a:xfrm>
            <a:off x="1143000" y="9464040"/>
            <a:ext cx="16002000" cy="274320"/>
          </a:xfrm>
          <a:prstGeom prst="rect">
            <a:avLst/>
          </a:prstGeom>
          <a:noFill/>
          <a:ln/>
        </p:spPr>
        <p:txBody>
          <a:bodyPr wrap="square" lIns="0" tIns="0" rIns="0" bIns="0" rtlCol="0" anchor="t"/>
          <a:lstStyle/>
          <a:p>
            <a:pPr indent="0" marL="0">
              <a:buNone/>
            </a:pPr>
            <a:r>
              <a:rPr lang="en-US" sz="950" dirty="0">
                <a:solidFill>
                  <a:srgbClr val="8A9A9D"/>
                </a:solidFill>
                <a:latin typeface="Geist Medium" pitchFamily="34" charset="0"/>
                <a:ea typeface="Geist Medium" pitchFamily="34" charset="-122"/>
                <a:cs typeface="Geist Medium" pitchFamily="34" charset="-120"/>
              </a:rPr>
              <a:t>1  Netherlands  </a:t>
            </a:r>
            <a:pPr indent="0" marL="0">
              <a:buNone/>
            </a:pPr>
            <a:r>
              <a:rPr lang="en-US" sz="950" u="sng" dirty="0">
                <a:solidFill>
                  <a:srgbClr val="8A9A9D"/>
                </a:solidFill>
                <a:latin typeface="Geist" pitchFamily="34" charset="0"/>
                <a:ea typeface="Geist" pitchFamily="34" charset="-122"/>
                <a:cs typeface="Geist" pitchFamily="34" charset="-120"/>
                <a:hlinkClick r:id="rId1" invalidUrl="" action="" tgtFrame="" tooltip="" history="1" highlightClick="0" endSnd="0">
                  <a:extLst>
                    <a:ext uri="{A12FA001-AC4F-418D-AE19-62706E023703}">
                      <ahyp:hlinkClr xmlns:ahyp="http://schemas.microsoft.com/office/drawing/2018/hyperlinkcolor" val="tx"/>
                    </a:ext>
                  </a:extLst>
                </a:hlinkClick>
              </a:rPr>
              <a:t>rdi.nl</a:t>
            </a:r>
            <a:pPr indent="0" marL="0">
              <a:buNone/>
            </a:pPr>
            <a:r>
              <a:rPr lang="en-US" sz="950" dirty="0">
                <a:solidFill>
                  <a:srgbClr val="8A9A9D"/>
                </a:solidFill>
                <a:latin typeface="Geist" pitchFamily="34" charset="0"/>
                <a:ea typeface="Geist" pitchFamily="34" charset="-122"/>
                <a:cs typeface="Geist" pitchFamily="34" charset="-120"/>
              </a:rPr>
              <a:t>  </a:t>
            </a:r>
            <a:pPr indent="0" marL="0">
              <a:buNone/>
            </a:pPr>
            <a:r>
              <a:rPr lang="en-US" sz="950" u="sng" dirty="0">
                <a:solidFill>
                  <a:srgbClr val="8A9A9D"/>
                </a:solidFill>
                <a:latin typeface="Geist" pitchFamily="34" charset="0"/>
                <a:ea typeface="Geist" pitchFamily="34" charset="-122"/>
                <a:cs typeface="Geist" pitchFamily="34" charset="-120"/>
                <a:hlinkClick r:id="rId2" invalidUrl="" action="" tgtFrame="" tooltip="" history="1" highlightClick="0" endSnd="0">
                  <a:extLst>
                    <a:ext uri="{A12FA001-AC4F-418D-AE19-62706E023703}">
                      <ahyp:hlinkClr xmlns:ahyp="http://schemas.microsoft.com/office/drawing/2018/hyperlinkcolor" val="tx"/>
                    </a:ext>
                  </a:extLst>
                </a:hlinkClick>
              </a:rPr>
              <a:t>wetten.overheid.nl</a:t>
            </a:r>
            <a:pPr indent="0" marL="0">
              <a:buNone/>
            </a:pPr>
            <a:r>
              <a:rPr lang="en-US" sz="950" dirty="0">
                <a:solidFill>
                  <a:srgbClr val="8A9A9D"/>
                </a:solidFill>
                <a:latin typeface="Geist Medium" pitchFamily="34" charset="0"/>
                <a:ea typeface="Geist Medium" pitchFamily="34" charset="-122"/>
                <a:cs typeface="Geist Medium" pitchFamily="34" charset="-120"/>
              </a:rPr>
              <a:t>     2  Sweden  </a:t>
            </a:r>
            <a:pPr indent="0" marL="0">
              <a:buNone/>
            </a:pPr>
            <a:r>
              <a:rPr lang="en-US" sz="950" u="sng" dirty="0">
                <a:solidFill>
                  <a:srgbClr val="8A9A9D"/>
                </a:solidFill>
                <a:latin typeface="Geist" pitchFamily="34" charset="0"/>
                <a:ea typeface="Geist" pitchFamily="34" charset="-122"/>
                <a:cs typeface="Geist" pitchFamily="34" charset="-120"/>
                <a:hlinkClick r:id="rId3" invalidUrl="" action="" tgtFrame="" tooltip="" history="1" highlightClick="0" endSnd="0">
                  <a:extLst>
                    <a:ext uri="{A12FA001-AC4F-418D-AE19-62706E023703}">
                      <ahyp:hlinkClr xmlns:ahyp="http://schemas.microsoft.com/office/drawing/2018/hyperlinkcolor" val="tx"/>
                    </a:ext>
                  </a:extLst>
                </a:hlinkClick>
              </a:rPr>
              <a:t>riksdagen.se</a:t>
            </a:r>
            <a:pPr indent="0" marL="0">
              <a:buNone/>
            </a:pPr>
            <a:r>
              <a:rPr lang="en-US" sz="950" dirty="0">
                <a:solidFill>
                  <a:srgbClr val="8A9A9D"/>
                </a:solidFill>
                <a:latin typeface="Geist Medium" pitchFamily="34" charset="0"/>
                <a:ea typeface="Geist Medium" pitchFamily="34" charset="-122"/>
                <a:cs typeface="Geist Medium" pitchFamily="34" charset="-120"/>
              </a:rPr>
              <a:t>     3  Germany  </a:t>
            </a:r>
            <a:pPr indent="0" marL="0">
              <a:buNone/>
            </a:pPr>
            <a:r>
              <a:rPr lang="en-US" sz="950" u="sng" dirty="0">
                <a:solidFill>
                  <a:srgbClr val="8A9A9D"/>
                </a:solidFill>
                <a:latin typeface="Geist" pitchFamily="34" charset="0"/>
                <a:ea typeface="Geist" pitchFamily="34" charset="-122"/>
                <a:cs typeface="Geist" pitchFamily="34" charset="-120"/>
                <a:hlinkClick r:id="rId4" invalidUrl="" action="" tgtFrame="" tooltip="" history="1" highlightClick="0" endSnd="0">
                  <a:extLst>
                    <a:ext uri="{A12FA001-AC4F-418D-AE19-62706E023703}">
                      <ahyp:hlinkClr xmlns:ahyp="http://schemas.microsoft.com/office/drawing/2018/hyperlinkcolor" val="tx"/>
                    </a:ext>
                  </a:extLst>
                </a:hlinkClick>
              </a:rPr>
              <a:t>bsi.bund.de</a:t>
            </a:r>
            <a:pPr indent="0" marL="0">
              <a:buNone/>
            </a:pPr>
            <a:r>
              <a:rPr lang="en-US" sz="950" dirty="0">
                <a:solidFill>
                  <a:srgbClr val="8A9A9D"/>
                </a:solidFill>
                <a:latin typeface="Geist" pitchFamily="34" charset="0"/>
                <a:ea typeface="Geist" pitchFamily="34" charset="-122"/>
                <a:cs typeface="Geist" pitchFamily="34" charset="-120"/>
              </a:rPr>
              <a:t>  </a:t>
            </a:r>
            <a:pPr indent="0" marL="0">
              <a:buNone/>
            </a:pPr>
            <a:r>
              <a:rPr lang="en-US" sz="950" u="sng" dirty="0">
                <a:solidFill>
                  <a:srgbClr val="8A9A9D"/>
                </a:solidFill>
                <a:latin typeface="Geist" pitchFamily="34" charset="0"/>
                <a:ea typeface="Geist" pitchFamily="34" charset="-122"/>
                <a:cs typeface="Geist" pitchFamily="34" charset="-120"/>
                <a:hlinkClick r:id="rId5" invalidUrl="" action="" tgtFrame="" tooltip="" history="1" highlightClick="0" endSnd="0">
                  <a:extLst>
                    <a:ext uri="{A12FA001-AC4F-418D-AE19-62706E023703}">
                      <ahyp:hlinkClr xmlns:ahyp="http://schemas.microsoft.com/office/drawing/2018/hyperlinkcolor" val="tx"/>
                    </a:ext>
                  </a:extLst>
                </a:hlinkClick>
              </a:rPr>
              <a:t>bundesgerichtshof.de</a:t>
            </a:r>
            <a:pPr indent="0" marL="0">
              <a:buNone/>
            </a:pPr>
            <a:r>
              <a:rPr lang="en-US" sz="950" dirty="0">
                <a:solidFill>
                  <a:srgbClr val="8A9A9D"/>
                </a:solidFill>
                <a:latin typeface="Geist" pitchFamily="34" charset="0"/>
                <a:ea typeface="Geist" pitchFamily="34" charset="-122"/>
                <a:cs typeface="Geist" pitchFamily="34" charset="-120"/>
              </a:rPr>
              <a:t>  </a:t>
            </a:r>
            <a:pPr indent="0" marL="0">
              <a:buNone/>
            </a:pPr>
            <a:r>
              <a:rPr lang="en-US" sz="950" u="sng" dirty="0">
                <a:solidFill>
                  <a:srgbClr val="8A9A9D"/>
                </a:solidFill>
                <a:latin typeface="Geist" pitchFamily="34" charset="0"/>
                <a:ea typeface="Geist" pitchFamily="34" charset="-122"/>
                <a:cs typeface="Geist" pitchFamily="34" charset="-120"/>
                <a:hlinkClick r:id="rId6" invalidUrl="" action="" tgtFrame="" tooltip="" history="1" highlightClick="0" endSnd="0">
                  <a:extLst>
                    <a:ext uri="{A12FA001-AC4F-418D-AE19-62706E023703}">
                      <ahyp:hlinkClr xmlns:ahyp="http://schemas.microsoft.com/office/drawing/2018/hyperlinkcolor" val="tx"/>
                    </a:ext>
                  </a:extLst>
                </a:hlinkClick>
              </a:rPr>
              <a:t>gesetze-im-internet.de</a:t>
            </a:r>
            <a:pPr indent="0" marL="0">
              <a:buNone/>
            </a:pPr>
            <a:r>
              <a:rPr lang="en-US" sz="950" dirty="0">
                <a:solidFill>
                  <a:srgbClr val="8A9A9D"/>
                </a:solidFill>
                <a:latin typeface="Geist" pitchFamily="34" charset="0"/>
                <a:ea typeface="Geist" pitchFamily="34" charset="-122"/>
                <a:cs typeface="Geist" pitchFamily="34" charset="-120"/>
              </a:rPr>
              <a:t>  </a:t>
            </a:r>
            <a:pPr indent="0" marL="0">
              <a:buNone/>
            </a:pPr>
            <a:r>
              <a:rPr lang="en-US" sz="950" u="sng" dirty="0">
                <a:solidFill>
                  <a:srgbClr val="8A9A9D"/>
                </a:solidFill>
                <a:latin typeface="Geist" pitchFamily="34" charset="0"/>
                <a:ea typeface="Geist" pitchFamily="34" charset="-122"/>
                <a:cs typeface="Geist" pitchFamily="34" charset="-120"/>
                <a:hlinkClick r:id="rId7" invalidUrl="" action="" tgtFrame="" tooltip="" history="1" highlightClick="0" endSnd="0">
                  <a:extLst>
                    <a:ext uri="{A12FA001-AC4F-418D-AE19-62706E023703}">
                      <ahyp:hlinkClr xmlns:ahyp="http://schemas.microsoft.com/office/drawing/2018/hyperlinkcolor" val="tx"/>
                    </a:ext>
                  </a:extLst>
                </a:hlinkClick>
              </a:rPr>
              <a:t>ec.europa.eu/eurostat</a:t>
            </a:r>
            <a:endParaRPr lang="en-US" sz="950" dirty="0"/>
          </a:p>
        </p:txBody>
      </p:sp>
      <p:grpSp>
        <p:nvGrpSpPr>
          <p:cNvPr name="Group 15" id="49"/>
          <p:cNvGrpSpPr/>
          <p:nvPr/>
        </p:nvGrpSpPr>
        <p:grpSpPr>
          <a:xfrm rot="0">
            <a:off x="4027427" y="1117625"/>
            <a:ext cx="10233146" cy="530810"/>
            <a:chOff x="0" y="0"/>
            <a:chExt cx="2988982" cy="155043"/>
          </a:xfrm>
        </p:grpSpPr>
        <p:sp>
          <p:nvSpPr>
            <p:cNvPr name="Freeform 16" id="50"/>
            <p:cNvSpPr/>
            <p:nvPr/>
          </p:nvSpPr>
          <p:spPr>
            <a:xfrm flipH="false" flipV="false" rot="0">
              <a:off x="0" y="0"/>
              <a:ext cx="2988982" cy="155043"/>
            </a:xfrm>
            <a:custGeom>
              <a:avLst/>
              <a:gdLst/>
              <a:ahLst/>
              <a:cxnLst/>
              <a:rect r="r" b="b" t="t" l="l"/>
              <a:pathLst>
                <a:path h="155043" w="2988982">
                  <a:moveTo>
                    <a:pt x="38584" y="0"/>
                  </a:moveTo>
                  <a:lnTo>
                    <a:pt x="2950398" y="0"/>
                  </a:lnTo>
                  <a:cubicBezTo>
                    <a:pt x="2971708" y="0"/>
                    <a:pt x="2988982" y="17275"/>
                    <a:pt x="2988982" y="38584"/>
                  </a:cubicBezTo>
                  <a:lnTo>
                    <a:pt x="2988982" y="116459"/>
                  </a:lnTo>
                  <a:cubicBezTo>
                    <a:pt x="2988982" y="137769"/>
                    <a:pt x="2971708" y="155043"/>
                    <a:pt x="2950398" y="155043"/>
                  </a:cubicBezTo>
                  <a:lnTo>
                    <a:pt x="38584" y="155043"/>
                  </a:lnTo>
                  <a:cubicBezTo>
                    <a:pt x="17275" y="155043"/>
                    <a:pt x="0" y="137769"/>
                    <a:pt x="0" y="116459"/>
                  </a:cubicBezTo>
                  <a:lnTo>
                    <a:pt x="0" y="38584"/>
                  </a:lnTo>
                  <a:cubicBezTo>
                    <a:pt x="0" y="17275"/>
                    <a:pt x="17275" y="0"/>
                    <a:pt x="38584" y="0"/>
                  </a:cubicBezTo>
                  <a:close/>
                </a:path>
              </a:pathLst>
            </a:custGeom>
            <a:solidFill>
              <a:srgbClr val="E1E1E1"/>
            </a:solidFill>
            <a:ln cap="rnd">
              <a:noFill/>
              <a:prstDash val="solid"/>
              <a:round/>
            </a:ln>
          </p:spPr>
          <p:txBody>
            <a:bodyPr/>
            <a:p/>
          </p:txBody>
        </p:sp>
        <p:sp>
          <p:nvSpPr>
            <p:cNvPr name="TextBox 17" id="51"/>
            <p:cNvSpPr txBox="true"/>
            <p:nvPr/>
          </p:nvSpPr>
          <p:spPr>
            <a:xfrm>
              <a:off x="0" y="-47625"/>
              <a:ext cx="2988982" cy="202668"/>
            </a:xfrm>
            <a:prstGeom prst="rect">
              <a:avLst/>
            </a:prstGeom>
          </p:spPr>
          <p:txBody>
            <a:bodyPr anchor="ctr" rtlCol="false" tIns="50800" lIns="50800" bIns="50800" rIns="50800"/>
            <a:lstStyle/>
            <a:p>
              <a:pPr algn="ctr" marL="0" indent="0" lvl="0">
                <a:lnSpc>
                  <a:spcPts val="1959"/>
                </a:lnSpc>
              </a:pPr>
            </a:p>
          </p:txBody>
        </p:sp>
      </p:grpSp>
      <p:grpSp>
        <p:nvGrpSpPr>
          <p:cNvPr name="Group 33" id="52"/>
          <p:cNvGrpSpPr/>
          <p:nvPr/>
        </p:nvGrpSpPr>
        <p:grpSpPr>
          <a:xfrm rot="0">
            <a:off x="4100894" y="1190732"/>
            <a:ext cx="2511996" cy="384596"/>
            <a:chOff x="0" y="0"/>
            <a:chExt cx="3349328" cy="512795"/>
          </a:xfrm>
        </p:grpSpPr>
        <p:grpSp>
          <p:nvGrpSpPr>
            <p:cNvPr name="Group 34" id="53"/>
            <p:cNvGrpSpPr/>
            <p:nvPr/>
          </p:nvGrpSpPr>
          <p:grpSpPr>
            <a:xfrm rot="0">
              <a:off x="0" y="0"/>
              <a:ext cx="512795" cy="512795"/>
              <a:chOff x="0" y="0"/>
              <a:chExt cx="812800" cy="812800"/>
            </a:xfrm>
          </p:grpSpPr>
          <p:sp>
            <p:nvSpPr>
              <p:cNvPr name="Freeform 35" id="54"/>
              <p:cNvSpPr/>
              <p:nvPr/>
            </p:nvSpPr>
            <p:spPr>
              <a:xfrm flipH="false" flipV="false" rot="0">
                <a:off x="0" y="0"/>
                <a:ext cx="812800" cy="812800"/>
              </a:xfrm>
              <a:custGeom>
                <a:avLst/>
                <a:gdLst/>
                <a:ahLst/>
                <a:cxnLst/>
                <a:rect r="r" b="b" t="t" l="l"/>
                <a:pathLst>
                  <a:path h="812800" w="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171717"/>
              </a:solidFill>
            </p:spPr>
            <p:txBody>
              <a:bodyPr/>
              <a:p/>
            </p:txBody>
          </p:sp>
          <p:sp>
            <p:nvSpPr>
              <p:cNvPr name="TextBox 36" id="55"/>
              <p:cNvSpPr txBox="true"/>
              <p:nvPr/>
            </p:nvSpPr>
            <p:spPr>
              <a:xfrm>
                <a:off x="76200" y="28575"/>
                <a:ext cx="660400" cy="708025"/>
              </a:xfrm>
              <a:prstGeom prst="rect">
                <a:avLst/>
              </a:prstGeom>
            </p:spPr>
            <p:txBody>
              <a:bodyPr anchor="ctr" rtlCol="false" tIns="50800" lIns="50800" bIns="50800" rIns="50800"/>
              <a:lstStyle/>
              <a:p>
                <a:pPr algn="ctr" marL="0" indent="0" lvl="0">
                  <a:lnSpc>
                    <a:spcPts val="1959"/>
                  </a:lnSpc>
                </a:pPr>
              </a:p>
            </p:txBody>
          </p:sp>
        </p:grpSp>
        <p:sp>
          <p:nvSpPr>
            <p:cNvPr name="Freeform 37" id="56"/>
            <p:cNvSpPr/>
            <p:nvPr/>
          </p:nvSpPr>
          <p:spPr>
            <a:xfrm flipH="false" flipV="false" rot="0">
              <a:off x="84949" y="115004"/>
              <a:ext cx="342896" cy="282787"/>
            </a:xfrm>
            <a:custGeom>
              <a:avLst/>
              <a:gdLst/>
              <a:ahLst/>
              <a:cxnLst/>
              <a:rect r="r" b="b" t="t" l="l"/>
              <a:pathLst>
                <a:path h="282787" w="342896">
                  <a:moveTo>
                    <a:pt x="0" y="0"/>
                  </a:moveTo>
                  <a:lnTo>
                    <a:pt x="342897" y="0"/>
                  </a:lnTo>
                  <a:lnTo>
                    <a:pt x="342897" y="282787"/>
                  </a:lnTo>
                  <a:lnTo>
                    <a:pt x="0" y="282787"/>
                  </a:lnTo>
                  <a:lnTo>
                    <a:pt x="0" y="0"/>
                  </a:lnTo>
                  <a:close/>
                </a:path>
              </a:pathLst>
            </a:custGeom>
            <a:blipFill>
              <a:blip r:embed="rId9">
                <a:extLst>
                  <a:ext uri="{96DAC541-7B7A-43D3-8B79-37D633B846F1}">
                    <asvg:svgBlip xmlns:asvg="http://schemas.microsoft.com/office/drawing/2016/SVG/main" r:embed="rId10"/>
                  </a:ext>
                </a:extLst>
              </a:blip>
              <a:stretch>
                <a:fillRect l="0" t="0" r="0" b="0"/>
              </a:stretch>
            </a:blipFill>
          </p:spPr>
          <p:txBody>
            <a:bodyPr/>
            <a:p/>
          </p:txBody>
        </p:sp>
        <p:sp>
          <p:nvSpPr>
            <p:cNvPr name="TextBox 38" id="57"/>
            <p:cNvSpPr txBox="true"/>
            <p:nvPr/>
          </p:nvSpPr>
          <p:spPr>
            <a:xfrm rot="0">
              <a:off x="593006" y="20177"/>
              <a:ext cx="2756322" cy="415333"/>
            </a:xfrm>
            <a:prstGeom prst="rect">
              <a:avLst/>
            </a:prstGeom>
          </p:spPr>
          <p:txBody>
            <a:bodyPr anchor="t" rtlCol="false" tIns="0" lIns="0" bIns="0" rIns="0">
              <a:spAutoFit/>
            </a:bodyPr>
            <a:lstStyle/>
            <a:p>
              <a:pPr algn="l" marL="0" indent="0" lvl="0">
                <a:lnSpc>
                  <a:spcPts val="2518"/>
                </a:lnSpc>
              </a:pPr>
              <a:r>
                <a:rPr lang="en-GB" b="true" sz="1798">
                  <a:solidFill>
                    <a:srgbClr val="171717"/>
                  </a:solidFill>
                  <a:latin typeface="Poppins Bold"/>
                  <a:ea typeface="Poppins Bold"/>
                  <a:cs typeface="Poppins Bold"/>
                  <a:sym typeface="Poppins Bold"/>
                </a:rPr>
                <a:t>Regulift</a:t>
              </a:r>
            </a:p>
          </p:txBody>
        </p:sp>
      </p:grpSp>
      <p:sp>
        <p:nvSpPr>
          <p:cNvPr id="58" name="Section navigation: About">
            <a:hlinkClick action="ppaction://hlinksldjump" r:id="rId11"/>
          </p:cNvPr>
          <p:cNvSpPr/>
          <p:nvPr/>
        </p:nvSpPr>
        <p:spPr>
          <a:xfrm>
            <a:off x="758952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About</a:t>
            </a:r>
          </a:p>
        </p:txBody>
      </p:sp>
      <p:sp>
        <p:nvSpPr>
          <p:cNvPr id="59" name="Section navigation: Service (current)">
            <a:hlinkClick action="ppaction://hlinksldjump" r:id="rId12"/>
          </p:cNvPr>
          <p:cNvSpPr/>
          <p:nvPr/>
        </p:nvSpPr>
        <p:spPr>
          <a:xfrm>
            <a:off x="9212580" y="1190731"/>
            <a:ext cx="1513332" cy="384962"/>
          </a:xfrm>
          <a:prstGeom prst="roundRect">
            <a:avLst>
              <a:gd name="adj" fmla="val 50000"/>
            </a:avLst>
          </a:prstGeom>
          <a:solidFill>
            <a:srgbClr val="171717"/>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FAFAFA"/>
                </a:solidFill>
                <a:latin typeface="Poppins"/>
              </a:rPr>
              <a:t>Service</a:t>
            </a:r>
          </a:p>
        </p:txBody>
      </p:sp>
      <p:sp>
        <p:nvSpPr>
          <p:cNvPr id="60" name="Section navigation: Team">
            <a:hlinkClick action="ppaction://hlinksldjump" r:id="rId13"/>
          </p:cNvPr>
          <p:cNvSpPr/>
          <p:nvPr/>
        </p:nvSpPr>
        <p:spPr>
          <a:xfrm>
            <a:off x="1083564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Team</a:t>
            </a:r>
          </a:p>
        </p:txBody>
      </p:sp>
      <p:sp>
        <p:nvSpPr>
          <p:cNvPr id="61" name="Section navigation: Conclusion">
            <a:hlinkClick action="ppaction://hlinksldjump" r:id="rId14"/>
          </p:cNvPr>
          <p:cNvSpPr/>
          <p:nvPr/>
        </p:nvSpPr>
        <p:spPr>
          <a:xfrm>
            <a:off x="12458700" y="1190731"/>
            <a:ext cx="1513332" cy="384962"/>
          </a:xfrm>
          <a:prstGeom prst="roundRect">
            <a:avLst>
              <a:gd name="adj" fmla="val 50000"/>
            </a:avLst>
          </a:prstGeom>
          <a:solidFill>
            <a:srgbClr val="CCCCCC"/>
          </a:solidFill>
          <a:ln>
            <a:noFill/>
          </a:ln>
        </p:spPr>
        <p:style>
          <a:lnRef idx="1">
            <a:schemeClr val="accent1"/>
          </a:lnRef>
          <a:fillRef idx="3">
            <a:schemeClr val="accent1"/>
          </a:fillRef>
          <a:effectRef idx="0">
            <a:schemeClr val="accent1"/>
          </a:effectRef>
          <a:fontRef idx="minor">
            <a:schemeClr val="lt1"/>
          </a:fontRef>
        </p:style>
        <p:txBody>
          <a:bodyPr rtlCol="0" anchor="ctr" wrap="none" lIns="18288" rIns="18288" tIns="0" bIns="0">
            <a:noAutofit/>
          </a:bodyPr>
          <a:lstStyle/>
          <a:p>
            <a:pPr algn="ctr">
              <a:spcBef>
                <a:spcPts val="0"/>
              </a:spcBef>
              <a:spcAft>
                <a:spcPts val="0"/>
              </a:spcAft>
            </a:pPr>
            <a:r>
              <a:rPr sz="1300">
                <a:solidFill>
                  <a:srgbClr val="171717"/>
                </a:solidFill>
                <a:latin typeface="Poppins"/>
              </a:rPr>
              <a:t>Conclusion</a:t>
            </a:r>
          </a:p>
        </p:txBody>
      </p:sp>
      <p:sp>
        <p:nvSpPr>
          <p:cNvPr id="62" name="Compact margin page number 09"/>
          <p:cNvSpPr/>
          <p:nvPr/>
        </p:nvSpPr>
        <p:spPr>
          <a:xfrm>
            <a:off x="16879825" y="9619488"/>
            <a:ext cx="1042415" cy="347472"/>
          </a:xfrm>
          <a:prstGeom prst="roundRect">
            <a:avLst>
              <a:gd name="adj" fmla="val 23000"/>
            </a:avLst>
          </a:prstGeom>
          <a:solidFill>
            <a:srgbClr val="1D2023"/>
          </a:solidFill>
          <a:ln>
            <a:noFill/>
          </a:ln>
        </p:spPr>
        <p:style>
          <a:lnRef idx="1">
            <a:schemeClr val="accent1"/>
          </a:lnRef>
          <a:fillRef idx="3">
            <a:schemeClr val="accent1"/>
          </a:fillRef>
          <a:effectRef idx="2">
            <a:schemeClr val="accent1"/>
          </a:effectRef>
          <a:fontRef idx="minor">
            <a:schemeClr val="lt1"/>
          </a:fontRef>
        </p:style>
        <p:txBody>
          <a:bodyPr rtlCol="0" anchor="ctr" wrap="none" lIns="27432" rIns="27432" tIns="0" bIns="0"/>
          <a:lstStyle/>
          <a:p>
            <a:pPr algn="ctr">
              <a:spcBef>
                <a:spcPts val="0"/>
              </a:spcBef>
              <a:spcAft>
                <a:spcPts val="0"/>
              </a:spcAft>
            </a:pPr>
            <a:r>
              <a:rPr sz="1200" b="0">
                <a:solidFill>
                  <a:srgbClr val="FBFBFB"/>
                </a:solidFill>
                <a:latin typeface="Poppins"/>
              </a:rPr>
              <a:t>Page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DAHYWR9gBOE</dc:identifier>
  <dcterms:modified xsi:type="dcterms:W3CDTF">2011-08-01T06:04:30Z</dcterms:modified>
  <cp:revision>1</cp:revision>
  <dc:title>Presentazione su modello</dc:title>
</cp:coreProperties>
</file>