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68" r:id="rId20"/>
    <p:sldId id="258" r:id="rId8"/>
    <p:sldId id="259" r:id="rId9"/>
    <p:sldId id="263" r:id="rId15"/>
    <p:sldId id="264" r:id="rId16"/>
    <p:sldId id="265" r:id="rId17"/>
    <p:sldId id="266" r:id="rId18"/>
    <p:sldId id="267" r:id="rId19"/>
    <p:sldId id="261" r:id="rId11"/>
    <p:sldId id="262" r:id="rId12"/>
  </p:sldIdLst>
  <p:sldSz cx="18288000" cy="10287000"/>
  <p:notesSz cx="6858000" cy="9144000"/>
  <p:embeddedFontLst>
    <p:embeddedFont>
      <p:font typeface="Poppins Bold" charset="1" panose="00000800000000000000"/>
      <p:regular r:id="rId13"/>
    </p:embeddedFont>
    <p:embeddedFont>
      <p:font typeface="Poppins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6.xml" Type="http://schemas.openxmlformats.org/officeDocument/2006/relationships/slide"/><Relationship Id="rId11" Target="../media/image6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slide1.xml" Type="http://schemas.openxmlformats.org/officeDocument/2006/relationships/slide"/><Relationship Id="rId8" Target="slide3.xml" Type="http://schemas.openxmlformats.org/officeDocument/2006/relationships/slide"/><Relationship Id="rId9" Target="slide7.xml" Type="http://schemas.openxmlformats.org/officeDocument/2006/relationships/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jpeg" Type="http://schemas.openxmlformats.org/officeDocument/2006/relationships/image"/><Relationship Id="rId11" Target="../media/image8.png" Type="http://schemas.openxmlformats.org/officeDocument/2006/relationships/image"/><Relationship Id="rId12" Target="../media/image6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slide1.xml" Type="http://schemas.openxmlformats.org/officeDocument/2006/relationships/slide"/><Relationship Id="rId7" Target="slide3.xml" Type="http://schemas.openxmlformats.org/officeDocument/2006/relationships/slide"/><Relationship Id="rId8" Target="slide7.xml" Type="http://schemas.openxmlformats.org/officeDocument/2006/relationships/slide"/><Relationship Id="rId9" Target="slide6.xml" Type="http://schemas.openxmlformats.org/officeDocument/2006/relationships/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jpeg" Type="http://schemas.openxmlformats.org/officeDocument/2006/relationships/image"/><Relationship Id="rId11" Target="../media/image6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slide1.xml" Type="http://schemas.openxmlformats.org/officeDocument/2006/relationships/slide"/><Relationship Id="rId7" Target="slide3.xml" Type="http://schemas.openxmlformats.org/officeDocument/2006/relationships/slide"/><Relationship Id="rId8" Target="slide7.xml" Type="http://schemas.openxmlformats.org/officeDocument/2006/relationships/slide"/><Relationship Id="rId9" Target="slide6.xml" Type="http://schemas.openxmlformats.org/officeDocument/2006/relationships/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3.xml" Type="http://schemas.openxmlformats.org/officeDocument/2006/relationships/slide"/><Relationship Id="rId11" Target="slide7.xml" Type="http://schemas.openxmlformats.org/officeDocument/2006/relationships/slide"/><Relationship Id="rId12" Target="slide6.xml" Type="http://schemas.openxmlformats.org/officeDocument/2006/relationships/slide"/><Relationship Id="rId13" Target="https://simo-hue.github.io/regulift/" TargetMode="External" Type="http://schemas.openxmlformats.org/officeDocument/2006/relationships/hyperlink"/><Relationship Id="rId14" Target="../media/image11.png" Type="http://schemas.openxmlformats.org/officeDocument/2006/relationships/image"/><Relationship Id="rId15" Target="../media/image6.png" Type="http://schemas.openxmlformats.org/officeDocument/2006/relationships/image"/><Relationship Id="rId2" Target="../media/image9.png" Type="http://schemas.openxmlformats.org/officeDocument/2006/relationships/image"/><Relationship Id="rId3" Target="../media/image7.jpeg" Type="http://schemas.openxmlformats.org/officeDocument/2006/relationships/image"/><Relationship Id="rId4" Target="../media/image10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slide1.xml" Type="http://schemas.openxmlformats.org/officeDocument/2006/relationships/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6.xml" Type="http://schemas.openxmlformats.org/officeDocument/2006/relationships/slide"/><Relationship Id="rId11" Target="../media/image6.png" Type="http://schemas.openxmlformats.org/officeDocument/2006/relationships/image"/><Relationship Id="rId2" Target="../media/image12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slide1.xml" Type="http://schemas.openxmlformats.org/officeDocument/2006/relationships/slide"/><Relationship Id="rId8" Target="slide3.xml" Type="http://schemas.openxmlformats.org/officeDocument/2006/relationships/slide"/><Relationship Id="rId9" Target="slide7.xml" Type="http://schemas.openxmlformats.org/officeDocument/2006/relationships/slide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hyperlink" Target="https://wetten.overheid.nl/BWBR0002093/2026-01-01" TargetMode="External"/><Relationship Id="rId2" Type="http://schemas.openxmlformats.org/officeDocument/2006/relationships/hyperlink" Target="https://www.riksdagen.se/sv/dokument-och-lagar/dokument/svensk-forfattningssamling/lag-1985354-om-forbud-mot-juridiskt-eller_sfs-1985-354/" TargetMode="External"/><Relationship Id="rId3" Type="http://schemas.openxmlformats.org/officeDocument/2006/relationships/hyperlink" Target="https://www.retsinformation.dk/eli/lta/2025/1298/pdf" TargetMode="External"/><Relationship Id="rId4" Type="http://schemas.openxmlformats.org/officeDocument/2006/relationships/hyperlink" Target="https://opendata.finlex.fi/finlex/avoindata/v1/akn/fi/act/statute-consolidated/1958/496/fin@20250543" TargetMode="External"/><Relationship Id="rId5" Type="http://schemas.openxmlformats.org/officeDocument/2006/relationships/hyperlink" Target="https://api.sejm.gov.pl/eli/acts/DU/2026/1290/text.pdf" TargetMode="External"/><Relationship Id="rId6" Type="http://schemas.openxmlformats.org/officeDocument/2006/relationships/hyperlink" Target="https://www.ejustice.just.fgov.be/eli/loi/1967/10/10/1967101053/justel" TargetMode="External"/><Relationship Id="rId7" Type="http://schemas.openxmlformats.org/officeDocument/2006/relationships/hyperlink" Target="https://www.fedlex.admin.ch/eli/cc/2002/153/de" TargetMode="External"/><Relationship Id="rId8" Type="http://schemas.openxmlformats.org/officeDocument/2006/relationships/hyperlink" Target="https://www.gesetze-im-internet.de/rdg/" TargetMode="External"/><Relationship Id="rId9" Type="http://schemas.openxmlformats.org/officeDocument/2006/relationships/hyperlink" Target="https://www.bundesgerichtshof.de/SharedDocs/Pressemitteilungen/DE/2021/2021171.html" TargetMode="External"/><Relationship Id="rId10" Type="http://schemas.openxmlformats.org/officeDocument/2006/relationships/hyperlink" Target="https://www.normattiva.it/uri-res/N2Ls?urn:nir:stato:legge:2012-12-31;247~art2" TargetMode="External"/><Relationship Id="rId11" Type="http://schemas.openxmlformats.org/officeDocument/2006/relationships/hyperlink" Target="https://www.ris.bka.gv.at/NormDokument.wxe?Abfrage=Bundesnormen&amp;Gesetzesnummer=10001673&amp;Paragraf=8" TargetMode="External"/><Relationship Id="rId12" Type="http://schemas.openxmlformats.org/officeDocument/2006/relationships/hyperlink" Target="https://ec.europa.eu/eurostat/databrowser/view/sbs_sc_ovw/default/table" TargetMode="External"/><Relationship Id="rId13" Type="http://schemas.openxmlformats.org/officeDocument/2006/relationships/hyperlink" Target="https://dam-api.bfs.admin.ch/hub/api/dam/assets/36734571/master" TargetMode="External"/><Relationship Id="rId14" Type="http://schemas.openxmlformats.org/officeDocument/2006/relationships/hyperlink" Target="https://ec.europa.eu/eurostat/databrowser/view/sbs_ovw_act/default/table" TargetMode="External"/><Relationship Id="rId15" Type="http://schemas.openxmlformats.org/officeDocument/2006/relationships/hyperlink" Target="https://e-justice.europa.eu/topics/taking-legal-action/where-and-how/costs_en" TargetMode="External"/><Relationship Id="rId16" Type="http://schemas.openxmlformats.org/officeDocument/2006/relationships/hyperlink" Target="https://www.rdi.nl/actueel/nieuws/2026/08/15/de-cyberbeveiligingswet-treedt-in-werking" TargetMode="External"/><Relationship Id="rId17" Type="http://schemas.openxmlformats.org/officeDocument/2006/relationships/hyperlink" Target="https://www.riksdagen.se/sv/dokument-och-lagar/dokument/svensk-forfattningssamling/cybersakerhetslag-20251506_sfs-2025-1506/" TargetMode="External"/><Relationship Id="rId18" Type="http://schemas.openxmlformats.org/officeDocument/2006/relationships/hyperlink" Target="https://www.retsinformation.dk/eli/lta/2025/434" TargetMode="External"/><Relationship Id="rId19" Type="http://schemas.openxmlformats.org/officeDocument/2006/relationships/hyperlink" Target="https://www.finlex.fi/fi/lainsaadanto/2025/124" TargetMode="External"/><Relationship Id="rId20" Type="http://schemas.openxmlformats.org/officeDocument/2006/relationships/hyperlink" Target="https://api.sejm.gov.pl/eli/acts/DU/2026/252" TargetMode="External"/><Relationship Id="rId21" Type="http://schemas.openxmlformats.org/officeDocument/2006/relationships/hyperlink" Target="https://www.bsi.bund.de/DE/Service-Navi/Presse/Pressemitteilungen/Presse2025/251205_NIS-2-Umsetzungsgesetz_in_Kraft.html" TargetMode="External"/><Relationship Id="rId22" Type="http://schemas.openxmlformats.org/officeDocument/2006/relationships/hyperlink" Target="https://www.gazzettaufficiale.it/eli/id/2024/10/01/24G00155/sg" TargetMode="External"/><Relationship Id="rId23" Type="http://schemas.openxmlformats.org/officeDocument/2006/relationships/hyperlink" Target="https://www.ris.bka.gv.at/Dokumente/Bundesnormen/NOR40273890/NOR40273890.pdf" TargetMode="External"/><Relationship Id="rId24" Type="http://schemas.openxmlformats.org/officeDocument/2006/relationships/hyperlink" Target="https://digital-strategy.ec.europa.eu/en/policies/nis-transposition" TargetMode="External"/><Relationship Id="rId25" Type="http://schemas.openxmlformats.org/officeDocument/2006/relationships/slideLayout" Target="../slideLayouts/slideLayout7.xml"/><Relationship Id="rId26" Type="http://schemas.openxmlformats.org/officeDocument/2006/relationships/image" Target="../media/image2.png"/><Relationship Id="rId27" Type="http://schemas.openxmlformats.org/officeDocument/2006/relationships/image" Target="../media/image3.svg"/><Relationship Id="rId28" Type="http://schemas.openxmlformats.org/officeDocument/2006/relationships/image" Target="../media/image4.png"/><Relationship Id="rId29" Type="http://schemas.openxmlformats.org/officeDocument/2006/relationships/image" Target="../media/image5.svg"/><Relationship Id="rId30" Type="http://schemas.openxmlformats.org/officeDocument/2006/relationships/slide" Target="slide1.xml"/><Relationship Id="rId31" Type="http://schemas.openxmlformats.org/officeDocument/2006/relationships/slide" Target="slide3.xml"/><Relationship Id="rId32" Type="http://schemas.openxmlformats.org/officeDocument/2006/relationships/slide" Target="slide7.xml"/><Relationship Id="rId33" Type="http://schemas.openxmlformats.org/officeDocument/2006/relationships/slide" Target="slide6.xml"/><Relationship Id="rId3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hyperlink" Target="https://www.bundesgerichtshof.de/SharedDocs/Pressemitteilungen/DE/2021/2021171.html" TargetMode="Externa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slide" Target="slide1.xml"/><Relationship Id="rId8" Type="http://schemas.openxmlformats.org/officeDocument/2006/relationships/slide" Target="slide3.xml"/><Relationship Id="rId9" Type="http://schemas.openxmlformats.org/officeDocument/2006/relationships/slide" Target="slide7.xml"/><Relationship Id="rId10" Type="http://schemas.openxmlformats.org/officeDocument/2006/relationships/slide" Target="slide6.xml"/><Relationship Id="rId11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2" Type="http://schemas.openxmlformats.org/officeDocument/2006/relationships/hyperlink" Target="https://wetten.overheid.nl/BWBR0002093/2026-01-01" TargetMode="External"/><Relationship Id="rId3" Type="http://schemas.openxmlformats.org/officeDocument/2006/relationships/hyperlink" Target="https://www.gesetze-im-internet.de/rdg/" TargetMode="External"/><Relationship Id="rId4" Type="http://schemas.openxmlformats.org/officeDocument/2006/relationships/hyperlink" Target="https://www.ris.bka.gv.at/NormDokument.wxe?Abfrage=Bundesnormen&amp;Gesetzesnummer=10001673&amp;Paragraf=8" TargetMode="External"/><Relationship Id="rId5" Type="http://schemas.openxmlformats.org/officeDocument/2006/relationships/hyperlink" Target="https://www.rdi.nl/actueel/nieuws/2026/08/15/de-cyberbeveiligingswet-treedt-in-werking" TargetMode="External"/><Relationship Id="rId6" Type="http://schemas.openxmlformats.org/officeDocument/2006/relationships/hyperlink" Target="https://www.nctv.nl/onderwerpen/c/cyberbeveiligingswet/vragen-en-antwoorden" TargetMode="External"/><Relationship Id="rId1" Type="http://schemas.openxmlformats.org/officeDocument/2006/relationships/image" Target="../media/image13.png"/><Relationship Id="rId7" Type="http://schemas.openxmlformats.org/officeDocument/2006/relationships/slideLayout" Target="../slideLayouts/slideLayout7.xml"/><Relationship Id="rId8" Type="http://schemas.openxmlformats.org/officeDocument/2006/relationships/image" Target="../media/image2.png"/><Relationship Id="rId9" Type="http://schemas.openxmlformats.org/officeDocument/2006/relationships/image" Target="../media/image3.svg"/><Relationship Id="rId10" Type="http://schemas.openxmlformats.org/officeDocument/2006/relationships/image" Target="../media/image4.png"/><Relationship Id="rId11" Type="http://schemas.openxmlformats.org/officeDocument/2006/relationships/image" Target="../media/image5.svg"/><Relationship Id="rId12" Type="http://schemas.openxmlformats.org/officeDocument/2006/relationships/slide" Target="slide1.xml"/><Relationship Id="rId13" Type="http://schemas.openxmlformats.org/officeDocument/2006/relationships/slide" Target="slide3.xml"/><Relationship Id="rId14" Type="http://schemas.openxmlformats.org/officeDocument/2006/relationships/slide" Target="slide7.xml"/><Relationship Id="rId15" Type="http://schemas.openxmlformats.org/officeDocument/2006/relationships/slide" Target="slide6.xml"/><Relationship Id="rId16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hyperlink" Target="https://www.beck-aktuell.de/rechtsbranche/anwaltschaft/brak-star-umfrage-statistik-anwaltschaft-maenner-frauen-unterschiede-einkommen-2026-02-10" TargetMode="External"/><Relationship Id="rId2" Type="http://schemas.openxmlformats.org/officeDocument/2006/relationships/hyperlink" Target="https://www.srd-rechtsanwaelte.de/nis2-anwendbarkeit-pruefen" TargetMode="External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slide" Target="slide1.xml"/><Relationship Id="rId9" Type="http://schemas.openxmlformats.org/officeDocument/2006/relationships/slide" Target="slide3.xml"/><Relationship Id="rId10" Type="http://schemas.openxmlformats.org/officeDocument/2006/relationships/slide" Target="slide7.xml"/><Relationship Id="rId11" Type="http://schemas.openxmlformats.org/officeDocument/2006/relationships/slide" Target="slide6.xml"/><Relationship Id="rId1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6" Type="http://schemas.openxmlformats.org/officeDocument/2006/relationships/slide" Target="slide1.xml"/><Relationship Id="rId7" Type="http://schemas.openxmlformats.org/officeDocument/2006/relationships/slide" Target="slide3.xml"/><Relationship Id="rId8" Type="http://schemas.openxmlformats.org/officeDocument/2006/relationships/slide" Target="slide7.xml"/><Relationship Id="rId9" Type="http://schemas.openxmlformats.org/officeDocument/2006/relationships/slide" Target="slide6.xml"/><Relationship Id="rId10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png"/><Relationship Id="rId8" Type="http://schemas.openxmlformats.org/officeDocument/2006/relationships/image" Target="../media/image5.svg"/><Relationship Id="rId9" Type="http://schemas.openxmlformats.org/officeDocument/2006/relationships/slide" Target="slide1.xml"/><Relationship Id="rId10" Type="http://schemas.openxmlformats.org/officeDocument/2006/relationships/slide" Target="slide3.xml"/><Relationship Id="rId11" Type="http://schemas.openxmlformats.org/officeDocument/2006/relationships/slide" Target="slide7.xml"/><Relationship Id="rId12" Type="http://schemas.openxmlformats.org/officeDocument/2006/relationships/slide" Target="slide6.xml"/><Relationship Id="rId13" Type="http://schemas.openxmlformats.org/officeDocument/2006/relationships/image" Target="../media/image6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124307" y="2510150"/>
            <a:ext cx="20536614" cy="3397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58"/>
              </a:lnSpc>
            </a:pPr>
            <a:r>
              <a:rPr lang="en-US" b="true" sz="28976" spc="-2318">
                <a:solidFill>
                  <a:srgbClr val="171717"/>
                </a:solidFill>
                <a:latin typeface="Poppins Bold"/>
                <a:ea typeface="Poppins Bold"/>
                <a:cs typeface="Poppins Bold"/>
                <a:sym typeface="Poppins Bold"/>
              </a:rPr>
              <a:t>REGULIFT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371188" y="4483687"/>
            <a:ext cx="12962420" cy="5930313"/>
            <a:chOff x="0" y="0"/>
            <a:chExt cx="17283227" cy="79070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283176" cy="7907020"/>
            </a:xfrm>
            <a:custGeom>
              <a:avLst/>
              <a:gdLst/>
              <a:ahLst/>
              <a:cxnLst/>
              <a:rect r="r" b="b" t="t" l="l"/>
              <a:pathLst>
                <a:path h="7907020" w="17283176">
                  <a:moveTo>
                    <a:pt x="0" y="0"/>
                  </a:moveTo>
                  <a:lnTo>
                    <a:pt x="17283176" y="0"/>
                  </a:lnTo>
                  <a:lnTo>
                    <a:pt x="17283176" y="7907020"/>
                  </a:lnTo>
                  <a:lnTo>
                    <a:pt x="0" y="79070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0" r="0" b="-61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4027427" y="954576"/>
            <a:ext cx="10233146" cy="693858"/>
          </a:xfrm>
          <a:custGeom>
            <a:avLst/>
            <a:gdLst/>
            <a:ahLst/>
            <a:cxnLst/>
            <a:rect r="r" b="b" t="t" l="l"/>
            <a:pathLst>
              <a:path h="693858" w="10233146">
                <a:moveTo>
                  <a:pt x="0" y="0"/>
                </a:moveTo>
                <a:lnTo>
                  <a:pt x="10233146" y="0"/>
                </a:lnTo>
                <a:lnTo>
                  <a:pt x="10233146" y="693859"/>
                </a:lnTo>
                <a:lnTo>
                  <a:pt x="0" y="6938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100894" y="1190730"/>
            <a:ext cx="384600" cy="384600"/>
          </a:xfrm>
          <a:custGeom>
            <a:avLst/>
            <a:gdLst/>
            <a:ahLst/>
            <a:cxnLst/>
            <a:rect r="r" b="b" t="t" l="l"/>
            <a:pathLst>
              <a:path h="384600" w="384600">
                <a:moveTo>
                  <a:pt x="0" y="0"/>
                </a:moveTo>
                <a:lnTo>
                  <a:pt x="384600" y="0"/>
                </a:lnTo>
                <a:lnTo>
                  <a:pt x="384600" y="384600"/>
                </a:lnTo>
                <a:lnTo>
                  <a:pt x="0" y="384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45644" y="1148715"/>
            <a:ext cx="2067239" cy="36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7"/>
              </a:lnSpc>
            </a:pPr>
            <a:r>
              <a:rPr lang="en-US" sz="1797" b="true">
                <a:solidFill>
                  <a:srgbClr val="171717"/>
                </a:solidFill>
                <a:latin typeface="Poppins Bold"/>
                <a:ea typeface="Poppins Bold"/>
                <a:cs typeface="Poppins Bold"/>
                <a:sym typeface="Poppins Bold"/>
              </a:rPr>
              <a:t>Regulift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589520" y="1190730"/>
            <a:ext cx="1513332" cy="384962"/>
            <a:chOff x="0" y="0"/>
            <a:chExt cx="2017776" cy="513283"/>
          </a:xfrm>
        </p:grpSpPr>
        <p:sp>
          <p:nvSpPr>
            <p:cNvPr name="Freeform 9" id="9">
              <a:hlinkClick r:id="rId7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17171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FAFAFA"/>
                  </a:solidFill>
                  <a:latin typeface="Poppins"/>
                  <a:ea typeface="Poppins"/>
                  <a:cs typeface="Poppins"/>
                  <a:sym typeface="Poppins"/>
                </a:rPr>
                <a:t>About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12580" y="1190730"/>
            <a:ext cx="1513332" cy="384962"/>
            <a:chOff x="0" y="0"/>
            <a:chExt cx="2017776" cy="513283"/>
          </a:xfrm>
        </p:grpSpPr>
        <p:sp>
          <p:nvSpPr>
            <p:cNvPr name="Freeform 12" id="12">
              <a:hlinkClick r:id="rId8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Service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835640" y="1190730"/>
            <a:ext cx="1513332" cy="384962"/>
            <a:chOff x="0" y="0"/>
            <a:chExt cx="2017776" cy="513283"/>
          </a:xfrm>
        </p:grpSpPr>
        <p:sp>
          <p:nvSpPr>
            <p:cNvPr name="Freeform 15" id="15">
              <a:hlinkClick r:id="rId9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Team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458700" y="1190730"/>
            <a:ext cx="1513332" cy="384962"/>
            <a:chOff x="0" y="0"/>
            <a:chExt cx="2017776" cy="513283"/>
          </a:xfrm>
        </p:grpSpPr>
        <p:sp>
          <p:nvSpPr>
            <p:cNvPr name="Freeform 18" id="18">
              <a:hlinkClick r:id="rId10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Conclusion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879824" y="9619488"/>
            <a:ext cx="1042416" cy="347472"/>
            <a:chOff x="0" y="0"/>
            <a:chExt cx="1389888" cy="4632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89888" cy="463296"/>
            </a:xfrm>
            <a:custGeom>
              <a:avLst/>
              <a:gdLst/>
              <a:ahLst/>
              <a:cxnLst/>
              <a:rect r="r" b="b" t="t" l="l"/>
              <a:pathLst>
                <a:path h="463296" w="1389888">
                  <a:moveTo>
                    <a:pt x="0" y="106553"/>
                  </a:moveTo>
                  <a:cubicBezTo>
                    <a:pt x="0" y="47752"/>
                    <a:pt x="47752" y="0"/>
                    <a:pt x="106553" y="0"/>
                  </a:cubicBezTo>
                  <a:lnTo>
                    <a:pt x="1283335" y="0"/>
                  </a:lnTo>
                  <a:cubicBezTo>
                    <a:pt x="1342136" y="0"/>
                    <a:pt x="1389888" y="47752"/>
                    <a:pt x="1389888" y="106553"/>
                  </a:cubicBezTo>
                  <a:lnTo>
                    <a:pt x="1389888" y="356743"/>
                  </a:lnTo>
                  <a:cubicBezTo>
                    <a:pt x="1389888" y="415544"/>
                    <a:pt x="1342136" y="463296"/>
                    <a:pt x="1283335" y="463296"/>
                  </a:cubicBezTo>
                  <a:lnTo>
                    <a:pt x="106553" y="463296"/>
                  </a:lnTo>
                  <a:cubicBezTo>
                    <a:pt x="47752" y="463296"/>
                    <a:pt x="0" y="415544"/>
                    <a:pt x="0" y="356743"/>
                  </a:cubicBezTo>
                  <a:close/>
                </a:path>
              </a:pathLst>
            </a:custGeom>
            <a:solidFill>
              <a:srgbClr val="1D202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389888" cy="472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BFBFB"/>
                  </a:solidFill>
                  <a:latin typeface="Poppins"/>
                  <a:ea typeface="Poppins"/>
                  <a:cs typeface="Poppins"/>
                  <a:sym typeface="Poppins"/>
                </a:rPr>
                <a:t>Page 01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158586" y="1272016"/>
            <a:ext cx="269215" cy="222028"/>
            <a:chOff x="0" y="0"/>
            <a:chExt cx="358953" cy="296037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358902" cy="296037"/>
            </a:xfrm>
            <a:custGeom>
              <a:avLst/>
              <a:gdLst/>
              <a:ahLst/>
              <a:cxnLst/>
              <a:rect r="r" b="b" t="t" l="l"/>
              <a:pathLst>
                <a:path h="296037" w="358902">
                  <a:moveTo>
                    <a:pt x="0" y="0"/>
                  </a:moveTo>
                  <a:lnTo>
                    <a:pt x="358902" y="0"/>
                  </a:lnTo>
                  <a:lnTo>
                    <a:pt x="358902" y="296037"/>
                  </a:lnTo>
                  <a:lnTo>
                    <a:pt x="0" y="296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4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27427" y="954576"/>
            <a:ext cx="10233146" cy="693858"/>
          </a:xfrm>
          <a:custGeom>
            <a:avLst/>
            <a:gdLst/>
            <a:ahLst/>
            <a:cxnLst/>
            <a:rect r="r" b="b" t="t" l="l"/>
            <a:pathLst>
              <a:path h="693858" w="10233146">
                <a:moveTo>
                  <a:pt x="0" y="0"/>
                </a:moveTo>
                <a:lnTo>
                  <a:pt x="10233146" y="0"/>
                </a:lnTo>
                <a:lnTo>
                  <a:pt x="10233146" y="693859"/>
                </a:lnTo>
                <a:lnTo>
                  <a:pt x="0" y="693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00894" y="1190730"/>
            <a:ext cx="384600" cy="384600"/>
          </a:xfrm>
          <a:custGeom>
            <a:avLst/>
            <a:gdLst/>
            <a:ahLst/>
            <a:cxnLst/>
            <a:rect r="r" b="b" t="t" l="l"/>
            <a:pathLst>
              <a:path h="384600" w="384600">
                <a:moveTo>
                  <a:pt x="0" y="0"/>
                </a:moveTo>
                <a:lnTo>
                  <a:pt x="384600" y="0"/>
                </a:lnTo>
                <a:lnTo>
                  <a:pt x="384600" y="384600"/>
                </a:lnTo>
                <a:lnTo>
                  <a:pt x="0" y="384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45644" y="1148715"/>
            <a:ext cx="2067239" cy="36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7"/>
              </a:lnSpc>
            </a:pPr>
            <a:r>
              <a:rPr lang="en-US" sz="1797" b="true">
                <a:solidFill>
                  <a:srgbClr val="171717"/>
                </a:solidFill>
                <a:latin typeface="Poppins Bold"/>
                <a:ea typeface="Poppins Bold"/>
                <a:cs typeface="Poppins Bold"/>
                <a:sym typeface="Poppins Bold"/>
              </a:rPr>
              <a:t>Regulift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589520" y="1190730"/>
            <a:ext cx="1513332" cy="384962"/>
            <a:chOff x="0" y="0"/>
            <a:chExt cx="2017776" cy="513283"/>
          </a:xfrm>
        </p:grpSpPr>
        <p:sp>
          <p:nvSpPr>
            <p:cNvPr name="Freeform 6" id="6">
              <a:hlinkClick r:id="rId6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About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12580" y="1190730"/>
            <a:ext cx="1513332" cy="384962"/>
            <a:chOff x="0" y="0"/>
            <a:chExt cx="2017776" cy="513283"/>
          </a:xfrm>
        </p:grpSpPr>
        <p:sp>
          <p:nvSpPr>
            <p:cNvPr name="Freeform 9" id="9">
              <a:hlinkClick r:id="rId7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17171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FAFAFA"/>
                  </a:solidFill>
                  <a:latin typeface="Poppins"/>
                  <a:ea typeface="Poppins"/>
                  <a:cs typeface="Poppins"/>
                  <a:sym typeface="Poppins"/>
                </a:rPr>
                <a:t>Service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35640" y="1190730"/>
            <a:ext cx="1513332" cy="384962"/>
            <a:chOff x="0" y="0"/>
            <a:chExt cx="2017776" cy="513283"/>
          </a:xfrm>
        </p:grpSpPr>
        <p:sp>
          <p:nvSpPr>
            <p:cNvPr name="Freeform 12" id="12">
              <a:hlinkClick r:id="rId8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Team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458700" y="1190730"/>
            <a:ext cx="1513332" cy="384962"/>
            <a:chOff x="0" y="0"/>
            <a:chExt cx="2017776" cy="513283"/>
          </a:xfrm>
        </p:grpSpPr>
        <p:sp>
          <p:nvSpPr>
            <p:cNvPr name="Freeform 15" id="15">
              <a:hlinkClick r:id="rId9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Conclusion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879824" y="9619488"/>
            <a:ext cx="1042416" cy="347472"/>
            <a:chOff x="0" y="0"/>
            <a:chExt cx="1389888" cy="4632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89888" cy="463296"/>
            </a:xfrm>
            <a:custGeom>
              <a:avLst/>
              <a:gdLst/>
              <a:ahLst/>
              <a:cxnLst/>
              <a:rect r="r" b="b" t="t" l="l"/>
              <a:pathLst>
                <a:path h="463296" w="1389888">
                  <a:moveTo>
                    <a:pt x="0" y="106553"/>
                  </a:moveTo>
                  <a:cubicBezTo>
                    <a:pt x="0" y="47752"/>
                    <a:pt x="47752" y="0"/>
                    <a:pt x="106553" y="0"/>
                  </a:cubicBezTo>
                  <a:lnTo>
                    <a:pt x="1283335" y="0"/>
                  </a:lnTo>
                  <a:cubicBezTo>
                    <a:pt x="1342136" y="0"/>
                    <a:pt x="1389888" y="47752"/>
                    <a:pt x="1389888" y="106553"/>
                  </a:cubicBezTo>
                  <a:lnTo>
                    <a:pt x="1389888" y="356743"/>
                  </a:lnTo>
                  <a:cubicBezTo>
                    <a:pt x="1389888" y="415544"/>
                    <a:pt x="1342136" y="463296"/>
                    <a:pt x="1283335" y="463296"/>
                  </a:cubicBezTo>
                  <a:lnTo>
                    <a:pt x="106553" y="463296"/>
                  </a:lnTo>
                  <a:cubicBezTo>
                    <a:pt x="47752" y="463296"/>
                    <a:pt x="0" y="415544"/>
                    <a:pt x="0" y="356743"/>
                  </a:cubicBezTo>
                  <a:close/>
                </a:path>
              </a:pathLst>
            </a:custGeom>
            <a:solidFill>
              <a:srgbClr val="1D202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389888" cy="472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BFBFB"/>
                  </a:solidFill>
                  <a:latin typeface="Poppins"/>
                  <a:ea typeface="Poppins"/>
                  <a:cs typeface="Poppins"/>
                  <a:sym typeface="Poppins"/>
                </a:rPr>
                <a:t>Page 03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7280" y="1892808"/>
            <a:ext cx="8229600" cy="329184"/>
            <a:chOff x="0" y="0"/>
            <a:chExt cx="10972800" cy="4389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438912"/>
            </a:xfrm>
            <a:custGeom>
              <a:avLst/>
              <a:gdLst/>
              <a:ahLst/>
              <a:cxnLst/>
              <a:rect r="r" b="b" t="t" l="l"/>
              <a:pathLst>
                <a:path h="43891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097280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49707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SOLUTION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51560" y="2249424"/>
            <a:ext cx="16322040" cy="722376"/>
            <a:chOff x="0" y="0"/>
            <a:chExt cx="21762720" cy="9631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762720" cy="963168"/>
            </a:xfrm>
            <a:custGeom>
              <a:avLst/>
              <a:gdLst/>
              <a:ahLst/>
              <a:cxnLst/>
              <a:rect r="r" b="b" t="t" l="l"/>
              <a:pathLst>
                <a:path h="963168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63168"/>
                  </a:lnTo>
                  <a:lnTo>
                    <a:pt x="0" y="96316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90263" r="0" b="-39026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1762720" cy="1010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 b="true">
                  <a:solidFill>
                    <a:srgbClr val="1717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INSIDE OUT FRAMEWORK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95528" y="3657600"/>
            <a:ext cx="16696944" cy="4320988"/>
            <a:chOff x="0" y="0"/>
            <a:chExt cx="22262592" cy="5761317"/>
          </a:xfrm>
        </p:grpSpPr>
        <p:sp>
          <p:nvSpPr>
            <p:cNvPr name="Freeform 27" id="27" descr="Screenshot 2026-10-19 at 16.09.39.png"/>
            <p:cNvSpPr/>
            <p:nvPr/>
          </p:nvSpPr>
          <p:spPr>
            <a:xfrm flipH="false" flipV="false" rot="0">
              <a:off x="0" y="0"/>
              <a:ext cx="22262592" cy="5761355"/>
            </a:xfrm>
            <a:custGeom>
              <a:avLst/>
              <a:gdLst/>
              <a:ahLst/>
              <a:cxnLst/>
              <a:rect r="r" b="b" t="t" l="l"/>
              <a:pathLst>
                <a:path h="5761355" w="22262592">
                  <a:moveTo>
                    <a:pt x="0" y="0"/>
                  </a:moveTo>
                  <a:lnTo>
                    <a:pt x="22262592" y="0"/>
                  </a:lnTo>
                  <a:lnTo>
                    <a:pt x="22262592" y="5761355"/>
                  </a:lnTo>
                  <a:lnTo>
                    <a:pt x="0" y="5761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97280" y="8302752"/>
            <a:ext cx="5093208" cy="13716"/>
            <a:chOff x="0" y="0"/>
            <a:chExt cx="6790944" cy="182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90944" cy="18288"/>
            </a:xfrm>
            <a:custGeom>
              <a:avLst/>
              <a:gdLst/>
              <a:ahLst/>
              <a:cxnLst/>
              <a:rect r="r" b="b" t="t" l="l"/>
              <a:pathLst>
                <a:path h="18288" w="6790944">
                  <a:moveTo>
                    <a:pt x="0" y="0"/>
                  </a:moveTo>
                  <a:lnTo>
                    <a:pt x="6790944" y="0"/>
                  </a:lnTo>
                  <a:lnTo>
                    <a:pt x="679094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AE1E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97280" y="8430768"/>
            <a:ext cx="5120640" cy="292608"/>
            <a:chOff x="0" y="0"/>
            <a:chExt cx="6827520" cy="3901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27520" cy="390144"/>
            </a:xfrm>
            <a:custGeom>
              <a:avLst/>
              <a:gdLst/>
              <a:ahLst/>
              <a:cxnLst/>
              <a:rect r="r" b="b" t="t" l="l"/>
              <a:pathLst>
                <a:path h="39014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6827520" cy="409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49707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  DISCOVER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97280" y="8778240"/>
            <a:ext cx="5120640" cy="338328"/>
            <a:chOff x="0" y="0"/>
            <a:chExt cx="6827520" cy="45110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827520" cy="451104"/>
            </a:xfrm>
            <a:custGeom>
              <a:avLst/>
              <a:gdLst/>
              <a:ahLst/>
              <a:cxnLst/>
              <a:rect r="r" b="b" t="t" l="l"/>
              <a:pathLst>
                <a:path h="45110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51104"/>
                  </a:lnTo>
                  <a:lnTo>
                    <a:pt x="0" y="45110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44908" r="0" b="-24490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6827520" cy="470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97377"/>
                  </a:solidFill>
                  <a:latin typeface="Poppins"/>
                  <a:ea typeface="Poppins"/>
                  <a:cs typeface="Poppins"/>
                  <a:sym typeface="Poppins"/>
                </a:rPr>
                <a:t>Read-only system context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583680" y="8302752"/>
            <a:ext cx="5093208" cy="13716"/>
            <a:chOff x="0" y="0"/>
            <a:chExt cx="6790944" cy="182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790944" cy="18288"/>
            </a:xfrm>
            <a:custGeom>
              <a:avLst/>
              <a:gdLst/>
              <a:ahLst/>
              <a:cxnLst/>
              <a:rect r="r" b="b" t="t" l="l"/>
              <a:pathLst>
                <a:path h="18288" w="6790944">
                  <a:moveTo>
                    <a:pt x="0" y="0"/>
                  </a:moveTo>
                  <a:lnTo>
                    <a:pt x="6790944" y="0"/>
                  </a:lnTo>
                  <a:lnTo>
                    <a:pt x="679094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AE1E1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583680" y="8430768"/>
            <a:ext cx="5120640" cy="292608"/>
            <a:chOff x="0" y="0"/>
            <a:chExt cx="6827520" cy="39014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27520" cy="390144"/>
            </a:xfrm>
            <a:custGeom>
              <a:avLst/>
              <a:gdLst/>
              <a:ahLst/>
              <a:cxnLst/>
              <a:rect r="r" b="b" t="t" l="l"/>
              <a:pathLst>
                <a:path h="39014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6827520" cy="409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49707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  APPROVE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583680" y="8778240"/>
            <a:ext cx="5120640" cy="338328"/>
            <a:chOff x="0" y="0"/>
            <a:chExt cx="6827520" cy="45110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827520" cy="451104"/>
            </a:xfrm>
            <a:custGeom>
              <a:avLst/>
              <a:gdLst/>
              <a:ahLst/>
              <a:cxnLst/>
              <a:rect r="r" b="b" t="t" l="l"/>
              <a:pathLst>
                <a:path h="45110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51104"/>
                  </a:lnTo>
                  <a:lnTo>
                    <a:pt x="0" y="45110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44908" r="0" b="-24490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6827520" cy="470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97377"/>
                  </a:solidFill>
                  <a:latin typeface="Poppins"/>
                  <a:ea typeface="Poppins"/>
                  <a:cs typeface="Poppins"/>
                  <a:sym typeface="Poppins"/>
                </a:rPr>
                <a:t>Your representative controls release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051792" y="8302752"/>
            <a:ext cx="5093208" cy="13716"/>
            <a:chOff x="0" y="0"/>
            <a:chExt cx="6790944" cy="182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790944" cy="18288"/>
            </a:xfrm>
            <a:custGeom>
              <a:avLst/>
              <a:gdLst/>
              <a:ahLst/>
              <a:cxnLst/>
              <a:rect r="r" b="b" t="t" l="l"/>
              <a:pathLst>
                <a:path h="18288" w="6790944">
                  <a:moveTo>
                    <a:pt x="0" y="0"/>
                  </a:moveTo>
                  <a:lnTo>
                    <a:pt x="6790944" y="0"/>
                  </a:lnTo>
                  <a:lnTo>
                    <a:pt x="679094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AE1E1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051792" y="8430768"/>
            <a:ext cx="5120640" cy="292608"/>
            <a:chOff x="0" y="0"/>
            <a:chExt cx="6827520" cy="39014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827520" cy="390144"/>
            </a:xfrm>
            <a:custGeom>
              <a:avLst/>
              <a:gdLst/>
              <a:ahLst/>
              <a:cxnLst/>
              <a:rect r="r" b="b" t="t" l="l"/>
              <a:pathLst>
                <a:path h="39014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6827520" cy="409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49707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  ACT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051792" y="8778240"/>
            <a:ext cx="5120640" cy="338328"/>
            <a:chOff x="0" y="0"/>
            <a:chExt cx="6827520" cy="45110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827520" cy="451104"/>
            </a:xfrm>
            <a:custGeom>
              <a:avLst/>
              <a:gdLst/>
              <a:ahLst/>
              <a:cxnLst/>
              <a:rect r="r" b="b" t="t" l="l"/>
              <a:pathLst>
                <a:path h="45110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51104"/>
                  </a:lnTo>
                  <a:lnTo>
                    <a:pt x="0" y="45110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44908" r="0" b="-24490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6827520" cy="470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97377"/>
                  </a:solidFill>
                  <a:latin typeface="Poppins"/>
                  <a:ea typeface="Poppins"/>
                  <a:cs typeface="Poppins"/>
                  <a:sym typeface="Poppins"/>
                </a:rPr>
                <a:t>Implement Regulift’s recommended fixes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4158586" y="1272016"/>
            <a:ext cx="269215" cy="222028"/>
            <a:chOff x="0" y="0"/>
            <a:chExt cx="358953" cy="296037"/>
          </a:xfrm>
        </p:grpSpPr>
        <p:sp>
          <p:nvSpPr>
            <p:cNvPr name="Freeform 53" id="53" descr="image.png"/>
            <p:cNvSpPr/>
            <p:nvPr/>
          </p:nvSpPr>
          <p:spPr>
            <a:xfrm flipH="false" flipV="false" rot="0">
              <a:off x="0" y="0"/>
              <a:ext cx="358902" cy="296037"/>
            </a:xfrm>
            <a:custGeom>
              <a:avLst/>
              <a:gdLst/>
              <a:ahLst/>
              <a:cxnLst/>
              <a:rect r="r" b="b" t="t" l="l"/>
              <a:pathLst>
                <a:path h="296037" w="358902">
                  <a:moveTo>
                    <a:pt x="0" y="0"/>
                  </a:moveTo>
                  <a:lnTo>
                    <a:pt x="358902" y="0"/>
                  </a:lnTo>
                  <a:lnTo>
                    <a:pt x="358902" y="296037"/>
                  </a:lnTo>
                  <a:lnTo>
                    <a:pt x="0" y="296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14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27427" y="954576"/>
            <a:ext cx="10233146" cy="693858"/>
          </a:xfrm>
          <a:custGeom>
            <a:avLst/>
            <a:gdLst/>
            <a:ahLst/>
            <a:cxnLst/>
            <a:rect r="r" b="b" t="t" l="l"/>
            <a:pathLst>
              <a:path h="693858" w="10233146">
                <a:moveTo>
                  <a:pt x="0" y="0"/>
                </a:moveTo>
                <a:lnTo>
                  <a:pt x="10233146" y="0"/>
                </a:lnTo>
                <a:lnTo>
                  <a:pt x="10233146" y="693859"/>
                </a:lnTo>
                <a:lnTo>
                  <a:pt x="0" y="693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00894" y="1190730"/>
            <a:ext cx="384600" cy="384600"/>
          </a:xfrm>
          <a:custGeom>
            <a:avLst/>
            <a:gdLst/>
            <a:ahLst/>
            <a:cxnLst/>
            <a:rect r="r" b="b" t="t" l="l"/>
            <a:pathLst>
              <a:path h="384600" w="384600">
                <a:moveTo>
                  <a:pt x="0" y="0"/>
                </a:moveTo>
                <a:lnTo>
                  <a:pt x="384600" y="0"/>
                </a:lnTo>
                <a:lnTo>
                  <a:pt x="384600" y="384600"/>
                </a:lnTo>
                <a:lnTo>
                  <a:pt x="0" y="384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45644" y="1148715"/>
            <a:ext cx="2067239" cy="36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7"/>
              </a:lnSpc>
            </a:pPr>
            <a:r>
              <a:rPr lang="en-US" sz="1797" b="true">
                <a:solidFill>
                  <a:srgbClr val="171717"/>
                </a:solidFill>
                <a:latin typeface="Poppins Bold"/>
                <a:ea typeface="Poppins Bold"/>
                <a:cs typeface="Poppins Bold"/>
                <a:sym typeface="Poppins Bold"/>
              </a:rPr>
              <a:t>Regulift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589520" y="1190730"/>
            <a:ext cx="1513332" cy="384962"/>
            <a:chOff x="0" y="0"/>
            <a:chExt cx="2017776" cy="513283"/>
          </a:xfrm>
        </p:grpSpPr>
        <p:sp>
          <p:nvSpPr>
            <p:cNvPr name="Freeform 6" id="6">
              <a:hlinkClick r:id="rId6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About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12580" y="1190730"/>
            <a:ext cx="1513332" cy="384962"/>
            <a:chOff x="0" y="0"/>
            <a:chExt cx="2017776" cy="513283"/>
          </a:xfrm>
        </p:grpSpPr>
        <p:sp>
          <p:nvSpPr>
            <p:cNvPr name="Freeform 9" id="9">
              <a:hlinkClick r:id="rId7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17171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FAFAFA"/>
                  </a:solidFill>
                  <a:latin typeface="Poppins"/>
                  <a:ea typeface="Poppins"/>
                  <a:cs typeface="Poppins"/>
                  <a:sym typeface="Poppins"/>
                </a:rPr>
                <a:t>Service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35640" y="1190730"/>
            <a:ext cx="1513332" cy="384962"/>
            <a:chOff x="0" y="0"/>
            <a:chExt cx="2017776" cy="513283"/>
          </a:xfrm>
        </p:grpSpPr>
        <p:sp>
          <p:nvSpPr>
            <p:cNvPr name="Freeform 12" id="12">
              <a:hlinkClick r:id="rId8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Team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458700" y="1190730"/>
            <a:ext cx="1513332" cy="384962"/>
            <a:chOff x="0" y="0"/>
            <a:chExt cx="2017776" cy="513283"/>
          </a:xfrm>
        </p:grpSpPr>
        <p:sp>
          <p:nvSpPr>
            <p:cNvPr name="Freeform 15" id="15">
              <a:hlinkClick r:id="rId9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Conclusion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879824" y="9619488"/>
            <a:ext cx="1042416" cy="347472"/>
            <a:chOff x="0" y="0"/>
            <a:chExt cx="1389888" cy="4632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89888" cy="463296"/>
            </a:xfrm>
            <a:custGeom>
              <a:avLst/>
              <a:gdLst/>
              <a:ahLst/>
              <a:cxnLst/>
              <a:rect r="r" b="b" t="t" l="l"/>
              <a:pathLst>
                <a:path h="463296" w="1389888">
                  <a:moveTo>
                    <a:pt x="0" y="106553"/>
                  </a:moveTo>
                  <a:cubicBezTo>
                    <a:pt x="0" y="47752"/>
                    <a:pt x="47752" y="0"/>
                    <a:pt x="106553" y="0"/>
                  </a:cubicBezTo>
                  <a:lnTo>
                    <a:pt x="1283335" y="0"/>
                  </a:lnTo>
                  <a:cubicBezTo>
                    <a:pt x="1342136" y="0"/>
                    <a:pt x="1389888" y="47752"/>
                    <a:pt x="1389888" y="106553"/>
                  </a:cubicBezTo>
                  <a:lnTo>
                    <a:pt x="1389888" y="356743"/>
                  </a:lnTo>
                  <a:cubicBezTo>
                    <a:pt x="1389888" y="415544"/>
                    <a:pt x="1342136" y="463296"/>
                    <a:pt x="1283335" y="463296"/>
                  </a:cubicBezTo>
                  <a:lnTo>
                    <a:pt x="106553" y="463296"/>
                  </a:lnTo>
                  <a:cubicBezTo>
                    <a:pt x="47752" y="463296"/>
                    <a:pt x="0" y="415544"/>
                    <a:pt x="0" y="356743"/>
                  </a:cubicBezTo>
                  <a:close/>
                </a:path>
              </a:pathLst>
            </a:custGeom>
            <a:solidFill>
              <a:srgbClr val="1D202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389888" cy="472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BFBFB"/>
                  </a:solidFill>
                  <a:latin typeface="Poppins"/>
                  <a:ea typeface="Poppins"/>
                  <a:cs typeface="Poppins"/>
                  <a:sym typeface="Poppins"/>
                </a:rPr>
                <a:t>Page 04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7280" y="1892808"/>
            <a:ext cx="8229600" cy="329184"/>
            <a:chOff x="0" y="0"/>
            <a:chExt cx="10972800" cy="4389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438912"/>
            </a:xfrm>
            <a:custGeom>
              <a:avLst/>
              <a:gdLst/>
              <a:ahLst/>
              <a:cxnLst/>
              <a:rect r="r" b="b" t="t" l="l"/>
              <a:pathLst>
                <a:path h="43891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097280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49707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SOLUTION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51560" y="2249424"/>
            <a:ext cx="16322040" cy="722376"/>
            <a:chOff x="0" y="0"/>
            <a:chExt cx="21762720" cy="9631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762720" cy="963168"/>
            </a:xfrm>
            <a:custGeom>
              <a:avLst/>
              <a:gdLst/>
              <a:ahLst/>
              <a:cxnLst/>
              <a:rect r="r" b="b" t="t" l="l"/>
              <a:pathLst>
                <a:path h="963168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63168"/>
                  </a:lnTo>
                  <a:lnTo>
                    <a:pt x="0" y="96316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90263" r="0" b="-39026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1762720" cy="1010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 b="true">
                  <a:solidFill>
                    <a:srgbClr val="1717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COMPLIANCE LOOP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714858" y="3769490"/>
            <a:ext cx="2812037" cy="4357373"/>
            <a:chOff x="0" y="0"/>
            <a:chExt cx="3749383" cy="580983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749421" cy="5809869"/>
            </a:xfrm>
            <a:custGeom>
              <a:avLst/>
              <a:gdLst/>
              <a:ahLst/>
              <a:cxnLst/>
              <a:rect r="r" b="b" t="t" l="l"/>
              <a:pathLst>
                <a:path h="5809869" w="3749421">
                  <a:moveTo>
                    <a:pt x="0" y="449961"/>
                  </a:moveTo>
                  <a:cubicBezTo>
                    <a:pt x="0" y="201422"/>
                    <a:pt x="201422" y="0"/>
                    <a:pt x="449961" y="0"/>
                  </a:cubicBezTo>
                  <a:lnTo>
                    <a:pt x="3299460" y="0"/>
                  </a:lnTo>
                  <a:cubicBezTo>
                    <a:pt x="3547999" y="0"/>
                    <a:pt x="3749421" y="201422"/>
                    <a:pt x="3749421" y="449961"/>
                  </a:cubicBezTo>
                  <a:lnTo>
                    <a:pt x="3749421" y="5359908"/>
                  </a:lnTo>
                  <a:cubicBezTo>
                    <a:pt x="3749421" y="5608447"/>
                    <a:pt x="3547999" y="5809869"/>
                    <a:pt x="3299460" y="5809869"/>
                  </a:cubicBezTo>
                  <a:lnTo>
                    <a:pt x="449961" y="5809869"/>
                  </a:lnTo>
                  <a:cubicBezTo>
                    <a:pt x="201422" y="5809869"/>
                    <a:pt x="0" y="5608447"/>
                    <a:pt x="0" y="5359908"/>
                  </a:cubicBezTo>
                  <a:close/>
                </a:path>
              </a:pathLst>
            </a:custGeom>
            <a:solidFill>
              <a:srgbClr val="F3F6F6"/>
            </a:solidFill>
            <a:ln w="13970" cap="sq">
              <a:solidFill>
                <a:srgbClr val="CED9D9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4996160" y="4014216"/>
            <a:ext cx="265176" cy="265176"/>
            <a:chOff x="0" y="0"/>
            <a:chExt cx="353568" cy="35356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53568" cy="353568"/>
            </a:xfrm>
            <a:custGeom>
              <a:avLst/>
              <a:gdLst/>
              <a:ahLst/>
              <a:cxnLst/>
              <a:rect r="r" b="b" t="t" l="l"/>
              <a:pathLst>
                <a:path h="353568" w="353568">
                  <a:moveTo>
                    <a:pt x="0" y="176784"/>
                  </a:moveTo>
                  <a:cubicBezTo>
                    <a:pt x="0" y="79121"/>
                    <a:pt x="79121" y="0"/>
                    <a:pt x="176784" y="0"/>
                  </a:cubicBezTo>
                  <a:cubicBezTo>
                    <a:pt x="274447" y="0"/>
                    <a:pt x="353568" y="79121"/>
                    <a:pt x="353568" y="176784"/>
                  </a:cubicBezTo>
                  <a:cubicBezTo>
                    <a:pt x="353568" y="274447"/>
                    <a:pt x="274447" y="353568"/>
                    <a:pt x="176784" y="353568"/>
                  </a:cubicBezTo>
                  <a:cubicBezTo>
                    <a:pt x="79121" y="353568"/>
                    <a:pt x="0" y="274447"/>
                    <a:pt x="0" y="176784"/>
                  </a:cubicBezTo>
                  <a:close/>
                </a:path>
              </a:pathLst>
            </a:custGeom>
            <a:solidFill>
              <a:srgbClr val="49707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996160" y="4020617"/>
            <a:ext cx="265176" cy="246888"/>
            <a:chOff x="0" y="0"/>
            <a:chExt cx="353568" cy="3291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53568" cy="329184"/>
            </a:xfrm>
            <a:custGeom>
              <a:avLst/>
              <a:gdLst/>
              <a:ahLst/>
              <a:cxnLst/>
              <a:rect r="r" b="b" t="t" l="l"/>
              <a:pathLst>
                <a:path h="329184" w="353568">
                  <a:moveTo>
                    <a:pt x="0" y="0"/>
                  </a:moveTo>
                  <a:lnTo>
                    <a:pt x="353568" y="0"/>
                  </a:lnTo>
                  <a:lnTo>
                    <a:pt x="35356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69455" t="0" r="-69455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353568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352776" y="3986784"/>
            <a:ext cx="1874520" cy="338328"/>
            <a:chOff x="0" y="0"/>
            <a:chExt cx="2499360" cy="45110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499359" cy="451104"/>
            </a:xfrm>
            <a:custGeom>
              <a:avLst/>
              <a:gdLst/>
              <a:ahLst/>
              <a:cxnLst/>
              <a:rect r="r" b="b" t="t" l="l"/>
              <a:pathLst>
                <a:path h="451104" w="2499359">
                  <a:moveTo>
                    <a:pt x="0" y="0"/>
                  </a:moveTo>
                  <a:lnTo>
                    <a:pt x="2499359" y="0"/>
                  </a:lnTo>
                  <a:lnTo>
                    <a:pt x="2499359" y="451104"/>
                  </a:lnTo>
                  <a:lnTo>
                    <a:pt x="0" y="45110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7957" r="0" b="-5795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2499360" cy="470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49707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LAW FIRM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974062" y="4732782"/>
            <a:ext cx="2293620" cy="3098292"/>
            <a:chOff x="0" y="0"/>
            <a:chExt cx="3058160" cy="41310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058160" cy="4131056"/>
            </a:xfrm>
            <a:custGeom>
              <a:avLst/>
              <a:gdLst/>
              <a:ahLst/>
              <a:cxnLst/>
              <a:rect r="r" b="b" t="t" l="l"/>
              <a:pathLst>
                <a:path h="4131056" w="3058160">
                  <a:moveTo>
                    <a:pt x="0" y="367030"/>
                  </a:moveTo>
                  <a:cubicBezTo>
                    <a:pt x="0" y="164338"/>
                    <a:pt x="164338" y="0"/>
                    <a:pt x="367030" y="0"/>
                  </a:cubicBezTo>
                  <a:lnTo>
                    <a:pt x="2691130" y="0"/>
                  </a:lnTo>
                  <a:cubicBezTo>
                    <a:pt x="2893822" y="0"/>
                    <a:pt x="3058160" y="164338"/>
                    <a:pt x="3058160" y="367030"/>
                  </a:cubicBezTo>
                  <a:lnTo>
                    <a:pt x="3058160" y="3764026"/>
                  </a:lnTo>
                  <a:cubicBezTo>
                    <a:pt x="3058160" y="3966718"/>
                    <a:pt x="2893822" y="4131056"/>
                    <a:pt x="2691130" y="4131056"/>
                  </a:cubicBezTo>
                  <a:lnTo>
                    <a:pt x="367030" y="4131056"/>
                  </a:lnTo>
                  <a:cubicBezTo>
                    <a:pt x="164338" y="4131056"/>
                    <a:pt x="0" y="3966718"/>
                    <a:pt x="0" y="3764026"/>
                  </a:cubicBez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CED9D9"/>
              </a:solidFill>
              <a:prstDash val="solid"/>
              <a:miter/>
            </a:ln>
          </p:spPr>
        </p:sp>
      </p:grpSp>
      <p:sp>
        <p:nvSpPr>
          <p:cNvPr name="AutoShape 38" id="38"/>
          <p:cNvSpPr/>
          <p:nvPr/>
        </p:nvSpPr>
        <p:spPr>
          <a:xfrm rot="5225220">
            <a:off x="15845942" y="5216271"/>
            <a:ext cx="549859" cy="0"/>
          </a:xfrm>
          <a:prstGeom prst="line">
            <a:avLst/>
          </a:prstGeom>
          <a:ln cap="rnd" w="19050">
            <a:solidFill>
              <a:srgbClr val="4970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 rot="101880">
            <a:off x="15649499" y="5138547"/>
            <a:ext cx="942756" cy="0"/>
          </a:xfrm>
          <a:prstGeom prst="line">
            <a:avLst/>
          </a:prstGeom>
          <a:ln cap="rnd" w="19050">
            <a:solidFill>
              <a:srgbClr val="4970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 rot="5145420">
            <a:off x="15635507" y="5257419"/>
            <a:ext cx="257499" cy="0"/>
          </a:xfrm>
          <a:prstGeom prst="line">
            <a:avLst/>
          </a:prstGeom>
          <a:ln cap="rnd" w="19050">
            <a:solidFill>
              <a:srgbClr val="4970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 rot="5145420">
            <a:off x="16330451" y="5257419"/>
            <a:ext cx="257499" cy="0"/>
          </a:xfrm>
          <a:prstGeom prst="line">
            <a:avLst/>
          </a:prstGeom>
          <a:ln cap="rnd" w="19050">
            <a:solidFill>
              <a:srgbClr val="4970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rot="210660">
            <a:off x="15598340" y="5376291"/>
            <a:ext cx="331841" cy="0"/>
          </a:xfrm>
          <a:prstGeom prst="line">
            <a:avLst/>
          </a:prstGeom>
          <a:ln cap="rnd" w="19050">
            <a:solidFill>
              <a:srgbClr val="4970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rot="216600">
            <a:off x="16302418" y="5376291"/>
            <a:ext cx="322717" cy="0"/>
          </a:xfrm>
          <a:prstGeom prst="line">
            <a:avLst/>
          </a:prstGeom>
          <a:ln cap="rnd" w="19050">
            <a:solidFill>
              <a:srgbClr val="4970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rot="154380">
            <a:off x="15823778" y="5550027"/>
            <a:ext cx="594198" cy="0"/>
          </a:xfrm>
          <a:prstGeom prst="line">
            <a:avLst/>
          </a:prstGeom>
          <a:ln cap="rnd" w="19050">
            <a:solidFill>
              <a:srgbClr val="49707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5" id="45"/>
          <p:cNvGrpSpPr/>
          <p:nvPr/>
        </p:nvGrpSpPr>
        <p:grpSpPr>
          <a:xfrm rot="0">
            <a:off x="15124176" y="5769864"/>
            <a:ext cx="1993392" cy="402336"/>
            <a:chOff x="0" y="0"/>
            <a:chExt cx="2657856" cy="53644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657856" cy="536448"/>
            </a:xfrm>
            <a:custGeom>
              <a:avLst/>
              <a:gdLst/>
              <a:ahLst/>
              <a:cxnLst/>
              <a:rect r="r" b="b" t="t" l="l"/>
              <a:pathLst>
                <a:path h="536448" w="2657856">
                  <a:moveTo>
                    <a:pt x="0" y="0"/>
                  </a:moveTo>
                  <a:lnTo>
                    <a:pt x="2657856" y="0"/>
                  </a:lnTo>
                  <a:lnTo>
                    <a:pt x="2657856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6539" r="0" b="-46539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2657856" cy="555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20343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LEGAL REVIEW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133320" y="6245352"/>
            <a:ext cx="1965960" cy="603504"/>
            <a:chOff x="0" y="0"/>
            <a:chExt cx="2621280" cy="80467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621280" cy="804672"/>
            </a:xfrm>
            <a:custGeom>
              <a:avLst/>
              <a:gdLst/>
              <a:ahLst/>
              <a:cxnLst/>
              <a:rect r="r" b="b" t="t" l="l"/>
              <a:pathLst>
                <a:path h="804672" w="2621280">
                  <a:moveTo>
                    <a:pt x="0" y="0"/>
                  </a:moveTo>
                  <a:lnTo>
                    <a:pt x="2621280" y="0"/>
                  </a:lnTo>
                  <a:lnTo>
                    <a:pt x="26212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3473" r="0" b="-1347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262128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>
                  <a:solidFill>
                    <a:srgbClr val="697377"/>
                  </a:solidFill>
                  <a:latin typeface="Poppins"/>
                  <a:ea typeface="Poppins"/>
                  <a:cs typeface="Poppins"/>
                  <a:sym typeface="Poppins"/>
                </a:rPr>
                <a:t>Lawyer validates the</a:t>
              </a:r>
            </a:p>
            <a:p>
              <a:pPr algn="ctr">
                <a:lnSpc>
                  <a:spcPts val="1379"/>
                </a:lnSpc>
              </a:pPr>
              <a:r>
                <a:rPr lang="en-US" sz="1149">
                  <a:solidFill>
                    <a:srgbClr val="697377"/>
                  </a:solidFill>
                  <a:latin typeface="Poppins"/>
                  <a:ea typeface="Poppins"/>
                  <a:cs typeface="Poppins"/>
                  <a:sym typeface="Poppins"/>
                </a:rPr>
                <a:t>evidence pack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5206472" y="6940296"/>
            <a:ext cx="1847088" cy="365760"/>
            <a:chOff x="0" y="0"/>
            <a:chExt cx="2462784" cy="4876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462784" cy="487680"/>
            </a:xfrm>
            <a:custGeom>
              <a:avLst/>
              <a:gdLst/>
              <a:ahLst/>
              <a:cxnLst/>
              <a:rect r="r" b="b" t="t" l="l"/>
              <a:pathLst>
                <a:path h="487680" w="2462784">
                  <a:moveTo>
                    <a:pt x="0" y="58547"/>
                  </a:moveTo>
                  <a:cubicBezTo>
                    <a:pt x="0" y="26162"/>
                    <a:pt x="26162" y="0"/>
                    <a:pt x="58547" y="0"/>
                  </a:cubicBezTo>
                  <a:lnTo>
                    <a:pt x="2404237" y="0"/>
                  </a:lnTo>
                  <a:cubicBezTo>
                    <a:pt x="2436495" y="0"/>
                    <a:pt x="2462784" y="26162"/>
                    <a:pt x="2462784" y="58547"/>
                  </a:cubicBezTo>
                  <a:lnTo>
                    <a:pt x="2462784" y="429133"/>
                  </a:lnTo>
                  <a:cubicBezTo>
                    <a:pt x="2462784" y="461391"/>
                    <a:pt x="2436622" y="487680"/>
                    <a:pt x="2404237" y="487680"/>
                  </a:cubicBezTo>
                  <a:lnTo>
                    <a:pt x="58547" y="487680"/>
                  </a:lnTo>
                  <a:cubicBezTo>
                    <a:pt x="26162" y="487680"/>
                    <a:pt x="0" y="461518"/>
                    <a:pt x="0" y="429133"/>
                  </a:cubicBezTo>
                  <a:close/>
                </a:path>
              </a:pathLst>
            </a:custGeom>
            <a:solidFill>
              <a:srgbClr val="E3F0E9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5279624" y="6940296"/>
            <a:ext cx="1700784" cy="365760"/>
            <a:chOff x="0" y="0"/>
            <a:chExt cx="2267712" cy="4876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67712" cy="487680"/>
            </a:xfrm>
            <a:custGeom>
              <a:avLst/>
              <a:gdLst/>
              <a:ahLst/>
              <a:cxnLst/>
              <a:rect r="r" b="b" t="t" l="l"/>
              <a:pathLst>
                <a:path h="487680" w="2267712">
                  <a:moveTo>
                    <a:pt x="0" y="0"/>
                  </a:moveTo>
                  <a:lnTo>
                    <a:pt x="2267712" y="0"/>
                  </a:lnTo>
                  <a:lnTo>
                    <a:pt x="2267712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0605" r="0" b="-4060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2267712" cy="49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96"/>
                </a:lnSpc>
              </a:pPr>
              <a:r>
                <a:rPr lang="en-US" sz="1080" b="true">
                  <a:solidFill>
                    <a:srgbClr val="3C766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LEGAL CERTIFICATION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5124176" y="7379208"/>
            <a:ext cx="2011680" cy="356616"/>
            <a:chOff x="0" y="0"/>
            <a:chExt cx="2682240" cy="4754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682240" cy="475488"/>
            </a:xfrm>
            <a:custGeom>
              <a:avLst/>
              <a:gdLst/>
              <a:ahLst/>
              <a:cxnLst/>
              <a:rect r="r" b="b" t="t" l="l"/>
              <a:pathLst>
                <a:path h="475488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9915" r="0" b="-5991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2682240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12"/>
                </a:lnSpc>
              </a:pPr>
              <a:r>
                <a:rPr lang="en-US" sz="1010">
                  <a:solidFill>
                    <a:srgbClr val="697377"/>
                  </a:solidFill>
                  <a:latin typeface="Poppins"/>
                  <a:ea typeface="Poppins"/>
                  <a:cs typeface="Poppins"/>
                  <a:sym typeface="Poppins"/>
                </a:rPr>
                <a:t>When requirements are met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52599" y="3760975"/>
            <a:ext cx="13618969" cy="4365241"/>
            <a:chOff x="0" y="0"/>
            <a:chExt cx="18158625" cy="582032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8158713" cy="5820410"/>
            </a:xfrm>
            <a:custGeom>
              <a:avLst/>
              <a:gdLst/>
              <a:ahLst/>
              <a:cxnLst/>
              <a:rect r="r" b="b" t="t" l="l"/>
              <a:pathLst>
                <a:path h="5820410" w="18158713">
                  <a:moveTo>
                    <a:pt x="0" y="698500"/>
                  </a:moveTo>
                  <a:cubicBezTo>
                    <a:pt x="0" y="312674"/>
                    <a:pt x="312674" y="0"/>
                    <a:pt x="698500" y="0"/>
                  </a:cubicBezTo>
                  <a:lnTo>
                    <a:pt x="17460213" y="0"/>
                  </a:lnTo>
                  <a:cubicBezTo>
                    <a:pt x="17845912" y="0"/>
                    <a:pt x="18158713" y="312674"/>
                    <a:pt x="18158713" y="698500"/>
                  </a:cubicBezTo>
                  <a:lnTo>
                    <a:pt x="18158713" y="5121910"/>
                  </a:lnTo>
                  <a:cubicBezTo>
                    <a:pt x="18158713" y="5507609"/>
                    <a:pt x="17846039" y="5820410"/>
                    <a:pt x="17460213" y="5820410"/>
                  </a:cubicBezTo>
                  <a:lnTo>
                    <a:pt x="698500" y="5820410"/>
                  </a:lnTo>
                  <a:cubicBezTo>
                    <a:pt x="312801" y="5820410"/>
                    <a:pt x="0" y="5507736"/>
                    <a:pt x="0" y="5121910"/>
                  </a:cubicBezTo>
                  <a:close/>
                </a:path>
              </a:pathLst>
            </a:custGeom>
            <a:solidFill>
              <a:srgbClr val="F5F8F8"/>
            </a:solidFill>
            <a:ln w="12700" cap="sq">
              <a:solidFill>
                <a:srgbClr val="D1DDDE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124712" y="4041648"/>
            <a:ext cx="265176" cy="265176"/>
            <a:chOff x="0" y="0"/>
            <a:chExt cx="353568" cy="35356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53568" cy="353568"/>
            </a:xfrm>
            <a:custGeom>
              <a:avLst/>
              <a:gdLst/>
              <a:ahLst/>
              <a:cxnLst/>
              <a:rect r="r" b="b" t="t" l="l"/>
              <a:pathLst>
                <a:path h="353568" w="353568">
                  <a:moveTo>
                    <a:pt x="0" y="176784"/>
                  </a:moveTo>
                  <a:cubicBezTo>
                    <a:pt x="0" y="79121"/>
                    <a:pt x="79121" y="0"/>
                    <a:pt x="176784" y="0"/>
                  </a:cubicBezTo>
                  <a:cubicBezTo>
                    <a:pt x="274447" y="0"/>
                    <a:pt x="353568" y="79121"/>
                    <a:pt x="353568" y="176784"/>
                  </a:cubicBezTo>
                  <a:cubicBezTo>
                    <a:pt x="353568" y="274447"/>
                    <a:pt x="274447" y="353568"/>
                    <a:pt x="176784" y="353568"/>
                  </a:cubicBezTo>
                  <a:cubicBezTo>
                    <a:pt x="79121" y="353568"/>
                    <a:pt x="0" y="274447"/>
                    <a:pt x="0" y="176784"/>
                  </a:cubicBezTo>
                  <a:close/>
                </a:path>
              </a:pathLst>
            </a:custGeom>
            <a:solidFill>
              <a:srgbClr val="E8F2F2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65860" y="4045306"/>
            <a:ext cx="192024" cy="228600"/>
            <a:chOff x="0" y="0"/>
            <a:chExt cx="256032" cy="3048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56032" cy="304800"/>
            </a:xfrm>
            <a:custGeom>
              <a:avLst/>
              <a:gdLst/>
              <a:ahLst/>
              <a:cxnLst/>
              <a:rect r="r" b="b" t="t" l="l"/>
              <a:pathLst>
                <a:path h="304800" w="256032">
                  <a:moveTo>
                    <a:pt x="0" y="0"/>
                  </a:moveTo>
                  <a:lnTo>
                    <a:pt x="256032" y="0"/>
                  </a:lnTo>
                  <a:lnTo>
                    <a:pt x="256032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02742" t="0" r="-102742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256032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315D6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↻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508760" y="4005072"/>
            <a:ext cx="4663440" cy="320040"/>
            <a:chOff x="0" y="0"/>
            <a:chExt cx="6217920" cy="4267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217920" cy="426720"/>
            </a:xfrm>
            <a:custGeom>
              <a:avLst/>
              <a:gdLst/>
              <a:ahLst/>
              <a:cxnLst/>
              <a:rect r="r" b="b" t="t" l="l"/>
              <a:pathLst>
                <a:path h="4267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426720"/>
                  </a:lnTo>
                  <a:lnTo>
                    <a:pt x="0" y="4267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33924" r="0" b="-23392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6217920" cy="436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51"/>
                </a:lnSpc>
              </a:pPr>
              <a:r>
                <a:rPr lang="en-US" sz="1209" b="true">
                  <a:solidFill>
                    <a:srgbClr val="315D6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REPEAT UNTIL NO GAPS REMAIN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37285" y="4547997"/>
            <a:ext cx="4674870" cy="2077974"/>
            <a:chOff x="0" y="0"/>
            <a:chExt cx="6233160" cy="277063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233160" cy="2770632"/>
            </a:xfrm>
            <a:custGeom>
              <a:avLst/>
              <a:gdLst/>
              <a:ahLst/>
              <a:cxnLst/>
              <a:rect r="r" b="b" t="t" l="l"/>
              <a:pathLst>
                <a:path h="2770632" w="6233160">
                  <a:moveTo>
                    <a:pt x="0" y="332486"/>
                  </a:moveTo>
                  <a:cubicBezTo>
                    <a:pt x="0" y="148844"/>
                    <a:pt x="148844" y="0"/>
                    <a:pt x="332486" y="0"/>
                  </a:cubicBezTo>
                  <a:lnTo>
                    <a:pt x="5900674" y="0"/>
                  </a:lnTo>
                  <a:cubicBezTo>
                    <a:pt x="6084316" y="0"/>
                    <a:pt x="6233160" y="148844"/>
                    <a:pt x="6233160" y="332486"/>
                  </a:cubicBezTo>
                  <a:lnTo>
                    <a:pt x="6233160" y="2438146"/>
                  </a:lnTo>
                  <a:cubicBezTo>
                    <a:pt x="6233160" y="2621788"/>
                    <a:pt x="6084316" y="2770632"/>
                    <a:pt x="5900674" y="2770632"/>
                  </a:cubicBezTo>
                  <a:lnTo>
                    <a:pt x="332486" y="2770632"/>
                  </a:lnTo>
                  <a:cubicBezTo>
                    <a:pt x="148844" y="2770632"/>
                    <a:pt x="0" y="2621788"/>
                    <a:pt x="0" y="2438146"/>
                  </a:cubicBezTo>
                  <a:close/>
                </a:path>
              </a:pathLst>
            </a:custGeom>
            <a:solidFill>
              <a:srgbClr val="FFFFFF"/>
            </a:solidFill>
            <a:ln w="11430" cap="sq">
              <a:solidFill>
                <a:srgbClr val="D1DDDE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161288" y="4572000"/>
            <a:ext cx="4626864" cy="502920"/>
            <a:chOff x="0" y="0"/>
            <a:chExt cx="6169152" cy="6705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169152" cy="670433"/>
            </a:xfrm>
            <a:custGeom>
              <a:avLst/>
              <a:gdLst/>
              <a:ahLst/>
              <a:cxnLst/>
              <a:rect r="r" b="b" t="t" l="l"/>
              <a:pathLst>
                <a:path h="670433" w="6169152">
                  <a:moveTo>
                    <a:pt x="0" y="305054"/>
                  </a:moveTo>
                  <a:cubicBezTo>
                    <a:pt x="0" y="136652"/>
                    <a:pt x="136652" y="0"/>
                    <a:pt x="305054" y="0"/>
                  </a:cubicBezTo>
                  <a:lnTo>
                    <a:pt x="5864098" y="0"/>
                  </a:lnTo>
                  <a:cubicBezTo>
                    <a:pt x="6032500" y="0"/>
                    <a:pt x="6169152" y="136652"/>
                    <a:pt x="6169152" y="305054"/>
                  </a:cubicBezTo>
                  <a:lnTo>
                    <a:pt x="6169152" y="365379"/>
                  </a:lnTo>
                  <a:cubicBezTo>
                    <a:pt x="6169152" y="533908"/>
                    <a:pt x="6032500" y="670433"/>
                    <a:pt x="5864098" y="670433"/>
                  </a:cubicBezTo>
                  <a:lnTo>
                    <a:pt x="305054" y="670433"/>
                  </a:lnTo>
                  <a:cubicBezTo>
                    <a:pt x="136652" y="670560"/>
                    <a:pt x="0" y="533908"/>
                    <a:pt x="0" y="365506"/>
                  </a:cubicBezTo>
                  <a:close/>
                </a:path>
              </a:pathLst>
            </a:custGeom>
            <a:solidFill>
              <a:srgbClr val="E8F2F2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161288" y="4910328"/>
            <a:ext cx="4626864" cy="182880"/>
            <a:chOff x="0" y="0"/>
            <a:chExt cx="6169152" cy="2438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169152" cy="243840"/>
            </a:xfrm>
            <a:custGeom>
              <a:avLst/>
              <a:gdLst/>
              <a:ahLst/>
              <a:cxnLst/>
              <a:rect r="r" b="b" t="t" l="l"/>
              <a:pathLst>
                <a:path h="243840" w="6169152">
                  <a:moveTo>
                    <a:pt x="0" y="0"/>
                  </a:moveTo>
                  <a:lnTo>
                    <a:pt x="6169152" y="0"/>
                  </a:lnTo>
                  <a:lnTo>
                    <a:pt x="6169152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8F2F2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473708" y="4742688"/>
            <a:ext cx="252984" cy="298704"/>
            <a:chOff x="0" y="0"/>
            <a:chExt cx="337312" cy="39827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37312" cy="398272"/>
            </a:xfrm>
            <a:custGeom>
              <a:avLst/>
              <a:gdLst/>
              <a:ahLst/>
              <a:cxnLst/>
              <a:rect r="r" b="b" t="t" l="l"/>
              <a:pathLst>
                <a:path h="398272" w="337312">
                  <a:moveTo>
                    <a:pt x="0" y="0"/>
                  </a:moveTo>
                  <a:lnTo>
                    <a:pt x="337312" y="0"/>
                  </a:lnTo>
                  <a:lnTo>
                    <a:pt x="337312" y="398272"/>
                  </a:lnTo>
                  <a:lnTo>
                    <a:pt x="0" y="398272"/>
                  </a:ln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436E75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427988" y="4701540"/>
            <a:ext cx="252984" cy="298704"/>
            <a:chOff x="0" y="0"/>
            <a:chExt cx="337312" cy="39827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37312" cy="398272"/>
            </a:xfrm>
            <a:custGeom>
              <a:avLst/>
              <a:gdLst/>
              <a:ahLst/>
              <a:cxnLst/>
              <a:rect r="r" b="b" t="t" l="l"/>
              <a:pathLst>
                <a:path h="398272" w="337312">
                  <a:moveTo>
                    <a:pt x="0" y="0"/>
                  </a:moveTo>
                  <a:lnTo>
                    <a:pt x="337312" y="0"/>
                  </a:lnTo>
                  <a:lnTo>
                    <a:pt x="337312" y="398272"/>
                  </a:lnTo>
                  <a:lnTo>
                    <a:pt x="0" y="398272"/>
                  </a:ln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436E75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382268" y="4651248"/>
            <a:ext cx="252984" cy="298704"/>
            <a:chOff x="0" y="0"/>
            <a:chExt cx="337312" cy="39827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37312" cy="398272"/>
            </a:xfrm>
            <a:custGeom>
              <a:avLst/>
              <a:gdLst/>
              <a:ahLst/>
              <a:cxnLst/>
              <a:rect r="r" b="b" t="t" l="l"/>
              <a:pathLst>
                <a:path h="398272" w="337312">
                  <a:moveTo>
                    <a:pt x="0" y="0"/>
                  </a:moveTo>
                  <a:lnTo>
                    <a:pt x="337312" y="0"/>
                  </a:lnTo>
                  <a:lnTo>
                    <a:pt x="337312" y="398272"/>
                  </a:lnTo>
                  <a:lnTo>
                    <a:pt x="0" y="398272"/>
                  </a:ln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436E75"/>
              </a:solidFill>
              <a:prstDash val="solid"/>
              <a:miter/>
            </a:ln>
          </p:spPr>
        </p:sp>
      </p:grpSp>
      <p:sp>
        <p:nvSpPr>
          <p:cNvPr name="AutoShape 81" id="81"/>
          <p:cNvSpPr/>
          <p:nvPr/>
        </p:nvSpPr>
        <p:spPr>
          <a:xfrm rot="376260">
            <a:off x="1432141" y="4750118"/>
            <a:ext cx="139522" cy="0"/>
          </a:xfrm>
          <a:prstGeom prst="line">
            <a:avLst/>
          </a:prstGeom>
          <a:ln cap="rnd" w="9525">
            <a:solidFill>
              <a:srgbClr val="436E7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 rot="376260">
            <a:off x="1432141" y="4814126"/>
            <a:ext cx="139522" cy="0"/>
          </a:xfrm>
          <a:prstGeom prst="line">
            <a:avLst/>
          </a:prstGeom>
          <a:ln cap="rnd" w="9525">
            <a:solidFill>
              <a:srgbClr val="436E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3" id="83"/>
          <p:cNvGrpSpPr/>
          <p:nvPr/>
        </p:nvGrpSpPr>
        <p:grpSpPr>
          <a:xfrm rot="0">
            <a:off x="1856232" y="4654296"/>
            <a:ext cx="3145536" cy="338328"/>
            <a:chOff x="0" y="0"/>
            <a:chExt cx="4194048" cy="45110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194048" cy="451104"/>
            </a:xfrm>
            <a:custGeom>
              <a:avLst/>
              <a:gdLst/>
              <a:ahLst/>
              <a:cxnLst/>
              <a:rect r="r" b="b" t="t" l="l"/>
              <a:pathLst>
                <a:path h="451104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451104"/>
                  </a:lnTo>
                  <a:lnTo>
                    <a:pt x="0" y="45110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31158" r="0" b="-13115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4194048" cy="470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11"/>
                </a:lnSpc>
              </a:pPr>
              <a:r>
                <a:rPr lang="en-US" sz="1509" b="true">
                  <a:solidFill>
                    <a:srgbClr val="263C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COMPANY CONTEXT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4645152" y="4686300"/>
            <a:ext cx="1097280" cy="246888"/>
            <a:chOff x="0" y="0"/>
            <a:chExt cx="1463040" cy="32918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463040" cy="329184"/>
            </a:xfrm>
            <a:custGeom>
              <a:avLst/>
              <a:gdLst/>
              <a:ahLst/>
              <a:cxnLst/>
              <a:rect r="r" b="b" t="t" l="l"/>
              <a:pathLst>
                <a:path h="329184" w="1463040">
                  <a:moveTo>
                    <a:pt x="0" y="39497"/>
                  </a:moveTo>
                  <a:cubicBezTo>
                    <a:pt x="0" y="17653"/>
                    <a:pt x="17653" y="0"/>
                    <a:pt x="39497" y="0"/>
                  </a:cubicBezTo>
                  <a:lnTo>
                    <a:pt x="1423543" y="0"/>
                  </a:lnTo>
                  <a:cubicBezTo>
                    <a:pt x="1445387" y="0"/>
                    <a:pt x="1463040" y="17653"/>
                    <a:pt x="1463040" y="39497"/>
                  </a:cubicBezTo>
                  <a:lnTo>
                    <a:pt x="1463040" y="289687"/>
                  </a:lnTo>
                  <a:cubicBezTo>
                    <a:pt x="1463040" y="311531"/>
                    <a:pt x="1445387" y="329184"/>
                    <a:pt x="1423543" y="329184"/>
                  </a:cubicBezTo>
                  <a:lnTo>
                    <a:pt x="39497" y="329184"/>
                  </a:lnTo>
                  <a:cubicBezTo>
                    <a:pt x="17653" y="329184"/>
                    <a:pt x="0" y="311531"/>
                    <a:pt x="0" y="28968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4700016" y="4686300"/>
            <a:ext cx="987552" cy="246888"/>
            <a:chOff x="0" y="0"/>
            <a:chExt cx="1316736" cy="32918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316736" cy="329184"/>
            </a:xfrm>
            <a:custGeom>
              <a:avLst/>
              <a:gdLst/>
              <a:ahLst/>
              <a:cxnLst/>
              <a:rect r="r" b="b" t="t" l="l"/>
              <a:pathLst>
                <a:path h="329184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1316736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16"/>
                </a:lnSpc>
              </a:pPr>
              <a:r>
                <a:rPr lang="en-US" sz="930" b="true">
                  <a:solidFill>
                    <a:srgbClr val="315D6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Version X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453896" y="5318150"/>
            <a:ext cx="173736" cy="173736"/>
            <a:chOff x="0" y="0"/>
            <a:chExt cx="231648" cy="23164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31648" cy="231648"/>
            </a:xfrm>
            <a:custGeom>
              <a:avLst/>
              <a:gdLst/>
              <a:ahLst/>
              <a:cxnLst/>
              <a:rect r="r" b="b" t="t" l="l"/>
              <a:pathLst>
                <a:path h="231648" w="231648">
                  <a:moveTo>
                    <a:pt x="0" y="115824"/>
                  </a:moveTo>
                  <a:cubicBezTo>
                    <a:pt x="0" y="51816"/>
                    <a:pt x="51816" y="0"/>
                    <a:pt x="115824" y="0"/>
                  </a:cubicBezTo>
                  <a:cubicBezTo>
                    <a:pt x="179832" y="0"/>
                    <a:pt x="231648" y="51816"/>
                    <a:pt x="231648" y="115824"/>
                  </a:cubicBezTo>
                  <a:cubicBezTo>
                    <a:pt x="231648" y="179832"/>
                    <a:pt x="179832" y="231648"/>
                    <a:pt x="115824" y="231648"/>
                  </a:cubicBezTo>
                  <a:cubicBezTo>
                    <a:pt x="51816" y="231648"/>
                    <a:pt x="0" y="179832"/>
                    <a:pt x="0" y="115824"/>
                  </a:cubicBezTo>
                  <a:close/>
                </a:path>
              </a:pathLst>
            </a:custGeom>
            <a:solidFill>
              <a:srgbClr val="E8F2F2"/>
            </a:solidFill>
          </p:spPr>
        </p:sp>
      </p:grpSp>
      <p:sp>
        <p:nvSpPr>
          <p:cNvPr name="AutoShape 93" id="93"/>
          <p:cNvSpPr/>
          <p:nvPr/>
        </p:nvSpPr>
        <p:spPr>
          <a:xfrm rot="3017400">
            <a:off x="1475489" y="5403685"/>
            <a:ext cx="59265" cy="0"/>
          </a:xfrm>
          <a:prstGeom prst="line">
            <a:avLst/>
          </a:prstGeom>
          <a:ln cap="rnd" w="9525">
            <a:solidFill>
              <a:srgbClr val="436E7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4" id="94"/>
          <p:cNvSpPr/>
          <p:nvPr/>
        </p:nvSpPr>
        <p:spPr>
          <a:xfrm rot="-2814780">
            <a:off x="1488234" y="5380501"/>
            <a:ext cx="125911" cy="0"/>
          </a:xfrm>
          <a:prstGeom prst="line">
            <a:avLst/>
          </a:prstGeom>
          <a:ln cap="rnd" w="9525">
            <a:solidFill>
              <a:srgbClr val="436E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5" id="95"/>
          <p:cNvGrpSpPr/>
          <p:nvPr/>
        </p:nvGrpSpPr>
        <p:grpSpPr>
          <a:xfrm rot="0">
            <a:off x="1746504" y="5298948"/>
            <a:ext cx="2048256" cy="201168"/>
            <a:chOff x="0" y="0"/>
            <a:chExt cx="2731008" cy="26822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731008" cy="268224"/>
            </a:xfrm>
            <a:custGeom>
              <a:avLst/>
              <a:gdLst/>
              <a:ahLst/>
              <a:cxnLst/>
              <a:rect r="r" b="b" t="t" l="l"/>
              <a:pathLst>
                <a:path h="268224" w="2731008">
                  <a:moveTo>
                    <a:pt x="0" y="0"/>
                  </a:moveTo>
                  <a:lnTo>
                    <a:pt x="2731008" y="0"/>
                  </a:lnTo>
                  <a:lnTo>
                    <a:pt x="2731008" y="268224"/>
                  </a:lnTo>
                  <a:lnTo>
                    <a:pt x="0" y="26822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48393" r="0" b="-14839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2731008" cy="2872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"/>
                </a:lnSpc>
              </a:pPr>
              <a:r>
                <a:rPr lang="en-US" sz="1119">
                  <a:solidFill>
                    <a:srgbClr val="263C40"/>
                  </a:solidFill>
                  <a:latin typeface="Poppins"/>
                  <a:ea typeface="Poppins"/>
                  <a:cs typeface="Poppins"/>
                  <a:sym typeface="Poppins"/>
                </a:rPr>
                <a:t>Product / scope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3968496" y="5352898"/>
            <a:ext cx="1399032" cy="84125"/>
            <a:chOff x="0" y="0"/>
            <a:chExt cx="1865376" cy="11216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865376" cy="112141"/>
            </a:xfrm>
            <a:custGeom>
              <a:avLst/>
              <a:gdLst/>
              <a:ahLst/>
              <a:cxnLst/>
              <a:rect r="r" b="b" t="t" l="l"/>
              <a:pathLst>
                <a:path h="112141" w="1865376">
                  <a:moveTo>
                    <a:pt x="0" y="13462"/>
                  </a:moveTo>
                  <a:cubicBezTo>
                    <a:pt x="0" y="5969"/>
                    <a:pt x="5969" y="0"/>
                    <a:pt x="13462" y="0"/>
                  </a:cubicBezTo>
                  <a:lnTo>
                    <a:pt x="1851914" y="0"/>
                  </a:lnTo>
                  <a:cubicBezTo>
                    <a:pt x="1859407" y="0"/>
                    <a:pt x="1865376" y="5969"/>
                    <a:pt x="1865376" y="13462"/>
                  </a:cubicBezTo>
                  <a:lnTo>
                    <a:pt x="1865376" y="98679"/>
                  </a:lnTo>
                  <a:cubicBezTo>
                    <a:pt x="1865376" y="106172"/>
                    <a:pt x="1859407" y="112141"/>
                    <a:pt x="1851914" y="112141"/>
                  </a:cubicBezTo>
                  <a:lnTo>
                    <a:pt x="13462" y="112141"/>
                  </a:lnTo>
                  <a:cubicBezTo>
                    <a:pt x="5969" y="112141"/>
                    <a:pt x="0" y="106172"/>
                    <a:pt x="0" y="98679"/>
                  </a:cubicBezTo>
                  <a:close/>
                </a:path>
              </a:pathLst>
            </a:custGeom>
            <a:solidFill>
              <a:srgbClr val="F2F5F5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3968496" y="5352898"/>
            <a:ext cx="1088136" cy="84125"/>
            <a:chOff x="0" y="0"/>
            <a:chExt cx="1450848" cy="11216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450848" cy="112141"/>
            </a:xfrm>
            <a:custGeom>
              <a:avLst/>
              <a:gdLst/>
              <a:ahLst/>
              <a:cxnLst/>
              <a:rect r="r" b="b" t="t" l="l"/>
              <a:pathLst>
                <a:path h="112141" w="1450848">
                  <a:moveTo>
                    <a:pt x="0" y="13462"/>
                  </a:moveTo>
                  <a:cubicBezTo>
                    <a:pt x="0" y="5969"/>
                    <a:pt x="5969" y="0"/>
                    <a:pt x="13462" y="0"/>
                  </a:cubicBezTo>
                  <a:lnTo>
                    <a:pt x="1437386" y="0"/>
                  </a:lnTo>
                  <a:cubicBezTo>
                    <a:pt x="1444879" y="0"/>
                    <a:pt x="1450848" y="5969"/>
                    <a:pt x="1450848" y="13462"/>
                  </a:cubicBezTo>
                  <a:lnTo>
                    <a:pt x="1450848" y="98679"/>
                  </a:lnTo>
                  <a:cubicBezTo>
                    <a:pt x="1450848" y="106172"/>
                    <a:pt x="1444879" y="112141"/>
                    <a:pt x="1437386" y="112141"/>
                  </a:cubicBezTo>
                  <a:lnTo>
                    <a:pt x="13462" y="112141"/>
                  </a:lnTo>
                  <a:cubicBezTo>
                    <a:pt x="5969" y="112141"/>
                    <a:pt x="0" y="106172"/>
                    <a:pt x="0" y="98679"/>
                  </a:cubicBezTo>
                  <a:close/>
                </a:path>
              </a:pathLst>
            </a:custGeom>
            <a:solidFill>
              <a:srgbClr val="B7D3D4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453896" y="5629046"/>
            <a:ext cx="173736" cy="173736"/>
            <a:chOff x="0" y="0"/>
            <a:chExt cx="231648" cy="23164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31648" cy="231648"/>
            </a:xfrm>
            <a:custGeom>
              <a:avLst/>
              <a:gdLst/>
              <a:ahLst/>
              <a:cxnLst/>
              <a:rect r="r" b="b" t="t" l="l"/>
              <a:pathLst>
                <a:path h="231648" w="231648">
                  <a:moveTo>
                    <a:pt x="0" y="115824"/>
                  </a:moveTo>
                  <a:cubicBezTo>
                    <a:pt x="0" y="51816"/>
                    <a:pt x="51816" y="0"/>
                    <a:pt x="115824" y="0"/>
                  </a:cubicBezTo>
                  <a:cubicBezTo>
                    <a:pt x="179832" y="0"/>
                    <a:pt x="231648" y="51816"/>
                    <a:pt x="231648" y="115824"/>
                  </a:cubicBezTo>
                  <a:cubicBezTo>
                    <a:pt x="231648" y="179832"/>
                    <a:pt x="179832" y="231648"/>
                    <a:pt x="115824" y="231648"/>
                  </a:cubicBezTo>
                  <a:cubicBezTo>
                    <a:pt x="51816" y="231648"/>
                    <a:pt x="0" y="179832"/>
                    <a:pt x="0" y="115824"/>
                  </a:cubicBezTo>
                  <a:close/>
                </a:path>
              </a:pathLst>
            </a:custGeom>
            <a:solidFill>
              <a:srgbClr val="E8F2F2"/>
            </a:solidFill>
          </p:spPr>
        </p:sp>
      </p:grpSp>
      <p:sp>
        <p:nvSpPr>
          <p:cNvPr name="AutoShape 104" id="104"/>
          <p:cNvSpPr/>
          <p:nvPr/>
        </p:nvSpPr>
        <p:spPr>
          <a:xfrm rot="3017400">
            <a:off x="1475489" y="5714581"/>
            <a:ext cx="59265" cy="0"/>
          </a:xfrm>
          <a:prstGeom prst="line">
            <a:avLst/>
          </a:prstGeom>
          <a:ln cap="rnd" w="9525">
            <a:solidFill>
              <a:srgbClr val="436E7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5" id="105"/>
          <p:cNvSpPr/>
          <p:nvPr/>
        </p:nvSpPr>
        <p:spPr>
          <a:xfrm rot="-2814780">
            <a:off x="1488234" y="5691397"/>
            <a:ext cx="125911" cy="0"/>
          </a:xfrm>
          <a:prstGeom prst="line">
            <a:avLst/>
          </a:prstGeom>
          <a:ln cap="rnd" w="9525">
            <a:solidFill>
              <a:srgbClr val="436E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6" id="106"/>
          <p:cNvGrpSpPr/>
          <p:nvPr/>
        </p:nvGrpSpPr>
        <p:grpSpPr>
          <a:xfrm rot="0">
            <a:off x="1746504" y="5609844"/>
            <a:ext cx="2048256" cy="201168"/>
            <a:chOff x="0" y="0"/>
            <a:chExt cx="2731008" cy="26822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731008" cy="268224"/>
            </a:xfrm>
            <a:custGeom>
              <a:avLst/>
              <a:gdLst/>
              <a:ahLst/>
              <a:cxnLst/>
              <a:rect r="r" b="b" t="t" l="l"/>
              <a:pathLst>
                <a:path h="268224" w="2731008">
                  <a:moveTo>
                    <a:pt x="0" y="0"/>
                  </a:moveTo>
                  <a:lnTo>
                    <a:pt x="2731008" y="0"/>
                  </a:lnTo>
                  <a:lnTo>
                    <a:pt x="2731008" y="268224"/>
                  </a:lnTo>
                  <a:lnTo>
                    <a:pt x="0" y="26822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48393" r="0" b="-148393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19050"/>
              <a:ext cx="2731008" cy="2872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"/>
                </a:lnSpc>
              </a:pPr>
              <a:r>
                <a:rPr lang="en-US" sz="1119">
                  <a:solidFill>
                    <a:srgbClr val="263C40"/>
                  </a:solidFill>
                  <a:latin typeface="Poppins"/>
                  <a:ea typeface="Poppins"/>
                  <a:cs typeface="Poppins"/>
                  <a:sym typeface="Poppins"/>
                </a:rPr>
                <a:t>Systems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3968496" y="5663794"/>
            <a:ext cx="1399032" cy="84125"/>
            <a:chOff x="0" y="0"/>
            <a:chExt cx="1865376" cy="11216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865376" cy="112141"/>
            </a:xfrm>
            <a:custGeom>
              <a:avLst/>
              <a:gdLst/>
              <a:ahLst/>
              <a:cxnLst/>
              <a:rect r="r" b="b" t="t" l="l"/>
              <a:pathLst>
                <a:path h="112141" w="1865376">
                  <a:moveTo>
                    <a:pt x="0" y="13462"/>
                  </a:moveTo>
                  <a:cubicBezTo>
                    <a:pt x="0" y="5969"/>
                    <a:pt x="5969" y="0"/>
                    <a:pt x="13462" y="0"/>
                  </a:cubicBezTo>
                  <a:lnTo>
                    <a:pt x="1851914" y="0"/>
                  </a:lnTo>
                  <a:cubicBezTo>
                    <a:pt x="1859407" y="0"/>
                    <a:pt x="1865376" y="5969"/>
                    <a:pt x="1865376" y="13462"/>
                  </a:cubicBezTo>
                  <a:lnTo>
                    <a:pt x="1865376" y="98679"/>
                  </a:lnTo>
                  <a:cubicBezTo>
                    <a:pt x="1865376" y="106172"/>
                    <a:pt x="1859407" y="112141"/>
                    <a:pt x="1851914" y="112141"/>
                  </a:cubicBezTo>
                  <a:lnTo>
                    <a:pt x="13462" y="112141"/>
                  </a:lnTo>
                  <a:cubicBezTo>
                    <a:pt x="5969" y="112141"/>
                    <a:pt x="0" y="106172"/>
                    <a:pt x="0" y="98679"/>
                  </a:cubicBezTo>
                  <a:close/>
                </a:path>
              </a:pathLst>
            </a:custGeom>
            <a:solidFill>
              <a:srgbClr val="F2F5F5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3968496" y="5663794"/>
            <a:ext cx="1029062" cy="84125"/>
            <a:chOff x="0" y="0"/>
            <a:chExt cx="1372083" cy="112166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372108" cy="112141"/>
            </a:xfrm>
            <a:custGeom>
              <a:avLst/>
              <a:gdLst/>
              <a:ahLst/>
              <a:cxnLst/>
              <a:rect r="r" b="b" t="t" l="l"/>
              <a:pathLst>
                <a:path h="112141" w="1372108">
                  <a:moveTo>
                    <a:pt x="0" y="13462"/>
                  </a:moveTo>
                  <a:cubicBezTo>
                    <a:pt x="0" y="5969"/>
                    <a:pt x="5969" y="0"/>
                    <a:pt x="13462" y="0"/>
                  </a:cubicBezTo>
                  <a:lnTo>
                    <a:pt x="1358646" y="0"/>
                  </a:lnTo>
                  <a:cubicBezTo>
                    <a:pt x="1366139" y="0"/>
                    <a:pt x="1372108" y="5969"/>
                    <a:pt x="1372108" y="13462"/>
                  </a:cubicBezTo>
                  <a:lnTo>
                    <a:pt x="1372108" y="98679"/>
                  </a:lnTo>
                  <a:cubicBezTo>
                    <a:pt x="1372108" y="106172"/>
                    <a:pt x="1366139" y="112141"/>
                    <a:pt x="1358646" y="112141"/>
                  </a:cubicBezTo>
                  <a:lnTo>
                    <a:pt x="13462" y="112141"/>
                  </a:lnTo>
                  <a:cubicBezTo>
                    <a:pt x="5969" y="112141"/>
                    <a:pt x="0" y="106172"/>
                    <a:pt x="0" y="98679"/>
                  </a:cubicBezTo>
                  <a:close/>
                </a:path>
              </a:pathLst>
            </a:custGeom>
            <a:solidFill>
              <a:srgbClr val="B7D3D4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453896" y="5939942"/>
            <a:ext cx="173736" cy="173736"/>
            <a:chOff x="0" y="0"/>
            <a:chExt cx="231648" cy="23164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31648" cy="231648"/>
            </a:xfrm>
            <a:custGeom>
              <a:avLst/>
              <a:gdLst/>
              <a:ahLst/>
              <a:cxnLst/>
              <a:rect r="r" b="b" t="t" l="l"/>
              <a:pathLst>
                <a:path h="231648" w="231648">
                  <a:moveTo>
                    <a:pt x="0" y="115824"/>
                  </a:moveTo>
                  <a:cubicBezTo>
                    <a:pt x="0" y="51816"/>
                    <a:pt x="51816" y="0"/>
                    <a:pt x="115824" y="0"/>
                  </a:cubicBezTo>
                  <a:cubicBezTo>
                    <a:pt x="179832" y="0"/>
                    <a:pt x="231648" y="51816"/>
                    <a:pt x="231648" y="115824"/>
                  </a:cubicBezTo>
                  <a:cubicBezTo>
                    <a:pt x="231648" y="179832"/>
                    <a:pt x="179832" y="231648"/>
                    <a:pt x="115824" y="231648"/>
                  </a:cubicBezTo>
                  <a:cubicBezTo>
                    <a:pt x="51816" y="231648"/>
                    <a:pt x="0" y="179832"/>
                    <a:pt x="0" y="115824"/>
                  </a:cubicBezTo>
                  <a:close/>
                </a:path>
              </a:pathLst>
            </a:custGeom>
            <a:solidFill>
              <a:srgbClr val="E8F2F2"/>
            </a:solidFill>
          </p:spPr>
        </p:sp>
      </p:grpSp>
      <p:sp>
        <p:nvSpPr>
          <p:cNvPr name="AutoShape 115" id="115"/>
          <p:cNvSpPr/>
          <p:nvPr/>
        </p:nvSpPr>
        <p:spPr>
          <a:xfrm rot="3017400">
            <a:off x="1475489" y="6025477"/>
            <a:ext cx="59265" cy="0"/>
          </a:xfrm>
          <a:prstGeom prst="line">
            <a:avLst/>
          </a:prstGeom>
          <a:ln cap="rnd" w="9525">
            <a:solidFill>
              <a:srgbClr val="436E7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6" id="116"/>
          <p:cNvSpPr/>
          <p:nvPr/>
        </p:nvSpPr>
        <p:spPr>
          <a:xfrm rot="-2814780">
            <a:off x="1488234" y="6002293"/>
            <a:ext cx="125911" cy="0"/>
          </a:xfrm>
          <a:prstGeom prst="line">
            <a:avLst/>
          </a:prstGeom>
          <a:ln cap="rnd" w="9525">
            <a:solidFill>
              <a:srgbClr val="436E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7" id="117"/>
          <p:cNvGrpSpPr/>
          <p:nvPr/>
        </p:nvGrpSpPr>
        <p:grpSpPr>
          <a:xfrm rot="0">
            <a:off x="1746504" y="5920740"/>
            <a:ext cx="2048256" cy="201168"/>
            <a:chOff x="0" y="0"/>
            <a:chExt cx="2731008" cy="268224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731008" cy="268224"/>
            </a:xfrm>
            <a:custGeom>
              <a:avLst/>
              <a:gdLst/>
              <a:ahLst/>
              <a:cxnLst/>
              <a:rect r="r" b="b" t="t" l="l"/>
              <a:pathLst>
                <a:path h="268224" w="2731008">
                  <a:moveTo>
                    <a:pt x="0" y="0"/>
                  </a:moveTo>
                  <a:lnTo>
                    <a:pt x="2731008" y="0"/>
                  </a:lnTo>
                  <a:lnTo>
                    <a:pt x="2731008" y="268224"/>
                  </a:lnTo>
                  <a:lnTo>
                    <a:pt x="0" y="26822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48393" r="0" b="-148393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19050"/>
              <a:ext cx="2731008" cy="2872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"/>
                </a:lnSpc>
              </a:pPr>
              <a:r>
                <a:rPr lang="en-US" sz="1119">
                  <a:solidFill>
                    <a:srgbClr val="263C40"/>
                  </a:solidFill>
                  <a:latin typeface="Poppins"/>
                  <a:ea typeface="Poppins"/>
                  <a:cs typeface="Poppins"/>
                  <a:sym typeface="Poppins"/>
                </a:rPr>
                <a:t>Controls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3968496" y="5974690"/>
            <a:ext cx="1399032" cy="84125"/>
            <a:chOff x="0" y="0"/>
            <a:chExt cx="1865376" cy="112166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865376" cy="112141"/>
            </a:xfrm>
            <a:custGeom>
              <a:avLst/>
              <a:gdLst/>
              <a:ahLst/>
              <a:cxnLst/>
              <a:rect r="r" b="b" t="t" l="l"/>
              <a:pathLst>
                <a:path h="112141" w="1865376">
                  <a:moveTo>
                    <a:pt x="0" y="13462"/>
                  </a:moveTo>
                  <a:cubicBezTo>
                    <a:pt x="0" y="5969"/>
                    <a:pt x="5969" y="0"/>
                    <a:pt x="13462" y="0"/>
                  </a:cubicBezTo>
                  <a:lnTo>
                    <a:pt x="1851914" y="0"/>
                  </a:lnTo>
                  <a:cubicBezTo>
                    <a:pt x="1859407" y="0"/>
                    <a:pt x="1865376" y="5969"/>
                    <a:pt x="1865376" y="13462"/>
                  </a:cubicBezTo>
                  <a:lnTo>
                    <a:pt x="1865376" y="98679"/>
                  </a:lnTo>
                  <a:cubicBezTo>
                    <a:pt x="1865376" y="106172"/>
                    <a:pt x="1859407" y="112141"/>
                    <a:pt x="1851914" y="112141"/>
                  </a:cubicBezTo>
                  <a:lnTo>
                    <a:pt x="13462" y="112141"/>
                  </a:lnTo>
                  <a:cubicBezTo>
                    <a:pt x="5969" y="112141"/>
                    <a:pt x="0" y="106172"/>
                    <a:pt x="0" y="98679"/>
                  </a:cubicBezTo>
                  <a:close/>
                </a:path>
              </a:pathLst>
            </a:custGeom>
            <a:solidFill>
              <a:srgbClr val="F2F5F5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3968496" y="5974690"/>
            <a:ext cx="969997" cy="84125"/>
            <a:chOff x="0" y="0"/>
            <a:chExt cx="1293330" cy="112166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293368" cy="112141"/>
            </a:xfrm>
            <a:custGeom>
              <a:avLst/>
              <a:gdLst/>
              <a:ahLst/>
              <a:cxnLst/>
              <a:rect r="r" b="b" t="t" l="l"/>
              <a:pathLst>
                <a:path h="112141" w="1293368">
                  <a:moveTo>
                    <a:pt x="0" y="13462"/>
                  </a:moveTo>
                  <a:cubicBezTo>
                    <a:pt x="0" y="5969"/>
                    <a:pt x="5969" y="0"/>
                    <a:pt x="13462" y="0"/>
                  </a:cubicBezTo>
                  <a:lnTo>
                    <a:pt x="1279906" y="0"/>
                  </a:lnTo>
                  <a:cubicBezTo>
                    <a:pt x="1287399" y="0"/>
                    <a:pt x="1293368" y="5969"/>
                    <a:pt x="1293368" y="13462"/>
                  </a:cubicBezTo>
                  <a:lnTo>
                    <a:pt x="1293368" y="98679"/>
                  </a:lnTo>
                  <a:cubicBezTo>
                    <a:pt x="1293368" y="106172"/>
                    <a:pt x="1287399" y="112141"/>
                    <a:pt x="1279906" y="112141"/>
                  </a:cubicBezTo>
                  <a:lnTo>
                    <a:pt x="13462" y="112141"/>
                  </a:lnTo>
                  <a:cubicBezTo>
                    <a:pt x="5969" y="112141"/>
                    <a:pt x="0" y="106172"/>
                    <a:pt x="0" y="98679"/>
                  </a:cubicBezTo>
                  <a:close/>
                </a:path>
              </a:pathLst>
            </a:custGeom>
            <a:solidFill>
              <a:srgbClr val="B7D3D4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8269605" y="4547997"/>
            <a:ext cx="4674870" cy="2077974"/>
            <a:chOff x="0" y="0"/>
            <a:chExt cx="6233160" cy="2770632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3160" cy="2770632"/>
            </a:xfrm>
            <a:custGeom>
              <a:avLst/>
              <a:gdLst/>
              <a:ahLst/>
              <a:cxnLst/>
              <a:rect r="r" b="b" t="t" l="l"/>
              <a:pathLst>
                <a:path h="2770632" w="6233160">
                  <a:moveTo>
                    <a:pt x="0" y="332486"/>
                  </a:moveTo>
                  <a:cubicBezTo>
                    <a:pt x="0" y="148844"/>
                    <a:pt x="148844" y="0"/>
                    <a:pt x="332486" y="0"/>
                  </a:cubicBezTo>
                  <a:lnTo>
                    <a:pt x="5900674" y="0"/>
                  </a:lnTo>
                  <a:cubicBezTo>
                    <a:pt x="6084316" y="0"/>
                    <a:pt x="6233160" y="148844"/>
                    <a:pt x="6233160" y="332486"/>
                  </a:cubicBezTo>
                  <a:lnTo>
                    <a:pt x="6233160" y="2438146"/>
                  </a:lnTo>
                  <a:cubicBezTo>
                    <a:pt x="6233160" y="2621788"/>
                    <a:pt x="6084316" y="2770632"/>
                    <a:pt x="5900674" y="2770632"/>
                  </a:cubicBezTo>
                  <a:lnTo>
                    <a:pt x="332486" y="2770632"/>
                  </a:lnTo>
                  <a:cubicBezTo>
                    <a:pt x="148844" y="2770632"/>
                    <a:pt x="0" y="2621788"/>
                    <a:pt x="0" y="2438146"/>
                  </a:cubicBezTo>
                  <a:close/>
                </a:path>
              </a:pathLst>
            </a:custGeom>
            <a:solidFill>
              <a:srgbClr val="FFFFFF"/>
            </a:solidFill>
            <a:ln w="11430" cap="sq">
              <a:solidFill>
                <a:srgbClr val="D1DDDE"/>
              </a:solidFill>
              <a:prstDash val="solid"/>
              <a:miter/>
            </a:ln>
          </p:spPr>
        </p:sp>
      </p:grpSp>
      <p:grpSp>
        <p:nvGrpSpPr>
          <p:cNvPr name="Group 126" id="126"/>
          <p:cNvGrpSpPr/>
          <p:nvPr/>
        </p:nvGrpSpPr>
        <p:grpSpPr>
          <a:xfrm rot="0">
            <a:off x="8293608" y="4572000"/>
            <a:ext cx="4626864" cy="502920"/>
            <a:chOff x="0" y="0"/>
            <a:chExt cx="6169152" cy="67056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169152" cy="670433"/>
            </a:xfrm>
            <a:custGeom>
              <a:avLst/>
              <a:gdLst/>
              <a:ahLst/>
              <a:cxnLst/>
              <a:rect r="r" b="b" t="t" l="l"/>
              <a:pathLst>
                <a:path h="670433" w="6169152">
                  <a:moveTo>
                    <a:pt x="0" y="305054"/>
                  </a:moveTo>
                  <a:cubicBezTo>
                    <a:pt x="0" y="136652"/>
                    <a:pt x="136652" y="0"/>
                    <a:pt x="305054" y="0"/>
                  </a:cubicBezTo>
                  <a:lnTo>
                    <a:pt x="5864098" y="0"/>
                  </a:lnTo>
                  <a:cubicBezTo>
                    <a:pt x="6032500" y="0"/>
                    <a:pt x="6169152" y="136652"/>
                    <a:pt x="6169152" y="305054"/>
                  </a:cubicBezTo>
                  <a:lnTo>
                    <a:pt x="6169152" y="365379"/>
                  </a:lnTo>
                  <a:cubicBezTo>
                    <a:pt x="6169152" y="533908"/>
                    <a:pt x="6032500" y="670433"/>
                    <a:pt x="5864098" y="670433"/>
                  </a:cubicBezTo>
                  <a:lnTo>
                    <a:pt x="305054" y="670433"/>
                  </a:lnTo>
                  <a:cubicBezTo>
                    <a:pt x="136652" y="670560"/>
                    <a:pt x="0" y="533908"/>
                    <a:pt x="0" y="365506"/>
                  </a:cubicBezTo>
                  <a:close/>
                </a:path>
              </a:pathLst>
            </a:custGeom>
            <a:solidFill>
              <a:srgbClr val="E8F2F2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8293608" y="4910328"/>
            <a:ext cx="4626864" cy="182880"/>
            <a:chOff x="0" y="0"/>
            <a:chExt cx="6169152" cy="24384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6169152" cy="243840"/>
            </a:xfrm>
            <a:custGeom>
              <a:avLst/>
              <a:gdLst/>
              <a:ahLst/>
              <a:cxnLst/>
              <a:rect r="r" b="b" t="t" l="l"/>
              <a:pathLst>
                <a:path h="243840" w="6169152">
                  <a:moveTo>
                    <a:pt x="0" y="0"/>
                  </a:moveTo>
                  <a:lnTo>
                    <a:pt x="6169152" y="0"/>
                  </a:lnTo>
                  <a:lnTo>
                    <a:pt x="6169152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8F2F2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8540429" y="4645085"/>
            <a:ext cx="365884" cy="365884"/>
            <a:chOff x="0" y="0"/>
            <a:chExt cx="487845" cy="487845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487807" cy="487934"/>
            </a:xfrm>
            <a:custGeom>
              <a:avLst/>
              <a:gdLst/>
              <a:ahLst/>
              <a:cxnLst/>
              <a:rect r="r" b="b" t="t" l="l"/>
              <a:pathLst>
                <a:path h="487934" w="487807">
                  <a:moveTo>
                    <a:pt x="0" y="243967"/>
                  </a:moveTo>
                  <a:lnTo>
                    <a:pt x="121920" y="0"/>
                  </a:lnTo>
                  <a:lnTo>
                    <a:pt x="365887" y="0"/>
                  </a:lnTo>
                  <a:lnTo>
                    <a:pt x="487807" y="243967"/>
                  </a:lnTo>
                  <a:lnTo>
                    <a:pt x="365887" y="487934"/>
                  </a:lnTo>
                  <a:lnTo>
                    <a:pt x="121920" y="487934"/>
                  </a:lnTo>
                  <a:close/>
                </a:path>
              </a:pathLst>
            </a:custGeom>
            <a:solidFill>
              <a:srgbClr val="FFFFFF"/>
            </a:solidFill>
            <a:ln w="18415" cap="sq">
              <a:solidFill>
                <a:srgbClr val="436E75"/>
              </a:solidFill>
              <a:prstDash val="solid"/>
              <a:miter/>
            </a:ln>
          </p:spPr>
        </p:sp>
      </p:grpSp>
      <p:sp>
        <p:nvSpPr>
          <p:cNvPr name="AutoShape 132" id="132"/>
          <p:cNvSpPr/>
          <p:nvPr/>
        </p:nvSpPr>
        <p:spPr>
          <a:xfrm rot="3031920">
            <a:off x="8618972" y="4832223"/>
            <a:ext cx="87192" cy="0"/>
          </a:xfrm>
          <a:prstGeom prst="line">
            <a:avLst/>
          </a:prstGeom>
          <a:ln cap="rnd" w="19050">
            <a:solidFill>
              <a:srgbClr val="347C6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3" id="133"/>
          <p:cNvSpPr/>
          <p:nvPr/>
        </p:nvSpPr>
        <p:spPr>
          <a:xfrm rot="-2817180">
            <a:off x="8638584" y="4796561"/>
            <a:ext cx="189700" cy="0"/>
          </a:xfrm>
          <a:prstGeom prst="line">
            <a:avLst/>
          </a:prstGeom>
          <a:ln cap="rnd" w="19050">
            <a:solidFill>
              <a:srgbClr val="347C6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4" id="134"/>
          <p:cNvGrpSpPr/>
          <p:nvPr/>
        </p:nvGrpSpPr>
        <p:grpSpPr>
          <a:xfrm rot="0">
            <a:off x="9052560" y="4654296"/>
            <a:ext cx="3182112" cy="338328"/>
            <a:chOff x="0" y="0"/>
            <a:chExt cx="4242816" cy="451104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242816" cy="451104"/>
            </a:xfrm>
            <a:custGeom>
              <a:avLst/>
              <a:gdLst/>
              <a:ahLst/>
              <a:cxnLst/>
              <a:rect r="r" b="b" t="t" l="l"/>
              <a:pathLst>
                <a:path h="451104" w="4242816">
                  <a:moveTo>
                    <a:pt x="0" y="0"/>
                  </a:moveTo>
                  <a:lnTo>
                    <a:pt x="4242816" y="0"/>
                  </a:lnTo>
                  <a:lnTo>
                    <a:pt x="4242816" y="451104"/>
                  </a:lnTo>
                  <a:lnTo>
                    <a:pt x="0" y="45110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33264" r="0" b="-133264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19050"/>
              <a:ext cx="4242816" cy="470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11"/>
                </a:lnSpc>
              </a:pPr>
              <a:r>
                <a:rPr lang="en-US" sz="1509" b="true">
                  <a:solidFill>
                    <a:srgbClr val="263C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REGULIFT CHECK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1951208" y="4686300"/>
            <a:ext cx="877824" cy="246888"/>
            <a:chOff x="0" y="0"/>
            <a:chExt cx="1170432" cy="329184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170432" cy="329184"/>
            </a:xfrm>
            <a:custGeom>
              <a:avLst/>
              <a:gdLst/>
              <a:ahLst/>
              <a:cxnLst/>
              <a:rect r="r" b="b" t="t" l="l"/>
              <a:pathLst>
                <a:path h="329184" w="1170432">
                  <a:moveTo>
                    <a:pt x="0" y="39497"/>
                  </a:moveTo>
                  <a:cubicBezTo>
                    <a:pt x="0" y="17653"/>
                    <a:pt x="17653" y="0"/>
                    <a:pt x="39497" y="0"/>
                  </a:cubicBezTo>
                  <a:lnTo>
                    <a:pt x="1130935" y="0"/>
                  </a:lnTo>
                  <a:cubicBezTo>
                    <a:pt x="1152779" y="0"/>
                    <a:pt x="1170432" y="17653"/>
                    <a:pt x="1170432" y="39497"/>
                  </a:cubicBezTo>
                  <a:lnTo>
                    <a:pt x="1170432" y="289687"/>
                  </a:lnTo>
                  <a:cubicBezTo>
                    <a:pt x="1170432" y="311531"/>
                    <a:pt x="1152779" y="329184"/>
                    <a:pt x="1130935" y="329184"/>
                  </a:cubicBezTo>
                  <a:lnTo>
                    <a:pt x="39497" y="329184"/>
                  </a:lnTo>
                  <a:cubicBezTo>
                    <a:pt x="17653" y="329184"/>
                    <a:pt x="0" y="311531"/>
                    <a:pt x="0" y="28968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12006072" y="4686300"/>
            <a:ext cx="768096" cy="246888"/>
            <a:chOff x="0" y="0"/>
            <a:chExt cx="1024128" cy="329184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024128" cy="329184"/>
            </a:xfrm>
            <a:custGeom>
              <a:avLst/>
              <a:gdLst/>
              <a:ahLst/>
              <a:cxnLst/>
              <a:rect r="r" b="b" t="t" l="l"/>
              <a:pathLst>
                <a:path h="329184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0620" r="0" b="-10620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9525"/>
              <a:ext cx="1024128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40"/>
                </a:lnSpc>
              </a:pPr>
              <a:r>
                <a:rPr lang="en-US" sz="950" b="true">
                  <a:solidFill>
                    <a:srgbClr val="315D6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Analysis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8613648" y="5303520"/>
            <a:ext cx="237744" cy="237744"/>
            <a:chOff x="0" y="0"/>
            <a:chExt cx="316992" cy="316992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FFF1EA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8627364" y="5289804"/>
            <a:ext cx="210312" cy="256032"/>
            <a:chOff x="0" y="0"/>
            <a:chExt cx="280416" cy="341376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280416" cy="341376"/>
            </a:xfrm>
            <a:custGeom>
              <a:avLst/>
              <a:gdLst/>
              <a:ahLst/>
              <a:cxnLst/>
              <a:rect r="r" b="b" t="t" l="l"/>
              <a:pathLst>
                <a:path h="341376" w="280416">
                  <a:moveTo>
                    <a:pt x="0" y="0"/>
                  </a:moveTo>
                  <a:lnTo>
                    <a:pt x="280416" y="0"/>
                  </a:lnTo>
                  <a:lnTo>
                    <a:pt x="280416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06195" t="0" r="-106195" b="0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9525"/>
              <a:ext cx="280416" cy="350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C1694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!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8988552" y="5303520"/>
            <a:ext cx="2112264" cy="246888"/>
            <a:chOff x="0" y="0"/>
            <a:chExt cx="2816352" cy="329184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816352" cy="329184"/>
            </a:xfrm>
            <a:custGeom>
              <a:avLst/>
              <a:gdLst/>
              <a:ahLst/>
              <a:cxnLst/>
              <a:rect r="r" b="b" t="t" l="l"/>
              <a:pathLst>
                <a:path h="329184" w="2816352">
                  <a:moveTo>
                    <a:pt x="0" y="0"/>
                  </a:moveTo>
                  <a:lnTo>
                    <a:pt x="2816352" y="0"/>
                  </a:lnTo>
                  <a:lnTo>
                    <a:pt x="2816352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16705" r="0" b="-116705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9525"/>
              <a:ext cx="2816352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15"/>
                </a:lnSpc>
              </a:pPr>
              <a:r>
                <a:rPr lang="en-US" sz="1179" b="true">
                  <a:solidFill>
                    <a:srgbClr val="263C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Gaps detected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1228832" y="5294376"/>
            <a:ext cx="1280160" cy="265176"/>
            <a:chOff x="0" y="0"/>
            <a:chExt cx="1706880" cy="353568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706880" cy="353568"/>
            </a:xfrm>
            <a:custGeom>
              <a:avLst/>
              <a:gdLst/>
              <a:ahLst/>
              <a:cxnLst/>
              <a:rect r="r" b="b" t="t" l="l"/>
              <a:pathLst>
                <a:path h="353568" w="1706880">
                  <a:moveTo>
                    <a:pt x="0" y="42418"/>
                  </a:moveTo>
                  <a:cubicBezTo>
                    <a:pt x="0" y="19050"/>
                    <a:pt x="19050" y="0"/>
                    <a:pt x="42418" y="0"/>
                  </a:cubicBezTo>
                  <a:lnTo>
                    <a:pt x="1664462" y="0"/>
                  </a:lnTo>
                  <a:cubicBezTo>
                    <a:pt x="1687957" y="0"/>
                    <a:pt x="1706880" y="19050"/>
                    <a:pt x="1706880" y="42418"/>
                  </a:cubicBezTo>
                  <a:lnTo>
                    <a:pt x="1706880" y="311150"/>
                  </a:lnTo>
                  <a:cubicBezTo>
                    <a:pt x="1706880" y="334645"/>
                    <a:pt x="1687830" y="353568"/>
                    <a:pt x="1664462" y="353568"/>
                  </a:cubicBezTo>
                  <a:lnTo>
                    <a:pt x="42418" y="353568"/>
                  </a:lnTo>
                  <a:cubicBezTo>
                    <a:pt x="19050" y="353568"/>
                    <a:pt x="0" y="334518"/>
                    <a:pt x="0" y="311150"/>
                  </a:cubicBezTo>
                  <a:close/>
                </a:path>
              </a:pathLst>
            </a:custGeom>
            <a:solidFill>
              <a:srgbClr val="FFF1EA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1274552" y="5294376"/>
            <a:ext cx="1188720" cy="265176"/>
            <a:chOff x="0" y="0"/>
            <a:chExt cx="1584960" cy="35356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1584959" cy="353568"/>
            </a:xfrm>
            <a:custGeom>
              <a:avLst/>
              <a:gdLst/>
              <a:ahLst/>
              <a:cxnLst/>
              <a:rect r="r" b="b" t="t" l="l"/>
              <a:pathLst>
                <a:path h="353568" w="1584959">
                  <a:moveTo>
                    <a:pt x="0" y="0"/>
                  </a:moveTo>
                  <a:lnTo>
                    <a:pt x="1584959" y="0"/>
                  </a:lnTo>
                  <a:lnTo>
                    <a:pt x="1584959" y="353568"/>
                  </a:lnTo>
                  <a:lnTo>
                    <a:pt x="0" y="35356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7346" r="0" b="-37346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0"/>
              <a:ext cx="1584960" cy="3535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99"/>
                </a:lnSpc>
              </a:pPr>
              <a:r>
                <a:rPr lang="en-US" sz="999" b="true">
                  <a:solidFill>
                    <a:srgbClr val="C1694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REVIEW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8613648" y="5669280"/>
            <a:ext cx="237744" cy="237744"/>
            <a:chOff x="0" y="0"/>
            <a:chExt cx="316992" cy="316992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E8F2F2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8653882" y="5686654"/>
            <a:ext cx="164592" cy="182880"/>
            <a:chOff x="0" y="0"/>
            <a:chExt cx="219456" cy="243840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219456" cy="243840"/>
            </a:xfrm>
            <a:custGeom>
              <a:avLst/>
              <a:gdLst/>
              <a:ahLst/>
              <a:cxnLst/>
              <a:rect r="r" b="b" t="t" l="l"/>
              <a:pathLst>
                <a:path h="243840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243840"/>
                  </a:lnTo>
                  <a:lnTo>
                    <a:pt x="0" y="2438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9525"/>
              <a:ext cx="219456" cy="253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315D6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8988552" y="5669280"/>
            <a:ext cx="2871216" cy="246888"/>
            <a:chOff x="0" y="0"/>
            <a:chExt cx="3828288" cy="329184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3828288" cy="329184"/>
            </a:xfrm>
            <a:custGeom>
              <a:avLst/>
              <a:gdLst/>
              <a:ahLst/>
              <a:cxnLst/>
              <a:rect r="r" b="b" t="t" l="l"/>
              <a:pathLst>
                <a:path h="329184" w="3828288">
                  <a:moveTo>
                    <a:pt x="0" y="0"/>
                  </a:moveTo>
                  <a:lnTo>
                    <a:pt x="3828288" y="0"/>
                  </a:lnTo>
                  <a:lnTo>
                    <a:pt x="382828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76603" r="0" b="-176603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9525"/>
              <a:ext cx="3828288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15"/>
                </a:lnSpc>
              </a:pPr>
              <a:r>
                <a:rPr lang="en-US" sz="1179" b="true">
                  <a:solidFill>
                    <a:srgbClr val="263C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Recommended fixes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11960352" y="5769864"/>
            <a:ext cx="566928" cy="61265"/>
            <a:chOff x="0" y="0"/>
            <a:chExt cx="755904" cy="81686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755904" cy="81661"/>
            </a:xfrm>
            <a:custGeom>
              <a:avLst/>
              <a:gdLst/>
              <a:ahLst/>
              <a:cxnLst/>
              <a:rect r="r" b="b" t="t" l="l"/>
              <a:pathLst>
                <a:path h="81661" w="755904">
                  <a:moveTo>
                    <a:pt x="0" y="9779"/>
                  </a:moveTo>
                  <a:cubicBezTo>
                    <a:pt x="0" y="4445"/>
                    <a:pt x="4445" y="0"/>
                    <a:pt x="9779" y="0"/>
                  </a:cubicBezTo>
                  <a:lnTo>
                    <a:pt x="746125" y="0"/>
                  </a:lnTo>
                  <a:cubicBezTo>
                    <a:pt x="751586" y="0"/>
                    <a:pt x="755904" y="4445"/>
                    <a:pt x="755904" y="9779"/>
                  </a:cubicBezTo>
                  <a:lnTo>
                    <a:pt x="755904" y="71882"/>
                  </a:lnTo>
                  <a:cubicBezTo>
                    <a:pt x="755904" y="77343"/>
                    <a:pt x="751459" y="81661"/>
                    <a:pt x="746125" y="81661"/>
                  </a:cubicBezTo>
                  <a:lnTo>
                    <a:pt x="9779" y="81661"/>
                  </a:lnTo>
                  <a:cubicBezTo>
                    <a:pt x="4445" y="81661"/>
                    <a:pt x="0" y="77343"/>
                    <a:pt x="0" y="71882"/>
                  </a:cubicBezTo>
                  <a:close/>
                </a:path>
              </a:pathLst>
            </a:custGeom>
            <a:solidFill>
              <a:srgbClr val="F2F5F5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1960352" y="5769864"/>
            <a:ext cx="374904" cy="61265"/>
            <a:chOff x="0" y="0"/>
            <a:chExt cx="499872" cy="81686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499872" cy="81661"/>
            </a:xfrm>
            <a:custGeom>
              <a:avLst/>
              <a:gdLst/>
              <a:ahLst/>
              <a:cxnLst/>
              <a:rect r="r" b="b" t="t" l="l"/>
              <a:pathLst>
                <a:path h="81661" w="499872">
                  <a:moveTo>
                    <a:pt x="0" y="9779"/>
                  </a:moveTo>
                  <a:cubicBezTo>
                    <a:pt x="0" y="4445"/>
                    <a:pt x="4445" y="0"/>
                    <a:pt x="9779" y="0"/>
                  </a:cubicBezTo>
                  <a:lnTo>
                    <a:pt x="490093" y="0"/>
                  </a:lnTo>
                  <a:cubicBezTo>
                    <a:pt x="495554" y="0"/>
                    <a:pt x="499872" y="4445"/>
                    <a:pt x="499872" y="9779"/>
                  </a:cubicBezTo>
                  <a:lnTo>
                    <a:pt x="499872" y="71882"/>
                  </a:lnTo>
                  <a:cubicBezTo>
                    <a:pt x="499872" y="77343"/>
                    <a:pt x="495427" y="81661"/>
                    <a:pt x="490093" y="81661"/>
                  </a:cubicBezTo>
                  <a:lnTo>
                    <a:pt x="9779" y="81661"/>
                  </a:lnTo>
                  <a:cubicBezTo>
                    <a:pt x="4445" y="81661"/>
                    <a:pt x="0" y="77343"/>
                    <a:pt x="0" y="71882"/>
                  </a:cubicBezTo>
                  <a:close/>
                </a:path>
              </a:pathLst>
            </a:custGeom>
            <a:solidFill>
              <a:srgbClr val="B7D3D4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8613648" y="6035040"/>
            <a:ext cx="237744" cy="237744"/>
            <a:chOff x="0" y="0"/>
            <a:chExt cx="316992" cy="316992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316992" cy="316992"/>
            </a:xfrm>
            <a:custGeom>
              <a:avLst/>
              <a:gdLst/>
              <a:ahLst/>
              <a:cxnLst/>
              <a:rect r="r" b="b" t="t" l="l"/>
              <a:pathLst>
                <a:path h="316992" w="316992">
                  <a:moveTo>
                    <a:pt x="0" y="158496"/>
                  </a:moveTo>
                  <a:cubicBezTo>
                    <a:pt x="0" y="70993"/>
                    <a:pt x="70993" y="0"/>
                    <a:pt x="158496" y="0"/>
                  </a:cubicBezTo>
                  <a:cubicBezTo>
                    <a:pt x="245999" y="0"/>
                    <a:pt x="316992" y="70993"/>
                    <a:pt x="316992" y="158496"/>
                  </a:cubicBezTo>
                  <a:cubicBezTo>
                    <a:pt x="316992" y="245999"/>
                    <a:pt x="245999" y="316992"/>
                    <a:pt x="158496" y="316992"/>
                  </a:cubicBezTo>
                  <a:cubicBezTo>
                    <a:pt x="70993" y="316992"/>
                    <a:pt x="0" y="245999"/>
                    <a:pt x="0" y="158496"/>
                  </a:cubicBezTo>
                  <a:close/>
                </a:path>
              </a:pathLst>
            </a:custGeom>
            <a:solidFill>
              <a:srgbClr val="E8F2F2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8633765" y="6038698"/>
            <a:ext cx="201168" cy="246888"/>
            <a:chOff x="0" y="0"/>
            <a:chExt cx="268224" cy="329184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268224" cy="329184"/>
            </a:xfrm>
            <a:custGeom>
              <a:avLst/>
              <a:gdLst/>
              <a:ahLst/>
              <a:cxnLst/>
              <a:rect r="r" b="b" t="t" l="l"/>
              <a:pathLst>
                <a:path h="329184" w="268224">
                  <a:moveTo>
                    <a:pt x="0" y="0"/>
                  </a:moveTo>
                  <a:lnTo>
                    <a:pt x="268224" y="0"/>
                  </a:lnTo>
                  <a:lnTo>
                    <a:pt x="268224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07463" t="0" r="-107463" b="0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19050"/>
              <a:ext cx="268224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80"/>
                </a:lnSpc>
              </a:pPr>
              <a:r>
                <a:rPr lang="en-US" sz="1400" b="true">
                  <a:solidFill>
                    <a:srgbClr val="315D6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↻</a:t>
              </a:r>
            </a:p>
          </p:txBody>
        </p:sp>
      </p:grpSp>
      <p:grpSp>
        <p:nvGrpSpPr>
          <p:cNvPr name="Group 172" id="172"/>
          <p:cNvGrpSpPr/>
          <p:nvPr/>
        </p:nvGrpSpPr>
        <p:grpSpPr>
          <a:xfrm rot="0">
            <a:off x="8988552" y="6035040"/>
            <a:ext cx="2880360" cy="246888"/>
            <a:chOff x="0" y="0"/>
            <a:chExt cx="3840480" cy="329184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3840480" cy="329184"/>
            </a:xfrm>
            <a:custGeom>
              <a:avLst/>
              <a:gdLst/>
              <a:ahLst/>
              <a:cxnLst/>
              <a:rect r="r" b="b" t="t" l="l"/>
              <a:pathLst>
                <a:path h="329184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-9525"/>
              <a:ext cx="384048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15"/>
                </a:lnSpc>
              </a:pPr>
              <a:r>
                <a:rPr lang="en-US" sz="1179" b="true">
                  <a:solidFill>
                    <a:srgbClr val="263C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Reassess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11960352" y="6136538"/>
            <a:ext cx="566928" cy="61265"/>
            <a:chOff x="0" y="0"/>
            <a:chExt cx="755904" cy="81686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755904" cy="81661"/>
            </a:xfrm>
            <a:custGeom>
              <a:avLst/>
              <a:gdLst/>
              <a:ahLst/>
              <a:cxnLst/>
              <a:rect r="r" b="b" t="t" l="l"/>
              <a:pathLst>
                <a:path h="81661" w="755904">
                  <a:moveTo>
                    <a:pt x="0" y="9779"/>
                  </a:moveTo>
                  <a:cubicBezTo>
                    <a:pt x="0" y="4445"/>
                    <a:pt x="4445" y="0"/>
                    <a:pt x="9779" y="0"/>
                  </a:cubicBezTo>
                  <a:lnTo>
                    <a:pt x="746125" y="0"/>
                  </a:lnTo>
                  <a:cubicBezTo>
                    <a:pt x="751586" y="0"/>
                    <a:pt x="755904" y="4445"/>
                    <a:pt x="755904" y="9779"/>
                  </a:cubicBezTo>
                  <a:lnTo>
                    <a:pt x="755904" y="71882"/>
                  </a:lnTo>
                  <a:cubicBezTo>
                    <a:pt x="755904" y="77343"/>
                    <a:pt x="751459" y="81661"/>
                    <a:pt x="746125" y="81661"/>
                  </a:cubicBezTo>
                  <a:lnTo>
                    <a:pt x="9779" y="81661"/>
                  </a:lnTo>
                  <a:cubicBezTo>
                    <a:pt x="4445" y="81661"/>
                    <a:pt x="0" y="77343"/>
                    <a:pt x="0" y="71882"/>
                  </a:cubicBezTo>
                  <a:close/>
                </a:path>
              </a:pathLst>
            </a:custGeom>
            <a:solidFill>
              <a:srgbClr val="F2F5F5"/>
            </a:solid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1960352" y="6136538"/>
            <a:ext cx="484632" cy="61265"/>
            <a:chOff x="0" y="0"/>
            <a:chExt cx="646176" cy="81686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646176" cy="81661"/>
            </a:xfrm>
            <a:custGeom>
              <a:avLst/>
              <a:gdLst/>
              <a:ahLst/>
              <a:cxnLst/>
              <a:rect r="r" b="b" t="t" l="l"/>
              <a:pathLst>
                <a:path h="81661" w="646176">
                  <a:moveTo>
                    <a:pt x="0" y="9779"/>
                  </a:moveTo>
                  <a:cubicBezTo>
                    <a:pt x="0" y="4445"/>
                    <a:pt x="4445" y="0"/>
                    <a:pt x="9779" y="0"/>
                  </a:cubicBezTo>
                  <a:lnTo>
                    <a:pt x="636397" y="0"/>
                  </a:lnTo>
                  <a:cubicBezTo>
                    <a:pt x="641858" y="0"/>
                    <a:pt x="646176" y="4445"/>
                    <a:pt x="646176" y="9779"/>
                  </a:cubicBezTo>
                  <a:lnTo>
                    <a:pt x="646176" y="71882"/>
                  </a:lnTo>
                  <a:cubicBezTo>
                    <a:pt x="646176" y="77343"/>
                    <a:pt x="641731" y="81661"/>
                    <a:pt x="636397" y="81661"/>
                  </a:cubicBezTo>
                  <a:lnTo>
                    <a:pt x="9779" y="81661"/>
                  </a:lnTo>
                  <a:cubicBezTo>
                    <a:pt x="4445" y="81661"/>
                    <a:pt x="0" y="77343"/>
                    <a:pt x="0" y="71882"/>
                  </a:cubicBezTo>
                  <a:close/>
                </a:path>
              </a:pathLst>
            </a:custGeom>
            <a:solidFill>
              <a:srgbClr val="B7D3D4"/>
            </a:solidFill>
          </p:spPr>
        </p:sp>
      </p:grpSp>
      <p:sp>
        <p:nvSpPr>
          <p:cNvPr name="AutoShape 179" id="179"/>
          <p:cNvSpPr/>
          <p:nvPr/>
        </p:nvSpPr>
        <p:spPr>
          <a:xfrm>
            <a:off x="5919743" y="5522976"/>
            <a:ext cx="2169300" cy="1172"/>
          </a:xfrm>
          <a:prstGeom prst="line">
            <a:avLst/>
          </a:prstGeom>
          <a:ln cap="rnd" w="104775">
            <a:solidFill>
              <a:srgbClr val="315D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0" id="180"/>
          <p:cNvGrpSpPr/>
          <p:nvPr/>
        </p:nvGrpSpPr>
        <p:grpSpPr>
          <a:xfrm rot="0">
            <a:off x="7779639" y="5367528"/>
            <a:ext cx="356616" cy="310896"/>
            <a:chOff x="0" y="0"/>
            <a:chExt cx="475488" cy="414528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475488" cy="414528"/>
            </a:xfrm>
            <a:custGeom>
              <a:avLst/>
              <a:gdLst/>
              <a:ahLst/>
              <a:cxnLst/>
              <a:rect r="r" b="b" t="t" l="l"/>
              <a:pathLst>
                <a:path h="414528" w="475488">
                  <a:moveTo>
                    <a:pt x="0" y="140970"/>
                  </a:moveTo>
                  <a:lnTo>
                    <a:pt x="359410" y="140970"/>
                  </a:lnTo>
                  <a:lnTo>
                    <a:pt x="359410" y="0"/>
                  </a:lnTo>
                  <a:lnTo>
                    <a:pt x="475488" y="207264"/>
                  </a:lnTo>
                  <a:lnTo>
                    <a:pt x="359410" y="414528"/>
                  </a:lnTo>
                  <a:lnTo>
                    <a:pt x="359410" y="273558"/>
                  </a:lnTo>
                  <a:lnTo>
                    <a:pt x="0" y="273558"/>
                  </a:lnTo>
                  <a:close/>
                </a:path>
              </a:pathLst>
            </a:custGeom>
            <a:solidFill>
              <a:srgbClr val="315D66"/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6565392" y="5038344"/>
            <a:ext cx="1124712" cy="329184"/>
            <a:chOff x="0" y="0"/>
            <a:chExt cx="1499616" cy="438912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1499616" cy="438912"/>
            </a:xfrm>
            <a:custGeom>
              <a:avLst/>
              <a:gdLst/>
              <a:ahLst/>
              <a:cxnLst/>
              <a:rect r="r" b="b" t="t" l="l"/>
              <a:pathLst>
                <a:path h="438912" w="1499616">
                  <a:moveTo>
                    <a:pt x="0" y="52705"/>
                  </a:moveTo>
                  <a:cubicBezTo>
                    <a:pt x="0" y="23622"/>
                    <a:pt x="23622" y="0"/>
                    <a:pt x="52705" y="0"/>
                  </a:cubicBezTo>
                  <a:lnTo>
                    <a:pt x="1446911" y="0"/>
                  </a:lnTo>
                  <a:cubicBezTo>
                    <a:pt x="1475994" y="0"/>
                    <a:pt x="1499616" y="23622"/>
                    <a:pt x="1499616" y="52705"/>
                  </a:cubicBezTo>
                  <a:lnTo>
                    <a:pt x="1499616" y="386207"/>
                  </a:lnTo>
                  <a:cubicBezTo>
                    <a:pt x="1499616" y="415290"/>
                    <a:pt x="1475994" y="438912"/>
                    <a:pt x="1446911" y="438912"/>
                  </a:cubicBezTo>
                  <a:lnTo>
                    <a:pt x="52705" y="438912"/>
                  </a:lnTo>
                  <a:cubicBezTo>
                    <a:pt x="23622" y="438912"/>
                    <a:pt x="0" y="415290"/>
                    <a:pt x="0" y="38620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4" id="184"/>
          <p:cNvGrpSpPr/>
          <p:nvPr/>
        </p:nvGrpSpPr>
        <p:grpSpPr>
          <a:xfrm rot="0">
            <a:off x="6611112" y="5038344"/>
            <a:ext cx="1033272" cy="329184"/>
            <a:chOff x="0" y="0"/>
            <a:chExt cx="1377696" cy="438912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1377695" cy="438912"/>
            </a:xfrm>
            <a:custGeom>
              <a:avLst/>
              <a:gdLst/>
              <a:ahLst/>
              <a:cxnLst/>
              <a:rect r="r" b="b" t="t" l="l"/>
              <a:pathLst>
                <a:path h="438912" w="1377695">
                  <a:moveTo>
                    <a:pt x="0" y="0"/>
                  </a:moveTo>
                  <a:lnTo>
                    <a:pt x="1377695" y="0"/>
                  </a:lnTo>
                  <a:lnTo>
                    <a:pt x="1377695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1161" r="0" b="-11161"/>
              </a:stretch>
            </a:blipFill>
          </p:spPr>
        </p:sp>
        <p:sp>
          <p:nvSpPr>
            <p:cNvPr name="TextBox 186" id="186"/>
            <p:cNvSpPr txBox="true"/>
            <p:nvPr/>
          </p:nvSpPr>
          <p:spPr>
            <a:xfrm>
              <a:off x="0" y="-9525"/>
              <a:ext cx="1377696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84"/>
                </a:lnSpc>
              </a:pPr>
              <a:r>
                <a:rPr lang="en-US" sz="1070" b="true">
                  <a:solidFill>
                    <a:srgbClr val="315D6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ASSESS</a:t>
              </a:r>
            </a:p>
          </p:txBody>
        </p:sp>
      </p:grpSp>
      <p:sp>
        <p:nvSpPr>
          <p:cNvPr name="AutoShape 187" id="187"/>
          <p:cNvSpPr/>
          <p:nvPr/>
        </p:nvSpPr>
        <p:spPr>
          <a:xfrm rot="5138880">
            <a:off x="10302192" y="6797421"/>
            <a:ext cx="426806" cy="0"/>
          </a:xfrm>
          <a:prstGeom prst="line">
            <a:avLst/>
          </a:prstGeom>
          <a:ln cap="rnd" w="57150">
            <a:solidFill>
              <a:srgbClr val="315D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8" id="188"/>
          <p:cNvSpPr/>
          <p:nvPr/>
        </p:nvSpPr>
        <p:spPr>
          <a:xfrm rot="10784280">
            <a:off x="3458489" y="6994017"/>
            <a:ext cx="7073341" cy="0"/>
          </a:xfrm>
          <a:prstGeom prst="line">
            <a:avLst/>
          </a:prstGeom>
          <a:ln cap="rnd" w="57150">
            <a:solidFill>
              <a:srgbClr val="315D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9" id="189"/>
          <p:cNvSpPr/>
          <p:nvPr/>
        </p:nvSpPr>
        <p:spPr>
          <a:xfrm rot="-5138880">
            <a:off x="3261312" y="6797421"/>
            <a:ext cx="426806" cy="0"/>
          </a:xfrm>
          <a:prstGeom prst="line">
            <a:avLst/>
          </a:prstGeom>
          <a:ln cap="rnd" w="57150">
            <a:solidFill>
              <a:srgbClr val="315D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0" id="190"/>
          <p:cNvGrpSpPr/>
          <p:nvPr/>
        </p:nvGrpSpPr>
        <p:grpSpPr>
          <a:xfrm rot="0">
            <a:off x="3305556" y="6414516"/>
            <a:ext cx="347472" cy="484632"/>
            <a:chOff x="0" y="0"/>
            <a:chExt cx="463296" cy="646176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463296" cy="646176"/>
            </a:xfrm>
            <a:custGeom>
              <a:avLst/>
              <a:gdLst/>
              <a:ahLst/>
              <a:cxnLst/>
              <a:rect r="r" b="b" t="t" l="l"/>
              <a:pathLst>
                <a:path h="646176" w="463296">
                  <a:moveTo>
                    <a:pt x="0" y="166751"/>
                  </a:moveTo>
                  <a:lnTo>
                    <a:pt x="231648" y="0"/>
                  </a:lnTo>
                  <a:lnTo>
                    <a:pt x="463296" y="166751"/>
                  </a:lnTo>
                  <a:lnTo>
                    <a:pt x="308102" y="166751"/>
                  </a:lnTo>
                  <a:lnTo>
                    <a:pt x="308102" y="646176"/>
                  </a:lnTo>
                  <a:lnTo>
                    <a:pt x="155194" y="646176"/>
                  </a:lnTo>
                  <a:lnTo>
                    <a:pt x="155194" y="166751"/>
                  </a:lnTo>
                  <a:close/>
                </a:path>
              </a:pathLst>
            </a:custGeom>
            <a:solidFill>
              <a:srgbClr val="315D66"/>
            </a:solidFill>
          </p:spPr>
        </p:sp>
      </p:grpSp>
      <p:grpSp>
        <p:nvGrpSpPr>
          <p:cNvPr name="Group 192" id="192"/>
          <p:cNvGrpSpPr/>
          <p:nvPr/>
        </p:nvGrpSpPr>
        <p:grpSpPr>
          <a:xfrm rot="0">
            <a:off x="5532120" y="6798564"/>
            <a:ext cx="2880360" cy="420624"/>
            <a:chOff x="0" y="0"/>
            <a:chExt cx="3840480" cy="560832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3840480" cy="560832"/>
            </a:xfrm>
            <a:custGeom>
              <a:avLst/>
              <a:gdLst/>
              <a:ahLst/>
              <a:cxnLst/>
              <a:rect r="r" b="b" t="t" l="l"/>
              <a:pathLst>
                <a:path h="560832" w="3840480">
                  <a:moveTo>
                    <a:pt x="0" y="67310"/>
                  </a:moveTo>
                  <a:cubicBezTo>
                    <a:pt x="0" y="30099"/>
                    <a:pt x="30099" y="0"/>
                    <a:pt x="67310" y="0"/>
                  </a:cubicBezTo>
                  <a:lnTo>
                    <a:pt x="3773170" y="0"/>
                  </a:lnTo>
                  <a:cubicBezTo>
                    <a:pt x="3810381" y="0"/>
                    <a:pt x="3840480" y="30099"/>
                    <a:pt x="3840480" y="67310"/>
                  </a:cubicBezTo>
                  <a:lnTo>
                    <a:pt x="3840480" y="493522"/>
                  </a:lnTo>
                  <a:cubicBezTo>
                    <a:pt x="3840480" y="530733"/>
                    <a:pt x="3810381" y="560832"/>
                    <a:pt x="3773170" y="560832"/>
                  </a:cubicBezTo>
                  <a:lnTo>
                    <a:pt x="67310" y="560832"/>
                  </a:lnTo>
                  <a:cubicBezTo>
                    <a:pt x="30099" y="560832"/>
                    <a:pt x="0" y="530733"/>
                    <a:pt x="0" y="49352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577840" y="6798564"/>
            <a:ext cx="2788920" cy="420624"/>
            <a:chOff x="0" y="0"/>
            <a:chExt cx="3718560" cy="560832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718560" cy="560832"/>
            </a:xfrm>
            <a:custGeom>
              <a:avLst/>
              <a:gdLst/>
              <a:ahLst/>
              <a:cxnLst/>
              <a:rect r="r" b="b" t="t" l="l"/>
              <a:pathLst>
                <a:path h="560832" w="3718560">
                  <a:moveTo>
                    <a:pt x="0" y="0"/>
                  </a:moveTo>
                  <a:lnTo>
                    <a:pt x="3718560" y="0"/>
                  </a:lnTo>
                  <a:lnTo>
                    <a:pt x="371856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79194" r="0" b="-79194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718560" cy="5608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92"/>
                </a:lnSpc>
              </a:pPr>
              <a:r>
                <a:rPr lang="en-US" sz="1160" b="true">
                  <a:solidFill>
                    <a:srgbClr val="315D6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FIX   ·   UPDATE   ·   RECHECK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353312" y="7406640"/>
            <a:ext cx="3520440" cy="438912"/>
            <a:chOff x="0" y="0"/>
            <a:chExt cx="4693920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4693920" cy="585216"/>
            </a:xfrm>
            <a:custGeom>
              <a:avLst/>
              <a:gdLst/>
              <a:ahLst/>
              <a:cxnLst/>
              <a:rect r="r" b="b" t="t" l="l"/>
              <a:pathLst>
                <a:path h="585216" w="4693920">
                  <a:moveTo>
                    <a:pt x="0" y="70231"/>
                  </a:moveTo>
                  <a:cubicBezTo>
                    <a:pt x="0" y="31496"/>
                    <a:pt x="31496" y="0"/>
                    <a:pt x="70231" y="0"/>
                  </a:cubicBezTo>
                  <a:lnTo>
                    <a:pt x="4623689" y="0"/>
                  </a:lnTo>
                  <a:cubicBezTo>
                    <a:pt x="4662424" y="0"/>
                    <a:pt x="4693920" y="31496"/>
                    <a:pt x="4693920" y="70231"/>
                  </a:cubicBezTo>
                  <a:lnTo>
                    <a:pt x="4693920" y="514985"/>
                  </a:lnTo>
                  <a:cubicBezTo>
                    <a:pt x="4693920" y="553720"/>
                    <a:pt x="4662424" y="585216"/>
                    <a:pt x="4623689" y="585216"/>
                  </a:cubicBezTo>
                  <a:lnTo>
                    <a:pt x="70231" y="585216"/>
                  </a:lnTo>
                  <a:cubicBezTo>
                    <a:pt x="31496" y="585216"/>
                    <a:pt x="0" y="553720"/>
                    <a:pt x="0" y="514985"/>
                  </a:cubicBezTo>
                  <a:close/>
                </a:path>
              </a:pathLst>
            </a:custGeom>
            <a:solidFill>
              <a:srgbClr val="FFF1EA"/>
            </a:solidFill>
          </p:spPr>
        </p:sp>
      </p:grpSp>
      <p:grpSp>
        <p:nvGrpSpPr>
          <p:cNvPr name="Group 199" id="199"/>
          <p:cNvGrpSpPr/>
          <p:nvPr/>
        </p:nvGrpSpPr>
        <p:grpSpPr>
          <a:xfrm rot="0">
            <a:off x="1435608" y="7479792"/>
            <a:ext cx="557784" cy="274320"/>
            <a:chOff x="0" y="0"/>
            <a:chExt cx="743712" cy="365760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743712" cy="365760"/>
            </a:xfrm>
            <a:custGeom>
              <a:avLst/>
              <a:gdLst/>
              <a:ahLst/>
              <a:cxnLst/>
              <a:rect r="r" b="b" t="t" l="l"/>
              <a:pathLst>
                <a:path h="365760" w="743712">
                  <a:moveTo>
                    <a:pt x="0" y="43942"/>
                  </a:moveTo>
                  <a:cubicBezTo>
                    <a:pt x="0" y="19685"/>
                    <a:pt x="19685" y="0"/>
                    <a:pt x="43942" y="0"/>
                  </a:cubicBezTo>
                  <a:lnTo>
                    <a:pt x="699770" y="0"/>
                  </a:lnTo>
                  <a:cubicBezTo>
                    <a:pt x="724027" y="0"/>
                    <a:pt x="743712" y="19685"/>
                    <a:pt x="743712" y="43942"/>
                  </a:cubicBezTo>
                  <a:lnTo>
                    <a:pt x="743712" y="321818"/>
                  </a:lnTo>
                  <a:cubicBezTo>
                    <a:pt x="743712" y="346075"/>
                    <a:pt x="724027" y="365760"/>
                    <a:pt x="699770" y="365760"/>
                  </a:cubicBezTo>
                  <a:lnTo>
                    <a:pt x="43942" y="365760"/>
                  </a:lnTo>
                  <a:cubicBezTo>
                    <a:pt x="19685" y="365760"/>
                    <a:pt x="0" y="346075"/>
                    <a:pt x="0" y="32181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1" id="201"/>
          <p:cNvGrpSpPr/>
          <p:nvPr/>
        </p:nvGrpSpPr>
        <p:grpSpPr>
          <a:xfrm rot="0">
            <a:off x="1481328" y="7479792"/>
            <a:ext cx="466344" cy="274320"/>
            <a:chOff x="0" y="0"/>
            <a:chExt cx="621792" cy="365760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621792" cy="365760"/>
            </a:xfrm>
            <a:custGeom>
              <a:avLst/>
              <a:gdLst/>
              <a:ahLst/>
              <a:cxnLst/>
              <a:rect r="r" b="b" t="t" l="l"/>
              <a:pathLst>
                <a:path h="365760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5472" t="0" r="-25472" b="0"/>
              </a:stretch>
            </a:blipFill>
          </p:spPr>
        </p:sp>
        <p:sp>
          <p:nvSpPr>
            <p:cNvPr name="TextBox 203" id="203"/>
            <p:cNvSpPr txBox="true"/>
            <p:nvPr/>
          </p:nvSpPr>
          <p:spPr>
            <a:xfrm>
              <a:off x="0" y="-19050"/>
              <a:ext cx="621792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20"/>
                </a:lnSpc>
              </a:pPr>
              <a:r>
                <a:rPr lang="en-US" sz="1100" b="true">
                  <a:solidFill>
                    <a:srgbClr val="C1694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v1</a:t>
              </a:r>
            </a:p>
          </p:txBody>
        </p:sp>
      </p:grpSp>
      <p:grpSp>
        <p:nvGrpSpPr>
          <p:cNvPr name="Group 204" id="204"/>
          <p:cNvGrpSpPr/>
          <p:nvPr/>
        </p:nvGrpSpPr>
        <p:grpSpPr>
          <a:xfrm rot="0">
            <a:off x="2157984" y="7499909"/>
            <a:ext cx="210312" cy="210312"/>
            <a:chOff x="0" y="0"/>
            <a:chExt cx="280416" cy="280416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280416" cy="280416"/>
            </a:xfrm>
            <a:custGeom>
              <a:avLst/>
              <a:gdLst/>
              <a:ahLst/>
              <a:cxnLst/>
              <a:rect r="r" b="b" t="t" l="l"/>
              <a:pathLst>
                <a:path h="280416" w="280416">
                  <a:moveTo>
                    <a:pt x="0" y="140208"/>
                  </a:moveTo>
                  <a:cubicBezTo>
                    <a:pt x="0" y="62738"/>
                    <a:pt x="62738" y="0"/>
                    <a:pt x="140208" y="0"/>
                  </a:cubicBezTo>
                  <a:cubicBezTo>
                    <a:pt x="217678" y="0"/>
                    <a:pt x="280416" y="62738"/>
                    <a:pt x="280416" y="140208"/>
                  </a:cubicBezTo>
                  <a:cubicBezTo>
                    <a:pt x="280416" y="217678"/>
                    <a:pt x="217678" y="280416"/>
                    <a:pt x="140208" y="280416"/>
                  </a:cubicBezTo>
                  <a:cubicBezTo>
                    <a:pt x="62738" y="280416"/>
                    <a:pt x="0" y="217678"/>
                    <a:pt x="0" y="140208"/>
                  </a:cubicBezTo>
                  <a:close/>
                </a:path>
              </a:pathLst>
            </a:custGeom>
            <a:solidFill>
              <a:srgbClr val="FFF1EA"/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2171700" y="7486193"/>
            <a:ext cx="182880" cy="228600"/>
            <a:chOff x="0" y="0"/>
            <a:chExt cx="243840" cy="304800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243840" cy="304800"/>
            </a:xfrm>
            <a:custGeom>
              <a:avLst/>
              <a:gdLst/>
              <a:ahLst/>
              <a:cxnLst/>
              <a:rect r="r" b="b" t="t" l="l"/>
              <a:pathLst>
                <a:path h="30480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-9525"/>
              <a:ext cx="24384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C1694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!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2523744" y="7467905"/>
            <a:ext cx="1965960" cy="301752"/>
            <a:chOff x="0" y="0"/>
            <a:chExt cx="2621280" cy="40233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2621280" cy="402336"/>
            </a:xfrm>
            <a:custGeom>
              <a:avLst/>
              <a:gdLst/>
              <a:ahLst/>
              <a:cxnLst/>
              <a:rect r="r" b="b" t="t" l="l"/>
              <a:pathLst>
                <a:path h="402336" w="2621280">
                  <a:moveTo>
                    <a:pt x="0" y="0"/>
                  </a:moveTo>
                  <a:lnTo>
                    <a:pt x="2621280" y="0"/>
                  </a:lnTo>
                  <a:lnTo>
                    <a:pt x="26212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76947" r="0" b="-76947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-9525"/>
              <a:ext cx="26212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b="true">
                  <a:solidFill>
                    <a:srgbClr val="C1694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Gaps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56632" y="7557516"/>
            <a:ext cx="521208" cy="155448"/>
            <a:chOff x="0" y="0"/>
            <a:chExt cx="694944" cy="207264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694944" cy="207264"/>
            </a:xfrm>
            <a:custGeom>
              <a:avLst/>
              <a:gdLst/>
              <a:ahLst/>
              <a:cxnLst/>
              <a:rect r="r" b="b" t="t" l="l"/>
              <a:pathLst>
                <a:path h="207264" w="694944">
                  <a:moveTo>
                    <a:pt x="0" y="70485"/>
                  </a:moveTo>
                  <a:lnTo>
                    <a:pt x="636905" y="70485"/>
                  </a:lnTo>
                  <a:lnTo>
                    <a:pt x="636905" y="0"/>
                  </a:lnTo>
                  <a:lnTo>
                    <a:pt x="694944" y="103632"/>
                  </a:lnTo>
                  <a:lnTo>
                    <a:pt x="636905" y="207264"/>
                  </a:lnTo>
                  <a:lnTo>
                    <a:pt x="636905" y="136779"/>
                  </a:lnTo>
                  <a:lnTo>
                    <a:pt x="0" y="136779"/>
                  </a:lnTo>
                  <a:close/>
                </a:path>
              </a:pathLst>
            </a:custGeom>
            <a:solidFill>
              <a:srgbClr val="8DA2A4"/>
            </a:solidFill>
          </p:spPr>
        </p:sp>
      </p:grpSp>
      <p:grpSp>
        <p:nvGrpSpPr>
          <p:cNvPr name="Group 214" id="214"/>
          <p:cNvGrpSpPr/>
          <p:nvPr/>
        </p:nvGrpSpPr>
        <p:grpSpPr>
          <a:xfrm rot="0">
            <a:off x="5742432" y="7406640"/>
            <a:ext cx="3447288" cy="438912"/>
            <a:chOff x="0" y="0"/>
            <a:chExt cx="4596384" cy="585216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0" y="0"/>
              <a:ext cx="4596384" cy="585216"/>
            </a:xfrm>
            <a:custGeom>
              <a:avLst/>
              <a:gdLst/>
              <a:ahLst/>
              <a:cxnLst/>
              <a:rect r="r" b="b" t="t" l="l"/>
              <a:pathLst>
                <a:path h="585216" w="4596384">
                  <a:moveTo>
                    <a:pt x="0" y="70231"/>
                  </a:moveTo>
                  <a:cubicBezTo>
                    <a:pt x="0" y="31496"/>
                    <a:pt x="31496" y="0"/>
                    <a:pt x="70231" y="0"/>
                  </a:cubicBezTo>
                  <a:lnTo>
                    <a:pt x="4526153" y="0"/>
                  </a:lnTo>
                  <a:cubicBezTo>
                    <a:pt x="4564888" y="0"/>
                    <a:pt x="4596384" y="31496"/>
                    <a:pt x="4596384" y="70231"/>
                  </a:cubicBezTo>
                  <a:lnTo>
                    <a:pt x="4596384" y="514985"/>
                  </a:lnTo>
                  <a:cubicBezTo>
                    <a:pt x="4596384" y="553720"/>
                    <a:pt x="4564888" y="585216"/>
                    <a:pt x="4526153" y="585216"/>
                  </a:cubicBezTo>
                  <a:lnTo>
                    <a:pt x="70231" y="585216"/>
                  </a:lnTo>
                  <a:cubicBezTo>
                    <a:pt x="31496" y="585216"/>
                    <a:pt x="0" y="553720"/>
                    <a:pt x="0" y="514985"/>
                  </a:cubicBezTo>
                  <a:close/>
                </a:path>
              </a:pathLst>
            </a:custGeom>
            <a:solidFill>
              <a:srgbClr val="FFEEAC"/>
            </a:solidFill>
          </p:spPr>
        </p:sp>
      </p:grpSp>
      <p:grpSp>
        <p:nvGrpSpPr>
          <p:cNvPr name="Group 216" id="216"/>
          <p:cNvGrpSpPr/>
          <p:nvPr/>
        </p:nvGrpSpPr>
        <p:grpSpPr>
          <a:xfrm rot="0">
            <a:off x="5843016" y="7479792"/>
            <a:ext cx="548640" cy="274320"/>
            <a:chOff x="0" y="0"/>
            <a:chExt cx="731520" cy="365760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731520" cy="365760"/>
            </a:xfrm>
            <a:custGeom>
              <a:avLst/>
              <a:gdLst/>
              <a:ahLst/>
              <a:cxnLst/>
              <a:rect r="r" b="b" t="t" l="l"/>
              <a:pathLst>
                <a:path h="365760" w="731520">
                  <a:moveTo>
                    <a:pt x="0" y="43942"/>
                  </a:moveTo>
                  <a:cubicBezTo>
                    <a:pt x="0" y="19685"/>
                    <a:pt x="19685" y="0"/>
                    <a:pt x="43942" y="0"/>
                  </a:cubicBezTo>
                  <a:lnTo>
                    <a:pt x="687578" y="0"/>
                  </a:lnTo>
                  <a:cubicBezTo>
                    <a:pt x="711835" y="0"/>
                    <a:pt x="731520" y="19685"/>
                    <a:pt x="731520" y="43942"/>
                  </a:cubicBezTo>
                  <a:lnTo>
                    <a:pt x="731520" y="321818"/>
                  </a:lnTo>
                  <a:cubicBezTo>
                    <a:pt x="731520" y="346075"/>
                    <a:pt x="711835" y="365760"/>
                    <a:pt x="687578" y="365760"/>
                  </a:cubicBezTo>
                  <a:lnTo>
                    <a:pt x="43942" y="365760"/>
                  </a:lnTo>
                  <a:cubicBezTo>
                    <a:pt x="19685" y="365760"/>
                    <a:pt x="0" y="346075"/>
                    <a:pt x="0" y="321818"/>
                  </a:cubicBezTo>
                  <a:close/>
                </a:path>
              </a:pathLst>
            </a:custGeom>
            <a:solidFill>
              <a:srgbClr val="FFF9E5"/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5888736" y="7479792"/>
            <a:ext cx="457200" cy="274320"/>
            <a:chOff x="0" y="0"/>
            <a:chExt cx="609600" cy="365760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609600" cy="365760"/>
            </a:xfrm>
            <a:custGeom>
              <a:avLst/>
              <a:gdLst/>
              <a:ahLst/>
              <a:cxnLst/>
              <a:rect r="r" b="b" t="t" l="l"/>
              <a:pathLst>
                <a:path h="36576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-19050"/>
              <a:ext cx="60960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20"/>
                </a:lnSpc>
              </a:pPr>
              <a:r>
                <a:rPr lang="en-US" sz="1100" b="true">
                  <a:solidFill>
                    <a:srgbClr val="95621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v2</a:t>
              </a:r>
            </a:p>
          </p:txBody>
        </p:sp>
      </p:grpSp>
      <p:grpSp>
        <p:nvGrpSpPr>
          <p:cNvPr name="Group 221" id="221"/>
          <p:cNvGrpSpPr/>
          <p:nvPr/>
        </p:nvGrpSpPr>
        <p:grpSpPr>
          <a:xfrm rot="0">
            <a:off x="6556248" y="7498080"/>
            <a:ext cx="201168" cy="201168"/>
            <a:chOff x="0" y="0"/>
            <a:chExt cx="268224" cy="268224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268224" cy="268224"/>
            </a:xfrm>
            <a:custGeom>
              <a:avLst/>
              <a:gdLst/>
              <a:ahLst/>
              <a:cxnLst/>
              <a:rect r="r" b="b" t="t" l="l"/>
              <a:pathLst>
                <a:path h="268224" w="268224">
                  <a:moveTo>
                    <a:pt x="0" y="134112"/>
                  </a:moveTo>
                  <a:cubicBezTo>
                    <a:pt x="0" y="60071"/>
                    <a:pt x="60071" y="0"/>
                    <a:pt x="134112" y="0"/>
                  </a:cubicBezTo>
                  <a:cubicBezTo>
                    <a:pt x="208153" y="0"/>
                    <a:pt x="268224" y="60071"/>
                    <a:pt x="268224" y="134112"/>
                  </a:cubicBezTo>
                  <a:cubicBezTo>
                    <a:pt x="268224" y="208153"/>
                    <a:pt x="208153" y="268224"/>
                    <a:pt x="134112" y="268224"/>
                  </a:cubicBezTo>
                  <a:cubicBezTo>
                    <a:pt x="60071" y="268224"/>
                    <a:pt x="0" y="208153"/>
                    <a:pt x="0" y="134112"/>
                  </a:cubicBezTo>
                  <a:close/>
                </a:path>
              </a:pathLst>
            </a:custGeom>
            <a:solidFill>
              <a:srgbClr val="FFF9E5"/>
            </a:solid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6605626" y="7547458"/>
            <a:ext cx="100584" cy="100584"/>
            <a:chOff x="0" y="0"/>
            <a:chExt cx="134112" cy="134112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67056"/>
                  </a:moveTo>
                  <a:cubicBezTo>
                    <a:pt x="0" y="29972"/>
                    <a:pt x="29972" y="0"/>
                    <a:pt x="67056" y="0"/>
                  </a:cubicBezTo>
                  <a:cubicBezTo>
                    <a:pt x="104140" y="0"/>
                    <a:pt x="134112" y="29972"/>
                    <a:pt x="134112" y="67056"/>
                  </a:cubicBezTo>
                  <a:cubicBezTo>
                    <a:pt x="134112" y="104140"/>
                    <a:pt x="104140" y="134112"/>
                    <a:pt x="67056" y="134112"/>
                  </a:cubicBezTo>
                  <a:cubicBezTo>
                    <a:pt x="29972" y="134112"/>
                    <a:pt x="0" y="104140"/>
                    <a:pt x="0" y="67056"/>
                  </a:cubicBezTo>
                  <a:close/>
                </a:path>
              </a:pathLst>
            </a:custGeom>
            <a:solidFill>
              <a:srgbClr val="D89B1A"/>
            </a:solidFill>
          </p:spPr>
        </p:sp>
      </p:grpSp>
      <p:grpSp>
        <p:nvGrpSpPr>
          <p:cNvPr name="Group 225" id="225"/>
          <p:cNvGrpSpPr/>
          <p:nvPr/>
        </p:nvGrpSpPr>
        <p:grpSpPr>
          <a:xfrm rot="0">
            <a:off x="6922008" y="7467905"/>
            <a:ext cx="2011680" cy="301752"/>
            <a:chOff x="0" y="0"/>
            <a:chExt cx="2682240" cy="402336"/>
          </a:xfrm>
        </p:grpSpPr>
        <p:sp>
          <p:nvSpPr>
            <p:cNvPr name="Freeform 226" id="226"/>
            <p:cNvSpPr/>
            <p:nvPr/>
          </p:nvSpPr>
          <p:spPr>
            <a:xfrm flipH="false" flipV="false" rot="0">
              <a:off x="0" y="0"/>
              <a:ext cx="2682240" cy="402336"/>
            </a:xfrm>
            <a:custGeom>
              <a:avLst/>
              <a:gdLst/>
              <a:ahLst/>
              <a:cxnLst/>
              <a:rect r="r" b="b" t="t" l="l"/>
              <a:pathLst>
                <a:path h="402336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27" id="227"/>
            <p:cNvSpPr txBox="true"/>
            <p:nvPr/>
          </p:nvSpPr>
          <p:spPr>
            <a:xfrm>
              <a:off x="0" y="-9525"/>
              <a:ext cx="268224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 b="true">
                  <a:solidFill>
                    <a:srgbClr val="93610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Improving</a:t>
              </a:r>
            </a:p>
          </p:txBody>
        </p:sp>
      </p:grpSp>
      <p:grpSp>
        <p:nvGrpSpPr>
          <p:cNvPr name="Group 228" id="228"/>
          <p:cNvGrpSpPr/>
          <p:nvPr/>
        </p:nvGrpSpPr>
        <p:grpSpPr>
          <a:xfrm rot="0">
            <a:off x="9345168" y="7557516"/>
            <a:ext cx="521208" cy="155448"/>
            <a:chOff x="0" y="0"/>
            <a:chExt cx="694944" cy="207264"/>
          </a:xfrm>
        </p:grpSpPr>
        <p:sp>
          <p:nvSpPr>
            <p:cNvPr name="Freeform 229" id="229"/>
            <p:cNvSpPr/>
            <p:nvPr/>
          </p:nvSpPr>
          <p:spPr>
            <a:xfrm flipH="false" flipV="false" rot="0">
              <a:off x="0" y="0"/>
              <a:ext cx="694944" cy="207264"/>
            </a:xfrm>
            <a:custGeom>
              <a:avLst/>
              <a:gdLst/>
              <a:ahLst/>
              <a:cxnLst/>
              <a:rect r="r" b="b" t="t" l="l"/>
              <a:pathLst>
                <a:path h="207264" w="694944">
                  <a:moveTo>
                    <a:pt x="0" y="70485"/>
                  </a:moveTo>
                  <a:lnTo>
                    <a:pt x="636905" y="70485"/>
                  </a:lnTo>
                  <a:lnTo>
                    <a:pt x="636905" y="0"/>
                  </a:lnTo>
                  <a:lnTo>
                    <a:pt x="694944" y="103632"/>
                  </a:lnTo>
                  <a:lnTo>
                    <a:pt x="636905" y="207264"/>
                  </a:lnTo>
                  <a:lnTo>
                    <a:pt x="636905" y="136779"/>
                  </a:lnTo>
                  <a:lnTo>
                    <a:pt x="0" y="136779"/>
                  </a:lnTo>
                  <a:close/>
                </a:path>
              </a:pathLst>
            </a:custGeom>
            <a:solidFill>
              <a:srgbClr val="8DA2A4"/>
            </a:solidFill>
          </p:spPr>
        </p:sp>
      </p:grpSp>
      <p:grpSp>
        <p:nvGrpSpPr>
          <p:cNvPr name="Group 230" id="230"/>
          <p:cNvGrpSpPr/>
          <p:nvPr/>
        </p:nvGrpSpPr>
        <p:grpSpPr>
          <a:xfrm rot="0">
            <a:off x="10067544" y="7406640"/>
            <a:ext cx="3575304" cy="438912"/>
            <a:chOff x="0" y="0"/>
            <a:chExt cx="4767072" cy="585216"/>
          </a:xfrm>
        </p:grpSpPr>
        <p:sp>
          <p:nvSpPr>
            <p:cNvPr name="Freeform 231" id="231"/>
            <p:cNvSpPr/>
            <p:nvPr/>
          </p:nvSpPr>
          <p:spPr>
            <a:xfrm flipH="false" flipV="false" rot="0">
              <a:off x="0" y="0"/>
              <a:ext cx="4767072" cy="585216"/>
            </a:xfrm>
            <a:custGeom>
              <a:avLst/>
              <a:gdLst/>
              <a:ahLst/>
              <a:cxnLst/>
              <a:rect r="r" b="b" t="t" l="l"/>
              <a:pathLst>
                <a:path h="585216" w="4767072">
                  <a:moveTo>
                    <a:pt x="0" y="70231"/>
                  </a:moveTo>
                  <a:cubicBezTo>
                    <a:pt x="0" y="31496"/>
                    <a:pt x="31496" y="0"/>
                    <a:pt x="70231" y="0"/>
                  </a:cubicBezTo>
                  <a:lnTo>
                    <a:pt x="4696841" y="0"/>
                  </a:lnTo>
                  <a:cubicBezTo>
                    <a:pt x="4735576" y="0"/>
                    <a:pt x="4767072" y="31496"/>
                    <a:pt x="4767072" y="70231"/>
                  </a:cubicBezTo>
                  <a:lnTo>
                    <a:pt x="4767072" y="514985"/>
                  </a:lnTo>
                  <a:cubicBezTo>
                    <a:pt x="4767072" y="553720"/>
                    <a:pt x="4735576" y="585216"/>
                    <a:pt x="4696841" y="585216"/>
                  </a:cubicBezTo>
                  <a:lnTo>
                    <a:pt x="70231" y="585216"/>
                  </a:lnTo>
                  <a:cubicBezTo>
                    <a:pt x="31496" y="585216"/>
                    <a:pt x="0" y="553720"/>
                    <a:pt x="0" y="514985"/>
                  </a:cubicBezTo>
                  <a:close/>
                </a:path>
              </a:pathLst>
            </a:custGeom>
            <a:solidFill>
              <a:srgbClr val="E5F3EB"/>
            </a:solidFill>
          </p:spPr>
        </p:sp>
      </p:grpSp>
      <p:grpSp>
        <p:nvGrpSpPr>
          <p:cNvPr name="Group 232" id="232"/>
          <p:cNvGrpSpPr/>
          <p:nvPr/>
        </p:nvGrpSpPr>
        <p:grpSpPr>
          <a:xfrm rot="0">
            <a:off x="10149840" y="7479792"/>
            <a:ext cx="539496" cy="274320"/>
            <a:chOff x="0" y="0"/>
            <a:chExt cx="719328" cy="365760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719328" cy="365760"/>
            </a:xfrm>
            <a:custGeom>
              <a:avLst/>
              <a:gdLst/>
              <a:ahLst/>
              <a:cxnLst/>
              <a:rect r="r" b="b" t="t" l="l"/>
              <a:pathLst>
                <a:path h="365760" w="719328">
                  <a:moveTo>
                    <a:pt x="0" y="43942"/>
                  </a:moveTo>
                  <a:cubicBezTo>
                    <a:pt x="0" y="19685"/>
                    <a:pt x="19685" y="0"/>
                    <a:pt x="43942" y="0"/>
                  </a:cubicBezTo>
                  <a:lnTo>
                    <a:pt x="675386" y="0"/>
                  </a:lnTo>
                  <a:cubicBezTo>
                    <a:pt x="699643" y="0"/>
                    <a:pt x="719328" y="19685"/>
                    <a:pt x="719328" y="43942"/>
                  </a:cubicBezTo>
                  <a:lnTo>
                    <a:pt x="719328" y="321818"/>
                  </a:lnTo>
                  <a:cubicBezTo>
                    <a:pt x="719328" y="346075"/>
                    <a:pt x="699643" y="365760"/>
                    <a:pt x="675386" y="365760"/>
                  </a:cubicBezTo>
                  <a:lnTo>
                    <a:pt x="43942" y="365760"/>
                  </a:lnTo>
                  <a:cubicBezTo>
                    <a:pt x="19685" y="365760"/>
                    <a:pt x="0" y="346075"/>
                    <a:pt x="0" y="32181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4" id="234"/>
          <p:cNvGrpSpPr/>
          <p:nvPr/>
        </p:nvGrpSpPr>
        <p:grpSpPr>
          <a:xfrm rot="0">
            <a:off x="10195560" y="7479792"/>
            <a:ext cx="448056" cy="274320"/>
            <a:chOff x="0" y="0"/>
            <a:chExt cx="597408" cy="365760"/>
          </a:xfrm>
        </p:grpSpPr>
        <p:sp>
          <p:nvSpPr>
            <p:cNvPr name="Freeform 235" id="235"/>
            <p:cNvSpPr/>
            <p:nvPr/>
          </p:nvSpPr>
          <p:spPr>
            <a:xfrm flipH="false" flipV="false" rot="0">
              <a:off x="0" y="0"/>
              <a:ext cx="597408" cy="365760"/>
            </a:xfrm>
            <a:custGeom>
              <a:avLst/>
              <a:gdLst/>
              <a:ahLst/>
              <a:cxnLst/>
              <a:rect r="r" b="b" t="t" l="l"/>
              <a:pathLst>
                <a:path h="365760" w="597408">
                  <a:moveTo>
                    <a:pt x="0" y="0"/>
                  </a:moveTo>
                  <a:lnTo>
                    <a:pt x="597408" y="0"/>
                  </a:lnTo>
                  <a:lnTo>
                    <a:pt x="59740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8553" t="0" r="-28553" b="0"/>
              </a:stretch>
            </a:blipFill>
          </p:spPr>
        </p:sp>
        <p:sp>
          <p:nvSpPr>
            <p:cNvPr name="TextBox 236" id="236"/>
            <p:cNvSpPr txBox="true"/>
            <p:nvPr/>
          </p:nvSpPr>
          <p:spPr>
            <a:xfrm>
              <a:off x="0" y="-19050"/>
              <a:ext cx="597408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20"/>
                </a:lnSpc>
              </a:pPr>
              <a:r>
                <a:rPr lang="en-US" sz="1100" b="true">
                  <a:solidFill>
                    <a:srgbClr val="347C6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v3</a:t>
              </a:r>
            </a:p>
          </p:txBody>
        </p:sp>
      </p:grpSp>
      <p:grpSp>
        <p:nvGrpSpPr>
          <p:cNvPr name="Group 237" id="237"/>
          <p:cNvGrpSpPr/>
          <p:nvPr/>
        </p:nvGrpSpPr>
        <p:grpSpPr>
          <a:xfrm rot="0">
            <a:off x="10835640" y="7498080"/>
            <a:ext cx="210312" cy="210312"/>
            <a:chOff x="0" y="0"/>
            <a:chExt cx="280416" cy="280416"/>
          </a:xfrm>
        </p:grpSpPr>
        <p:sp>
          <p:nvSpPr>
            <p:cNvPr name="Freeform 238" id="238"/>
            <p:cNvSpPr/>
            <p:nvPr/>
          </p:nvSpPr>
          <p:spPr>
            <a:xfrm flipH="false" flipV="false" rot="0">
              <a:off x="0" y="0"/>
              <a:ext cx="280416" cy="280416"/>
            </a:xfrm>
            <a:custGeom>
              <a:avLst/>
              <a:gdLst/>
              <a:ahLst/>
              <a:cxnLst/>
              <a:rect r="r" b="b" t="t" l="l"/>
              <a:pathLst>
                <a:path h="280416" w="280416">
                  <a:moveTo>
                    <a:pt x="0" y="140208"/>
                  </a:moveTo>
                  <a:cubicBezTo>
                    <a:pt x="0" y="62738"/>
                    <a:pt x="62738" y="0"/>
                    <a:pt x="140208" y="0"/>
                  </a:cubicBezTo>
                  <a:cubicBezTo>
                    <a:pt x="217678" y="0"/>
                    <a:pt x="280416" y="62738"/>
                    <a:pt x="280416" y="140208"/>
                  </a:cubicBezTo>
                  <a:cubicBezTo>
                    <a:pt x="280416" y="217678"/>
                    <a:pt x="217678" y="280416"/>
                    <a:pt x="140208" y="280416"/>
                  </a:cubicBezTo>
                  <a:cubicBezTo>
                    <a:pt x="62738" y="280416"/>
                    <a:pt x="0" y="217678"/>
                    <a:pt x="0" y="14020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239" id="239"/>
          <p:cNvSpPr/>
          <p:nvPr/>
        </p:nvSpPr>
        <p:spPr>
          <a:xfrm rot="3002100">
            <a:off x="10854461" y="7597826"/>
            <a:ext cx="74695" cy="0"/>
          </a:xfrm>
          <a:prstGeom prst="line">
            <a:avLst/>
          </a:prstGeom>
          <a:ln cap="rnd" w="19050">
            <a:solidFill>
              <a:srgbClr val="347C6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0" id="240"/>
          <p:cNvSpPr/>
          <p:nvPr/>
        </p:nvSpPr>
        <p:spPr>
          <a:xfrm rot="-2812140">
            <a:off x="10869749" y="7570013"/>
            <a:ext cx="154676" cy="0"/>
          </a:xfrm>
          <a:prstGeom prst="line">
            <a:avLst/>
          </a:prstGeom>
          <a:ln cap="rnd" w="19050">
            <a:solidFill>
              <a:srgbClr val="347C6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1" id="241"/>
          <p:cNvGrpSpPr/>
          <p:nvPr/>
        </p:nvGrpSpPr>
        <p:grpSpPr>
          <a:xfrm rot="0">
            <a:off x="11228832" y="7467905"/>
            <a:ext cx="2286000" cy="301752"/>
            <a:chOff x="0" y="0"/>
            <a:chExt cx="3048000" cy="402336"/>
          </a:xfrm>
        </p:grpSpPr>
        <p:sp>
          <p:nvSpPr>
            <p:cNvPr name="Freeform 242" id="242"/>
            <p:cNvSpPr/>
            <p:nvPr/>
          </p:nvSpPr>
          <p:spPr>
            <a:xfrm flipH="false" flipV="false" rot="0">
              <a:off x="0" y="0"/>
              <a:ext cx="3048000" cy="402336"/>
            </a:xfrm>
            <a:custGeom>
              <a:avLst/>
              <a:gdLst/>
              <a:ahLst/>
              <a:cxnLst/>
              <a:rect r="r" b="b" t="t" l="l"/>
              <a:pathLst>
                <a:path h="402336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97613" r="0" b="-97613"/>
              </a:stretch>
            </a:blipFill>
          </p:spPr>
        </p:sp>
        <p:sp>
          <p:nvSpPr>
            <p:cNvPr name="TextBox 243" id="243"/>
            <p:cNvSpPr txBox="true"/>
            <p:nvPr/>
          </p:nvSpPr>
          <p:spPr>
            <a:xfrm>
              <a:off x="0" y="-9525"/>
              <a:ext cx="304800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28"/>
                </a:lnSpc>
              </a:pPr>
              <a:r>
                <a:rPr lang="en-US" sz="1190" b="true">
                  <a:solidFill>
                    <a:srgbClr val="347C6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 open gaps</a:t>
              </a:r>
            </a:p>
          </p:txBody>
        </p:sp>
      </p:grpSp>
      <p:sp>
        <p:nvSpPr>
          <p:cNvPr name="AutoShape 244" id="244"/>
          <p:cNvSpPr/>
          <p:nvPr/>
        </p:nvSpPr>
        <p:spPr>
          <a:xfrm>
            <a:off x="13642848" y="7626096"/>
            <a:ext cx="380354" cy="0"/>
          </a:xfrm>
          <a:prstGeom prst="line">
            <a:avLst/>
          </a:prstGeom>
          <a:ln cap="rnd" w="57150">
            <a:solidFill>
              <a:srgbClr val="315D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5" id="245"/>
          <p:cNvSpPr/>
          <p:nvPr/>
        </p:nvSpPr>
        <p:spPr>
          <a:xfrm rot="-5344620">
            <a:off x="13102342" y="6715125"/>
            <a:ext cx="1812522" cy="0"/>
          </a:xfrm>
          <a:prstGeom prst="line">
            <a:avLst/>
          </a:prstGeom>
          <a:ln cap="rnd" w="57150">
            <a:solidFill>
              <a:srgbClr val="315D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6" id="246"/>
          <p:cNvGrpSpPr/>
          <p:nvPr/>
        </p:nvGrpSpPr>
        <p:grpSpPr>
          <a:xfrm rot="0">
            <a:off x="13871448" y="5618988"/>
            <a:ext cx="841248" cy="466344"/>
            <a:chOff x="0" y="0"/>
            <a:chExt cx="1121664" cy="621792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1121664" cy="621792"/>
            </a:xfrm>
            <a:custGeom>
              <a:avLst/>
              <a:gdLst/>
              <a:ahLst/>
              <a:cxnLst/>
              <a:rect r="r" b="b" t="t" l="l"/>
              <a:pathLst>
                <a:path h="621792" w="1121664">
                  <a:moveTo>
                    <a:pt x="0" y="199009"/>
                  </a:moveTo>
                  <a:lnTo>
                    <a:pt x="928878" y="199009"/>
                  </a:lnTo>
                  <a:lnTo>
                    <a:pt x="928878" y="0"/>
                  </a:lnTo>
                  <a:lnTo>
                    <a:pt x="1121664" y="310896"/>
                  </a:lnTo>
                  <a:lnTo>
                    <a:pt x="928878" y="621792"/>
                  </a:lnTo>
                  <a:lnTo>
                    <a:pt x="928878" y="422783"/>
                  </a:lnTo>
                  <a:lnTo>
                    <a:pt x="0" y="422783"/>
                  </a:lnTo>
                  <a:close/>
                </a:path>
              </a:pathLst>
            </a:custGeom>
            <a:solidFill>
              <a:srgbClr val="315D66"/>
            </a:solidFill>
          </p:spPr>
        </p:sp>
      </p:grpSp>
      <p:grpSp>
        <p:nvGrpSpPr>
          <p:cNvPr name="Group 248" id="248"/>
          <p:cNvGrpSpPr/>
          <p:nvPr/>
        </p:nvGrpSpPr>
        <p:grpSpPr>
          <a:xfrm rot="0">
            <a:off x="13359384" y="5431536"/>
            <a:ext cx="1271016" cy="256032"/>
            <a:chOff x="0" y="0"/>
            <a:chExt cx="1694688" cy="341376"/>
          </a:xfrm>
        </p:grpSpPr>
        <p:sp>
          <p:nvSpPr>
            <p:cNvPr name="Freeform 249" id="249"/>
            <p:cNvSpPr/>
            <p:nvPr/>
          </p:nvSpPr>
          <p:spPr>
            <a:xfrm flipH="false" flipV="false" rot="0">
              <a:off x="0" y="0"/>
              <a:ext cx="1694688" cy="341376"/>
            </a:xfrm>
            <a:custGeom>
              <a:avLst/>
              <a:gdLst/>
              <a:ahLst/>
              <a:cxnLst/>
              <a:rect r="r" b="b" t="t" l="l"/>
              <a:pathLst>
                <a:path h="341376" w="1694688">
                  <a:moveTo>
                    <a:pt x="0" y="0"/>
                  </a:moveTo>
                  <a:lnTo>
                    <a:pt x="1694688" y="0"/>
                  </a:lnTo>
                  <a:lnTo>
                    <a:pt x="1694688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6729" r="0" b="-46729"/>
              </a:stretch>
            </a:blipFill>
          </p:spPr>
        </p:sp>
        <p:sp>
          <p:nvSpPr>
            <p:cNvPr name="TextBox 250" id="250"/>
            <p:cNvSpPr txBox="true"/>
            <p:nvPr/>
          </p:nvSpPr>
          <p:spPr>
            <a:xfrm>
              <a:off x="0" y="0"/>
              <a:ext cx="1694688" cy="3413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2"/>
                </a:lnSpc>
              </a:pPr>
              <a:r>
                <a:rPr lang="en-US" sz="960" b="true">
                  <a:solidFill>
                    <a:srgbClr val="347C6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WHEN CLEAR</a:t>
              </a:r>
            </a:p>
          </p:txBody>
        </p:sp>
      </p:grpSp>
      <p:sp>
        <p:nvSpPr>
          <p:cNvPr name="AutoShape 251" id="251"/>
          <p:cNvSpPr/>
          <p:nvPr/>
        </p:nvSpPr>
        <p:spPr>
          <a:xfrm rot="2700">
            <a:off x="1109215" y="8416862"/>
            <a:ext cx="16106146" cy="0"/>
          </a:xfrm>
          <a:prstGeom prst="line">
            <a:avLst/>
          </a:prstGeom>
          <a:ln cap="rnd" w="9525">
            <a:solidFill>
              <a:srgbClr val="D1DD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2" id="252"/>
          <p:cNvGrpSpPr/>
          <p:nvPr/>
        </p:nvGrpSpPr>
        <p:grpSpPr>
          <a:xfrm rot="0">
            <a:off x="1152144" y="8705088"/>
            <a:ext cx="265176" cy="265176"/>
            <a:chOff x="0" y="0"/>
            <a:chExt cx="353568" cy="353568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53568" cy="353568"/>
            </a:xfrm>
            <a:custGeom>
              <a:avLst/>
              <a:gdLst/>
              <a:ahLst/>
              <a:cxnLst/>
              <a:rect r="r" b="b" t="t" l="l"/>
              <a:pathLst>
                <a:path h="353568" w="353568">
                  <a:moveTo>
                    <a:pt x="0" y="176784"/>
                  </a:moveTo>
                  <a:cubicBezTo>
                    <a:pt x="0" y="79121"/>
                    <a:pt x="79121" y="0"/>
                    <a:pt x="176784" y="0"/>
                  </a:cubicBezTo>
                  <a:cubicBezTo>
                    <a:pt x="274447" y="0"/>
                    <a:pt x="353568" y="79121"/>
                    <a:pt x="353568" y="176784"/>
                  </a:cubicBezTo>
                  <a:cubicBezTo>
                    <a:pt x="353568" y="274447"/>
                    <a:pt x="274447" y="353568"/>
                    <a:pt x="176784" y="353568"/>
                  </a:cubicBezTo>
                  <a:cubicBezTo>
                    <a:pt x="79121" y="353568"/>
                    <a:pt x="0" y="274447"/>
                    <a:pt x="0" y="176784"/>
                  </a:cubicBezTo>
                  <a:close/>
                </a:path>
              </a:pathLst>
            </a:custGeom>
            <a:solidFill>
              <a:srgbClr val="E8F2F2"/>
            </a:solidFill>
          </p:spPr>
        </p:sp>
      </p:grpSp>
      <p:sp>
        <p:nvSpPr>
          <p:cNvPr name="AutoShape 254" id="254"/>
          <p:cNvSpPr/>
          <p:nvPr/>
        </p:nvSpPr>
        <p:spPr>
          <a:xfrm rot="3014040">
            <a:off x="1189253" y="8832266"/>
            <a:ext cx="79238" cy="0"/>
          </a:xfrm>
          <a:prstGeom prst="line">
            <a:avLst/>
          </a:prstGeom>
          <a:ln cap="rnd" w="19050">
            <a:solidFill>
              <a:srgbClr val="315D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5" id="255"/>
          <p:cNvSpPr/>
          <p:nvPr/>
        </p:nvSpPr>
        <p:spPr>
          <a:xfrm rot="-2814180">
            <a:off x="1206113" y="8801595"/>
            <a:ext cx="167411" cy="0"/>
          </a:xfrm>
          <a:prstGeom prst="line">
            <a:avLst/>
          </a:prstGeom>
          <a:ln cap="rnd" w="19050">
            <a:solidFill>
              <a:srgbClr val="315D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6" id="256"/>
          <p:cNvGrpSpPr/>
          <p:nvPr/>
        </p:nvGrpSpPr>
        <p:grpSpPr>
          <a:xfrm rot="0">
            <a:off x="1545336" y="8641080"/>
            <a:ext cx="4023360" cy="384048"/>
            <a:chOff x="0" y="0"/>
            <a:chExt cx="5364480" cy="512064"/>
          </a:xfrm>
        </p:grpSpPr>
        <p:sp>
          <p:nvSpPr>
            <p:cNvPr name="Freeform 257" id="257"/>
            <p:cNvSpPr/>
            <p:nvPr/>
          </p:nvSpPr>
          <p:spPr>
            <a:xfrm flipH="false" flipV="false" rot="0">
              <a:off x="0" y="0"/>
              <a:ext cx="5364480" cy="512064"/>
            </a:xfrm>
            <a:custGeom>
              <a:avLst/>
              <a:gdLst/>
              <a:ahLst/>
              <a:cxnLst/>
              <a:rect r="r" b="b" t="t" l="l"/>
              <a:pathLst>
                <a:path h="512064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4128" r="0" b="-154128"/>
              </a:stretch>
            </a:blipFill>
          </p:spPr>
        </p:sp>
        <p:sp>
          <p:nvSpPr>
            <p:cNvPr name="TextBox 258" id="258"/>
            <p:cNvSpPr txBox="true"/>
            <p:nvPr/>
          </p:nvSpPr>
          <p:spPr>
            <a:xfrm>
              <a:off x="0" y="-9525"/>
              <a:ext cx="536448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00"/>
                </a:lnSpc>
              </a:pPr>
              <a:r>
                <a:rPr lang="en-US" sz="1250" b="true">
                  <a:solidFill>
                    <a:srgbClr val="315D6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REAL CONTEXT</a:t>
              </a:r>
            </a:p>
          </p:txBody>
        </p:sp>
      </p:grpSp>
      <p:grpSp>
        <p:nvGrpSpPr>
          <p:cNvPr name="Group 259" id="259"/>
          <p:cNvGrpSpPr/>
          <p:nvPr/>
        </p:nvGrpSpPr>
        <p:grpSpPr>
          <a:xfrm rot="0">
            <a:off x="6885432" y="8705088"/>
            <a:ext cx="265176" cy="265176"/>
            <a:chOff x="0" y="0"/>
            <a:chExt cx="353568" cy="353568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53568" cy="353568"/>
            </a:xfrm>
            <a:custGeom>
              <a:avLst/>
              <a:gdLst/>
              <a:ahLst/>
              <a:cxnLst/>
              <a:rect r="r" b="b" t="t" l="l"/>
              <a:pathLst>
                <a:path h="353568" w="353568">
                  <a:moveTo>
                    <a:pt x="0" y="176784"/>
                  </a:moveTo>
                  <a:cubicBezTo>
                    <a:pt x="0" y="79121"/>
                    <a:pt x="79121" y="0"/>
                    <a:pt x="176784" y="0"/>
                  </a:cubicBezTo>
                  <a:cubicBezTo>
                    <a:pt x="274447" y="0"/>
                    <a:pt x="353568" y="79121"/>
                    <a:pt x="353568" y="176784"/>
                  </a:cubicBezTo>
                  <a:cubicBezTo>
                    <a:pt x="353568" y="274447"/>
                    <a:pt x="274447" y="353568"/>
                    <a:pt x="176784" y="353568"/>
                  </a:cubicBezTo>
                  <a:cubicBezTo>
                    <a:pt x="79121" y="353568"/>
                    <a:pt x="0" y="274447"/>
                    <a:pt x="0" y="176784"/>
                  </a:cubicBezTo>
                  <a:close/>
                </a:path>
              </a:pathLst>
            </a:custGeom>
            <a:solidFill>
              <a:srgbClr val="E8F2F2"/>
            </a:solidFill>
          </p:spPr>
        </p:sp>
      </p:grpSp>
      <p:sp>
        <p:nvSpPr>
          <p:cNvPr name="AutoShape 261" id="261"/>
          <p:cNvSpPr/>
          <p:nvPr/>
        </p:nvSpPr>
        <p:spPr>
          <a:xfrm rot="3014040">
            <a:off x="6922541" y="8832266"/>
            <a:ext cx="79238" cy="0"/>
          </a:xfrm>
          <a:prstGeom prst="line">
            <a:avLst/>
          </a:prstGeom>
          <a:ln cap="rnd" w="19050">
            <a:solidFill>
              <a:srgbClr val="315D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2" id="262"/>
          <p:cNvSpPr/>
          <p:nvPr/>
        </p:nvSpPr>
        <p:spPr>
          <a:xfrm rot="-2814180">
            <a:off x="6939401" y="8801595"/>
            <a:ext cx="167411" cy="0"/>
          </a:xfrm>
          <a:prstGeom prst="line">
            <a:avLst/>
          </a:prstGeom>
          <a:ln cap="rnd" w="19050">
            <a:solidFill>
              <a:srgbClr val="315D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3" id="263"/>
          <p:cNvGrpSpPr/>
          <p:nvPr/>
        </p:nvGrpSpPr>
        <p:grpSpPr>
          <a:xfrm rot="0">
            <a:off x="7278624" y="8641080"/>
            <a:ext cx="4023360" cy="384048"/>
            <a:chOff x="0" y="0"/>
            <a:chExt cx="5364480" cy="512064"/>
          </a:xfrm>
        </p:grpSpPr>
        <p:sp>
          <p:nvSpPr>
            <p:cNvPr name="Freeform 264" id="264"/>
            <p:cNvSpPr/>
            <p:nvPr/>
          </p:nvSpPr>
          <p:spPr>
            <a:xfrm flipH="false" flipV="false" rot="0">
              <a:off x="0" y="0"/>
              <a:ext cx="5364480" cy="512064"/>
            </a:xfrm>
            <a:custGeom>
              <a:avLst/>
              <a:gdLst/>
              <a:ahLst/>
              <a:cxnLst/>
              <a:rect r="r" b="b" t="t" l="l"/>
              <a:pathLst>
                <a:path h="512064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4128" r="0" b="-154128"/>
              </a:stretch>
            </a:blipFill>
          </p:spPr>
        </p:sp>
        <p:sp>
          <p:nvSpPr>
            <p:cNvPr name="TextBox 265" id="265"/>
            <p:cNvSpPr txBox="true"/>
            <p:nvPr/>
          </p:nvSpPr>
          <p:spPr>
            <a:xfrm>
              <a:off x="0" y="-9525"/>
              <a:ext cx="536448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00"/>
                </a:lnSpc>
              </a:pPr>
              <a:r>
                <a:rPr lang="en-US" sz="1250" b="true">
                  <a:solidFill>
                    <a:srgbClr val="315D6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ONGOING CHECKS</a:t>
              </a:r>
            </a:p>
          </p:txBody>
        </p:sp>
      </p:grpSp>
      <p:grpSp>
        <p:nvGrpSpPr>
          <p:cNvPr name="Group 266" id="266"/>
          <p:cNvGrpSpPr/>
          <p:nvPr/>
        </p:nvGrpSpPr>
        <p:grpSpPr>
          <a:xfrm rot="0">
            <a:off x="12527280" y="8705088"/>
            <a:ext cx="265176" cy="265176"/>
            <a:chOff x="0" y="0"/>
            <a:chExt cx="353568" cy="353568"/>
          </a:xfrm>
        </p:grpSpPr>
        <p:sp>
          <p:nvSpPr>
            <p:cNvPr name="Freeform 267" id="267"/>
            <p:cNvSpPr/>
            <p:nvPr/>
          </p:nvSpPr>
          <p:spPr>
            <a:xfrm flipH="false" flipV="false" rot="0">
              <a:off x="0" y="0"/>
              <a:ext cx="353568" cy="353568"/>
            </a:xfrm>
            <a:custGeom>
              <a:avLst/>
              <a:gdLst/>
              <a:ahLst/>
              <a:cxnLst/>
              <a:rect r="r" b="b" t="t" l="l"/>
              <a:pathLst>
                <a:path h="353568" w="353568">
                  <a:moveTo>
                    <a:pt x="0" y="176784"/>
                  </a:moveTo>
                  <a:cubicBezTo>
                    <a:pt x="0" y="79121"/>
                    <a:pt x="79121" y="0"/>
                    <a:pt x="176784" y="0"/>
                  </a:cubicBezTo>
                  <a:cubicBezTo>
                    <a:pt x="274447" y="0"/>
                    <a:pt x="353568" y="79121"/>
                    <a:pt x="353568" y="176784"/>
                  </a:cubicBezTo>
                  <a:cubicBezTo>
                    <a:pt x="353568" y="274447"/>
                    <a:pt x="274447" y="353568"/>
                    <a:pt x="176784" y="353568"/>
                  </a:cubicBezTo>
                  <a:cubicBezTo>
                    <a:pt x="79121" y="353568"/>
                    <a:pt x="0" y="274447"/>
                    <a:pt x="0" y="176784"/>
                  </a:cubicBezTo>
                  <a:close/>
                </a:path>
              </a:pathLst>
            </a:custGeom>
            <a:solidFill>
              <a:srgbClr val="E8F2F2"/>
            </a:solidFill>
          </p:spPr>
        </p:sp>
      </p:grpSp>
      <p:sp>
        <p:nvSpPr>
          <p:cNvPr name="AutoShape 268" id="268"/>
          <p:cNvSpPr/>
          <p:nvPr/>
        </p:nvSpPr>
        <p:spPr>
          <a:xfrm rot="3014040">
            <a:off x="12564389" y="8832266"/>
            <a:ext cx="79238" cy="0"/>
          </a:xfrm>
          <a:prstGeom prst="line">
            <a:avLst/>
          </a:prstGeom>
          <a:ln cap="rnd" w="19050">
            <a:solidFill>
              <a:srgbClr val="315D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9" id="269"/>
          <p:cNvSpPr/>
          <p:nvPr/>
        </p:nvSpPr>
        <p:spPr>
          <a:xfrm rot="-2814180">
            <a:off x="12581249" y="8801595"/>
            <a:ext cx="167411" cy="0"/>
          </a:xfrm>
          <a:prstGeom prst="line">
            <a:avLst/>
          </a:prstGeom>
          <a:ln cap="rnd" w="19050">
            <a:solidFill>
              <a:srgbClr val="315D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0" id="270"/>
          <p:cNvGrpSpPr/>
          <p:nvPr/>
        </p:nvGrpSpPr>
        <p:grpSpPr>
          <a:xfrm rot="0">
            <a:off x="12920472" y="8641080"/>
            <a:ext cx="4023360" cy="384048"/>
            <a:chOff x="0" y="0"/>
            <a:chExt cx="5364480" cy="512064"/>
          </a:xfrm>
        </p:grpSpPr>
        <p:sp>
          <p:nvSpPr>
            <p:cNvPr name="Freeform 271" id="271"/>
            <p:cNvSpPr/>
            <p:nvPr/>
          </p:nvSpPr>
          <p:spPr>
            <a:xfrm flipH="false" flipV="false" rot="0">
              <a:off x="0" y="0"/>
              <a:ext cx="5364480" cy="512064"/>
            </a:xfrm>
            <a:custGeom>
              <a:avLst/>
              <a:gdLst/>
              <a:ahLst/>
              <a:cxnLst/>
              <a:rect r="r" b="b" t="t" l="l"/>
              <a:pathLst>
                <a:path h="512064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4128" r="0" b="-154128"/>
              </a:stretch>
            </a:blipFill>
          </p:spPr>
        </p:sp>
        <p:sp>
          <p:nvSpPr>
            <p:cNvPr name="TextBox 272" id="272"/>
            <p:cNvSpPr txBox="true"/>
            <p:nvPr/>
          </p:nvSpPr>
          <p:spPr>
            <a:xfrm>
              <a:off x="0" y="-9525"/>
              <a:ext cx="536448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00"/>
                </a:lnSpc>
              </a:pPr>
              <a:r>
                <a:rPr lang="en-US" sz="1250" b="true">
                  <a:solidFill>
                    <a:srgbClr val="315D6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LAWYER-READY</a:t>
              </a:r>
            </a:p>
          </p:txBody>
        </p:sp>
      </p:grpSp>
      <p:grpSp>
        <p:nvGrpSpPr>
          <p:cNvPr name="Group 273" id="273"/>
          <p:cNvGrpSpPr/>
          <p:nvPr/>
        </p:nvGrpSpPr>
        <p:grpSpPr>
          <a:xfrm rot="0">
            <a:off x="4158586" y="1272016"/>
            <a:ext cx="269215" cy="222028"/>
            <a:chOff x="0" y="0"/>
            <a:chExt cx="358953" cy="296037"/>
          </a:xfrm>
        </p:grpSpPr>
        <p:sp>
          <p:nvSpPr>
            <p:cNvPr name="Freeform 274" id="274" descr="image.png"/>
            <p:cNvSpPr/>
            <p:nvPr/>
          </p:nvSpPr>
          <p:spPr>
            <a:xfrm flipH="false" flipV="false" rot="0">
              <a:off x="0" y="0"/>
              <a:ext cx="358902" cy="296037"/>
            </a:xfrm>
            <a:custGeom>
              <a:avLst/>
              <a:gdLst/>
              <a:ahLst/>
              <a:cxnLst/>
              <a:rect r="r" b="b" t="t" l="l"/>
              <a:pathLst>
                <a:path h="296037" w="358902">
                  <a:moveTo>
                    <a:pt x="0" y="0"/>
                  </a:moveTo>
                  <a:lnTo>
                    <a:pt x="358902" y="0"/>
                  </a:lnTo>
                  <a:lnTo>
                    <a:pt x="358902" y="296037"/>
                  </a:lnTo>
                  <a:lnTo>
                    <a:pt x="0" y="296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4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F4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6893" y="2371725"/>
            <a:ext cx="4427982" cy="6485382"/>
            <a:chOff x="0" y="0"/>
            <a:chExt cx="5903976" cy="86471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03976" cy="8647176"/>
            </a:xfrm>
            <a:custGeom>
              <a:avLst/>
              <a:gdLst/>
              <a:ahLst/>
              <a:cxnLst/>
              <a:rect r="r" b="b" t="t" l="l"/>
              <a:pathLst>
                <a:path h="8647176" w="5903976">
                  <a:moveTo>
                    <a:pt x="0" y="590423"/>
                  </a:moveTo>
                  <a:cubicBezTo>
                    <a:pt x="0" y="264287"/>
                    <a:pt x="264287" y="0"/>
                    <a:pt x="590423" y="0"/>
                  </a:cubicBezTo>
                  <a:lnTo>
                    <a:pt x="5313553" y="0"/>
                  </a:lnTo>
                  <a:cubicBezTo>
                    <a:pt x="5639562" y="0"/>
                    <a:pt x="5903976" y="264287"/>
                    <a:pt x="5903976" y="590423"/>
                  </a:cubicBezTo>
                  <a:lnTo>
                    <a:pt x="5903976" y="8056753"/>
                  </a:lnTo>
                  <a:cubicBezTo>
                    <a:pt x="5903976" y="8382762"/>
                    <a:pt x="5639689" y="8647176"/>
                    <a:pt x="5313553" y="8647176"/>
                  </a:cubicBezTo>
                  <a:lnTo>
                    <a:pt x="590423" y="8647176"/>
                  </a:lnTo>
                  <a:cubicBezTo>
                    <a:pt x="264287" y="8647176"/>
                    <a:pt x="0" y="8382889"/>
                    <a:pt x="0" y="8056753"/>
                  </a:cubicBezTo>
                  <a:close/>
                </a:path>
              </a:pathLst>
            </a:custGeom>
            <a:solidFill>
              <a:srgbClr val="FFFFFF"/>
            </a:solidFill>
            <a:ln w="11430" cap="sq">
              <a:solidFill>
                <a:srgbClr val="D2DFE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539496" y="2606040"/>
            <a:ext cx="3913632" cy="5257800"/>
            <a:chOff x="0" y="0"/>
            <a:chExt cx="5218176" cy="70104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5218176" cy="7010400"/>
            </a:xfrm>
            <a:custGeom>
              <a:avLst/>
              <a:gdLst/>
              <a:ahLst/>
              <a:cxnLst/>
              <a:rect r="r" b="b" t="t" l="l"/>
              <a:pathLst>
                <a:path h="7010400" w="5218176">
                  <a:moveTo>
                    <a:pt x="0" y="0"/>
                  </a:moveTo>
                  <a:lnTo>
                    <a:pt x="5218176" y="0"/>
                  </a:lnTo>
                  <a:lnTo>
                    <a:pt x="5218176" y="7010400"/>
                  </a:lnTo>
                  <a:lnTo>
                    <a:pt x="0" y="701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9496" y="8101584"/>
            <a:ext cx="64008" cy="457200"/>
            <a:chOff x="0" y="0"/>
            <a:chExt cx="85344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344" cy="609600"/>
            </a:xfrm>
            <a:custGeom>
              <a:avLst/>
              <a:gdLst/>
              <a:ahLst/>
              <a:cxnLst/>
              <a:rect r="r" b="b" t="t" l="l"/>
              <a:pathLst>
                <a:path h="609600" w="85344">
                  <a:moveTo>
                    <a:pt x="0" y="0"/>
                  </a:moveTo>
                  <a:lnTo>
                    <a:pt x="85344" y="0"/>
                  </a:lnTo>
                  <a:lnTo>
                    <a:pt x="85344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48757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40664" y="8019288"/>
            <a:ext cx="3730752" cy="338328"/>
            <a:chOff x="0" y="0"/>
            <a:chExt cx="4974336" cy="4511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74336" cy="451104"/>
            </a:xfrm>
            <a:custGeom>
              <a:avLst/>
              <a:gdLst/>
              <a:ahLst/>
              <a:cxnLst/>
              <a:rect r="r" b="b" t="t" l="l"/>
              <a:pathLst>
                <a:path h="451104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451104"/>
                  </a:lnTo>
                  <a:lnTo>
                    <a:pt x="0" y="4511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862" r="0" b="-16486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974336" cy="4606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749" b="true">
                  <a:solidFill>
                    <a:srgbClr val="1E24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SIMONE MATTIOLI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40664" y="8385048"/>
            <a:ext cx="3730752" cy="237744"/>
            <a:chOff x="0" y="0"/>
            <a:chExt cx="4974336" cy="3169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74336" cy="316992"/>
            </a:xfrm>
            <a:custGeom>
              <a:avLst/>
              <a:gdLst/>
              <a:ahLst/>
              <a:cxnLst/>
              <a:rect r="r" b="b" t="t" l="l"/>
              <a:pathLst>
                <a:path h="316992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765" r="0" b="-25576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974336" cy="3360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32"/>
                </a:lnSpc>
              </a:pPr>
              <a:r>
                <a:rPr lang="en-US" sz="1110">
                  <a:solidFill>
                    <a:srgbClr val="365F65"/>
                  </a:solidFill>
                  <a:latin typeface="Poppins"/>
                  <a:ea typeface="Poppins"/>
                  <a:cs typeface="Poppins"/>
                  <a:sym typeface="Poppins"/>
                </a:rPr>
                <a:t>AI &amp; product development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286232" y="0"/>
            <a:ext cx="5001768" cy="10287000"/>
            <a:chOff x="0" y="0"/>
            <a:chExt cx="6669024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6902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669024">
                  <a:moveTo>
                    <a:pt x="0" y="0"/>
                  </a:moveTo>
                  <a:lnTo>
                    <a:pt x="6669024" y="0"/>
                  </a:lnTo>
                  <a:lnTo>
                    <a:pt x="666902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F4F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977765" y="2371725"/>
            <a:ext cx="8332470" cy="6485382"/>
            <a:chOff x="0" y="0"/>
            <a:chExt cx="11109960" cy="86471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109961" cy="8647176"/>
            </a:xfrm>
            <a:custGeom>
              <a:avLst/>
              <a:gdLst/>
              <a:ahLst/>
              <a:cxnLst/>
              <a:rect r="r" b="b" t="t" l="l"/>
              <a:pathLst>
                <a:path h="8647176" w="11109961">
                  <a:moveTo>
                    <a:pt x="0" y="864743"/>
                  </a:moveTo>
                  <a:cubicBezTo>
                    <a:pt x="0" y="387096"/>
                    <a:pt x="387096" y="0"/>
                    <a:pt x="864743" y="0"/>
                  </a:cubicBezTo>
                  <a:lnTo>
                    <a:pt x="10245217" y="0"/>
                  </a:lnTo>
                  <a:cubicBezTo>
                    <a:pt x="10722737" y="0"/>
                    <a:pt x="11109961" y="387096"/>
                    <a:pt x="11109961" y="864743"/>
                  </a:cubicBezTo>
                  <a:lnTo>
                    <a:pt x="11109961" y="7782433"/>
                  </a:lnTo>
                  <a:cubicBezTo>
                    <a:pt x="11109961" y="8259953"/>
                    <a:pt x="10722864" y="8647176"/>
                    <a:pt x="10245217" y="8647176"/>
                  </a:cubicBezTo>
                  <a:lnTo>
                    <a:pt x="864743" y="8647176"/>
                  </a:lnTo>
                  <a:cubicBezTo>
                    <a:pt x="387096" y="8647176"/>
                    <a:pt x="0" y="8260080"/>
                    <a:pt x="0" y="7782433"/>
                  </a:cubicBezTo>
                  <a:close/>
                </a:path>
              </a:pathLst>
            </a:custGeom>
            <a:solidFill>
              <a:srgbClr val="FFFFFF"/>
            </a:solidFill>
            <a:ln w="11430" cap="sq">
              <a:solidFill>
                <a:srgbClr val="D2DFE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3573125" y="2371725"/>
            <a:ext cx="4427982" cy="6485382"/>
            <a:chOff x="0" y="0"/>
            <a:chExt cx="5903976" cy="86471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903976" cy="8647176"/>
            </a:xfrm>
            <a:custGeom>
              <a:avLst/>
              <a:gdLst/>
              <a:ahLst/>
              <a:cxnLst/>
              <a:rect r="r" b="b" t="t" l="l"/>
              <a:pathLst>
                <a:path h="8647176" w="5903976">
                  <a:moveTo>
                    <a:pt x="0" y="590423"/>
                  </a:moveTo>
                  <a:cubicBezTo>
                    <a:pt x="0" y="264287"/>
                    <a:pt x="264287" y="0"/>
                    <a:pt x="590423" y="0"/>
                  </a:cubicBezTo>
                  <a:lnTo>
                    <a:pt x="5313553" y="0"/>
                  </a:lnTo>
                  <a:cubicBezTo>
                    <a:pt x="5639562" y="0"/>
                    <a:pt x="5903976" y="264287"/>
                    <a:pt x="5903976" y="590423"/>
                  </a:cubicBezTo>
                  <a:lnTo>
                    <a:pt x="5903976" y="8056753"/>
                  </a:lnTo>
                  <a:cubicBezTo>
                    <a:pt x="5903976" y="8382762"/>
                    <a:pt x="5639689" y="8647176"/>
                    <a:pt x="5313553" y="8647176"/>
                  </a:cubicBezTo>
                  <a:lnTo>
                    <a:pt x="590423" y="8647176"/>
                  </a:lnTo>
                  <a:cubicBezTo>
                    <a:pt x="264287" y="8647176"/>
                    <a:pt x="0" y="8382889"/>
                    <a:pt x="0" y="8056753"/>
                  </a:cubicBezTo>
                  <a:close/>
                </a:path>
              </a:pathLst>
            </a:custGeom>
            <a:solidFill>
              <a:srgbClr val="FFFFFF"/>
            </a:solidFill>
            <a:ln w="11430" cap="sq">
              <a:solidFill>
                <a:srgbClr val="D2DFE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825728" y="2606040"/>
            <a:ext cx="3913632" cy="5257800"/>
            <a:chOff x="0" y="0"/>
            <a:chExt cx="5218176" cy="70104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5218176" cy="7010400"/>
            </a:xfrm>
            <a:custGeom>
              <a:avLst/>
              <a:gdLst/>
              <a:ahLst/>
              <a:cxnLst/>
              <a:rect r="r" b="b" t="t" l="l"/>
              <a:pathLst>
                <a:path h="7010400" w="5218176">
                  <a:moveTo>
                    <a:pt x="0" y="0"/>
                  </a:moveTo>
                  <a:lnTo>
                    <a:pt x="5218176" y="0"/>
                  </a:lnTo>
                  <a:lnTo>
                    <a:pt x="5218176" y="7010400"/>
                  </a:lnTo>
                  <a:lnTo>
                    <a:pt x="0" y="701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6" r="0" b="-66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825728" y="8101584"/>
            <a:ext cx="64008" cy="457200"/>
            <a:chOff x="0" y="0"/>
            <a:chExt cx="85344" cy="609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344" cy="609600"/>
            </a:xfrm>
            <a:custGeom>
              <a:avLst/>
              <a:gdLst/>
              <a:ahLst/>
              <a:cxnLst/>
              <a:rect r="r" b="b" t="t" l="l"/>
              <a:pathLst>
                <a:path h="609600" w="85344">
                  <a:moveTo>
                    <a:pt x="0" y="0"/>
                  </a:moveTo>
                  <a:lnTo>
                    <a:pt x="85344" y="0"/>
                  </a:lnTo>
                  <a:lnTo>
                    <a:pt x="85344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48757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026896" y="8019288"/>
            <a:ext cx="3730752" cy="338328"/>
            <a:chOff x="0" y="0"/>
            <a:chExt cx="4974336" cy="4511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74336" cy="451104"/>
            </a:xfrm>
            <a:custGeom>
              <a:avLst/>
              <a:gdLst/>
              <a:ahLst/>
              <a:cxnLst/>
              <a:rect r="r" b="b" t="t" l="l"/>
              <a:pathLst>
                <a:path h="451104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451104"/>
                  </a:lnTo>
                  <a:lnTo>
                    <a:pt x="0" y="4511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862" r="0" b="-16486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4974336" cy="4606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749" b="true">
                  <a:solidFill>
                    <a:srgbClr val="1E242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ANDREAS HERZINGER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26896" y="8385048"/>
            <a:ext cx="3730752" cy="237744"/>
            <a:chOff x="0" y="0"/>
            <a:chExt cx="4974336" cy="3169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74336" cy="316992"/>
            </a:xfrm>
            <a:custGeom>
              <a:avLst/>
              <a:gdLst/>
              <a:ahLst/>
              <a:cxnLst/>
              <a:rect r="r" b="b" t="t" l="l"/>
              <a:pathLst>
                <a:path h="316992" w="4974336">
                  <a:moveTo>
                    <a:pt x="0" y="0"/>
                  </a:moveTo>
                  <a:lnTo>
                    <a:pt x="4974336" y="0"/>
                  </a:lnTo>
                  <a:lnTo>
                    <a:pt x="4974336" y="316992"/>
                  </a:lnTo>
                  <a:lnTo>
                    <a:pt x="0" y="3169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765" r="0" b="-25576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4974336" cy="3360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32"/>
                </a:lnSpc>
              </a:pPr>
              <a:r>
                <a:rPr lang="en-US" sz="1110">
                  <a:solidFill>
                    <a:srgbClr val="365F65"/>
                  </a:solidFill>
                  <a:latin typeface="Poppins"/>
                  <a:ea typeface="Poppins"/>
                  <a:cs typeface="Poppins"/>
                  <a:sym typeface="Poppins"/>
                </a:rPr>
                <a:t>Product &amp; engineering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4027427" y="954576"/>
            <a:ext cx="10233146" cy="693858"/>
          </a:xfrm>
          <a:custGeom>
            <a:avLst/>
            <a:gdLst/>
            <a:ahLst/>
            <a:cxnLst/>
            <a:rect r="r" b="b" t="t" l="l"/>
            <a:pathLst>
              <a:path h="693858" w="10233146">
                <a:moveTo>
                  <a:pt x="0" y="0"/>
                </a:moveTo>
                <a:lnTo>
                  <a:pt x="10233146" y="0"/>
                </a:lnTo>
                <a:lnTo>
                  <a:pt x="10233146" y="693859"/>
                </a:lnTo>
                <a:lnTo>
                  <a:pt x="0" y="6938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4100894" y="1190730"/>
            <a:ext cx="384600" cy="384600"/>
          </a:xfrm>
          <a:custGeom>
            <a:avLst/>
            <a:gdLst/>
            <a:ahLst/>
            <a:cxnLst/>
            <a:rect r="r" b="b" t="t" l="l"/>
            <a:pathLst>
              <a:path h="384600" w="384600">
                <a:moveTo>
                  <a:pt x="0" y="0"/>
                </a:moveTo>
                <a:lnTo>
                  <a:pt x="384600" y="0"/>
                </a:lnTo>
                <a:lnTo>
                  <a:pt x="384600" y="384600"/>
                </a:lnTo>
                <a:lnTo>
                  <a:pt x="0" y="3846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4545644" y="1148715"/>
            <a:ext cx="2067239" cy="36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7"/>
              </a:lnSpc>
            </a:pPr>
            <a:r>
              <a:rPr lang="en-US" sz="1797" b="true">
                <a:solidFill>
                  <a:srgbClr val="171717"/>
                </a:solidFill>
                <a:latin typeface="Poppins Bold"/>
                <a:ea typeface="Poppins Bold"/>
                <a:cs typeface="Poppins Bold"/>
                <a:sym typeface="Poppins Bold"/>
              </a:rPr>
              <a:t>Regulift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589520" y="1190730"/>
            <a:ext cx="1513332" cy="384962"/>
            <a:chOff x="0" y="0"/>
            <a:chExt cx="2017776" cy="513283"/>
          </a:xfrm>
        </p:grpSpPr>
        <p:sp>
          <p:nvSpPr>
            <p:cNvPr name="Freeform 36" id="36">
              <a:hlinkClick r:id="rId9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About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212580" y="1190730"/>
            <a:ext cx="1513332" cy="384962"/>
            <a:chOff x="0" y="0"/>
            <a:chExt cx="2017776" cy="513283"/>
          </a:xfrm>
        </p:grpSpPr>
        <p:sp>
          <p:nvSpPr>
            <p:cNvPr name="Freeform 39" id="39">
              <a:hlinkClick r:id="rId10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Service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835640" y="1190730"/>
            <a:ext cx="1513332" cy="384962"/>
            <a:chOff x="0" y="0"/>
            <a:chExt cx="2017776" cy="513283"/>
          </a:xfrm>
        </p:grpSpPr>
        <p:sp>
          <p:nvSpPr>
            <p:cNvPr name="Freeform 42" id="42">
              <a:hlinkClick r:id="rId11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Team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458700" y="1190730"/>
            <a:ext cx="1513332" cy="384962"/>
            <a:chOff x="0" y="0"/>
            <a:chExt cx="2017776" cy="513283"/>
          </a:xfrm>
        </p:grpSpPr>
        <p:sp>
          <p:nvSpPr>
            <p:cNvPr name="Freeform 45" id="45">
              <a:hlinkClick r:id="rId12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171717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FAFAFA"/>
                  </a:solidFill>
                  <a:latin typeface="Poppins"/>
                  <a:ea typeface="Poppins"/>
                  <a:cs typeface="Poppins"/>
                  <a:sym typeface="Poppins"/>
                </a:rPr>
                <a:t>Conclusion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5715000" y="2687193"/>
            <a:ext cx="10972800" cy="330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99" b="true">
                <a:solidFill>
                  <a:srgbClr val="497078"/>
                </a:solidFill>
                <a:latin typeface="Poppins Bold"/>
                <a:ea typeface="Poppins Bold"/>
                <a:cs typeface="Poppins Bold"/>
                <a:sym typeface="Poppins Bold"/>
              </a:rPr>
              <a:t>GET INVOLVED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367528" y="3333750"/>
            <a:ext cx="7571232" cy="219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5"/>
              </a:lnSpc>
            </a:pPr>
            <a:r>
              <a:rPr lang="en-US" sz="6600" b="true">
                <a:solidFill>
                  <a:srgbClr val="171717"/>
                </a:solidFill>
                <a:latin typeface="Poppins Bold"/>
                <a:ea typeface="Poppins Bold"/>
                <a:cs typeface="Poppins Bold"/>
                <a:sym typeface="Poppins Bold"/>
              </a:rPr>
              <a:t>JOIN EARLY</a:t>
            </a:r>
          </a:p>
          <a:p>
            <a:pPr algn="ctr">
              <a:lnSpc>
                <a:spcPts val="8395"/>
              </a:lnSpc>
            </a:pPr>
            <a:r>
              <a:rPr lang="en-US" sz="6600" b="true">
                <a:solidFill>
                  <a:srgbClr val="171717"/>
                </a:solidFill>
                <a:latin typeface="Poppins Bold"/>
                <a:ea typeface="Poppins Bold"/>
                <a:cs typeface="Poppins Bold"/>
                <a:sym typeface="Poppins Bold"/>
              </a:rPr>
              <a:t>ACCESS.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623560" y="6015609"/>
            <a:ext cx="4114800" cy="412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99" b="true">
                <a:solidFill>
                  <a:srgbClr val="497078"/>
                </a:solidFill>
                <a:latin typeface="Poppins Bold"/>
                <a:ea typeface="Poppins Bold"/>
                <a:cs typeface="Poppins Bold"/>
                <a:sym typeface="Poppins Bold"/>
              </a:rPr>
              <a:t>MORE DETAILS ONLINE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623560" y="6527292"/>
            <a:ext cx="4160520" cy="10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400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See how it works.</a:t>
            </a:r>
          </a:p>
          <a:p>
            <a:pPr algn="l">
              <a:lnSpc>
                <a:spcPts val="3052"/>
              </a:lnSpc>
            </a:pPr>
            <a:r>
              <a:rPr lang="en-US" sz="2400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Explore early access.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623560" y="7762113"/>
            <a:ext cx="4251960" cy="35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8"/>
              </a:lnSpc>
            </a:pPr>
            <a:r>
              <a:rPr lang="en-US" sz="1500" b="true">
                <a:solidFill>
                  <a:srgbClr val="687075"/>
                </a:solidFill>
                <a:latin typeface="Poppins Bold"/>
                <a:ea typeface="Poppins Bold"/>
                <a:cs typeface="Poppins Bold"/>
                <a:sym typeface="Poppins Bold"/>
              </a:rPr>
              <a:t>SCAN OR VISIT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623560" y="8109204"/>
            <a:ext cx="45720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b="true" sz="1899" u="sng">
                <a:solidFill>
                  <a:srgbClr val="497078"/>
                </a:solidFill>
                <a:latin typeface="Poppins Bold"/>
                <a:ea typeface="Poppins Bold"/>
                <a:cs typeface="Poppins Bold"/>
                <a:sym typeface="Poppins Bold"/>
              </a:rPr>
              <a:t>simo-hue.github.io/regulift/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0234927" y="6147559"/>
            <a:ext cx="2344417" cy="2344417"/>
            <a:chOff x="0" y="0"/>
            <a:chExt cx="3125889" cy="312588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125851" cy="3125851"/>
            </a:xfrm>
            <a:custGeom>
              <a:avLst/>
              <a:gdLst/>
              <a:ahLst/>
              <a:cxnLst/>
              <a:rect r="r" b="b" t="t" l="l"/>
              <a:pathLst>
                <a:path h="3125851" w="3125851">
                  <a:moveTo>
                    <a:pt x="0" y="250063"/>
                  </a:moveTo>
                  <a:cubicBezTo>
                    <a:pt x="0" y="112014"/>
                    <a:pt x="112014" y="0"/>
                    <a:pt x="250063" y="0"/>
                  </a:cubicBezTo>
                  <a:lnTo>
                    <a:pt x="2875788" y="0"/>
                  </a:lnTo>
                  <a:cubicBezTo>
                    <a:pt x="3013837" y="0"/>
                    <a:pt x="3125851" y="112014"/>
                    <a:pt x="3125851" y="250063"/>
                  </a:cubicBezTo>
                  <a:lnTo>
                    <a:pt x="3125851" y="2875788"/>
                  </a:lnTo>
                  <a:cubicBezTo>
                    <a:pt x="3125851" y="3013837"/>
                    <a:pt x="3013837" y="3125851"/>
                    <a:pt x="2875788" y="3125851"/>
                  </a:cubicBezTo>
                  <a:lnTo>
                    <a:pt x="250063" y="3125851"/>
                  </a:lnTo>
                  <a:cubicBezTo>
                    <a:pt x="112014" y="3125851"/>
                    <a:pt x="0" y="3013964"/>
                    <a:pt x="0" y="2875788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2E4E4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0314432" y="6227064"/>
            <a:ext cx="2185416" cy="2185416"/>
            <a:chOff x="0" y="0"/>
            <a:chExt cx="2913888" cy="2913888"/>
          </a:xfrm>
        </p:grpSpPr>
        <p:sp>
          <p:nvSpPr>
            <p:cNvPr name="Freeform 56" id="56" descr="regulift_website_qr.png">
              <a:hlinkClick r:id="rId13" tooltip="https://simo-hue.github.io/regulift/"/>
            </p:cNvPr>
            <p:cNvSpPr/>
            <p:nvPr/>
          </p:nvSpPr>
          <p:spPr>
            <a:xfrm flipH="false" flipV="false" rot="0">
              <a:off x="0" y="0"/>
              <a:ext cx="2913888" cy="2913888"/>
            </a:xfrm>
            <a:custGeom>
              <a:avLst/>
              <a:gdLst/>
              <a:ahLst/>
              <a:cxnLst/>
              <a:rect r="r" b="b" t="t" l="l"/>
              <a:pathLst>
                <a:path h="2913888" w="2913888">
                  <a:moveTo>
                    <a:pt x="0" y="0"/>
                  </a:moveTo>
                  <a:lnTo>
                    <a:pt x="2913888" y="0"/>
                  </a:lnTo>
                  <a:lnTo>
                    <a:pt x="2913888" y="2913888"/>
                  </a:lnTo>
                  <a:lnTo>
                    <a:pt x="0" y="2913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6879824" y="9619488"/>
            <a:ext cx="1042416" cy="347472"/>
            <a:chOff x="0" y="0"/>
            <a:chExt cx="1389888" cy="46329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389888" cy="463296"/>
            </a:xfrm>
            <a:custGeom>
              <a:avLst/>
              <a:gdLst/>
              <a:ahLst/>
              <a:cxnLst/>
              <a:rect r="r" b="b" t="t" l="l"/>
              <a:pathLst>
                <a:path h="463296" w="1389888">
                  <a:moveTo>
                    <a:pt x="0" y="106553"/>
                  </a:moveTo>
                  <a:cubicBezTo>
                    <a:pt x="0" y="47752"/>
                    <a:pt x="47752" y="0"/>
                    <a:pt x="106553" y="0"/>
                  </a:cubicBezTo>
                  <a:lnTo>
                    <a:pt x="1283335" y="0"/>
                  </a:lnTo>
                  <a:cubicBezTo>
                    <a:pt x="1342136" y="0"/>
                    <a:pt x="1389888" y="47752"/>
                    <a:pt x="1389888" y="106553"/>
                  </a:cubicBezTo>
                  <a:lnTo>
                    <a:pt x="1389888" y="356743"/>
                  </a:lnTo>
                  <a:cubicBezTo>
                    <a:pt x="1389888" y="415544"/>
                    <a:pt x="1342136" y="463296"/>
                    <a:pt x="1283335" y="463296"/>
                  </a:cubicBezTo>
                  <a:lnTo>
                    <a:pt x="106553" y="463296"/>
                  </a:lnTo>
                  <a:cubicBezTo>
                    <a:pt x="47752" y="463296"/>
                    <a:pt x="0" y="415544"/>
                    <a:pt x="0" y="356743"/>
                  </a:cubicBezTo>
                  <a:close/>
                </a:path>
              </a:pathLst>
            </a:custGeom>
            <a:solidFill>
              <a:srgbClr val="1D2023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1389888" cy="472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BFBFB"/>
                  </a:solidFill>
                  <a:latin typeface="Poppins"/>
                  <a:ea typeface="Poppins"/>
                  <a:cs typeface="Poppins"/>
                  <a:sym typeface="Poppins"/>
                </a:rPr>
                <a:t>Page 10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4158586" y="1272016"/>
            <a:ext cx="269215" cy="222028"/>
            <a:chOff x="0" y="0"/>
            <a:chExt cx="358953" cy="296037"/>
          </a:xfrm>
        </p:grpSpPr>
        <p:sp>
          <p:nvSpPr>
            <p:cNvPr name="Freeform 61" id="61" descr="image.png"/>
            <p:cNvSpPr/>
            <p:nvPr/>
          </p:nvSpPr>
          <p:spPr>
            <a:xfrm flipH="false" flipV="false" rot="0">
              <a:off x="0" y="0"/>
              <a:ext cx="358902" cy="296037"/>
            </a:xfrm>
            <a:custGeom>
              <a:avLst/>
              <a:gdLst/>
              <a:ahLst/>
              <a:cxnLst/>
              <a:rect r="r" b="b" t="t" l="l"/>
              <a:pathLst>
                <a:path h="296037" w="358902">
                  <a:moveTo>
                    <a:pt x="0" y="0"/>
                  </a:moveTo>
                  <a:lnTo>
                    <a:pt x="358902" y="0"/>
                  </a:lnTo>
                  <a:lnTo>
                    <a:pt x="358902" y="296037"/>
                  </a:lnTo>
                  <a:lnTo>
                    <a:pt x="0" y="296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-14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669390" y="1602276"/>
            <a:ext cx="19544485" cy="510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06"/>
              </a:lnSpc>
            </a:pPr>
            <a:r>
              <a:rPr lang="en-US" b="true" sz="37724" spc="-2571">
                <a:solidFill>
                  <a:srgbClr val="171717"/>
                </a:solidFill>
                <a:latin typeface="Poppins Bold"/>
                <a:ea typeface="Poppins Bold"/>
                <a:cs typeface="Poppins Bold"/>
                <a:sym typeface="Poppins Bold"/>
              </a:rPr>
              <a:t>THANKS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3130807"/>
            <a:ext cx="18288000" cy="7156193"/>
            <a:chOff x="0" y="0"/>
            <a:chExt cx="24384000" cy="95415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9541591"/>
            </a:xfrm>
            <a:custGeom>
              <a:avLst/>
              <a:gdLst/>
              <a:ahLst/>
              <a:cxnLst/>
              <a:rect r="r" b="b" t="t" l="l"/>
              <a:pathLst>
                <a:path h="954159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541591"/>
                  </a:lnTo>
                  <a:lnTo>
                    <a:pt x="0" y="9541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0" r="0" b="-4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4027427" y="954576"/>
            <a:ext cx="10233146" cy="693858"/>
          </a:xfrm>
          <a:custGeom>
            <a:avLst/>
            <a:gdLst/>
            <a:ahLst/>
            <a:cxnLst/>
            <a:rect r="r" b="b" t="t" l="l"/>
            <a:pathLst>
              <a:path h="693858" w="10233146">
                <a:moveTo>
                  <a:pt x="0" y="0"/>
                </a:moveTo>
                <a:lnTo>
                  <a:pt x="10233146" y="0"/>
                </a:lnTo>
                <a:lnTo>
                  <a:pt x="10233146" y="693859"/>
                </a:lnTo>
                <a:lnTo>
                  <a:pt x="0" y="6938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100894" y="1190730"/>
            <a:ext cx="384600" cy="384600"/>
          </a:xfrm>
          <a:custGeom>
            <a:avLst/>
            <a:gdLst/>
            <a:ahLst/>
            <a:cxnLst/>
            <a:rect r="r" b="b" t="t" l="l"/>
            <a:pathLst>
              <a:path h="384600" w="384600">
                <a:moveTo>
                  <a:pt x="0" y="0"/>
                </a:moveTo>
                <a:lnTo>
                  <a:pt x="384600" y="0"/>
                </a:lnTo>
                <a:lnTo>
                  <a:pt x="384600" y="384600"/>
                </a:lnTo>
                <a:lnTo>
                  <a:pt x="0" y="384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45644" y="1148715"/>
            <a:ext cx="2067239" cy="36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7"/>
              </a:lnSpc>
            </a:pPr>
            <a:r>
              <a:rPr lang="en-US" sz="1797" b="true">
                <a:solidFill>
                  <a:srgbClr val="171717"/>
                </a:solidFill>
                <a:latin typeface="Poppins Bold"/>
                <a:ea typeface="Poppins Bold"/>
                <a:cs typeface="Poppins Bold"/>
                <a:sym typeface="Poppins Bold"/>
              </a:rPr>
              <a:t>Regulift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589520" y="1190730"/>
            <a:ext cx="1513332" cy="384962"/>
            <a:chOff x="0" y="0"/>
            <a:chExt cx="2017776" cy="513283"/>
          </a:xfrm>
        </p:grpSpPr>
        <p:sp>
          <p:nvSpPr>
            <p:cNvPr name="Freeform 9" id="9">
              <a:hlinkClick r:id="rId7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About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12580" y="1190730"/>
            <a:ext cx="1513332" cy="384962"/>
            <a:chOff x="0" y="0"/>
            <a:chExt cx="2017776" cy="513283"/>
          </a:xfrm>
        </p:grpSpPr>
        <p:sp>
          <p:nvSpPr>
            <p:cNvPr name="Freeform 12" id="12">
              <a:hlinkClick r:id="rId8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Service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835640" y="1190730"/>
            <a:ext cx="1513332" cy="384962"/>
            <a:chOff x="0" y="0"/>
            <a:chExt cx="2017776" cy="513283"/>
          </a:xfrm>
        </p:grpSpPr>
        <p:sp>
          <p:nvSpPr>
            <p:cNvPr name="Freeform 15" id="15">
              <a:hlinkClick r:id="rId9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Team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458700" y="1190730"/>
            <a:ext cx="1513332" cy="384962"/>
            <a:chOff x="0" y="0"/>
            <a:chExt cx="2017776" cy="513283"/>
          </a:xfrm>
        </p:grpSpPr>
        <p:sp>
          <p:nvSpPr>
            <p:cNvPr name="Freeform 18" id="18">
              <a:hlinkClick r:id="rId10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17171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FAFAFA"/>
                  </a:solidFill>
                  <a:latin typeface="Poppins"/>
                  <a:ea typeface="Poppins"/>
                  <a:cs typeface="Poppins"/>
                  <a:sym typeface="Poppins"/>
                </a:rPr>
                <a:t>Conclusion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879824" y="9619488"/>
            <a:ext cx="1042416" cy="347472"/>
            <a:chOff x="0" y="0"/>
            <a:chExt cx="1389888" cy="4632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89888" cy="463296"/>
            </a:xfrm>
            <a:custGeom>
              <a:avLst/>
              <a:gdLst/>
              <a:ahLst/>
              <a:cxnLst/>
              <a:rect r="r" b="b" t="t" l="l"/>
              <a:pathLst>
                <a:path h="463296" w="1389888">
                  <a:moveTo>
                    <a:pt x="0" y="106553"/>
                  </a:moveTo>
                  <a:cubicBezTo>
                    <a:pt x="0" y="47752"/>
                    <a:pt x="47752" y="0"/>
                    <a:pt x="106553" y="0"/>
                  </a:cubicBezTo>
                  <a:lnTo>
                    <a:pt x="1283335" y="0"/>
                  </a:lnTo>
                  <a:cubicBezTo>
                    <a:pt x="1342136" y="0"/>
                    <a:pt x="1389888" y="47752"/>
                    <a:pt x="1389888" y="106553"/>
                  </a:cubicBezTo>
                  <a:lnTo>
                    <a:pt x="1389888" y="356743"/>
                  </a:lnTo>
                  <a:cubicBezTo>
                    <a:pt x="1389888" y="415544"/>
                    <a:pt x="1342136" y="463296"/>
                    <a:pt x="1283335" y="463296"/>
                  </a:cubicBezTo>
                  <a:lnTo>
                    <a:pt x="106553" y="463296"/>
                  </a:lnTo>
                  <a:cubicBezTo>
                    <a:pt x="47752" y="463296"/>
                    <a:pt x="0" y="415544"/>
                    <a:pt x="0" y="356743"/>
                  </a:cubicBezTo>
                  <a:close/>
                </a:path>
              </a:pathLst>
            </a:custGeom>
            <a:solidFill>
              <a:srgbClr val="1D202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389888" cy="472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BFBFB"/>
                  </a:solidFill>
                  <a:latin typeface="Poppins"/>
                  <a:ea typeface="Poppins"/>
                  <a:cs typeface="Poppins"/>
                  <a:sym typeface="Poppins"/>
                </a:rPr>
                <a:t>Page 11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158586" y="1272016"/>
            <a:ext cx="269215" cy="222028"/>
            <a:chOff x="0" y="0"/>
            <a:chExt cx="358953" cy="296037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358902" cy="296037"/>
            </a:xfrm>
            <a:custGeom>
              <a:avLst/>
              <a:gdLst/>
              <a:ahLst/>
              <a:cxnLst/>
              <a:rect r="r" b="b" t="t" l="l"/>
              <a:pathLst>
                <a:path h="296037" w="358902">
                  <a:moveTo>
                    <a:pt x="0" y="0"/>
                  </a:moveTo>
                  <a:lnTo>
                    <a:pt x="358902" y="0"/>
                  </a:lnTo>
                  <a:lnTo>
                    <a:pt x="358902" y="296037"/>
                  </a:lnTo>
                  <a:lnTo>
                    <a:pt x="0" y="296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4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069848" y="199339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4970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ANALYSIS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1042416" y="2496312"/>
            <a:ext cx="16203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300" b="1" spc="-100" kern="0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CRITERIA. </a:t>
            </a:r>
            <a:pPr indent="0" marL="0">
              <a:buNone/>
            </a:pPr>
            <a:r>
              <a:rPr lang="en-US" sz="5300" b="1" spc="-100" kern="0" dirty="0">
                <a:solidFill>
                  <a:srgbClr val="4970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IS A GATE.</a:t>
            </a:r>
            <a:endParaRPr lang="en-US" sz="5300" dirty="0"/>
          </a:p>
        </p:txBody>
      </p:sp>
      <p:sp>
        <p:nvSpPr>
          <p:cNvPr id="5" name="Shape 2"/>
          <p:cNvSpPr/>
          <p:nvPr/>
        </p:nvSpPr>
        <p:spPr>
          <a:xfrm>
            <a:off x="11695176" y="2651760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ADB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786616" y="2711196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914632" y="2711196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42648" y="2711196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2380976" y="2606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Grey rows </a:t>
            </a:r>
            <a:pPr indent="0" marL="0">
              <a:buNone/>
            </a:pPr>
            <a:r>
              <a:rPr lang="en-US" sz="1250" dirty="0">
                <a:solidFill>
                  <a:srgbClr val="3B3E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fail the gate.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1695176" y="3108960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DADB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786616" y="316839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14632" y="316839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042648" y="316839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2380976" y="3063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Black rows </a:t>
            </a:r>
            <a:pPr indent="0" marL="0">
              <a:buNone/>
            </a:pPr>
            <a:r>
              <a:rPr lang="en-US" sz="1250" dirty="0">
                <a:solidFill>
                  <a:srgbClr val="3B3E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pass the gate.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224528" y="3776472"/>
            <a:ext cx="2423160" cy="5280660"/>
          </a:xfrm>
          <a:prstGeom prst="roundRect">
            <a:avLst>
              <a:gd name="adj" fmla="val 3774"/>
            </a:avLst>
          </a:prstGeom>
          <a:solidFill>
            <a:srgbClr val="E8F2F2"/>
          </a:solidFill>
          <a:ln w="12700">
            <a:solidFill>
              <a:srgbClr val="E8F2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20840" y="3776472"/>
            <a:ext cx="0" cy="5280660"/>
          </a:xfrm>
          <a:prstGeom prst="line">
            <a:avLst/>
          </a:prstGeom>
          <a:noFill/>
          <a:ln w="9525">
            <a:solidFill>
              <a:srgbClr val="DADB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361688" y="3831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gate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013448" y="38313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Ranking criteria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1344168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Country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361688" y="4160520"/>
            <a:ext cx="260604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may advise </a:t>
            </a:r>
            <a:pPr indent="0" marL="0">
              <a:buNone/>
            </a:pPr>
            <a:r>
              <a:rPr lang="en-US" sz="1300" b="1" baseline="300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361688" y="44622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legal without a lawyer signing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013448" y="4160520"/>
            <a:ext cx="260604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size </a:t>
            </a:r>
            <a:pPr indent="0" marL="0">
              <a:buNone/>
            </a:pPr>
            <a:r>
              <a:rPr lang="en-US" sz="1300" b="1" baseline="300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013448" y="44622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firms with 50 or more staff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665208" y="4160520"/>
            <a:ext cx="260604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Savings potential </a:t>
            </a:r>
            <a:pPr indent="0" marL="0">
              <a:buNone/>
            </a:pPr>
            <a:r>
              <a:rPr lang="en-US" sz="1300" b="1" baseline="300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9665208" y="44622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lawyer cost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12316968" y="4160520"/>
            <a:ext cx="260604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regulation enforcement </a:t>
            </a:r>
            <a:pPr indent="0" marL="0">
              <a:buNone/>
            </a:pPr>
            <a:r>
              <a:rPr lang="en-US" sz="1300" b="1" baseline="300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2316968" y="44622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deadline live, fines starting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5060168" y="4160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5060168" y="4462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 20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069848" y="4818888"/>
            <a:ext cx="16203168" cy="0"/>
          </a:xfrm>
          <a:prstGeom prst="line">
            <a:avLst/>
          </a:prstGeom>
          <a:noFill/>
          <a:ln w="9525">
            <a:solidFill>
              <a:srgbClr val="17171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69848" y="4937760"/>
            <a:ext cx="16203168" cy="365760"/>
          </a:xfrm>
          <a:prstGeom prst="roundRect">
            <a:avLst>
              <a:gd name="adj" fmla="val 25000"/>
            </a:avLst>
          </a:prstGeom>
          <a:solidFill>
            <a:srgbClr val="171717"/>
          </a:solidFill>
          <a:ln w="9525">
            <a:solidFill>
              <a:srgbClr val="17171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224528" y="4937760"/>
            <a:ext cx="2423160" cy="365760"/>
          </a:xfrm>
          <a:prstGeom prst="rect">
            <a:avLst/>
          </a:prstGeom>
          <a:solidFill>
            <a:srgbClr val="2E3F42"/>
          </a:solidFill>
          <a:ln w="12700">
            <a:solidFill>
              <a:srgbClr val="2E3F4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344168" y="50200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FA3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</a:t>
            </a:r>
            <a:endParaRPr lang="en-US" sz="1350" dirty="0"/>
          </a:p>
        </p:txBody>
      </p:sp>
      <p:sp>
        <p:nvSpPr>
          <p:cNvPr id="34" name="Text 31"/>
          <p:cNvSpPr txBox="1"/>
          <p:nvPr/>
        </p:nvSpPr>
        <p:spPr>
          <a:xfrm>
            <a:off x="1755648" y="50017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BFB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Netherlands</a:t>
            </a:r>
            <a:endParaRPr lang="en-US" sz="1550" dirty="0"/>
          </a:p>
        </p:txBody>
      </p:sp>
      <p:sp>
        <p:nvSpPr>
          <p:cNvPr id="35" name="Text 32"/>
          <p:cNvSpPr txBox="1"/>
          <p:nvPr/>
        </p:nvSpPr>
        <p:spPr>
          <a:xfrm>
            <a:off x="4361688" y="499262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BFB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50" dirty="0"/>
          </a:p>
        </p:txBody>
      </p:sp>
      <p:sp>
        <p:nvSpPr>
          <p:cNvPr id="36" name="Shape 33"/>
          <p:cNvSpPr/>
          <p:nvPr/>
        </p:nvSpPr>
        <p:spPr>
          <a:xfrm>
            <a:off x="4818888" y="5084064"/>
            <a:ext cx="100584" cy="100584"/>
          </a:xfrm>
          <a:prstGeom prst="ellipse">
            <a:avLst/>
          </a:prstGeom>
          <a:solidFill>
            <a:srgbClr val="FBFBFB"/>
          </a:solidFill>
          <a:ln w="12700">
            <a:solidFill>
              <a:srgbClr val="FBFBF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001768" y="5084064"/>
            <a:ext cx="100584" cy="100584"/>
          </a:xfrm>
          <a:prstGeom prst="ellipse">
            <a:avLst/>
          </a:prstGeom>
          <a:solidFill>
            <a:srgbClr val="FBFBFB"/>
          </a:solidFill>
          <a:ln w="12700">
            <a:solidFill>
              <a:srgbClr val="FBFBF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184648" y="5084064"/>
            <a:ext cx="100584" cy="100584"/>
          </a:xfrm>
          <a:prstGeom prst="ellipse">
            <a:avLst/>
          </a:prstGeom>
          <a:solidFill>
            <a:srgbClr val="FBFBFB"/>
          </a:solidFill>
          <a:ln w="12700">
            <a:solidFill>
              <a:srgbClr val="FBFBF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367528" y="5084064"/>
            <a:ext cx="100584" cy="100584"/>
          </a:xfrm>
          <a:prstGeom prst="ellipse">
            <a:avLst/>
          </a:prstGeom>
          <a:solidFill>
            <a:srgbClr val="FBFBFB"/>
          </a:solidFill>
          <a:ln w="12700">
            <a:solidFill>
              <a:srgbClr val="FBFBF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550408" y="5084064"/>
            <a:ext cx="100584" cy="100584"/>
          </a:xfrm>
          <a:prstGeom prst="ellipse">
            <a:avLst/>
          </a:prstGeom>
          <a:solidFill>
            <a:srgbClr val="FBFBFB"/>
          </a:solidFill>
          <a:ln w="12700">
            <a:solidFill>
              <a:srgbClr val="FBFBFB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013448" y="499262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BFB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50" dirty="0"/>
          </a:p>
        </p:txBody>
      </p:sp>
      <p:sp>
        <p:nvSpPr>
          <p:cNvPr id="42" name="Shape 39"/>
          <p:cNvSpPr/>
          <p:nvPr/>
        </p:nvSpPr>
        <p:spPr>
          <a:xfrm>
            <a:off x="7470648" y="5084064"/>
            <a:ext cx="100584" cy="100584"/>
          </a:xfrm>
          <a:prstGeom prst="ellipse">
            <a:avLst/>
          </a:prstGeom>
          <a:solidFill>
            <a:srgbClr val="FBFBFB"/>
          </a:solidFill>
          <a:ln w="12700">
            <a:solidFill>
              <a:srgbClr val="FBFBF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653528" y="5084064"/>
            <a:ext cx="100584" cy="100584"/>
          </a:xfrm>
          <a:prstGeom prst="ellipse">
            <a:avLst/>
          </a:prstGeom>
          <a:solidFill>
            <a:srgbClr val="FBFBFB"/>
          </a:solidFill>
          <a:ln w="12700">
            <a:solidFill>
              <a:srgbClr val="FBFBFB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836408" y="5084064"/>
            <a:ext cx="100584" cy="100584"/>
          </a:xfrm>
          <a:prstGeom prst="ellipse">
            <a:avLst/>
          </a:prstGeom>
          <a:solidFill>
            <a:srgbClr val="FBFBFB"/>
          </a:solidFill>
          <a:ln w="12700">
            <a:solidFill>
              <a:srgbClr val="FBFBF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019288" y="5084064"/>
            <a:ext cx="100584" cy="100584"/>
          </a:xfrm>
          <a:prstGeom prst="ellipse">
            <a:avLst/>
          </a:prstGeom>
          <a:solidFill>
            <a:srgbClr val="FBFBFB"/>
          </a:solidFill>
          <a:ln w="12700">
            <a:solidFill>
              <a:srgbClr val="FBFBF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202168" y="5084064"/>
            <a:ext cx="100584" cy="100584"/>
          </a:xfrm>
          <a:prstGeom prst="ellipse">
            <a:avLst/>
          </a:prstGeom>
          <a:solidFill>
            <a:srgbClr val="3A4D53"/>
          </a:solidFill>
          <a:ln w="12700">
            <a:solidFill>
              <a:srgbClr val="3A4D53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665208" y="499262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BFB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50" dirty="0"/>
          </a:p>
        </p:txBody>
      </p:sp>
      <p:sp>
        <p:nvSpPr>
          <p:cNvPr id="48" name="Shape 45"/>
          <p:cNvSpPr/>
          <p:nvPr/>
        </p:nvSpPr>
        <p:spPr>
          <a:xfrm>
            <a:off x="10122408" y="5084064"/>
            <a:ext cx="100584" cy="100584"/>
          </a:xfrm>
          <a:prstGeom prst="ellipse">
            <a:avLst/>
          </a:prstGeom>
          <a:solidFill>
            <a:srgbClr val="FBFBFB"/>
          </a:solidFill>
          <a:ln w="12700">
            <a:solidFill>
              <a:srgbClr val="FBFBFB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0305288" y="5084064"/>
            <a:ext cx="100584" cy="100584"/>
          </a:xfrm>
          <a:prstGeom prst="ellipse">
            <a:avLst/>
          </a:prstGeom>
          <a:solidFill>
            <a:srgbClr val="FBFBFB"/>
          </a:solidFill>
          <a:ln w="12700">
            <a:solidFill>
              <a:srgbClr val="FBFBF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0488168" y="5084064"/>
            <a:ext cx="100584" cy="100584"/>
          </a:xfrm>
          <a:prstGeom prst="ellipse">
            <a:avLst/>
          </a:prstGeom>
          <a:solidFill>
            <a:srgbClr val="FBFBFB"/>
          </a:solidFill>
          <a:ln w="12700">
            <a:solidFill>
              <a:srgbClr val="FBFBFB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0671048" y="5084064"/>
            <a:ext cx="100584" cy="100584"/>
          </a:xfrm>
          <a:prstGeom prst="ellipse">
            <a:avLst/>
          </a:prstGeom>
          <a:solidFill>
            <a:srgbClr val="FBFBFB"/>
          </a:solidFill>
          <a:ln w="12700">
            <a:solidFill>
              <a:srgbClr val="FBFBFB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0853928" y="5084064"/>
            <a:ext cx="100584" cy="100584"/>
          </a:xfrm>
          <a:prstGeom prst="ellipse">
            <a:avLst/>
          </a:prstGeom>
          <a:solidFill>
            <a:srgbClr val="3A4D53"/>
          </a:solidFill>
          <a:ln w="12700">
            <a:solidFill>
              <a:srgbClr val="3A4D53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12316968" y="499262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BFB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50" dirty="0"/>
          </a:p>
        </p:txBody>
      </p:sp>
      <p:sp>
        <p:nvSpPr>
          <p:cNvPr id="54" name="Shape 51"/>
          <p:cNvSpPr/>
          <p:nvPr/>
        </p:nvSpPr>
        <p:spPr>
          <a:xfrm>
            <a:off x="12774168" y="5084064"/>
            <a:ext cx="100584" cy="100584"/>
          </a:xfrm>
          <a:prstGeom prst="ellipse">
            <a:avLst/>
          </a:prstGeom>
          <a:solidFill>
            <a:srgbClr val="FBFBFB"/>
          </a:solidFill>
          <a:ln w="12700">
            <a:solidFill>
              <a:srgbClr val="FBFBFB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2957048" y="5084064"/>
            <a:ext cx="100584" cy="100584"/>
          </a:xfrm>
          <a:prstGeom prst="ellipse">
            <a:avLst/>
          </a:prstGeom>
          <a:solidFill>
            <a:srgbClr val="FBFBFB"/>
          </a:solidFill>
          <a:ln w="12700">
            <a:solidFill>
              <a:srgbClr val="FBFBFB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3139928" y="5084064"/>
            <a:ext cx="100584" cy="100584"/>
          </a:xfrm>
          <a:prstGeom prst="ellipse">
            <a:avLst/>
          </a:prstGeom>
          <a:solidFill>
            <a:srgbClr val="FBFBFB"/>
          </a:solidFill>
          <a:ln w="12700">
            <a:solidFill>
              <a:srgbClr val="FBFBF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3322808" y="5084064"/>
            <a:ext cx="100584" cy="100584"/>
          </a:xfrm>
          <a:prstGeom prst="ellipse">
            <a:avLst/>
          </a:prstGeom>
          <a:solidFill>
            <a:srgbClr val="FBFBFB"/>
          </a:solidFill>
          <a:ln w="12700">
            <a:solidFill>
              <a:srgbClr val="FBFBFB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3505688" y="5084064"/>
            <a:ext cx="100584" cy="100584"/>
          </a:xfrm>
          <a:prstGeom prst="ellipse">
            <a:avLst/>
          </a:prstGeom>
          <a:solidFill>
            <a:srgbClr val="FBFBFB"/>
          </a:solidFill>
          <a:ln w="12700">
            <a:solidFill>
              <a:srgbClr val="FBFBFB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15060168" y="49834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BFB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</a:t>
            </a:r>
            <a:endParaRPr lang="en-US" sz="1800" dirty="0"/>
          </a:p>
        </p:txBody>
      </p:sp>
      <p:sp>
        <p:nvSpPr>
          <p:cNvPr id="60" name="Shape 57"/>
          <p:cNvSpPr/>
          <p:nvPr/>
        </p:nvSpPr>
        <p:spPr>
          <a:xfrm>
            <a:off x="15745968" y="5093208"/>
            <a:ext cx="1371600" cy="82296"/>
          </a:xfrm>
          <a:prstGeom prst="roundRect">
            <a:avLst>
              <a:gd name="adj" fmla="val 44444"/>
            </a:avLst>
          </a:prstGeom>
          <a:solidFill>
            <a:srgbClr val="3A4D53"/>
          </a:solidFill>
          <a:ln w="12700">
            <a:solidFill>
              <a:srgbClr val="3A4D53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5745968" y="5093208"/>
            <a:ext cx="1234440" cy="82296"/>
          </a:xfrm>
          <a:prstGeom prst="roundRect">
            <a:avLst>
              <a:gd name="adj" fmla="val 44444"/>
            </a:avLst>
          </a:prstGeom>
          <a:solidFill>
            <a:srgbClr val="FBFBFB"/>
          </a:solidFill>
          <a:ln w="12700">
            <a:solidFill>
              <a:srgbClr val="FBFBF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069848" y="5344668"/>
            <a:ext cx="16203168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ADBD6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4224528" y="5344668"/>
            <a:ext cx="2423160" cy="365760"/>
          </a:xfrm>
          <a:prstGeom prst="rect">
            <a:avLst/>
          </a:prstGeom>
          <a:solidFill>
            <a:srgbClr val="E8F2F2"/>
          </a:solidFill>
          <a:ln w="12700">
            <a:solidFill>
              <a:srgbClr val="E8F2F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344168" y="54269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</a:t>
            </a:r>
            <a:endParaRPr lang="en-US" sz="1350" dirty="0"/>
          </a:p>
        </p:txBody>
      </p:sp>
      <p:sp>
        <p:nvSpPr>
          <p:cNvPr id="65" name="Text 62"/>
          <p:cNvSpPr txBox="1"/>
          <p:nvPr/>
        </p:nvSpPr>
        <p:spPr>
          <a:xfrm>
            <a:off x="1755648" y="54086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Sweden</a:t>
            </a:r>
            <a:endParaRPr lang="en-US" sz="1550" dirty="0"/>
          </a:p>
        </p:txBody>
      </p:sp>
      <p:sp>
        <p:nvSpPr>
          <p:cNvPr id="66" name="Text 63"/>
          <p:cNvSpPr txBox="1"/>
          <p:nvPr/>
        </p:nvSpPr>
        <p:spPr>
          <a:xfrm>
            <a:off x="4361688" y="539953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50" dirty="0"/>
          </a:p>
        </p:txBody>
      </p:sp>
      <p:sp>
        <p:nvSpPr>
          <p:cNvPr id="67" name="Shape 64"/>
          <p:cNvSpPr/>
          <p:nvPr/>
        </p:nvSpPr>
        <p:spPr>
          <a:xfrm>
            <a:off x="4818888" y="549097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5001768" y="549097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5184648" y="549097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367528" y="549097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550408" y="549097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7013448" y="539953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50" dirty="0"/>
          </a:p>
        </p:txBody>
      </p:sp>
      <p:sp>
        <p:nvSpPr>
          <p:cNvPr id="73" name="Shape 70"/>
          <p:cNvSpPr/>
          <p:nvPr/>
        </p:nvSpPr>
        <p:spPr>
          <a:xfrm>
            <a:off x="7470648" y="549097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7653528" y="549097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7836408" y="549097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8019288" y="5490972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8202168" y="5490972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9665208" y="539953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50" dirty="0"/>
          </a:p>
        </p:txBody>
      </p:sp>
      <p:sp>
        <p:nvSpPr>
          <p:cNvPr id="79" name="Shape 76"/>
          <p:cNvSpPr/>
          <p:nvPr/>
        </p:nvSpPr>
        <p:spPr>
          <a:xfrm>
            <a:off x="10122408" y="549097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10305288" y="549097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10488168" y="549097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10671048" y="549097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10853928" y="549097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12316968" y="539953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50" dirty="0"/>
          </a:p>
        </p:txBody>
      </p:sp>
      <p:sp>
        <p:nvSpPr>
          <p:cNvPr id="85" name="Shape 82"/>
          <p:cNvSpPr/>
          <p:nvPr/>
        </p:nvSpPr>
        <p:spPr>
          <a:xfrm>
            <a:off x="12774168" y="549097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12957048" y="549097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13139928" y="549097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13322808" y="549097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13505688" y="5490972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15060168" y="539038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1800" dirty="0"/>
          </a:p>
        </p:txBody>
      </p:sp>
      <p:sp>
        <p:nvSpPr>
          <p:cNvPr id="91" name="Shape 88"/>
          <p:cNvSpPr/>
          <p:nvPr/>
        </p:nvSpPr>
        <p:spPr>
          <a:xfrm>
            <a:off x="15745968" y="5500116"/>
            <a:ext cx="1371600" cy="82296"/>
          </a:xfrm>
          <a:prstGeom prst="roundRect">
            <a:avLst>
              <a:gd name="adj" fmla="val 44444"/>
            </a:avLst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15745968" y="5500116"/>
            <a:ext cx="1165860" cy="82296"/>
          </a:xfrm>
          <a:prstGeom prst="roundRect">
            <a:avLst>
              <a:gd name="adj" fmla="val 44444"/>
            </a:avLst>
          </a:prstGeom>
          <a:solidFill>
            <a:srgbClr val="497078"/>
          </a:solidFill>
          <a:ln w="12700">
            <a:solidFill>
              <a:srgbClr val="497078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1069848" y="5751576"/>
            <a:ext cx="16203168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ADBD6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224528" y="5751576"/>
            <a:ext cx="2423160" cy="365760"/>
          </a:xfrm>
          <a:prstGeom prst="rect">
            <a:avLst/>
          </a:prstGeom>
          <a:solidFill>
            <a:srgbClr val="E8F2F2"/>
          </a:solidFill>
          <a:ln w="12700">
            <a:solidFill>
              <a:srgbClr val="E8F2F2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1344168" y="58338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</a:t>
            </a:r>
            <a:endParaRPr lang="en-US" sz="1350" dirty="0"/>
          </a:p>
        </p:txBody>
      </p:sp>
      <p:sp>
        <p:nvSpPr>
          <p:cNvPr id="96" name="Text 93"/>
          <p:cNvSpPr txBox="1"/>
          <p:nvPr/>
        </p:nvSpPr>
        <p:spPr>
          <a:xfrm>
            <a:off x="1755648" y="58155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Germany</a:t>
            </a:r>
            <a:endParaRPr lang="en-US" sz="1550" dirty="0"/>
          </a:p>
        </p:txBody>
      </p:sp>
      <p:sp>
        <p:nvSpPr>
          <p:cNvPr id="97" name="Text 94"/>
          <p:cNvSpPr txBox="1"/>
          <p:nvPr/>
        </p:nvSpPr>
        <p:spPr>
          <a:xfrm>
            <a:off x="4361688" y="580644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50" dirty="0"/>
          </a:p>
        </p:txBody>
      </p:sp>
      <p:sp>
        <p:nvSpPr>
          <p:cNvPr id="98" name="Shape 95"/>
          <p:cNvSpPr/>
          <p:nvPr/>
        </p:nvSpPr>
        <p:spPr>
          <a:xfrm>
            <a:off x="4818888" y="5897880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5001768" y="5897880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5184648" y="5897880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5367528" y="5897880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5550408" y="5897880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7013448" y="580644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50" dirty="0"/>
          </a:p>
        </p:txBody>
      </p:sp>
      <p:sp>
        <p:nvSpPr>
          <p:cNvPr id="104" name="Shape 101"/>
          <p:cNvSpPr/>
          <p:nvPr/>
        </p:nvSpPr>
        <p:spPr>
          <a:xfrm>
            <a:off x="7470648" y="5897880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7653528" y="5897880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7836408" y="5897880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8019288" y="5897880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8202168" y="5897880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9665208" y="580644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50" dirty="0"/>
          </a:p>
        </p:txBody>
      </p:sp>
      <p:sp>
        <p:nvSpPr>
          <p:cNvPr id="110" name="Shape 107"/>
          <p:cNvSpPr/>
          <p:nvPr/>
        </p:nvSpPr>
        <p:spPr>
          <a:xfrm>
            <a:off x="10122408" y="5897880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10305288" y="5897880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10488168" y="5897880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10671048" y="5897880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10853928" y="5897880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12316968" y="580644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50" dirty="0"/>
          </a:p>
        </p:txBody>
      </p:sp>
      <p:sp>
        <p:nvSpPr>
          <p:cNvPr id="116" name="Shape 113"/>
          <p:cNvSpPr/>
          <p:nvPr/>
        </p:nvSpPr>
        <p:spPr>
          <a:xfrm>
            <a:off x="12774168" y="5897880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12957048" y="5897880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13139928" y="5897880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13322808" y="5897880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13505688" y="5897880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121" name="Text 118"/>
          <p:cNvSpPr txBox="1"/>
          <p:nvPr/>
        </p:nvSpPr>
        <p:spPr>
          <a:xfrm>
            <a:off x="15060168" y="579729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1800" dirty="0"/>
          </a:p>
        </p:txBody>
      </p:sp>
      <p:sp>
        <p:nvSpPr>
          <p:cNvPr id="122" name="Shape 119"/>
          <p:cNvSpPr/>
          <p:nvPr/>
        </p:nvSpPr>
        <p:spPr>
          <a:xfrm>
            <a:off x="15745968" y="5907024"/>
            <a:ext cx="1371600" cy="82296"/>
          </a:xfrm>
          <a:prstGeom prst="roundRect">
            <a:avLst>
              <a:gd name="adj" fmla="val 44444"/>
            </a:avLst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15745968" y="5907024"/>
            <a:ext cx="1028700" cy="82296"/>
          </a:xfrm>
          <a:prstGeom prst="roundRect">
            <a:avLst>
              <a:gd name="adj" fmla="val 44444"/>
            </a:avLst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1069848" y="6158484"/>
            <a:ext cx="16203168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ADBD6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224528" y="6158484"/>
            <a:ext cx="2423160" cy="365760"/>
          </a:xfrm>
          <a:prstGeom prst="rect">
            <a:avLst/>
          </a:prstGeom>
          <a:solidFill>
            <a:srgbClr val="E8F2F2"/>
          </a:solidFill>
          <a:ln w="12700">
            <a:solidFill>
              <a:srgbClr val="E8F2F2"/>
            </a:solidFill>
            <a:prstDash val="solid"/>
          </a:ln>
        </p:spPr>
      </p:sp>
      <p:sp>
        <p:nvSpPr>
          <p:cNvPr id="126" name="Text 123"/>
          <p:cNvSpPr txBox="1"/>
          <p:nvPr/>
        </p:nvSpPr>
        <p:spPr>
          <a:xfrm>
            <a:off x="1344168" y="62407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</a:t>
            </a:r>
            <a:endParaRPr lang="en-US" sz="1350" dirty="0"/>
          </a:p>
        </p:txBody>
      </p:sp>
      <p:sp>
        <p:nvSpPr>
          <p:cNvPr id="127" name="Text 124"/>
          <p:cNvSpPr txBox="1"/>
          <p:nvPr/>
        </p:nvSpPr>
        <p:spPr>
          <a:xfrm>
            <a:off x="1755648" y="62224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Belgium</a:t>
            </a:r>
            <a:endParaRPr lang="en-US" sz="1550" dirty="0"/>
          </a:p>
        </p:txBody>
      </p:sp>
      <p:sp>
        <p:nvSpPr>
          <p:cNvPr id="128" name="Text 125"/>
          <p:cNvSpPr txBox="1"/>
          <p:nvPr/>
        </p:nvSpPr>
        <p:spPr>
          <a:xfrm>
            <a:off x="4361688" y="621334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50" dirty="0"/>
          </a:p>
        </p:txBody>
      </p:sp>
      <p:sp>
        <p:nvSpPr>
          <p:cNvPr id="129" name="Shape 126"/>
          <p:cNvSpPr/>
          <p:nvPr/>
        </p:nvSpPr>
        <p:spPr>
          <a:xfrm>
            <a:off x="4818888" y="6304788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5001768" y="6304788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5184648" y="6304788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5367528" y="6304788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5550408" y="6304788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34" name="Text 131"/>
          <p:cNvSpPr txBox="1"/>
          <p:nvPr/>
        </p:nvSpPr>
        <p:spPr>
          <a:xfrm>
            <a:off x="7013448" y="621334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50" dirty="0"/>
          </a:p>
        </p:txBody>
      </p:sp>
      <p:sp>
        <p:nvSpPr>
          <p:cNvPr id="135" name="Shape 132"/>
          <p:cNvSpPr/>
          <p:nvPr/>
        </p:nvSpPr>
        <p:spPr>
          <a:xfrm>
            <a:off x="7470648" y="6304788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7653528" y="6304788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7836408" y="6304788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8019288" y="6304788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8202168" y="6304788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140" name="Text 137"/>
          <p:cNvSpPr txBox="1"/>
          <p:nvPr/>
        </p:nvSpPr>
        <p:spPr>
          <a:xfrm>
            <a:off x="9665208" y="621334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50" dirty="0"/>
          </a:p>
        </p:txBody>
      </p:sp>
      <p:sp>
        <p:nvSpPr>
          <p:cNvPr id="141" name="Shape 138"/>
          <p:cNvSpPr/>
          <p:nvPr/>
        </p:nvSpPr>
        <p:spPr>
          <a:xfrm>
            <a:off x="10122408" y="6304788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10305288" y="6304788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10488168" y="6304788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10671048" y="6304788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10853928" y="6304788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146" name="Text 143"/>
          <p:cNvSpPr txBox="1"/>
          <p:nvPr/>
        </p:nvSpPr>
        <p:spPr>
          <a:xfrm>
            <a:off x="12316968" y="621334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50" dirty="0"/>
          </a:p>
        </p:txBody>
      </p:sp>
      <p:sp>
        <p:nvSpPr>
          <p:cNvPr id="147" name="Shape 144"/>
          <p:cNvSpPr/>
          <p:nvPr/>
        </p:nvSpPr>
        <p:spPr>
          <a:xfrm>
            <a:off x="12774168" y="6304788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12957048" y="6304788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13139928" y="6304788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13322808" y="6304788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13505688" y="6304788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152" name="Text 149"/>
          <p:cNvSpPr txBox="1"/>
          <p:nvPr/>
        </p:nvSpPr>
        <p:spPr>
          <a:xfrm>
            <a:off x="15060168" y="620420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1800" dirty="0"/>
          </a:p>
        </p:txBody>
      </p:sp>
      <p:sp>
        <p:nvSpPr>
          <p:cNvPr id="153" name="Shape 150"/>
          <p:cNvSpPr/>
          <p:nvPr/>
        </p:nvSpPr>
        <p:spPr>
          <a:xfrm>
            <a:off x="15745968" y="6313932"/>
            <a:ext cx="1371600" cy="82296"/>
          </a:xfrm>
          <a:prstGeom prst="roundRect">
            <a:avLst>
              <a:gd name="adj" fmla="val 44444"/>
            </a:avLst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15745968" y="6313932"/>
            <a:ext cx="960120" cy="82296"/>
          </a:xfrm>
          <a:prstGeom prst="roundRect">
            <a:avLst>
              <a:gd name="adj" fmla="val 44444"/>
            </a:avLst>
          </a:prstGeom>
          <a:solidFill>
            <a:srgbClr val="497078"/>
          </a:solidFill>
          <a:ln w="12700">
            <a:solidFill>
              <a:srgbClr val="497078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1069848" y="6565392"/>
            <a:ext cx="16203168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ADBD6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4224528" y="6565392"/>
            <a:ext cx="2423160" cy="365760"/>
          </a:xfrm>
          <a:prstGeom prst="rect">
            <a:avLst/>
          </a:prstGeom>
          <a:solidFill>
            <a:srgbClr val="E8F2F2"/>
          </a:solidFill>
          <a:ln w="12700">
            <a:solidFill>
              <a:srgbClr val="E8F2F2"/>
            </a:solidFill>
            <a:prstDash val="solid"/>
          </a:ln>
        </p:spPr>
      </p:sp>
      <p:sp>
        <p:nvSpPr>
          <p:cNvPr id="157" name="Text 154"/>
          <p:cNvSpPr txBox="1"/>
          <p:nvPr/>
        </p:nvSpPr>
        <p:spPr>
          <a:xfrm>
            <a:off x="1344168" y="66476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</a:t>
            </a:r>
            <a:endParaRPr lang="en-US" sz="1350" dirty="0"/>
          </a:p>
        </p:txBody>
      </p:sp>
      <p:sp>
        <p:nvSpPr>
          <p:cNvPr id="158" name="Text 155"/>
          <p:cNvSpPr txBox="1"/>
          <p:nvPr/>
        </p:nvSpPr>
        <p:spPr>
          <a:xfrm>
            <a:off x="1755648" y="6629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Italy</a:t>
            </a:r>
            <a:endParaRPr lang="en-US" sz="1550" dirty="0"/>
          </a:p>
        </p:txBody>
      </p:sp>
      <p:sp>
        <p:nvSpPr>
          <p:cNvPr id="159" name="Text 156"/>
          <p:cNvSpPr txBox="1"/>
          <p:nvPr/>
        </p:nvSpPr>
        <p:spPr>
          <a:xfrm>
            <a:off x="4361688" y="662025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50" dirty="0"/>
          </a:p>
        </p:txBody>
      </p:sp>
      <p:sp>
        <p:nvSpPr>
          <p:cNvPr id="160" name="Shape 157"/>
          <p:cNvSpPr/>
          <p:nvPr/>
        </p:nvSpPr>
        <p:spPr>
          <a:xfrm>
            <a:off x="4818888" y="671169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5001768" y="671169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184648" y="671169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5367528" y="6711696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5550408" y="6711696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165" name="Text 162"/>
          <p:cNvSpPr txBox="1"/>
          <p:nvPr/>
        </p:nvSpPr>
        <p:spPr>
          <a:xfrm>
            <a:off x="7013448" y="662025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50" dirty="0"/>
          </a:p>
        </p:txBody>
      </p:sp>
      <p:sp>
        <p:nvSpPr>
          <p:cNvPr id="166" name="Shape 163"/>
          <p:cNvSpPr/>
          <p:nvPr/>
        </p:nvSpPr>
        <p:spPr>
          <a:xfrm>
            <a:off x="7470648" y="671169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7653528" y="671169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7836408" y="671169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8019288" y="671169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8202168" y="671169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71" name="Text 168"/>
          <p:cNvSpPr txBox="1"/>
          <p:nvPr/>
        </p:nvSpPr>
        <p:spPr>
          <a:xfrm>
            <a:off x="9665208" y="662025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50" dirty="0"/>
          </a:p>
        </p:txBody>
      </p:sp>
      <p:sp>
        <p:nvSpPr>
          <p:cNvPr id="172" name="Shape 169"/>
          <p:cNvSpPr/>
          <p:nvPr/>
        </p:nvSpPr>
        <p:spPr>
          <a:xfrm>
            <a:off x="10122408" y="671169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10305288" y="671169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10488168" y="6711696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10671048" y="6711696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10853928" y="6711696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177" name="Text 174"/>
          <p:cNvSpPr txBox="1"/>
          <p:nvPr/>
        </p:nvSpPr>
        <p:spPr>
          <a:xfrm>
            <a:off x="12316968" y="662025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50" dirty="0"/>
          </a:p>
        </p:txBody>
      </p:sp>
      <p:sp>
        <p:nvSpPr>
          <p:cNvPr id="178" name="Shape 175"/>
          <p:cNvSpPr/>
          <p:nvPr/>
        </p:nvSpPr>
        <p:spPr>
          <a:xfrm>
            <a:off x="12774168" y="671169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12957048" y="671169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13139928" y="671169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13322808" y="671169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13505688" y="6711696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183" name="Text 180"/>
          <p:cNvSpPr txBox="1"/>
          <p:nvPr/>
        </p:nvSpPr>
        <p:spPr>
          <a:xfrm>
            <a:off x="15060168" y="661111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1800" dirty="0"/>
          </a:p>
        </p:txBody>
      </p:sp>
      <p:sp>
        <p:nvSpPr>
          <p:cNvPr id="184" name="Shape 181"/>
          <p:cNvSpPr/>
          <p:nvPr/>
        </p:nvSpPr>
        <p:spPr>
          <a:xfrm>
            <a:off x="15745968" y="6720840"/>
            <a:ext cx="1371600" cy="82296"/>
          </a:xfrm>
          <a:prstGeom prst="roundRect">
            <a:avLst>
              <a:gd name="adj" fmla="val 44444"/>
            </a:avLst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15745968" y="6720840"/>
            <a:ext cx="960120" cy="82296"/>
          </a:xfrm>
          <a:prstGeom prst="roundRect">
            <a:avLst>
              <a:gd name="adj" fmla="val 44444"/>
            </a:avLst>
          </a:prstGeom>
          <a:solidFill>
            <a:srgbClr val="497078"/>
          </a:solidFill>
          <a:ln w="12700">
            <a:solidFill>
              <a:srgbClr val="497078"/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1069848" y="6972300"/>
            <a:ext cx="16203168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ADBD6"/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4224528" y="6972300"/>
            <a:ext cx="2423160" cy="365760"/>
          </a:xfrm>
          <a:prstGeom prst="rect">
            <a:avLst/>
          </a:prstGeom>
          <a:solidFill>
            <a:srgbClr val="E8F2F2"/>
          </a:solidFill>
          <a:ln w="12700">
            <a:solidFill>
              <a:srgbClr val="E8F2F2"/>
            </a:solidFill>
            <a:prstDash val="solid"/>
          </a:ln>
        </p:spPr>
      </p:sp>
      <p:sp>
        <p:nvSpPr>
          <p:cNvPr id="188" name="Text 185"/>
          <p:cNvSpPr txBox="1"/>
          <p:nvPr/>
        </p:nvSpPr>
        <p:spPr>
          <a:xfrm>
            <a:off x="1344168" y="70545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</a:t>
            </a:r>
            <a:endParaRPr lang="en-US" sz="1350" dirty="0"/>
          </a:p>
        </p:txBody>
      </p:sp>
      <p:sp>
        <p:nvSpPr>
          <p:cNvPr id="189" name="Text 186"/>
          <p:cNvSpPr txBox="1"/>
          <p:nvPr/>
        </p:nvSpPr>
        <p:spPr>
          <a:xfrm>
            <a:off x="1755648" y="70363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Austria</a:t>
            </a:r>
            <a:endParaRPr lang="en-US" sz="1550" dirty="0"/>
          </a:p>
        </p:txBody>
      </p:sp>
      <p:sp>
        <p:nvSpPr>
          <p:cNvPr id="190" name="Text 187"/>
          <p:cNvSpPr txBox="1"/>
          <p:nvPr/>
        </p:nvSpPr>
        <p:spPr>
          <a:xfrm>
            <a:off x="4361688" y="702716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50" dirty="0"/>
          </a:p>
        </p:txBody>
      </p:sp>
      <p:sp>
        <p:nvSpPr>
          <p:cNvPr id="191" name="Shape 188"/>
          <p:cNvSpPr/>
          <p:nvPr/>
        </p:nvSpPr>
        <p:spPr>
          <a:xfrm>
            <a:off x="4818888" y="7118604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5001768" y="7118604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5184648" y="7118604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5367528" y="7118604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5550408" y="7118604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196" name="Text 193"/>
          <p:cNvSpPr txBox="1"/>
          <p:nvPr/>
        </p:nvSpPr>
        <p:spPr>
          <a:xfrm>
            <a:off x="7013448" y="702716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50" dirty="0"/>
          </a:p>
        </p:txBody>
      </p:sp>
      <p:sp>
        <p:nvSpPr>
          <p:cNvPr id="197" name="Shape 194"/>
          <p:cNvSpPr/>
          <p:nvPr/>
        </p:nvSpPr>
        <p:spPr>
          <a:xfrm>
            <a:off x="7470648" y="7118604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7653528" y="7118604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7836408" y="7118604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8019288" y="7118604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8202168" y="7118604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202" name="Text 199"/>
          <p:cNvSpPr txBox="1"/>
          <p:nvPr/>
        </p:nvSpPr>
        <p:spPr>
          <a:xfrm>
            <a:off x="9665208" y="702716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50" dirty="0"/>
          </a:p>
        </p:txBody>
      </p:sp>
      <p:sp>
        <p:nvSpPr>
          <p:cNvPr id="203" name="Shape 200"/>
          <p:cNvSpPr/>
          <p:nvPr/>
        </p:nvSpPr>
        <p:spPr>
          <a:xfrm>
            <a:off x="10122408" y="7118604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10305288" y="7118604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10488168" y="7118604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10671048" y="7118604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10853928" y="7118604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208" name="Text 205"/>
          <p:cNvSpPr txBox="1"/>
          <p:nvPr/>
        </p:nvSpPr>
        <p:spPr>
          <a:xfrm>
            <a:off x="12316968" y="702716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50" dirty="0"/>
          </a:p>
        </p:txBody>
      </p:sp>
      <p:sp>
        <p:nvSpPr>
          <p:cNvPr id="209" name="Shape 206"/>
          <p:cNvSpPr/>
          <p:nvPr/>
        </p:nvSpPr>
        <p:spPr>
          <a:xfrm>
            <a:off x="12774168" y="7118604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12957048" y="7118604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13139928" y="7118604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13322808" y="7118604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13505688" y="7118604"/>
            <a:ext cx="100584" cy="100584"/>
          </a:xfrm>
          <a:prstGeom prst="ellipse">
            <a:avLst/>
          </a:prstGeom>
          <a:solidFill>
            <a:srgbClr val="687075"/>
          </a:solidFill>
          <a:ln w="12700">
            <a:solidFill>
              <a:srgbClr val="687075"/>
            </a:solidFill>
            <a:prstDash val="solid"/>
          </a:ln>
        </p:spPr>
      </p:sp>
      <p:sp>
        <p:nvSpPr>
          <p:cNvPr id="214" name="Text 211"/>
          <p:cNvSpPr txBox="1"/>
          <p:nvPr/>
        </p:nvSpPr>
        <p:spPr>
          <a:xfrm>
            <a:off x="15060168" y="701802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1800" dirty="0"/>
          </a:p>
        </p:txBody>
      </p:sp>
      <p:sp>
        <p:nvSpPr>
          <p:cNvPr id="215" name="Shape 212"/>
          <p:cNvSpPr/>
          <p:nvPr/>
        </p:nvSpPr>
        <p:spPr>
          <a:xfrm>
            <a:off x="15745968" y="7127748"/>
            <a:ext cx="1371600" cy="82296"/>
          </a:xfrm>
          <a:prstGeom prst="roundRect">
            <a:avLst>
              <a:gd name="adj" fmla="val 44444"/>
            </a:avLst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15745968" y="7127748"/>
            <a:ext cx="960120" cy="82296"/>
          </a:xfrm>
          <a:prstGeom prst="roundRect">
            <a:avLst>
              <a:gd name="adj" fmla="val 44444"/>
            </a:avLst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1069848" y="7379208"/>
            <a:ext cx="16203168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ADBD6"/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4224528" y="7379208"/>
            <a:ext cx="2423160" cy="365760"/>
          </a:xfrm>
          <a:prstGeom prst="rect">
            <a:avLst/>
          </a:prstGeom>
          <a:solidFill>
            <a:srgbClr val="E8F2F2"/>
          </a:solidFill>
          <a:ln w="12700">
            <a:solidFill>
              <a:srgbClr val="E8F2F2"/>
            </a:solidFill>
            <a:prstDash val="solid"/>
          </a:ln>
        </p:spPr>
      </p:sp>
      <p:sp>
        <p:nvSpPr>
          <p:cNvPr id="219" name="Text 216"/>
          <p:cNvSpPr txBox="1"/>
          <p:nvPr/>
        </p:nvSpPr>
        <p:spPr>
          <a:xfrm>
            <a:off x="1344168" y="7461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7.</a:t>
            </a:r>
            <a:endParaRPr lang="en-US" sz="1350" dirty="0"/>
          </a:p>
        </p:txBody>
      </p:sp>
      <p:sp>
        <p:nvSpPr>
          <p:cNvPr id="220" name="Text 217"/>
          <p:cNvSpPr txBox="1"/>
          <p:nvPr/>
        </p:nvSpPr>
        <p:spPr>
          <a:xfrm>
            <a:off x="1755648" y="74432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Denmark</a:t>
            </a:r>
            <a:endParaRPr lang="en-US" sz="1550" dirty="0"/>
          </a:p>
        </p:txBody>
      </p:sp>
      <p:sp>
        <p:nvSpPr>
          <p:cNvPr id="221" name="Text 218"/>
          <p:cNvSpPr txBox="1"/>
          <p:nvPr/>
        </p:nvSpPr>
        <p:spPr>
          <a:xfrm>
            <a:off x="4361688" y="743407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50" dirty="0"/>
          </a:p>
        </p:txBody>
      </p:sp>
      <p:sp>
        <p:nvSpPr>
          <p:cNvPr id="222" name="Shape 219"/>
          <p:cNvSpPr/>
          <p:nvPr/>
        </p:nvSpPr>
        <p:spPr>
          <a:xfrm>
            <a:off x="4818888" y="752551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5001768" y="752551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5184648" y="752551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5367528" y="752551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5550408" y="752551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27" name="Text 224"/>
          <p:cNvSpPr txBox="1"/>
          <p:nvPr/>
        </p:nvSpPr>
        <p:spPr>
          <a:xfrm>
            <a:off x="7013448" y="743407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50" dirty="0"/>
          </a:p>
        </p:txBody>
      </p:sp>
      <p:sp>
        <p:nvSpPr>
          <p:cNvPr id="228" name="Shape 225"/>
          <p:cNvSpPr/>
          <p:nvPr/>
        </p:nvSpPr>
        <p:spPr>
          <a:xfrm>
            <a:off x="7470648" y="752551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7653528" y="752551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7836408" y="7525512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8019288" y="7525512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8202168" y="7525512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233" name="Text 230"/>
          <p:cNvSpPr txBox="1"/>
          <p:nvPr/>
        </p:nvSpPr>
        <p:spPr>
          <a:xfrm>
            <a:off x="9665208" y="743407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50" dirty="0"/>
          </a:p>
        </p:txBody>
      </p:sp>
      <p:sp>
        <p:nvSpPr>
          <p:cNvPr id="234" name="Shape 231"/>
          <p:cNvSpPr/>
          <p:nvPr/>
        </p:nvSpPr>
        <p:spPr>
          <a:xfrm>
            <a:off x="10122408" y="752551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10305288" y="752551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10488168" y="752551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10671048" y="7525512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10853928" y="7525512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239" name="Text 236"/>
          <p:cNvSpPr txBox="1"/>
          <p:nvPr/>
        </p:nvSpPr>
        <p:spPr>
          <a:xfrm>
            <a:off x="12316968" y="743407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50" dirty="0"/>
          </a:p>
        </p:txBody>
      </p:sp>
      <p:sp>
        <p:nvSpPr>
          <p:cNvPr id="240" name="Shape 237"/>
          <p:cNvSpPr/>
          <p:nvPr/>
        </p:nvSpPr>
        <p:spPr>
          <a:xfrm>
            <a:off x="12774168" y="752551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12957048" y="752551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13139928" y="7525512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13322808" y="7525512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13505688" y="7525512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245" name="Text 242"/>
          <p:cNvSpPr txBox="1"/>
          <p:nvPr/>
        </p:nvSpPr>
        <p:spPr>
          <a:xfrm>
            <a:off x="15060168" y="742492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1800" dirty="0"/>
          </a:p>
        </p:txBody>
      </p:sp>
      <p:sp>
        <p:nvSpPr>
          <p:cNvPr id="246" name="Shape 243"/>
          <p:cNvSpPr/>
          <p:nvPr/>
        </p:nvSpPr>
        <p:spPr>
          <a:xfrm>
            <a:off x="15745968" y="7534656"/>
            <a:ext cx="1371600" cy="82296"/>
          </a:xfrm>
          <a:prstGeom prst="roundRect">
            <a:avLst>
              <a:gd name="adj" fmla="val 44444"/>
            </a:avLst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15745968" y="7534656"/>
            <a:ext cx="891540" cy="82296"/>
          </a:xfrm>
          <a:prstGeom prst="roundRect">
            <a:avLst>
              <a:gd name="adj" fmla="val 44444"/>
            </a:avLst>
          </a:prstGeom>
          <a:solidFill>
            <a:srgbClr val="497078"/>
          </a:solidFill>
          <a:ln w="12700">
            <a:solidFill>
              <a:srgbClr val="497078"/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1069848" y="7786116"/>
            <a:ext cx="16203168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ADBD6"/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4224528" y="7786116"/>
            <a:ext cx="2423160" cy="365760"/>
          </a:xfrm>
          <a:prstGeom prst="rect">
            <a:avLst/>
          </a:prstGeom>
          <a:solidFill>
            <a:srgbClr val="E8F2F2"/>
          </a:solidFill>
          <a:ln w="12700">
            <a:solidFill>
              <a:srgbClr val="E8F2F2"/>
            </a:solidFill>
            <a:prstDash val="solid"/>
          </a:ln>
        </p:spPr>
      </p:sp>
      <p:sp>
        <p:nvSpPr>
          <p:cNvPr id="250" name="Text 247"/>
          <p:cNvSpPr txBox="1"/>
          <p:nvPr/>
        </p:nvSpPr>
        <p:spPr>
          <a:xfrm>
            <a:off x="1344168" y="78684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8.</a:t>
            </a:r>
            <a:endParaRPr lang="en-US" sz="1350" dirty="0"/>
          </a:p>
        </p:txBody>
      </p:sp>
      <p:sp>
        <p:nvSpPr>
          <p:cNvPr id="251" name="Text 248"/>
          <p:cNvSpPr txBox="1"/>
          <p:nvPr/>
        </p:nvSpPr>
        <p:spPr>
          <a:xfrm>
            <a:off x="1755648" y="78501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Finland</a:t>
            </a:r>
            <a:endParaRPr lang="en-US" sz="1550" dirty="0"/>
          </a:p>
        </p:txBody>
      </p:sp>
      <p:sp>
        <p:nvSpPr>
          <p:cNvPr id="252" name="Text 249"/>
          <p:cNvSpPr txBox="1"/>
          <p:nvPr/>
        </p:nvSpPr>
        <p:spPr>
          <a:xfrm>
            <a:off x="4361688" y="784098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50" dirty="0"/>
          </a:p>
        </p:txBody>
      </p:sp>
      <p:sp>
        <p:nvSpPr>
          <p:cNvPr id="253" name="Shape 250"/>
          <p:cNvSpPr/>
          <p:nvPr/>
        </p:nvSpPr>
        <p:spPr>
          <a:xfrm>
            <a:off x="4818888" y="7932420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5001768" y="7932420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5184648" y="7932420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5367528" y="7932420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5550408" y="7932420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58" name="Text 255"/>
          <p:cNvSpPr txBox="1"/>
          <p:nvPr/>
        </p:nvSpPr>
        <p:spPr>
          <a:xfrm>
            <a:off x="7013448" y="784098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50" dirty="0"/>
          </a:p>
        </p:txBody>
      </p:sp>
      <p:sp>
        <p:nvSpPr>
          <p:cNvPr id="259" name="Shape 256"/>
          <p:cNvSpPr/>
          <p:nvPr/>
        </p:nvSpPr>
        <p:spPr>
          <a:xfrm>
            <a:off x="7470648" y="7932420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7653528" y="7932420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7836408" y="7932420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019288" y="7932420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8202168" y="7932420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264" name="Text 261"/>
          <p:cNvSpPr txBox="1"/>
          <p:nvPr/>
        </p:nvSpPr>
        <p:spPr>
          <a:xfrm>
            <a:off x="9665208" y="784098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50" dirty="0"/>
          </a:p>
        </p:txBody>
      </p:sp>
      <p:sp>
        <p:nvSpPr>
          <p:cNvPr id="265" name="Shape 262"/>
          <p:cNvSpPr/>
          <p:nvPr/>
        </p:nvSpPr>
        <p:spPr>
          <a:xfrm>
            <a:off x="10122408" y="7932420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10305288" y="7932420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10488168" y="7932420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10671048" y="7932420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10853928" y="7932420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270" name="Text 267"/>
          <p:cNvSpPr txBox="1"/>
          <p:nvPr/>
        </p:nvSpPr>
        <p:spPr>
          <a:xfrm>
            <a:off x="12316968" y="784098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50" dirty="0"/>
          </a:p>
        </p:txBody>
      </p:sp>
      <p:sp>
        <p:nvSpPr>
          <p:cNvPr id="271" name="Shape 268"/>
          <p:cNvSpPr/>
          <p:nvPr/>
        </p:nvSpPr>
        <p:spPr>
          <a:xfrm>
            <a:off x="12774168" y="7932420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12957048" y="7932420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13139928" y="7932420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13322808" y="7932420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13505688" y="7932420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276" name="Text 273"/>
          <p:cNvSpPr txBox="1"/>
          <p:nvPr/>
        </p:nvSpPr>
        <p:spPr>
          <a:xfrm>
            <a:off x="15060168" y="783183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800" dirty="0"/>
          </a:p>
        </p:txBody>
      </p:sp>
      <p:sp>
        <p:nvSpPr>
          <p:cNvPr id="277" name="Shape 274"/>
          <p:cNvSpPr/>
          <p:nvPr/>
        </p:nvSpPr>
        <p:spPr>
          <a:xfrm>
            <a:off x="15745968" y="7941564"/>
            <a:ext cx="1371600" cy="82296"/>
          </a:xfrm>
          <a:prstGeom prst="roundRect">
            <a:avLst>
              <a:gd name="adj" fmla="val 44444"/>
            </a:avLst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15745968" y="7941564"/>
            <a:ext cx="822960" cy="82296"/>
          </a:xfrm>
          <a:prstGeom prst="roundRect">
            <a:avLst>
              <a:gd name="adj" fmla="val 44444"/>
            </a:avLst>
          </a:prstGeom>
          <a:solidFill>
            <a:srgbClr val="497078"/>
          </a:solidFill>
          <a:ln w="12700">
            <a:solidFill>
              <a:srgbClr val="497078"/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1069848" y="8193024"/>
            <a:ext cx="16203168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ADBD6"/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4224528" y="8193024"/>
            <a:ext cx="2423160" cy="365760"/>
          </a:xfrm>
          <a:prstGeom prst="rect">
            <a:avLst/>
          </a:prstGeom>
          <a:solidFill>
            <a:srgbClr val="E8F2F2"/>
          </a:solidFill>
          <a:ln w="12700">
            <a:solidFill>
              <a:srgbClr val="E8F2F2"/>
            </a:solidFill>
            <a:prstDash val="solid"/>
          </a:ln>
        </p:spPr>
      </p:sp>
      <p:sp>
        <p:nvSpPr>
          <p:cNvPr id="281" name="Text 278"/>
          <p:cNvSpPr txBox="1"/>
          <p:nvPr/>
        </p:nvSpPr>
        <p:spPr>
          <a:xfrm>
            <a:off x="1344168" y="8275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9.</a:t>
            </a:r>
            <a:endParaRPr lang="en-US" sz="1350" dirty="0"/>
          </a:p>
        </p:txBody>
      </p:sp>
      <p:sp>
        <p:nvSpPr>
          <p:cNvPr id="282" name="Text 279"/>
          <p:cNvSpPr txBox="1"/>
          <p:nvPr/>
        </p:nvSpPr>
        <p:spPr>
          <a:xfrm>
            <a:off x="1755648" y="8257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Poland</a:t>
            </a:r>
            <a:endParaRPr lang="en-US" sz="1550" dirty="0"/>
          </a:p>
        </p:txBody>
      </p:sp>
      <p:sp>
        <p:nvSpPr>
          <p:cNvPr id="283" name="Text 280"/>
          <p:cNvSpPr txBox="1"/>
          <p:nvPr/>
        </p:nvSpPr>
        <p:spPr>
          <a:xfrm>
            <a:off x="4361688" y="82478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50" dirty="0"/>
          </a:p>
        </p:txBody>
      </p:sp>
      <p:sp>
        <p:nvSpPr>
          <p:cNvPr id="284" name="Shape 281"/>
          <p:cNvSpPr/>
          <p:nvPr/>
        </p:nvSpPr>
        <p:spPr>
          <a:xfrm>
            <a:off x="4818888" y="8339328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5001768" y="8339328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5184648" y="8339328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5367528" y="8339328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5550408" y="8339328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89" name="Text 286"/>
          <p:cNvSpPr txBox="1"/>
          <p:nvPr/>
        </p:nvSpPr>
        <p:spPr>
          <a:xfrm>
            <a:off x="7013448" y="82478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50" dirty="0"/>
          </a:p>
        </p:txBody>
      </p:sp>
      <p:sp>
        <p:nvSpPr>
          <p:cNvPr id="290" name="Shape 287"/>
          <p:cNvSpPr/>
          <p:nvPr/>
        </p:nvSpPr>
        <p:spPr>
          <a:xfrm>
            <a:off x="7470648" y="8339328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7653528" y="8339328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7836408" y="8339328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8019288" y="8339328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8202168" y="8339328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295" name="Text 292"/>
          <p:cNvSpPr txBox="1"/>
          <p:nvPr/>
        </p:nvSpPr>
        <p:spPr>
          <a:xfrm>
            <a:off x="9665208" y="82478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50" dirty="0"/>
          </a:p>
        </p:txBody>
      </p:sp>
      <p:sp>
        <p:nvSpPr>
          <p:cNvPr id="296" name="Shape 293"/>
          <p:cNvSpPr/>
          <p:nvPr/>
        </p:nvSpPr>
        <p:spPr>
          <a:xfrm>
            <a:off x="10122408" y="8339328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10305288" y="8339328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10488168" y="8339328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10671048" y="8339328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10853928" y="8339328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301" name="Text 298"/>
          <p:cNvSpPr txBox="1"/>
          <p:nvPr/>
        </p:nvSpPr>
        <p:spPr>
          <a:xfrm>
            <a:off x="12316968" y="82478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50" dirty="0"/>
          </a:p>
        </p:txBody>
      </p:sp>
      <p:sp>
        <p:nvSpPr>
          <p:cNvPr id="302" name="Shape 299"/>
          <p:cNvSpPr/>
          <p:nvPr/>
        </p:nvSpPr>
        <p:spPr>
          <a:xfrm>
            <a:off x="12774168" y="8339328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12957048" y="8339328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13139928" y="8339328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13322808" y="8339328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13505688" y="8339328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307" name="Text 304"/>
          <p:cNvSpPr txBox="1"/>
          <p:nvPr/>
        </p:nvSpPr>
        <p:spPr>
          <a:xfrm>
            <a:off x="15060168" y="823874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800" dirty="0"/>
          </a:p>
        </p:txBody>
      </p:sp>
      <p:sp>
        <p:nvSpPr>
          <p:cNvPr id="308" name="Shape 305"/>
          <p:cNvSpPr/>
          <p:nvPr/>
        </p:nvSpPr>
        <p:spPr>
          <a:xfrm>
            <a:off x="15745968" y="8348472"/>
            <a:ext cx="1371600" cy="82296"/>
          </a:xfrm>
          <a:prstGeom prst="roundRect">
            <a:avLst>
              <a:gd name="adj" fmla="val 44444"/>
            </a:avLst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5745968" y="8348472"/>
            <a:ext cx="822960" cy="82296"/>
          </a:xfrm>
          <a:prstGeom prst="roundRect">
            <a:avLst>
              <a:gd name="adj" fmla="val 44444"/>
            </a:avLst>
          </a:prstGeom>
          <a:solidFill>
            <a:srgbClr val="497078"/>
          </a:solidFill>
          <a:ln w="12700">
            <a:solidFill>
              <a:srgbClr val="497078"/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69848" y="8599932"/>
            <a:ext cx="16203168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ADBD6"/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4224528" y="8599932"/>
            <a:ext cx="2423160" cy="365760"/>
          </a:xfrm>
          <a:prstGeom prst="rect">
            <a:avLst/>
          </a:prstGeom>
          <a:solidFill>
            <a:srgbClr val="E8F2F2"/>
          </a:solidFill>
          <a:ln w="12700">
            <a:solidFill>
              <a:srgbClr val="E8F2F2"/>
            </a:solidFill>
            <a:prstDash val="solid"/>
          </a:ln>
        </p:spPr>
      </p:sp>
      <p:sp>
        <p:nvSpPr>
          <p:cNvPr id="312" name="Text 309"/>
          <p:cNvSpPr txBox="1"/>
          <p:nvPr/>
        </p:nvSpPr>
        <p:spPr>
          <a:xfrm>
            <a:off x="1344168" y="86822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313" name="Text 310"/>
          <p:cNvSpPr txBox="1"/>
          <p:nvPr/>
        </p:nvSpPr>
        <p:spPr>
          <a:xfrm>
            <a:off x="1755648" y="86639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Switzerland</a:t>
            </a:r>
            <a:endParaRPr lang="en-US" sz="1550" dirty="0"/>
          </a:p>
        </p:txBody>
      </p:sp>
      <p:sp>
        <p:nvSpPr>
          <p:cNvPr id="314" name="Text 311"/>
          <p:cNvSpPr txBox="1"/>
          <p:nvPr/>
        </p:nvSpPr>
        <p:spPr>
          <a:xfrm>
            <a:off x="3172968" y="87096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outside EU</a:t>
            </a:r>
            <a:endParaRPr lang="en-US" sz="1100" dirty="0"/>
          </a:p>
        </p:txBody>
      </p:sp>
      <p:sp>
        <p:nvSpPr>
          <p:cNvPr id="315" name="Text 312"/>
          <p:cNvSpPr txBox="1"/>
          <p:nvPr/>
        </p:nvSpPr>
        <p:spPr>
          <a:xfrm>
            <a:off x="4361688" y="865479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50" dirty="0"/>
          </a:p>
        </p:txBody>
      </p:sp>
      <p:sp>
        <p:nvSpPr>
          <p:cNvPr id="316" name="Shape 313"/>
          <p:cNvSpPr/>
          <p:nvPr/>
        </p:nvSpPr>
        <p:spPr>
          <a:xfrm>
            <a:off x="4818888" y="874623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5001768" y="874623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5184648" y="874623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5367528" y="874623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5550408" y="874623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21" name="Text 318"/>
          <p:cNvSpPr txBox="1"/>
          <p:nvPr/>
        </p:nvSpPr>
        <p:spPr>
          <a:xfrm>
            <a:off x="7013448" y="865479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50" dirty="0"/>
          </a:p>
        </p:txBody>
      </p:sp>
      <p:sp>
        <p:nvSpPr>
          <p:cNvPr id="322" name="Shape 319"/>
          <p:cNvSpPr/>
          <p:nvPr/>
        </p:nvSpPr>
        <p:spPr>
          <a:xfrm>
            <a:off x="7470648" y="874623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7653528" y="874623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7836408" y="874623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8019288" y="8746236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8202168" y="8746236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327" name="Text 324"/>
          <p:cNvSpPr txBox="1"/>
          <p:nvPr/>
        </p:nvSpPr>
        <p:spPr>
          <a:xfrm>
            <a:off x="9665208" y="865479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50" dirty="0"/>
          </a:p>
        </p:txBody>
      </p:sp>
      <p:sp>
        <p:nvSpPr>
          <p:cNvPr id="328" name="Shape 325"/>
          <p:cNvSpPr/>
          <p:nvPr/>
        </p:nvSpPr>
        <p:spPr>
          <a:xfrm>
            <a:off x="10122408" y="874623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10305288" y="874623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10488168" y="874623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10671048" y="874623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10853928" y="874623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33" name="Text 330"/>
          <p:cNvSpPr txBox="1"/>
          <p:nvPr/>
        </p:nvSpPr>
        <p:spPr>
          <a:xfrm>
            <a:off x="12316968" y="865479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50" dirty="0"/>
          </a:p>
        </p:txBody>
      </p:sp>
      <p:sp>
        <p:nvSpPr>
          <p:cNvPr id="334" name="Shape 331"/>
          <p:cNvSpPr/>
          <p:nvPr/>
        </p:nvSpPr>
        <p:spPr>
          <a:xfrm>
            <a:off x="12774168" y="8746236"/>
            <a:ext cx="100584" cy="100584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12957048" y="8746236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3139928" y="8746236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3322808" y="8746236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3505688" y="8746236"/>
            <a:ext cx="100584" cy="100584"/>
          </a:xfrm>
          <a:prstGeom prst="ellipse">
            <a:avLst/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339" name="Text 336"/>
          <p:cNvSpPr txBox="1"/>
          <p:nvPr/>
        </p:nvSpPr>
        <p:spPr>
          <a:xfrm>
            <a:off x="15060168" y="864565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1800" dirty="0"/>
          </a:p>
        </p:txBody>
      </p:sp>
      <p:sp>
        <p:nvSpPr>
          <p:cNvPr id="340" name="Shape 337"/>
          <p:cNvSpPr/>
          <p:nvPr/>
        </p:nvSpPr>
        <p:spPr>
          <a:xfrm>
            <a:off x="15745968" y="8755380"/>
            <a:ext cx="1371600" cy="82296"/>
          </a:xfrm>
          <a:prstGeom prst="roundRect">
            <a:avLst>
              <a:gd name="adj" fmla="val 44444"/>
            </a:avLst>
          </a:prstGeom>
          <a:solidFill>
            <a:srgbClr val="DADBD6"/>
          </a:solidFill>
          <a:ln w="12700">
            <a:solidFill>
              <a:srgbClr val="DADBD6"/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15745968" y="8755380"/>
            <a:ext cx="960120" cy="82296"/>
          </a:xfrm>
          <a:prstGeom prst="roundRect">
            <a:avLst>
              <a:gd name="adj" fmla="val 44444"/>
            </a:avLst>
          </a:prstGeom>
          <a:solidFill>
            <a:srgbClr val="497078"/>
          </a:solidFill>
          <a:ln w="12700">
            <a:solidFill>
              <a:srgbClr val="497078"/>
            </a:solidFill>
            <a:prstDash val="solid"/>
          </a:ln>
        </p:spPr>
      </p:sp>
      <p:sp>
        <p:nvSpPr>
          <p:cNvPr id="342" name="Text 339"/>
          <p:cNvSpPr txBox="1"/>
          <p:nvPr/>
        </p:nvSpPr>
        <p:spPr>
          <a:xfrm>
            <a:off x="1069848" y="9070848"/>
            <a:ext cx="1437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 AI may advise  </a:t>
            </a:r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NL </a:t>
            </a:r>
            <a:pPr indent="0" marL="0">
              <a:spcAft>
                <a:spcPts val="100"/>
              </a:spcAft>
              <a:buNone/>
            </a:pPr>
            <a:r>
              <a:rPr lang="en-US" sz="8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wetten.overheid.nl</a:t>
            </a:r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SE </a:t>
            </a:r>
            <a:pPr indent="0" marL="0">
              <a:spcAft>
                <a:spcPts val="100"/>
              </a:spcAft>
              <a:buNone/>
            </a:pPr>
            <a:r>
              <a:rPr lang="en-US" sz="8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riksdagen.se</a:t>
            </a:r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DK </a:t>
            </a:r>
            <a:pPr indent="0" marL="0">
              <a:spcAft>
                <a:spcPts val="100"/>
              </a:spcAft>
              <a:buNone/>
            </a:pPr>
            <a:r>
              <a:rPr lang="en-US" sz="8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retsinformation.dk</a:t>
            </a:r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FI </a:t>
            </a:r>
            <a:pPr indent="0" marL="0">
              <a:spcAft>
                <a:spcPts val="100"/>
              </a:spcAft>
              <a:buNone/>
            </a:pPr>
            <a:r>
              <a:rPr lang="en-US" sz="8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finlex.fi</a:t>
            </a:r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PL </a:t>
            </a:r>
            <a:pPr indent="0" marL="0">
              <a:spcAft>
                <a:spcPts val="100"/>
              </a:spcAft>
              <a:buNone/>
            </a:pPr>
            <a:r>
              <a:rPr lang="en-US" sz="8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sejm.gov.pl</a:t>
            </a:r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BE </a:t>
            </a:r>
            <a:pPr indent="0" marL="0">
              <a:spcAft>
                <a:spcPts val="100"/>
              </a:spcAft>
              <a:buNone/>
            </a:pPr>
            <a:r>
              <a:rPr lang="en-US" sz="8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ejustice.just.fgov.be</a:t>
            </a:r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CH </a:t>
            </a:r>
            <a:pPr indent="0" marL="0">
              <a:spcAft>
                <a:spcPts val="100"/>
              </a:spcAft>
              <a:buNone/>
            </a:pPr>
            <a:r>
              <a:rPr lang="en-US" sz="8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fedlex.admin.ch</a:t>
            </a:r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DE </a:t>
            </a:r>
            <a:pPr indent="0" marL="0">
              <a:spcAft>
                <a:spcPts val="100"/>
              </a:spcAft>
              <a:buNone/>
            </a:pPr>
            <a:r>
              <a:rPr lang="en-US" sz="8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gesetze-im-internet.de</a:t>
            </a:r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pPr indent="0" marL="0">
              <a:spcAft>
                <a:spcPts val="100"/>
              </a:spcAft>
              <a:buNone/>
            </a:pPr>
            <a:r>
              <a:rPr lang="en-US" sz="8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bundesgerichtshof.de</a:t>
            </a:r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IT </a:t>
            </a:r>
            <a:pPr indent="0" marL="0">
              <a:spcAft>
                <a:spcPts val="100"/>
              </a:spcAft>
              <a:buNone/>
            </a:pPr>
            <a:r>
              <a:rPr lang="en-US" sz="8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normattiva.it</a:t>
            </a:r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AT </a:t>
            </a:r>
            <a:pPr indent="0" marL="0">
              <a:spcAft>
                <a:spcPts val="100"/>
              </a:spcAft>
              <a:buNone/>
            </a:pPr>
            <a:r>
              <a:rPr lang="en-US" sz="8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ris.bka.gv.at</a:t>
            </a:r>
            <a:pPr indent="0" marL="0">
              <a:spcAft>
                <a:spcPts val="100"/>
              </a:spcAft>
              <a:buNone/>
            </a:pP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 Market size  </a:t>
            </a:r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Eurostat sbs_sc_ovw 2024 </a:t>
            </a:r>
            <a:pPr indent="0" marL="0">
              <a:spcAft>
                <a:spcPts val="100"/>
              </a:spcAft>
              <a:buNone/>
            </a:pPr>
            <a:r>
              <a:rPr lang="en-US" sz="8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ec.europa.eu/eurostat</a:t>
            </a:r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CH </a:t>
            </a:r>
            <a:pPr indent="0" marL="0">
              <a:spcAft>
                <a:spcPts val="100"/>
              </a:spcAft>
              <a:buNone/>
            </a:pPr>
            <a:r>
              <a:rPr lang="en-US" sz="8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bfs.admin.ch</a:t>
            </a:r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 </a:t>
            </a:r>
            <a:pPr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 Savings potential  </a:t>
            </a:r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Eurostat sbs_ovw_act, tps00001 </a:t>
            </a:r>
            <a:pPr indent="0" marL="0">
              <a:spcAft>
                <a:spcPts val="100"/>
              </a:spcAft>
              <a:buNone/>
            </a:pPr>
            <a:r>
              <a:rPr lang="en-US" sz="8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ec.europa.eu/eurostat</a:t>
            </a:r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BE, IT, PL </a:t>
            </a:r>
            <a:pPr indent="0" marL="0">
              <a:spcAft>
                <a:spcPts val="100"/>
              </a:spcAft>
              <a:buNone/>
            </a:pPr>
            <a:r>
              <a:rPr lang="en-US" sz="8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e-justice.europa.eu</a:t>
            </a:r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(2007)</a:t>
            </a:r>
            <a:pPr indent="0" marL="0">
              <a:spcAft>
                <a:spcPts val="100"/>
              </a:spcAft>
              <a:buNone/>
            </a:pPr>
            <a:endParaRPr lang="en-US" sz="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 New regulation enforcement  </a:t>
            </a:r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NL </a:t>
            </a:r>
            <a:pPr indent="0" marL="0">
              <a:spcAft>
                <a:spcPts val="100"/>
              </a:spcAft>
              <a:buNone/>
            </a:pPr>
            <a:r>
              <a:rPr lang="en-US" sz="8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rdi.nl</a:t>
            </a:r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SE </a:t>
            </a:r>
            <a:pPr indent="0" marL="0">
              <a:spcAft>
                <a:spcPts val="100"/>
              </a:spcAft>
              <a:buNone/>
            </a:pPr>
            <a:r>
              <a:rPr lang="en-US" sz="8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riksdagen.se</a:t>
            </a:r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DK </a:t>
            </a:r>
            <a:pPr indent="0" marL="0">
              <a:spcAft>
                <a:spcPts val="100"/>
              </a:spcAft>
              <a:buNone/>
            </a:pPr>
            <a:r>
              <a:rPr lang="en-US" sz="8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retsinformation.dk</a:t>
            </a:r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FI </a:t>
            </a:r>
            <a:pPr indent="0" marL="0">
              <a:spcAft>
                <a:spcPts val="100"/>
              </a:spcAft>
              <a:buNone/>
            </a:pPr>
            <a:r>
              <a:rPr lang="en-US" sz="8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finlex.fi</a:t>
            </a:r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PL </a:t>
            </a:r>
            <a:pPr indent="0" marL="0">
              <a:spcAft>
                <a:spcPts val="100"/>
              </a:spcAft>
              <a:buNone/>
            </a:pPr>
            <a:r>
              <a:rPr lang="en-US" sz="8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2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sejm.gov.pl</a:t>
            </a:r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DE </a:t>
            </a:r>
            <a:pPr indent="0" marL="0">
              <a:spcAft>
                <a:spcPts val="100"/>
              </a:spcAft>
              <a:buNone/>
            </a:pPr>
            <a:r>
              <a:rPr lang="en-US" sz="8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2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bsi.bund.de</a:t>
            </a:r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IT </a:t>
            </a:r>
            <a:pPr indent="0" marL="0">
              <a:spcAft>
                <a:spcPts val="100"/>
              </a:spcAft>
              <a:buNone/>
            </a:pPr>
            <a:r>
              <a:rPr lang="en-US" sz="8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2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gazzettaufficiale.it</a:t>
            </a:r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AT </a:t>
            </a:r>
            <a:pPr indent="0" marL="0">
              <a:spcAft>
                <a:spcPts val="100"/>
              </a:spcAft>
              <a:buNone/>
            </a:pPr>
            <a:r>
              <a:rPr lang="en-US" sz="8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2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ris.bka.gv.at</a:t>
            </a:r>
            <a:pPr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EU </a:t>
            </a:r>
            <a:pPr indent="0" marL="0">
              <a:spcAft>
                <a:spcPts val="100"/>
              </a:spcAft>
              <a:buNone/>
            </a:pPr>
            <a:r>
              <a:rPr lang="en-US" sz="8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2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digital-strategy.ec.europa.eu</a:t>
            </a:r>
            <a:endParaRPr lang="en-US" sz="800" dirty="0"/>
          </a:p>
        </p:txBody>
      </p:sp>
      <p:sp>
        <p:nvSpPr>
          <p:cNvPr name="Freeform 2" id="343"/>
          <p:cNvSpPr/>
          <p:nvPr/>
        </p:nvSpPr>
        <p:spPr>
          <a:xfrm flipH="false" flipV="false" rot="0">
            <a:off x="4027427" y="954576"/>
            <a:ext cx="10233146" cy="693858"/>
          </a:xfrm>
          <a:custGeom>
            <a:avLst/>
            <a:gdLst/>
            <a:ahLst/>
            <a:cxnLst/>
            <a:rect r="r" b="b" t="t" l="l"/>
            <a:pathLst>
              <a:path h="693858" w="10233146">
                <a:moveTo>
                  <a:pt x="0" y="0"/>
                </a:moveTo>
                <a:lnTo>
                  <a:pt x="10233146" y="0"/>
                </a:lnTo>
                <a:lnTo>
                  <a:pt x="10233146" y="693859"/>
                </a:lnTo>
                <a:lnTo>
                  <a:pt x="0" y="693859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44"/>
          <p:cNvSpPr/>
          <p:nvPr/>
        </p:nvSpPr>
        <p:spPr>
          <a:xfrm flipH="false" flipV="false" rot="0">
            <a:off x="4100894" y="1190730"/>
            <a:ext cx="384600" cy="384600"/>
          </a:xfrm>
          <a:custGeom>
            <a:avLst/>
            <a:gdLst/>
            <a:ahLst/>
            <a:cxnLst/>
            <a:rect r="r" b="b" t="t" l="l"/>
            <a:pathLst>
              <a:path h="384600" w="384600">
                <a:moveTo>
                  <a:pt x="0" y="0"/>
                </a:moveTo>
                <a:lnTo>
                  <a:pt x="384600" y="0"/>
                </a:lnTo>
                <a:lnTo>
                  <a:pt x="384600" y="384600"/>
                </a:lnTo>
                <a:lnTo>
                  <a:pt x="0" y="38460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345"/>
          <p:cNvSpPr txBox="true"/>
          <p:nvPr/>
        </p:nvSpPr>
        <p:spPr>
          <a:xfrm rot="0">
            <a:off x="4545644" y="1148715"/>
            <a:ext cx="2067239" cy="36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7"/>
              </a:lnSpc>
            </a:pPr>
            <a:r>
              <a:rPr lang="en-US" sz="1797" b="true">
                <a:solidFill>
                  <a:srgbClr val="171717"/>
                </a:solidFill>
                <a:latin typeface="Poppins Bold"/>
                <a:ea typeface="Poppins Bold"/>
                <a:cs typeface="Poppins Bold"/>
                <a:sym typeface="Poppins Bold"/>
              </a:rPr>
              <a:t>Regulift</a:t>
            </a:r>
          </a:p>
        </p:txBody>
      </p:sp>
      <p:grpSp>
        <p:nvGrpSpPr>
          <p:cNvPr name="Group 5" id="346"/>
          <p:cNvGrpSpPr/>
          <p:nvPr/>
        </p:nvGrpSpPr>
        <p:grpSpPr>
          <a:xfrm rot="0">
            <a:off x="7589520" y="1190730"/>
            <a:ext cx="1513332" cy="384962"/>
            <a:chOff x="0" y="0"/>
            <a:chExt cx="2017776" cy="513283"/>
          </a:xfrm>
        </p:grpSpPr>
        <p:sp>
          <p:nvSpPr>
            <p:cNvPr name="Freeform 6" id="347">
              <a:hlinkClick r:id="rId30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7" id="348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About</a:t>
              </a:r>
            </a:p>
          </p:txBody>
        </p:sp>
      </p:grpSp>
      <p:grpSp>
        <p:nvGrpSpPr>
          <p:cNvPr name="Group 8" id="349"/>
          <p:cNvGrpSpPr/>
          <p:nvPr/>
        </p:nvGrpSpPr>
        <p:grpSpPr>
          <a:xfrm rot="0">
            <a:off x="9212580" y="1190730"/>
            <a:ext cx="1513332" cy="384962"/>
            <a:chOff x="0" y="0"/>
            <a:chExt cx="2017776" cy="513283"/>
          </a:xfrm>
        </p:grpSpPr>
        <p:sp>
          <p:nvSpPr>
            <p:cNvPr name="Freeform 9" id="350">
              <a:hlinkClick r:id="rId31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171717"/>
            </a:solidFill>
          </p:spPr>
        </p:sp>
        <p:sp>
          <p:nvSpPr>
            <p:cNvPr name="TextBox 10" id="351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FAFAFA"/>
                  </a:solidFill>
                  <a:latin typeface="Poppins"/>
                  <a:ea typeface="Poppins"/>
                  <a:cs typeface="Poppins"/>
                  <a:sym typeface="Poppins"/>
                </a:rPr>
                <a:t>Service</a:t>
              </a:r>
            </a:p>
          </p:txBody>
        </p:sp>
      </p:grpSp>
      <p:grpSp>
        <p:nvGrpSpPr>
          <p:cNvPr name="Group 11" id="352"/>
          <p:cNvGrpSpPr/>
          <p:nvPr/>
        </p:nvGrpSpPr>
        <p:grpSpPr>
          <a:xfrm rot="0">
            <a:off x="10835640" y="1190730"/>
            <a:ext cx="1513332" cy="384962"/>
            <a:chOff x="0" y="0"/>
            <a:chExt cx="2017776" cy="513283"/>
          </a:xfrm>
        </p:grpSpPr>
        <p:sp>
          <p:nvSpPr>
            <p:cNvPr name="Freeform 12" id="353">
              <a:hlinkClick r:id="rId32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3" id="354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Team</a:t>
              </a:r>
            </a:p>
          </p:txBody>
        </p:sp>
      </p:grpSp>
      <p:grpSp>
        <p:nvGrpSpPr>
          <p:cNvPr name="Group 14" id="355"/>
          <p:cNvGrpSpPr/>
          <p:nvPr/>
        </p:nvGrpSpPr>
        <p:grpSpPr>
          <a:xfrm rot="0">
            <a:off x="12458700" y="1190730"/>
            <a:ext cx="1513332" cy="384962"/>
            <a:chOff x="0" y="0"/>
            <a:chExt cx="2017776" cy="513283"/>
          </a:xfrm>
        </p:grpSpPr>
        <p:sp>
          <p:nvSpPr>
            <p:cNvPr name="Freeform 15" id="356">
              <a:hlinkClick r:id="rId33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6" id="357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Conclusion</a:t>
              </a:r>
            </a:p>
          </p:txBody>
        </p:sp>
      </p:grpSp>
      <p:grpSp>
        <p:nvGrpSpPr>
          <p:cNvPr name="Group 52" id="358"/>
          <p:cNvGrpSpPr/>
          <p:nvPr/>
        </p:nvGrpSpPr>
        <p:grpSpPr>
          <a:xfrm rot="0">
            <a:off x="4158586" y="1272016"/>
            <a:ext cx="269215" cy="222028"/>
            <a:chOff x="0" y="0"/>
            <a:chExt cx="358953" cy="296037"/>
          </a:xfrm>
        </p:grpSpPr>
        <p:sp>
          <p:nvSpPr>
            <p:cNvPr name="Freeform 53" id="359" descr="image.png"/>
            <p:cNvSpPr/>
            <p:nvPr/>
          </p:nvSpPr>
          <p:spPr>
            <a:xfrm flipH="false" flipV="false" rot="0">
              <a:off x="0" y="0"/>
              <a:ext cx="358902" cy="296037"/>
            </a:xfrm>
            <a:custGeom>
              <a:avLst/>
              <a:gdLst/>
              <a:ahLst/>
              <a:cxnLst/>
              <a:rect r="r" b="b" t="t" l="l"/>
              <a:pathLst>
                <a:path h="296037" w="358902">
                  <a:moveTo>
                    <a:pt x="0" y="0"/>
                  </a:moveTo>
                  <a:lnTo>
                    <a:pt x="358902" y="0"/>
                  </a:lnTo>
                  <a:lnTo>
                    <a:pt x="358902" y="296037"/>
                  </a:lnTo>
                  <a:lnTo>
                    <a:pt x="0" y="296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>
                <a:fillRect l="0" t="0" r="-14" b="0"/>
              </a:stretch>
            </a:blipFill>
          </p:spPr>
        </p:sp>
      </p:grpSp>
      <p:grpSp>
        <p:nvGrpSpPr>
          <p:cNvPr name="Group 17" id="360"/>
          <p:cNvGrpSpPr/>
          <p:nvPr/>
        </p:nvGrpSpPr>
        <p:grpSpPr>
          <a:xfrm rot="0">
            <a:off x="16879824" y="9619488"/>
            <a:ext cx="1042416" cy="347472"/>
            <a:chOff x="0" y="0"/>
            <a:chExt cx="1389888" cy="463296"/>
          </a:xfrm>
        </p:grpSpPr>
        <p:sp>
          <p:nvSpPr>
            <p:cNvPr name="Freeform 18" id="361"/>
            <p:cNvSpPr/>
            <p:nvPr/>
          </p:nvSpPr>
          <p:spPr>
            <a:xfrm flipH="false" flipV="false" rot="0">
              <a:off x="0" y="0"/>
              <a:ext cx="1389888" cy="463296"/>
            </a:xfrm>
            <a:custGeom>
              <a:avLst/>
              <a:gdLst/>
              <a:ahLst/>
              <a:cxnLst/>
              <a:rect r="r" b="b" t="t" l="l"/>
              <a:pathLst>
                <a:path h="463296" w="1389888">
                  <a:moveTo>
                    <a:pt x="0" y="106553"/>
                  </a:moveTo>
                  <a:cubicBezTo>
                    <a:pt x="0" y="47752"/>
                    <a:pt x="47752" y="0"/>
                    <a:pt x="106553" y="0"/>
                  </a:cubicBezTo>
                  <a:lnTo>
                    <a:pt x="1283335" y="0"/>
                  </a:lnTo>
                  <a:cubicBezTo>
                    <a:pt x="1342136" y="0"/>
                    <a:pt x="1389888" y="47752"/>
                    <a:pt x="1389888" y="106553"/>
                  </a:cubicBezTo>
                  <a:lnTo>
                    <a:pt x="1389888" y="356743"/>
                  </a:lnTo>
                  <a:cubicBezTo>
                    <a:pt x="1389888" y="415544"/>
                    <a:pt x="1342136" y="463296"/>
                    <a:pt x="1283335" y="463296"/>
                  </a:cubicBezTo>
                  <a:lnTo>
                    <a:pt x="106553" y="463296"/>
                  </a:lnTo>
                  <a:cubicBezTo>
                    <a:pt x="47752" y="463296"/>
                    <a:pt x="0" y="415544"/>
                    <a:pt x="0" y="356743"/>
                  </a:cubicBezTo>
                  <a:close/>
                </a:path>
              </a:pathLst>
            </a:custGeom>
            <a:solidFill>
              <a:srgbClr val="1D2023"/>
            </a:solidFill>
          </p:spPr>
        </p:sp>
        <p:sp>
          <p:nvSpPr>
            <p:cNvPr name="TextBox 19" id="362"/>
            <p:cNvSpPr txBox="true"/>
            <p:nvPr/>
          </p:nvSpPr>
          <p:spPr>
            <a:xfrm>
              <a:off x="0" y="-9525"/>
              <a:ext cx="1389888" cy="472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BFBFB"/>
                  </a:solidFill>
                  <a:latin typeface="Poppins"/>
                  <a:ea typeface="Poppins"/>
                  <a:cs typeface="Poppins"/>
                  <a:sym typeface="Poppins"/>
                </a:rPr>
                <a:t>Page 05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069848" y="199339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4970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ENTRY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1042416" y="2496312"/>
            <a:ext cx="16203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300" b="1" spc="-100" kern="0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GERMANY IS THE GOAL. </a:t>
            </a:r>
            <a:pPr indent="0" marL="0">
              <a:buNone/>
            </a:pPr>
            <a:r>
              <a:rPr lang="en-US" sz="5300" b="1" spc="-100" kern="0" dirty="0">
                <a:solidFill>
                  <a:srgbClr val="4970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NOT START THERE?</a:t>
            </a:r>
            <a:endParaRPr lang="en-US" sz="5300" dirty="0"/>
          </a:p>
        </p:txBody>
      </p:sp>
      <p:sp>
        <p:nvSpPr>
          <p:cNvPr id="5" name="Text 2"/>
          <p:cNvSpPr txBox="1"/>
          <p:nvPr/>
        </p:nvSpPr>
        <p:spPr>
          <a:xfrm>
            <a:off x="1069848" y="3557016"/>
            <a:ext cx="16203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Germany an AI adviser may not advise. Start there, and we build a product we can never test.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1069848" y="4050792"/>
            <a:ext cx="16203168" cy="0"/>
          </a:xfrm>
          <a:prstGeom prst="line">
            <a:avLst/>
          </a:prstGeom>
          <a:noFill/>
          <a:ln w="9525">
            <a:solidFill>
              <a:srgbClr val="DADB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407408" y="4315968"/>
            <a:ext cx="30335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623810" y="4315968"/>
            <a:ext cx="30335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LEARN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0840212" y="4315968"/>
            <a:ext cx="30335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EXPAND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4056614" y="4315968"/>
            <a:ext cx="30335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ARRIVE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069848" y="4663440"/>
            <a:ext cx="16203168" cy="1920240"/>
          </a:xfrm>
          <a:prstGeom prst="roundRect">
            <a:avLst>
              <a:gd name="adj" fmla="val 9524"/>
            </a:avLst>
          </a:prstGeom>
          <a:solidFill>
            <a:srgbClr val="E9E9E6"/>
          </a:solidFill>
          <a:ln w="9525">
            <a:solidFill>
              <a:srgbClr val="E9E9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389888" y="50749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A95E5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WE STARTED IN GERMANY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389888" y="5376672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strike="sngStrike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GERMANY FIRST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315968" y="4937760"/>
            <a:ext cx="3033522" cy="1371600"/>
          </a:xfrm>
          <a:prstGeom prst="roundRect">
            <a:avLst>
              <a:gd name="adj" fmla="val 9333"/>
            </a:avLst>
          </a:prstGeom>
          <a:solidFill>
            <a:srgbClr val="DEDEDA"/>
          </a:solidFill>
          <a:ln w="9525">
            <a:solidFill>
              <a:srgbClr val="DEDED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90288" y="4937760"/>
            <a:ext cx="248488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5A5D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GATED ADVISER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A5D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lawyer signs every answer.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7532370" y="4937760"/>
            <a:ext cx="3033522" cy="1371600"/>
          </a:xfrm>
          <a:prstGeom prst="roundRect">
            <a:avLst>
              <a:gd name="adj" fmla="val 9333"/>
            </a:avLst>
          </a:prstGeom>
          <a:solidFill>
            <a:srgbClr val="DEDEDA"/>
          </a:solidFill>
          <a:ln w="9525">
            <a:solidFill>
              <a:srgbClr val="DEDED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806690" y="4937760"/>
            <a:ext cx="248488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5A5D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PROOF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A5D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never learn if the adviser sells.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7303770" y="493776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0748772" y="4937760"/>
            <a:ext cx="3033522" cy="1371600"/>
          </a:xfrm>
          <a:prstGeom prst="roundRect">
            <a:avLst>
              <a:gd name="adj" fmla="val 9333"/>
            </a:avLst>
          </a:prstGeom>
          <a:solidFill>
            <a:srgbClr val="DEDEDA"/>
          </a:solidFill>
          <a:ln w="9525">
            <a:solidFill>
              <a:srgbClr val="DEDED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023092" y="4937760"/>
            <a:ext cx="248488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5A5D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STUCK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A5D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for the strictest market. Travels badly.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10520172" y="493776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3965174" y="4937760"/>
            <a:ext cx="3033522" cy="1371600"/>
          </a:xfrm>
          <a:prstGeom prst="roundRect">
            <a:avLst>
              <a:gd name="adj" fmla="val 9333"/>
            </a:avLst>
          </a:prstGeom>
          <a:solidFill>
            <a:srgbClr val="CFCFCB"/>
          </a:solidFill>
          <a:ln w="9525">
            <a:solidFill>
              <a:srgbClr val="CFCFC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4239494" y="4937760"/>
            <a:ext cx="248488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3A3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COLD START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A3A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customers, no firm, no references.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13736574" y="493776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1069848" y="6766560"/>
            <a:ext cx="16203168" cy="192024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ADBD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389888" y="71780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4970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WE DO INSTEAD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1389888" y="7479792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 FIRST</a:t>
            </a:r>
            <a:endParaRPr lang="en-US" sz="1900" dirty="0"/>
          </a:p>
        </p:txBody>
      </p:sp>
      <p:sp>
        <p:nvSpPr>
          <p:cNvPr id="28" name="Shape 25"/>
          <p:cNvSpPr/>
          <p:nvPr/>
        </p:nvSpPr>
        <p:spPr>
          <a:xfrm>
            <a:off x="4315968" y="7040880"/>
            <a:ext cx="3033522" cy="1371600"/>
          </a:xfrm>
          <a:prstGeom prst="roundRect">
            <a:avLst>
              <a:gd name="adj" fmla="val 9333"/>
            </a:avLst>
          </a:prstGeom>
          <a:solidFill>
            <a:srgbClr val="171717"/>
          </a:solidFill>
          <a:ln w="9525">
            <a:solidFill>
              <a:srgbClr val="17171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590288" y="7040880"/>
            <a:ext cx="248488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ADVISER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7DE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Sold in the Netherlands, where it may speak.</a:t>
            </a:r>
            <a:endParaRPr lang="en-US" sz="1450" dirty="0"/>
          </a:p>
        </p:txBody>
      </p:sp>
      <p:sp>
        <p:nvSpPr>
          <p:cNvPr id="30" name="Shape 27"/>
          <p:cNvSpPr/>
          <p:nvPr/>
        </p:nvSpPr>
        <p:spPr>
          <a:xfrm>
            <a:off x="7532370" y="7040880"/>
            <a:ext cx="3033522" cy="1371600"/>
          </a:xfrm>
          <a:prstGeom prst="roundRect">
            <a:avLst>
              <a:gd name="adj" fmla="val 9333"/>
            </a:avLst>
          </a:prstGeom>
          <a:solidFill>
            <a:srgbClr val="171717"/>
          </a:solidFill>
          <a:ln w="9525">
            <a:solidFill>
              <a:srgbClr val="17171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806690" y="7040880"/>
            <a:ext cx="248488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PROOF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7DE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Companies pay for the software itself.</a:t>
            </a:r>
            <a:endParaRPr lang="en-US" sz="1450" dirty="0"/>
          </a:p>
        </p:txBody>
      </p:sp>
      <p:sp>
        <p:nvSpPr>
          <p:cNvPr id="32" name="Text 29"/>
          <p:cNvSpPr txBox="1"/>
          <p:nvPr/>
        </p:nvSpPr>
        <p:spPr>
          <a:xfrm>
            <a:off x="7303770" y="704088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10748772" y="7040880"/>
            <a:ext cx="3033522" cy="1371600"/>
          </a:xfrm>
          <a:prstGeom prst="roundRect">
            <a:avLst>
              <a:gd name="adj" fmla="val 9333"/>
            </a:avLst>
          </a:prstGeom>
          <a:solidFill>
            <a:srgbClr val="E8F2F2"/>
          </a:solidFill>
          <a:ln w="9525">
            <a:solidFill>
              <a:srgbClr val="E8F2F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1023092" y="7040880"/>
            <a:ext cx="248488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2A3A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REPEAT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A3A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market, same product. Add a firm and a country pack.</a:t>
            </a:r>
            <a:endParaRPr lang="en-US" sz="1450" dirty="0"/>
          </a:p>
        </p:txBody>
      </p:sp>
      <p:sp>
        <p:nvSpPr>
          <p:cNvPr id="35" name="Text 32"/>
          <p:cNvSpPr txBox="1"/>
          <p:nvPr/>
        </p:nvSpPr>
        <p:spPr>
          <a:xfrm>
            <a:off x="10520172" y="704088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13965174" y="7040880"/>
            <a:ext cx="3033522" cy="1371600"/>
          </a:xfrm>
          <a:prstGeom prst="roundRect">
            <a:avLst>
              <a:gd name="adj" fmla="val 9333"/>
            </a:avLst>
          </a:prstGeom>
          <a:solidFill>
            <a:srgbClr val="497078"/>
          </a:solidFill>
          <a:ln w="9525">
            <a:solidFill>
              <a:srgbClr val="49707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4239494" y="7040880"/>
            <a:ext cx="248488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GERMANY, AS AN UPGRADE</a:t>
            </a:r>
            <a:endParaRPr lang="en-US" sz="14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F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Dutch customers buy the Germany pack. Same product, German rules, a German firm signs.</a:t>
            </a:r>
            <a:endParaRPr lang="en-US" sz="1450" dirty="0"/>
          </a:p>
        </p:txBody>
      </p:sp>
      <p:sp>
        <p:nvSpPr>
          <p:cNvPr id="38" name="Text 35"/>
          <p:cNvSpPr txBox="1"/>
          <p:nvPr/>
        </p:nvSpPr>
        <p:spPr>
          <a:xfrm>
            <a:off x="13736574" y="704088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1069848" y="9006840"/>
            <a:ext cx="1410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Germany's rule  </a:t>
            </a:r>
            <a:pPr indent="0" marL="0">
              <a:buNone/>
            </a:pPr>
            <a:r>
              <a:rPr lang="en-US" sz="11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generic, rule-based tools are allowed (BGH Smartlaw, 2021). Case-specific advice stays with lawyers. </a:t>
            </a:r>
            <a:pPr indent="0" marL="0">
              <a:buNone/>
            </a:pPr>
            <a:r>
              <a:rPr lang="en-US" sz="11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bundesgerichtshof.de</a:t>
            </a:r>
            <a:endParaRPr lang="en-US" sz="1100" dirty="0"/>
          </a:p>
        </p:txBody>
      </p:sp>
      <p:sp>
        <p:nvSpPr>
          <p:cNvPr name="Freeform 2" id="40"/>
          <p:cNvSpPr/>
          <p:nvPr/>
        </p:nvSpPr>
        <p:spPr>
          <a:xfrm flipH="false" flipV="false" rot="0">
            <a:off x="4027427" y="954576"/>
            <a:ext cx="10233146" cy="693858"/>
          </a:xfrm>
          <a:custGeom>
            <a:avLst/>
            <a:gdLst/>
            <a:ahLst/>
            <a:cxnLst/>
            <a:rect r="r" b="b" t="t" l="l"/>
            <a:pathLst>
              <a:path h="693858" w="10233146">
                <a:moveTo>
                  <a:pt x="0" y="0"/>
                </a:moveTo>
                <a:lnTo>
                  <a:pt x="10233146" y="0"/>
                </a:lnTo>
                <a:lnTo>
                  <a:pt x="10233146" y="693859"/>
                </a:lnTo>
                <a:lnTo>
                  <a:pt x="0" y="6938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41"/>
          <p:cNvSpPr/>
          <p:nvPr/>
        </p:nvSpPr>
        <p:spPr>
          <a:xfrm flipH="false" flipV="false" rot="0">
            <a:off x="4100894" y="1190730"/>
            <a:ext cx="384600" cy="384600"/>
          </a:xfrm>
          <a:custGeom>
            <a:avLst/>
            <a:gdLst/>
            <a:ahLst/>
            <a:cxnLst/>
            <a:rect r="r" b="b" t="t" l="l"/>
            <a:pathLst>
              <a:path h="384600" w="384600">
                <a:moveTo>
                  <a:pt x="0" y="0"/>
                </a:moveTo>
                <a:lnTo>
                  <a:pt x="384600" y="0"/>
                </a:lnTo>
                <a:lnTo>
                  <a:pt x="384600" y="384600"/>
                </a:lnTo>
                <a:lnTo>
                  <a:pt x="0" y="384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2"/>
          <p:cNvSpPr txBox="true"/>
          <p:nvPr/>
        </p:nvSpPr>
        <p:spPr>
          <a:xfrm rot="0">
            <a:off x="4545644" y="1148715"/>
            <a:ext cx="2067239" cy="36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7"/>
              </a:lnSpc>
            </a:pPr>
            <a:r>
              <a:rPr lang="en-US" sz="1797" b="true">
                <a:solidFill>
                  <a:srgbClr val="171717"/>
                </a:solidFill>
                <a:latin typeface="Poppins Bold"/>
                <a:ea typeface="Poppins Bold"/>
                <a:cs typeface="Poppins Bold"/>
                <a:sym typeface="Poppins Bold"/>
              </a:rPr>
              <a:t>Regulift</a:t>
            </a:r>
          </a:p>
        </p:txBody>
      </p:sp>
      <p:grpSp>
        <p:nvGrpSpPr>
          <p:cNvPr name="Group 5" id="43"/>
          <p:cNvGrpSpPr/>
          <p:nvPr/>
        </p:nvGrpSpPr>
        <p:grpSpPr>
          <a:xfrm rot="0">
            <a:off x="7589520" y="1190730"/>
            <a:ext cx="1513332" cy="384962"/>
            <a:chOff x="0" y="0"/>
            <a:chExt cx="2017776" cy="513283"/>
          </a:xfrm>
        </p:grpSpPr>
        <p:sp>
          <p:nvSpPr>
            <p:cNvPr name="Freeform 6" id="44">
              <a:hlinkClick r:id="rId7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7" id="45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About</a:t>
              </a:r>
            </a:p>
          </p:txBody>
        </p:sp>
      </p:grpSp>
      <p:grpSp>
        <p:nvGrpSpPr>
          <p:cNvPr name="Group 8" id="46"/>
          <p:cNvGrpSpPr/>
          <p:nvPr/>
        </p:nvGrpSpPr>
        <p:grpSpPr>
          <a:xfrm rot="0">
            <a:off x="9212580" y="1190730"/>
            <a:ext cx="1513332" cy="384962"/>
            <a:chOff x="0" y="0"/>
            <a:chExt cx="2017776" cy="513283"/>
          </a:xfrm>
        </p:grpSpPr>
        <p:sp>
          <p:nvSpPr>
            <p:cNvPr name="Freeform 9" id="47">
              <a:hlinkClick r:id="rId8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171717"/>
            </a:solidFill>
          </p:spPr>
        </p:sp>
        <p:sp>
          <p:nvSpPr>
            <p:cNvPr name="TextBox 10" id="48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FAFAFA"/>
                  </a:solidFill>
                  <a:latin typeface="Poppins"/>
                  <a:ea typeface="Poppins"/>
                  <a:cs typeface="Poppins"/>
                  <a:sym typeface="Poppins"/>
                </a:rPr>
                <a:t>Service</a:t>
              </a:r>
            </a:p>
          </p:txBody>
        </p:sp>
      </p:grpSp>
      <p:grpSp>
        <p:nvGrpSpPr>
          <p:cNvPr name="Group 11" id="49"/>
          <p:cNvGrpSpPr/>
          <p:nvPr/>
        </p:nvGrpSpPr>
        <p:grpSpPr>
          <a:xfrm rot="0">
            <a:off x="10835640" y="1190730"/>
            <a:ext cx="1513332" cy="384962"/>
            <a:chOff x="0" y="0"/>
            <a:chExt cx="2017776" cy="513283"/>
          </a:xfrm>
        </p:grpSpPr>
        <p:sp>
          <p:nvSpPr>
            <p:cNvPr name="Freeform 12" id="50">
              <a:hlinkClick r:id="rId9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3" id="51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Team</a:t>
              </a:r>
            </a:p>
          </p:txBody>
        </p:sp>
      </p:grpSp>
      <p:grpSp>
        <p:nvGrpSpPr>
          <p:cNvPr name="Group 14" id="52"/>
          <p:cNvGrpSpPr/>
          <p:nvPr/>
        </p:nvGrpSpPr>
        <p:grpSpPr>
          <a:xfrm rot="0">
            <a:off x="12458700" y="1190730"/>
            <a:ext cx="1513332" cy="384962"/>
            <a:chOff x="0" y="0"/>
            <a:chExt cx="2017776" cy="513283"/>
          </a:xfrm>
        </p:grpSpPr>
        <p:sp>
          <p:nvSpPr>
            <p:cNvPr name="Freeform 15" id="53">
              <a:hlinkClick r:id="rId10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6" id="54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Conclusion</a:t>
              </a:r>
            </a:p>
          </p:txBody>
        </p:sp>
      </p:grpSp>
      <p:grpSp>
        <p:nvGrpSpPr>
          <p:cNvPr name="Group 52" id="55"/>
          <p:cNvGrpSpPr/>
          <p:nvPr/>
        </p:nvGrpSpPr>
        <p:grpSpPr>
          <a:xfrm rot="0">
            <a:off x="4158586" y="1272016"/>
            <a:ext cx="269215" cy="222028"/>
            <a:chOff x="0" y="0"/>
            <a:chExt cx="358953" cy="296037"/>
          </a:xfrm>
        </p:grpSpPr>
        <p:sp>
          <p:nvSpPr>
            <p:cNvPr name="Freeform 53" id="56" descr="image.png"/>
            <p:cNvSpPr/>
            <p:nvPr/>
          </p:nvSpPr>
          <p:spPr>
            <a:xfrm flipH="false" flipV="false" rot="0">
              <a:off x="0" y="0"/>
              <a:ext cx="358902" cy="296037"/>
            </a:xfrm>
            <a:custGeom>
              <a:avLst/>
              <a:gdLst/>
              <a:ahLst/>
              <a:cxnLst/>
              <a:rect r="r" b="b" t="t" l="l"/>
              <a:pathLst>
                <a:path h="296037" w="358902">
                  <a:moveTo>
                    <a:pt x="0" y="0"/>
                  </a:moveTo>
                  <a:lnTo>
                    <a:pt x="358902" y="0"/>
                  </a:lnTo>
                  <a:lnTo>
                    <a:pt x="358902" y="296037"/>
                  </a:lnTo>
                  <a:lnTo>
                    <a:pt x="0" y="296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4" b="0"/>
              </a:stretch>
            </a:blipFill>
          </p:spPr>
        </p:sp>
      </p:grpSp>
      <p:grpSp>
        <p:nvGrpSpPr>
          <p:cNvPr name="Group 17" id="57"/>
          <p:cNvGrpSpPr/>
          <p:nvPr/>
        </p:nvGrpSpPr>
        <p:grpSpPr>
          <a:xfrm rot="0">
            <a:off x="16879824" y="9619488"/>
            <a:ext cx="1042416" cy="347472"/>
            <a:chOff x="0" y="0"/>
            <a:chExt cx="1389888" cy="463296"/>
          </a:xfrm>
        </p:grpSpPr>
        <p:sp>
          <p:nvSpPr>
            <p:cNvPr name="Freeform 18" id="58"/>
            <p:cNvSpPr/>
            <p:nvPr/>
          </p:nvSpPr>
          <p:spPr>
            <a:xfrm flipH="false" flipV="false" rot="0">
              <a:off x="0" y="0"/>
              <a:ext cx="1389888" cy="463296"/>
            </a:xfrm>
            <a:custGeom>
              <a:avLst/>
              <a:gdLst/>
              <a:ahLst/>
              <a:cxnLst/>
              <a:rect r="r" b="b" t="t" l="l"/>
              <a:pathLst>
                <a:path h="463296" w="1389888">
                  <a:moveTo>
                    <a:pt x="0" y="106553"/>
                  </a:moveTo>
                  <a:cubicBezTo>
                    <a:pt x="0" y="47752"/>
                    <a:pt x="47752" y="0"/>
                    <a:pt x="106553" y="0"/>
                  </a:cubicBezTo>
                  <a:lnTo>
                    <a:pt x="1283335" y="0"/>
                  </a:lnTo>
                  <a:cubicBezTo>
                    <a:pt x="1342136" y="0"/>
                    <a:pt x="1389888" y="47752"/>
                    <a:pt x="1389888" y="106553"/>
                  </a:cubicBezTo>
                  <a:lnTo>
                    <a:pt x="1389888" y="356743"/>
                  </a:lnTo>
                  <a:cubicBezTo>
                    <a:pt x="1389888" y="415544"/>
                    <a:pt x="1342136" y="463296"/>
                    <a:pt x="1283335" y="463296"/>
                  </a:cubicBezTo>
                  <a:lnTo>
                    <a:pt x="106553" y="463296"/>
                  </a:lnTo>
                  <a:cubicBezTo>
                    <a:pt x="47752" y="463296"/>
                    <a:pt x="0" y="415544"/>
                    <a:pt x="0" y="356743"/>
                  </a:cubicBezTo>
                  <a:close/>
                </a:path>
              </a:pathLst>
            </a:custGeom>
            <a:solidFill>
              <a:srgbClr val="1D2023"/>
            </a:solidFill>
          </p:spPr>
        </p:sp>
        <p:sp>
          <p:nvSpPr>
            <p:cNvPr name="TextBox 19" id="59"/>
            <p:cNvSpPr txBox="true"/>
            <p:nvPr/>
          </p:nvSpPr>
          <p:spPr>
            <a:xfrm>
              <a:off x="0" y="-9525"/>
              <a:ext cx="1389888" cy="472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BFBFB"/>
                  </a:solidFill>
                  <a:latin typeface="Poppins"/>
                  <a:ea typeface="Poppins"/>
                  <a:cs typeface="Poppins"/>
                  <a:sym typeface="Poppins"/>
                </a:rPr>
                <a:t>Page 06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069848" y="199339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4970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ENTRY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1042416" y="2496312"/>
            <a:ext cx="16203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300" b="1" spc="-100" kern="0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WE START IN </a:t>
            </a:r>
            <a:pPr indent="0" marL="0">
              <a:buNone/>
            </a:pPr>
            <a:r>
              <a:rPr lang="en-US" sz="5300" b="1" spc="-100" kern="0" dirty="0">
                <a:solidFill>
                  <a:srgbClr val="4970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NETHERLANDS.</a:t>
            </a:r>
            <a:endParaRPr lang="en-US" sz="5300" dirty="0"/>
          </a:p>
        </p:txBody>
      </p:sp>
      <p:sp>
        <p:nvSpPr>
          <p:cNvPr id="5" name="Text 2"/>
          <p:cNvSpPr txBox="1"/>
          <p:nvPr/>
        </p:nvSpPr>
        <p:spPr>
          <a:xfrm>
            <a:off x="1069848" y="3557016"/>
            <a:ext cx="16203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the adviser may speak, the deadline is live, and the proof is clean.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1069848" y="4050792"/>
            <a:ext cx="16203168" cy="0"/>
          </a:xfrm>
          <a:prstGeom prst="line">
            <a:avLst/>
          </a:prstGeom>
          <a:noFill/>
          <a:ln w="9525">
            <a:solidFill>
              <a:srgbClr val="DADBD6"/>
            </a:solidFill>
            <a:prstDash val="solid"/>
          </a:ln>
        </p:spPr>
      </p:sp>
      <p:pic>
        <p:nvPicPr>
          <p:cNvPr id="7" name="Image 0" descr="/home/andi/Dokumente/Business/Simone Business/Business/fable-andi/pitch/src/assets/map-n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4297680"/>
            <a:ext cx="6583680" cy="449822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115568" y="8942209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171717"/>
          </a:solidFill>
          <a:ln w="9525">
            <a:solidFill>
              <a:srgbClr val="17171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362456" y="8905633"/>
            <a:ext cx="1906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3E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Software may advise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113532" y="8942209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497078"/>
          </a:solidFill>
          <a:ln w="9525">
            <a:solidFill>
              <a:srgbClr val="49707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60420" y="8905633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3E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Lawyer must sign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878324" y="8942209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D3D4D0"/>
          </a:solidFill>
          <a:ln w="9525">
            <a:solidFill>
              <a:srgbClr val="D3D4D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125212" y="8905633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3E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Firm-led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21324" y="8942209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F1F2EF"/>
          </a:solidFill>
          <a:ln w="9525">
            <a:solidFill>
              <a:srgbClr val="DADBD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268212" y="8905633"/>
            <a:ext cx="1906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3E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in the analysis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19288" y="8951353"/>
            <a:ext cx="155448" cy="155448"/>
          </a:xfrm>
          <a:prstGeom prst="ellipse">
            <a:avLst/>
          </a:prstGeom>
          <a:solidFill>
            <a:srgbClr val="C9654A"/>
          </a:solidFill>
          <a:ln w="12700">
            <a:solidFill>
              <a:srgbClr val="C9654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266176" y="8905633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3E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path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 rot="16200000">
            <a:off x="8476488" y="4846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spc="150" kern="0" dirty="0">
                <a:solidFill>
                  <a:srgbClr val="4970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LEGAL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9162288" y="4599432"/>
            <a:ext cx="811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ADVISER MAY SPEAK</a:t>
            </a:r>
            <a:endParaRPr lang="en-US" sz="2500" dirty="0"/>
          </a:p>
        </p:txBody>
      </p:sp>
      <p:sp>
        <p:nvSpPr>
          <p:cNvPr id="20" name="Text 16"/>
          <p:cNvSpPr txBox="1"/>
          <p:nvPr/>
        </p:nvSpPr>
        <p:spPr>
          <a:xfrm>
            <a:off x="9162288" y="5093208"/>
            <a:ext cx="7973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B3E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Dutch law reserves only the lawyer's title. Software may give a company its answer. In Germany and Austria it may not.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8476488" y="5934456"/>
            <a:ext cx="8796528" cy="0"/>
          </a:xfrm>
          <a:prstGeom prst="line">
            <a:avLst/>
          </a:prstGeom>
          <a:noFill/>
          <a:ln w="9525">
            <a:solidFill>
              <a:srgbClr val="DADBD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 rot="16200000">
            <a:off x="8476488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spc="150" kern="0" dirty="0">
                <a:solidFill>
                  <a:srgbClr val="4970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TIMING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9162288" y="6245352"/>
            <a:ext cx="811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DEADLINE IS LIVE</a:t>
            </a:r>
            <a:endParaRPr lang="en-US" sz="2500" dirty="0"/>
          </a:p>
        </p:txBody>
      </p:sp>
      <p:sp>
        <p:nvSpPr>
          <p:cNvPr id="24" name="Text 20"/>
          <p:cNvSpPr txBox="1"/>
          <p:nvPr/>
        </p:nvSpPr>
        <p:spPr>
          <a:xfrm>
            <a:off x="9162288" y="6739128"/>
            <a:ext cx="7973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B3E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NIS2 in force since August 2026. About 8,000 companies in scope, more than half not registered.</a:t>
            </a:r>
            <a:endParaRPr lang="en-US" sz="1450" dirty="0"/>
          </a:p>
        </p:txBody>
      </p:sp>
      <p:sp>
        <p:nvSpPr>
          <p:cNvPr id="25" name="Shape 21"/>
          <p:cNvSpPr/>
          <p:nvPr/>
        </p:nvSpPr>
        <p:spPr>
          <a:xfrm>
            <a:off x="8476488" y="7580376"/>
            <a:ext cx="8796528" cy="0"/>
          </a:xfrm>
          <a:prstGeom prst="line">
            <a:avLst/>
          </a:prstGeom>
          <a:noFill/>
          <a:ln w="9525">
            <a:solidFill>
              <a:srgbClr val="DADBD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 rot="16200000">
            <a:off x="8476488" y="8138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spc="150" kern="0" dirty="0">
                <a:solidFill>
                  <a:srgbClr val="4970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PROOF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9162288" y="7891272"/>
            <a:ext cx="8110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COMPANIES PAY FOR SOFTWARE</a:t>
            </a:r>
            <a:endParaRPr lang="en-US" sz="2500" dirty="0"/>
          </a:p>
        </p:txBody>
      </p:sp>
      <p:sp>
        <p:nvSpPr>
          <p:cNvPr id="28" name="Text 24"/>
          <p:cNvSpPr txBox="1"/>
          <p:nvPr/>
        </p:nvSpPr>
        <p:spPr>
          <a:xfrm>
            <a:off x="9162288" y="8385048"/>
            <a:ext cx="7973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B3E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lawyer is needed to make the sale. So we learn the one thing that matters: does the adviser sell on its own.</a:t>
            </a:r>
            <a:endParaRPr lang="en-US" sz="1450" dirty="0"/>
          </a:p>
        </p:txBody>
      </p:sp>
      <p:sp>
        <p:nvSpPr>
          <p:cNvPr id="29" name="Text 25"/>
          <p:cNvSpPr txBox="1"/>
          <p:nvPr/>
        </p:nvSpPr>
        <p:spPr>
          <a:xfrm>
            <a:off x="1069848" y="9253728"/>
            <a:ext cx="1410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Sources  </a:t>
            </a:r>
            <a:pPr indent="0" marL="0">
              <a:buNone/>
            </a:pPr>
            <a:r>
              <a:rPr lang="en-US" sz="11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wetten.overheid.nl</a:t>
            </a:r>
            <a:pPr indent="0" marL="0">
              <a:buNone/>
            </a:pPr>
            <a:r>
              <a:rPr lang="en-US" sz="11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</a:t>
            </a:r>
            <a:pPr indent="0" marL="0">
              <a:buNone/>
            </a:pPr>
            <a:r>
              <a:rPr lang="en-US" sz="11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gesetze-im-internet.de</a:t>
            </a:r>
            <a:pPr indent="0" marL="0">
              <a:buNone/>
            </a:pPr>
            <a:r>
              <a:rPr lang="en-US" sz="11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</a:t>
            </a:r>
            <a:pPr indent="0" marL="0">
              <a:buNone/>
            </a:pPr>
            <a:r>
              <a:rPr lang="en-US" sz="11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ris.bka.gv.at</a:t>
            </a:r>
            <a:pPr indent="0" marL="0">
              <a:buNone/>
            </a:pPr>
            <a:r>
              <a:rPr lang="en-US" sz="11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</a:t>
            </a:r>
            <a:pPr indent="0" marL="0">
              <a:buNone/>
            </a:pPr>
            <a:r>
              <a:rPr lang="en-US" sz="11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rdi.nl</a:t>
            </a:r>
            <a:pPr indent="0" marL="0">
              <a:buNone/>
            </a:pPr>
            <a:r>
              <a:rPr lang="en-US" sz="11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</a:t>
            </a:r>
            <a:pPr indent="0" marL="0">
              <a:buNone/>
            </a:pPr>
            <a:r>
              <a:rPr lang="en-US" sz="110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nctv.nl</a:t>
            </a:r>
            <a:endParaRPr lang="en-US" sz="1100" dirty="0"/>
          </a:p>
        </p:txBody>
      </p:sp>
      <p:sp>
        <p:nvSpPr>
          <p:cNvPr name="Freeform 2" id="30"/>
          <p:cNvSpPr/>
          <p:nvPr/>
        </p:nvSpPr>
        <p:spPr>
          <a:xfrm flipH="false" flipV="false" rot="0">
            <a:off x="4027427" y="954576"/>
            <a:ext cx="10233146" cy="693858"/>
          </a:xfrm>
          <a:custGeom>
            <a:avLst/>
            <a:gdLst/>
            <a:ahLst/>
            <a:cxnLst/>
            <a:rect r="r" b="b" t="t" l="l"/>
            <a:pathLst>
              <a:path h="693858" w="10233146">
                <a:moveTo>
                  <a:pt x="0" y="0"/>
                </a:moveTo>
                <a:lnTo>
                  <a:pt x="10233146" y="0"/>
                </a:lnTo>
                <a:lnTo>
                  <a:pt x="10233146" y="693859"/>
                </a:lnTo>
                <a:lnTo>
                  <a:pt x="0" y="6938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1"/>
          <p:cNvSpPr/>
          <p:nvPr/>
        </p:nvSpPr>
        <p:spPr>
          <a:xfrm flipH="false" flipV="false" rot="0">
            <a:off x="4100894" y="1190730"/>
            <a:ext cx="384600" cy="384600"/>
          </a:xfrm>
          <a:custGeom>
            <a:avLst/>
            <a:gdLst/>
            <a:ahLst/>
            <a:cxnLst/>
            <a:rect r="r" b="b" t="t" l="l"/>
            <a:pathLst>
              <a:path h="384600" w="384600">
                <a:moveTo>
                  <a:pt x="0" y="0"/>
                </a:moveTo>
                <a:lnTo>
                  <a:pt x="384600" y="0"/>
                </a:lnTo>
                <a:lnTo>
                  <a:pt x="384600" y="384600"/>
                </a:lnTo>
                <a:lnTo>
                  <a:pt x="0" y="384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32"/>
          <p:cNvSpPr txBox="true"/>
          <p:nvPr/>
        </p:nvSpPr>
        <p:spPr>
          <a:xfrm rot="0">
            <a:off x="4545644" y="1148715"/>
            <a:ext cx="2067239" cy="36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7"/>
              </a:lnSpc>
            </a:pPr>
            <a:r>
              <a:rPr lang="en-US" sz="1797" b="true">
                <a:solidFill>
                  <a:srgbClr val="171717"/>
                </a:solidFill>
                <a:latin typeface="Poppins Bold"/>
                <a:ea typeface="Poppins Bold"/>
                <a:cs typeface="Poppins Bold"/>
                <a:sym typeface="Poppins Bold"/>
              </a:rPr>
              <a:t>Regulift</a:t>
            </a:r>
          </a:p>
        </p:txBody>
      </p:sp>
      <p:grpSp>
        <p:nvGrpSpPr>
          <p:cNvPr name="Group 5" id="33"/>
          <p:cNvGrpSpPr/>
          <p:nvPr/>
        </p:nvGrpSpPr>
        <p:grpSpPr>
          <a:xfrm rot="0">
            <a:off x="7589520" y="1190730"/>
            <a:ext cx="1513332" cy="384962"/>
            <a:chOff x="0" y="0"/>
            <a:chExt cx="2017776" cy="513283"/>
          </a:xfrm>
        </p:grpSpPr>
        <p:sp>
          <p:nvSpPr>
            <p:cNvPr name="Freeform 6" id="34">
              <a:hlinkClick r:id="rId12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7" id="35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About</a:t>
              </a:r>
            </a:p>
          </p:txBody>
        </p:sp>
      </p:grpSp>
      <p:grpSp>
        <p:nvGrpSpPr>
          <p:cNvPr name="Group 8" id="36"/>
          <p:cNvGrpSpPr/>
          <p:nvPr/>
        </p:nvGrpSpPr>
        <p:grpSpPr>
          <a:xfrm rot="0">
            <a:off x="9212580" y="1190730"/>
            <a:ext cx="1513332" cy="384962"/>
            <a:chOff x="0" y="0"/>
            <a:chExt cx="2017776" cy="513283"/>
          </a:xfrm>
        </p:grpSpPr>
        <p:sp>
          <p:nvSpPr>
            <p:cNvPr name="Freeform 9" id="37">
              <a:hlinkClick r:id="rId13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171717"/>
            </a:solidFill>
          </p:spPr>
        </p:sp>
        <p:sp>
          <p:nvSpPr>
            <p:cNvPr name="TextBox 10" id="38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FAFAFA"/>
                  </a:solidFill>
                  <a:latin typeface="Poppins"/>
                  <a:ea typeface="Poppins"/>
                  <a:cs typeface="Poppins"/>
                  <a:sym typeface="Poppins"/>
                </a:rPr>
                <a:t>Service</a:t>
              </a:r>
            </a:p>
          </p:txBody>
        </p:sp>
      </p:grpSp>
      <p:grpSp>
        <p:nvGrpSpPr>
          <p:cNvPr name="Group 11" id="39"/>
          <p:cNvGrpSpPr/>
          <p:nvPr/>
        </p:nvGrpSpPr>
        <p:grpSpPr>
          <a:xfrm rot="0">
            <a:off x="10835640" y="1190730"/>
            <a:ext cx="1513332" cy="384962"/>
            <a:chOff x="0" y="0"/>
            <a:chExt cx="2017776" cy="513283"/>
          </a:xfrm>
        </p:grpSpPr>
        <p:sp>
          <p:nvSpPr>
            <p:cNvPr name="Freeform 12" id="40">
              <a:hlinkClick r:id="rId14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3" id="41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Team</a:t>
              </a:r>
            </a:p>
          </p:txBody>
        </p:sp>
      </p:grpSp>
      <p:grpSp>
        <p:nvGrpSpPr>
          <p:cNvPr name="Group 14" id="42"/>
          <p:cNvGrpSpPr/>
          <p:nvPr/>
        </p:nvGrpSpPr>
        <p:grpSpPr>
          <a:xfrm rot="0">
            <a:off x="12458700" y="1190730"/>
            <a:ext cx="1513332" cy="384962"/>
            <a:chOff x="0" y="0"/>
            <a:chExt cx="2017776" cy="513283"/>
          </a:xfrm>
        </p:grpSpPr>
        <p:sp>
          <p:nvSpPr>
            <p:cNvPr name="Freeform 15" id="43">
              <a:hlinkClick r:id="rId15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6" id="44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Conclusion</a:t>
              </a:r>
            </a:p>
          </p:txBody>
        </p:sp>
      </p:grpSp>
      <p:grpSp>
        <p:nvGrpSpPr>
          <p:cNvPr name="Group 52" id="45"/>
          <p:cNvGrpSpPr/>
          <p:nvPr/>
        </p:nvGrpSpPr>
        <p:grpSpPr>
          <a:xfrm rot="0">
            <a:off x="4158586" y="1272016"/>
            <a:ext cx="269215" cy="222028"/>
            <a:chOff x="0" y="0"/>
            <a:chExt cx="358953" cy="296037"/>
          </a:xfrm>
        </p:grpSpPr>
        <p:sp>
          <p:nvSpPr>
            <p:cNvPr name="Freeform 53" id="46" descr="image.png"/>
            <p:cNvSpPr/>
            <p:nvPr/>
          </p:nvSpPr>
          <p:spPr>
            <a:xfrm flipH="false" flipV="false" rot="0">
              <a:off x="0" y="0"/>
              <a:ext cx="358902" cy="296037"/>
            </a:xfrm>
            <a:custGeom>
              <a:avLst/>
              <a:gdLst/>
              <a:ahLst/>
              <a:cxnLst/>
              <a:rect r="r" b="b" t="t" l="l"/>
              <a:pathLst>
                <a:path h="296037" w="358902">
                  <a:moveTo>
                    <a:pt x="0" y="0"/>
                  </a:moveTo>
                  <a:lnTo>
                    <a:pt x="358902" y="0"/>
                  </a:lnTo>
                  <a:lnTo>
                    <a:pt x="358902" y="296037"/>
                  </a:lnTo>
                  <a:lnTo>
                    <a:pt x="0" y="296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14" b="0"/>
              </a:stretch>
            </a:blipFill>
          </p:spPr>
        </p:sp>
      </p:grpSp>
      <p:grpSp>
        <p:nvGrpSpPr>
          <p:cNvPr name="Group 17" id="47"/>
          <p:cNvGrpSpPr/>
          <p:nvPr/>
        </p:nvGrpSpPr>
        <p:grpSpPr>
          <a:xfrm rot="0">
            <a:off x="16879824" y="9619488"/>
            <a:ext cx="1042416" cy="347472"/>
            <a:chOff x="0" y="0"/>
            <a:chExt cx="1389888" cy="463296"/>
          </a:xfrm>
        </p:grpSpPr>
        <p:sp>
          <p:nvSpPr>
            <p:cNvPr name="Freeform 18" id="48"/>
            <p:cNvSpPr/>
            <p:nvPr/>
          </p:nvSpPr>
          <p:spPr>
            <a:xfrm flipH="false" flipV="false" rot="0">
              <a:off x="0" y="0"/>
              <a:ext cx="1389888" cy="463296"/>
            </a:xfrm>
            <a:custGeom>
              <a:avLst/>
              <a:gdLst/>
              <a:ahLst/>
              <a:cxnLst/>
              <a:rect r="r" b="b" t="t" l="l"/>
              <a:pathLst>
                <a:path h="463296" w="1389888">
                  <a:moveTo>
                    <a:pt x="0" y="106553"/>
                  </a:moveTo>
                  <a:cubicBezTo>
                    <a:pt x="0" y="47752"/>
                    <a:pt x="47752" y="0"/>
                    <a:pt x="106553" y="0"/>
                  </a:cubicBezTo>
                  <a:lnTo>
                    <a:pt x="1283335" y="0"/>
                  </a:lnTo>
                  <a:cubicBezTo>
                    <a:pt x="1342136" y="0"/>
                    <a:pt x="1389888" y="47752"/>
                    <a:pt x="1389888" y="106553"/>
                  </a:cubicBezTo>
                  <a:lnTo>
                    <a:pt x="1389888" y="356743"/>
                  </a:lnTo>
                  <a:cubicBezTo>
                    <a:pt x="1389888" y="415544"/>
                    <a:pt x="1342136" y="463296"/>
                    <a:pt x="1283335" y="463296"/>
                  </a:cubicBezTo>
                  <a:lnTo>
                    <a:pt x="106553" y="463296"/>
                  </a:lnTo>
                  <a:cubicBezTo>
                    <a:pt x="47752" y="463296"/>
                    <a:pt x="0" y="415544"/>
                    <a:pt x="0" y="356743"/>
                  </a:cubicBezTo>
                  <a:close/>
                </a:path>
              </a:pathLst>
            </a:custGeom>
            <a:solidFill>
              <a:srgbClr val="1D2023"/>
            </a:solidFill>
          </p:spPr>
        </p:sp>
        <p:sp>
          <p:nvSpPr>
            <p:cNvPr name="TextBox 19" id="49"/>
            <p:cNvSpPr txBox="true"/>
            <p:nvPr/>
          </p:nvSpPr>
          <p:spPr>
            <a:xfrm>
              <a:off x="0" y="-9525"/>
              <a:ext cx="1389888" cy="472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BFBFB"/>
                  </a:solidFill>
                  <a:latin typeface="Poppins"/>
                  <a:ea typeface="Poppins"/>
                  <a:cs typeface="Poppins"/>
                  <a:sym typeface="Poppins"/>
                </a:rPr>
                <a:t>Page 07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069848" y="199339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4970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 MODEL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1042416" y="2496312"/>
            <a:ext cx="16203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300" b="1" spc="-100" kern="0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ENTER WITH NIS2. </a:t>
            </a:r>
            <a:pPr indent="0" marL="0">
              <a:buNone/>
            </a:pPr>
            <a:r>
              <a:rPr lang="en-US" sz="5300" b="1" spc="-100" kern="0" dirty="0">
                <a:solidFill>
                  <a:srgbClr val="4970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GROW WITH EVERY LAW.</a:t>
            </a:r>
            <a:endParaRPr lang="en-US" sz="5300" dirty="0"/>
          </a:p>
        </p:txBody>
      </p:sp>
      <p:sp>
        <p:nvSpPr>
          <p:cNvPr id="5" name="Text 2"/>
          <p:cNvSpPr txBox="1"/>
          <p:nvPr/>
        </p:nvSpPr>
        <p:spPr>
          <a:xfrm>
            <a:off x="1069848" y="3557016"/>
            <a:ext cx="16203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evidence graph. Every new regulation is a module, every new country a pack. The second sale costs almost nothing.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1069848" y="4050792"/>
            <a:ext cx="16203168" cy="0"/>
          </a:xfrm>
          <a:prstGeom prst="line">
            <a:avLst/>
          </a:prstGeom>
          <a:noFill/>
          <a:ln w="9525">
            <a:solidFill>
              <a:srgbClr val="DADB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92808" y="4434840"/>
            <a:ext cx="5943600" cy="868680"/>
          </a:xfrm>
          <a:prstGeom prst="roundRect">
            <a:avLst>
              <a:gd name="adj" fmla="val 16842"/>
            </a:avLst>
          </a:prstGeom>
          <a:solidFill>
            <a:srgbClr val="E8F2F2"/>
          </a:solidFill>
          <a:ln w="9525">
            <a:solidFill>
              <a:srgbClr val="E8F2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212848" y="4544568"/>
            <a:ext cx="3291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800" b="1" dirty="0">
                <a:solidFill>
                  <a:srgbClr val="2A3A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COUNTRY PACKS</a:t>
            </a:r>
            <a:endParaRPr lang="en-US" sz="1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5663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Same evidence, another country's rules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504688" y="4544568"/>
            <a:ext cx="21031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100"/>
              </a:spcAft>
              <a:buNone/>
            </a:pPr>
            <a:r>
              <a:rPr lang="en-US" sz="1800" b="1" dirty="0">
                <a:solidFill>
                  <a:srgbClr val="2A3A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€600</a:t>
            </a:r>
            <a:endParaRPr lang="en-US" sz="1800" dirty="0"/>
          </a:p>
          <a:p>
            <a:pPr algn="r"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5663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year, per country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481328" y="5394960"/>
            <a:ext cx="6766560" cy="1783080"/>
          </a:xfrm>
          <a:prstGeom prst="roundRect">
            <a:avLst>
              <a:gd name="adj" fmla="val 8205"/>
            </a:avLst>
          </a:prstGeom>
          <a:solidFill>
            <a:srgbClr val="497078"/>
          </a:solidFill>
          <a:ln w="9525">
            <a:solidFill>
              <a:srgbClr val="49707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801368" y="5504688"/>
            <a:ext cx="411480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MODULES</a:t>
            </a:r>
            <a:endParaRPr lang="en-US" sz="1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E6EF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law at a time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916168" y="5504688"/>
            <a:ext cx="210312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1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€1,800</a:t>
            </a:r>
            <a:endParaRPr lang="en-US" sz="1800" dirty="0"/>
          </a:p>
          <a:p>
            <a:pPr algn="r"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F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year, per regulation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801368" y="6263640"/>
            <a:ext cx="1325880" cy="3017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801368" y="626364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15D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NIS2 · ENTRY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36976" y="6263640"/>
            <a:ext cx="868680" cy="301752"/>
          </a:xfrm>
          <a:prstGeom prst="roundRect">
            <a:avLst>
              <a:gd name="adj" fmla="val 50000"/>
            </a:avLst>
          </a:prstGeom>
          <a:solidFill>
            <a:srgbClr val="3A5C63"/>
          </a:solidFill>
          <a:ln w="9525">
            <a:solidFill>
              <a:srgbClr val="5A7C8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236976" y="6263640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F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Act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15384" y="6263640"/>
            <a:ext cx="1783080" cy="301752"/>
          </a:xfrm>
          <a:prstGeom prst="roundRect">
            <a:avLst>
              <a:gd name="adj" fmla="val 50000"/>
            </a:avLst>
          </a:prstGeom>
          <a:solidFill>
            <a:srgbClr val="3A5C63"/>
          </a:solidFill>
          <a:ln w="9525">
            <a:solidFill>
              <a:srgbClr val="5A7C8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215384" y="6263640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F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Cyber Resilience Act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1801368" y="6647688"/>
            <a:ext cx="777240" cy="301752"/>
          </a:xfrm>
          <a:prstGeom prst="roundRect">
            <a:avLst>
              <a:gd name="adj" fmla="val 50000"/>
            </a:avLst>
          </a:prstGeom>
          <a:solidFill>
            <a:srgbClr val="3A5C63"/>
          </a:solidFill>
          <a:ln w="9525">
            <a:solidFill>
              <a:srgbClr val="5A7C8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801368" y="6647688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F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DORA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688336" y="6647688"/>
            <a:ext cx="960120" cy="301752"/>
          </a:xfrm>
          <a:prstGeom prst="roundRect">
            <a:avLst>
              <a:gd name="adj" fmla="val 50000"/>
            </a:avLst>
          </a:prstGeom>
          <a:solidFill>
            <a:srgbClr val="3A5C63"/>
          </a:solidFill>
          <a:ln w="9525">
            <a:solidFill>
              <a:srgbClr val="5A7C8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688336" y="6647688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F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Act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758184" y="6647688"/>
            <a:ext cx="731520" cy="301752"/>
          </a:xfrm>
          <a:prstGeom prst="roundRect">
            <a:avLst>
              <a:gd name="adj" fmla="val 50000"/>
            </a:avLst>
          </a:prstGeom>
          <a:solidFill>
            <a:srgbClr val="497078"/>
          </a:solidFill>
          <a:ln w="9525">
            <a:solidFill>
              <a:srgbClr val="C5D6D8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3758184" y="6647688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5D6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more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069848" y="7269480"/>
            <a:ext cx="7589520" cy="868680"/>
          </a:xfrm>
          <a:prstGeom prst="roundRect">
            <a:avLst>
              <a:gd name="adj" fmla="val 16842"/>
            </a:avLst>
          </a:prstGeom>
          <a:solidFill>
            <a:srgbClr val="171717"/>
          </a:solidFill>
          <a:ln w="9525">
            <a:solidFill>
              <a:srgbClr val="17171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389888" y="7379208"/>
            <a:ext cx="49377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</a:t>
            </a:r>
            <a:endParaRPr lang="en-US" sz="18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B9C4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Evidence graph, adviser, GDPR included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327648" y="7379208"/>
            <a:ext cx="21031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1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€1,800 to 7,200</a:t>
            </a:r>
            <a:endParaRPr lang="en-US" sz="1800" dirty="0"/>
          </a:p>
          <a:p>
            <a:pPr algn="r"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B9C4C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year, by company size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1069848" y="821131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once. Every layer above reuses it.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1722608" y="4343400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TODAY, WITH LAWYER HOURS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14657832" y="4343400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315D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 REGULIFT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9345168" y="4681728"/>
            <a:ext cx="2011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First law, first country</a:t>
            </a:r>
            <a:endParaRPr lang="en-US" sz="1450" dirty="0"/>
          </a:p>
        </p:txBody>
      </p:sp>
      <p:sp>
        <p:nvSpPr>
          <p:cNvPr id="32" name="Shape 29"/>
          <p:cNvSpPr/>
          <p:nvPr/>
        </p:nvSpPr>
        <p:spPr>
          <a:xfrm>
            <a:off x="11539728" y="4681728"/>
            <a:ext cx="2798064" cy="1078992"/>
          </a:xfrm>
          <a:prstGeom prst="roundRect">
            <a:avLst>
              <a:gd name="adj" fmla="val 11864"/>
            </a:avLst>
          </a:prstGeom>
          <a:solidFill>
            <a:srgbClr val="E9E9E6"/>
          </a:solidFill>
          <a:ln w="9525">
            <a:solidFill>
              <a:srgbClr val="E9E9E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814048" y="4681728"/>
            <a:ext cx="23408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b="1" dirty="0">
                <a:solidFill>
                  <a:srgbClr val="4A4D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about €9,800</a:t>
            </a:r>
            <a:endParaRPr lang="en-US" sz="2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A5D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 lawyer hours, one-off.</a:t>
            </a:r>
            <a:endParaRPr lang="en-US" sz="2100" dirty="0"/>
          </a:p>
        </p:txBody>
      </p:sp>
      <p:sp>
        <p:nvSpPr>
          <p:cNvPr id="34" name="Shape 31"/>
          <p:cNvSpPr/>
          <p:nvPr/>
        </p:nvSpPr>
        <p:spPr>
          <a:xfrm>
            <a:off x="14474952" y="4681728"/>
            <a:ext cx="2798064" cy="1078992"/>
          </a:xfrm>
          <a:prstGeom prst="roundRect">
            <a:avLst>
              <a:gd name="adj" fmla="val 11864"/>
            </a:avLst>
          </a:prstGeom>
          <a:solidFill>
            <a:srgbClr val="171717"/>
          </a:solidFill>
          <a:ln w="9525">
            <a:solidFill>
              <a:srgbClr val="17171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4749272" y="4681728"/>
            <a:ext cx="23408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€5,400 a year</a:t>
            </a:r>
            <a:endParaRPr lang="en-US" sz="2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F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 plus NIS2, mid-size company.</a:t>
            </a:r>
            <a:endParaRPr lang="en-US" sz="2100" dirty="0"/>
          </a:p>
        </p:txBody>
      </p:sp>
      <p:sp>
        <p:nvSpPr>
          <p:cNvPr id="36" name="Text 33"/>
          <p:cNvSpPr txBox="1"/>
          <p:nvPr/>
        </p:nvSpPr>
        <p:spPr>
          <a:xfrm>
            <a:off x="9345168" y="5897880"/>
            <a:ext cx="2011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new law</a:t>
            </a:r>
            <a:endParaRPr lang="en-US" sz="1450" dirty="0"/>
          </a:p>
        </p:txBody>
      </p:sp>
      <p:sp>
        <p:nvSpPr>
          <p:cNvPr id="37" name="Shape 34"/>
          <p:cNvSpPr/>
          <p:nvPr/>
        </p:nvSpPr>
        <p:spPr>
          <a:xfrm>
            <a:off x="11539728" y="5897880"/>
            <a:ext cx="2798064" cy="1078992"/>
          </a:xfrm>
          <a:prstGeom prst="roundRect">
            <a:avLst>
              <a:gd name="adj" fmla="val 11864"/>
            </a:avLst>
          </a:prstGeom>
          <a:solidFill>
            <a:srgbClr val="E9E9E6"/>
          </a:solidFill>
          <a:ln w="9525">
            <a:solidFill>
              <a:srgbClr val="E9E9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1814048" y="5897880"/>
            <a:ext cx="23408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b="1" dirty="0">
                <a:solidFill>
                  <a:srgbClr val="4A4D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again €9,800</a:t>
            </a:r>
            <a:endParaRPr lang="en-US" sz="2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A5D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Same fact-finding again.</a:t>
            </a:r>
            <a:endParaRPr lang="en-US" sz="2100" dirty="0"/>
          </a:p>
        </p:txBody>
      </p:sp>
      <p:sp>
        <p:nvSpPr>
          <p:cNvPr id="39" name="Shape 36"/>
          <p:cNvSpPr/>
          <p:nvPr/>
        </p:nvSpPr>
        <p:spPr>
          <a:xfrm>
            <a:off x="14474952" y="5897880"/>
            <a:ext cx="2798064" cy="1078992"/>
          </a:xfrm>
          <a:prstGeom prst="roundRect">
            <a:avLst>
              <a:gd name="adj" fmla="val 11864"/>
            </a:avLst>
          </a:prstGeom>
          <a:solidFill>
            <a:srgbClr val="497078"/>
          </a:solidFill>
          <a:ln w="9525">
            <a:solidFill>
              <a:srgbClr val="49707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4749272" y="5897880"/>
            <a:ext cx="23408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 €1,800</a:t>
            </a:r>
            <a:endParaRPr lang="en-US" sz="2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F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Same evidence, new rules.</a:t>
            </a:r>
            <a:endParaRPr lang="en-US" sz="2100" dirty="0"/>
          </a:p>
        </p:txBody>
      </p:sp>
      <p:sp>
        <p:nvSpPr>
          <p:cNvPr id="41" name="Text 38"/>
          <p:cNvSpPr txBox="1"/>
          <p:nvPr/>
        </p:nvSpPr>
        <p:spPr>
          <a:xfrm>
            <a:off x="9345168" y="7114032"/>
            <a:ext cx="2011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new country</a:t>
            </a:r>
            <a:endParaRPr lang="en-US" sz="1450" dirty="0"/>
          </a:p>
        </p:txBody>
      </p:sp>
      <p:sp>
        <p:nvSpPr>
          <p:cNvPr id="42" name="Shape 39"/>
          <p:cNvSpPr/>
          <p:nvPr/>
        </p:nvSpPr>
        <p:spPr>
          <a:xfrm>
            <a:off x="11539728" y="7114032"/>
            <a:ext cx="2798064" cy="1078992"/>
          </a:xfrm>
          <a:prstGeom prst="roundRect">
            <a:avLst>
              <a:gd name="adj" fmla="val 11864"/>
            </a:avLst>
          </a:prstGeom>
          <a:solidFill>
            <a:srgbClr val="E9E9E6"/>
          </a:solidFill>
          <a:ln w="9525">
            <a:solidFill>
              <a:srgbClr val="E9E9E6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1814048" y="7114032"/>
            <a:ext cx="23408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b="1" dirty="0">
                <a:solidFill>
                  <a:srgbClr val="4A4D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again €9,800</a:t>
            </a:r>
            <a:endParaRPr lang="en-US" sz="2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A5D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firm, new review.</a:t>
            </a:r>
            <a:endParaRPr lang="en-US" sz="2100" dirty="0"/>
          </a:p>
        </p:txBody>
      </p:sp>
      <p:sp>
        <p:nvSpPr>
          <p:cNvPr id="44" name="Shape 41"/>
          <p:cNvSpPr/>
          <p:nvPr/>
        </p:nvSpPr>
        <p:spPr>
          <a:xfrm>
            <a:off x="14474952" y="7114032"/>
            <a:ext cx="2798064" cy="1078992"/>
          </a:xfrm>
          <a:prstGeom prst="roundRect">
            <a:avLst>
              <a:gd name="adj" fmla="val 11864"/>
            </a:avLst>
          </a:prstGeom>
          <a:solidFill>
            <a:srgbClr val="497078"/>
          </a:solidFill>
          <a:ln w="9525">
            <a:solidFill>
              <a:srgbClr val="497078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4749272" y="7114032"/>
            <a:ext cx="23408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 €600</a:t>
            </a:r>
            <a:endParaRPr lang="en-US" sz="2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F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Same evidence, new country.</a:t>
            </a:r>
            <a:endParaRPr lang="en-US" sz="2100" dirty="0"/>
          </a:p>
        </p:txBody>
      </p:sp>
      <p:sp>
        <p:nvSpPr>
          <p:cNvPr id="46" name="Shape 43"/>
          <p:cNvSpPr/>
          <p:nvPr/>
        </p:nvSpPr>
        <p:spPr>
          <a:xfrm>
            <a:off x="1069848" y="8522208"/>
            <a:ext cx="16203168" cy="658368"/>
          </a:xfrm>
          <a:prstGeom prst="roundRect">
            <a:avLst>
              <a:gd name="adj" fmla="val 22222"/>
            </a:avLst>
          </a:prstGeom>
          <a:solidFill>
            <a:srgbClr val="E8F2F2"/>
          </a:solidFill>
          <a:ln w="9525">
            <a:solidFill>
              <a:srgbClr val="E8F2F2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389888" y="852220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15D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3447288" y="8522208"/>
            <a:ext cx="1355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Compliance that gets cheaper with every law and every border makes European companies more competitive.</a:t>
            </a:r>
            <a:endParaRPr lang="en-US" sz="1500" dirty="0"/>
          </a:p>
        </p:txBody>
      </p:sp>
      <p:sp>
        <p:nvSpPr>
          <p:cNvPr id="49" name="Text 46"/>
          <p:cNvSpPr txBox="1"/>
          <p:nvPr/>
        </p:nvSpPr>
        <p:spPr>
          <a:xfrm>
            <a:off x="1069848" y="9235440"/>
            <a:ext cx="1410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Prices proposed.  </a:t>
            </a:r>
            <a:pPr indent="0" marL="0">
              <a:buNone/>
            </a:pPr>
            <a:r>
              <a:rPr lang="en-US" sz="85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Companies pay; law firms use the workspace free, sign where the law requires it, no fee per mandate or fee share. Lawyer column illustrative: 40 hours at the German standard rate of €244 (BRAK STAR 2024, </a:t>
            </a:r>
            <a:pPr indent="0" marL="0">
              <a:buNone/>
            </a:pPr>
            <a:r>
              <a:rPr lang="en-US" sz="85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beck-aktuell.de</a:t>
            </a:r>
            <a:pPr indent="0" marL="0">
              <a:buNone/>
            </a:pPr>
            <a:r>
              <a:rPr lang="en-US" sz="85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); Dutch average €241 (Knab 2026). One NIS2 applicability opinion alone: €3,900 fixed (</a:t>
            </a:r>
            <a:pPr indent="0" marL="0">
              <a:buNone/>
            </a:pPr>
            <a:r>
              <a:rPr lang="en-US" sz="850" u="sng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srd-rechtsanwaelte.de</a:t>
            </a:r>
            <a:pPr indent="0" marL="0">
              <a:buNone/>
            </a:pPr>
            <a:r>
              <a:rPr lang="en-US" sz="85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).</a:t>
            </a:r>
            <a:endParaRPr lang="en-US" sz="850" dirty="0"/>
          </a:p>
        </p:txBody>
      </p:sp>
      <p:sp>
        <p:nvSpPr>
          <p:cNvPr name="Freeform 2" id="50"/>
          <p:cNvSpPr/>
          <p:nvPr/>
        </p:nvSpPr>
        <p:spPr>
          <a:xfrm flipH="false" flipV="false" rot="0">
            <a:off x="4027427" y="954576"/>
            <a:ext cx="10233146" cy="693858"/>
          </a:xfrm>
          <a:custGeom>
            <a:avLst/>
            <a:gdLst/>
            <a:ahLst/>
            <a:cxnLst/>
            <a:rect r="r" b="b" t="t" l="l"/>
            <a:pathLst>
              <a:path h="693858" w="10233146">
                <a:moveTo>
                  <a:pt x="0" y="0"/>
                </a:moveTo>
                <a:lnTo>
                  <a:pt x="10233146" y="0"/>
                </a:lnTo>
                <a:lnTo>
                  <a:pt x="10233146" y="693859"/>
                </a:lnTo>
                <a:lnTo>
                  <a:pt x="0" y="693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51"/>
          <p:cNvSpPr/>
          <p:nvPr/>
        </p:nvSpPr>
        <p:spPr>
          <a:xfrm flipH="false" flipV="false" rot="0">
            <a:off x="4100894" y="1190730"/>
            <a:ext cx="384600" cy="384600"/>
          </a:xfrm>
          <a:custGeom>
            <a:avLst/>
            <a:gdLst/>
            <a:ahLst/>
            <a:cxnLst/>
            <a:rect r="r" b="b" t="t" l="l"/>
            <a:pathLst>
              <a:path h="384600" w="384600">
                <a:moveTo>
                  <a:pt x="0" y="0"/>
                </a:moveTo>
                <a:lnTo>
                  <a:pt x="384600" y="0"/>
                </a:lnTo>
                <a:lnTo>
                  <a:pt x="384600" y="384600"/>
                </a:lnTo>
                <a:lnTo>
                  <a:pt x="0" y="384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52"/>
          <p:cNvSpPr txBox="true"/>
          <p:nvPr/>
        </p:nvSpPr>
        <p:spPr>
          <a:xfrm rot="0">
            <a:off x="4545644" y="1148715"/>
            <a:ext cx="2067239" cy="36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7"/>
              </a:lnSpc>
            </a:pPr>
            <a:r>
              <a:rPr lang="en-US" sz="1797" b="true">
                <a:solidFill>
                  <a:srgbClr val="171717"/>
                </a:solidFill>
                <a:latin typeface="Poppins Bold"/>
                <a:ea typeface="Poppins Bold"/>
                <a:cs typeface="Poppins Bold"/>
                <a:sym typeface="Poppins Bold"/>
              </a:rPr>
              <a:t>Regulift</a:t>
            </a:r>
          </a:p>
        </p:txBody>
      </p:sp>
      <p:grpSp>
        <p:nvGrpSpPr>
          <p:cNvPr name="Group 5" id="53"/>
          <p:cNvGrpSpPr/>
          <p:nvPr/>
        </p:nvGrpSpPr>
        <p:grpSpPr>
          <a:xfrm rot="0">
            <a:off x="7589520" y="1190730"/>
            <a:ext cx="1513332" cy="384962"/>
            <a:chOff x="0" y="0"/>
            <a:chExt cx="2017776" cy="513283"/>
          </a:xfrm>
        </p:grpSpPr>
        <p:sp>
          <p:nvSpPr>
            <p:cNvPr name="Freeform 6" id="54">
              <a:hlinkClick r:id="rId8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7" id="55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About</a:t>
              </a:r>
            </a:p>
          </p:txBody>
        </p:sp>
      </p:grpSp>
      <p:grpSp>
        <p:nvGrpSpPr>
          <p:cNvPr name="Group 8" id="56"/>
          <p:cNvGrpSpPr/>
          <p:nvPr/>
        </p:nvGrpSpPr>
        <p:grpSpPr>
          <a:xfrm rot="0">
            <a:off x="9212580" y="1190730"/>
            <a:ext cx="1513332" cy="384962"/>
            <a:chOff x="0" y="0"/>
            <a:chExt cx="2017776" cy="513283"/>
          </a:xfrm>
        </p:grpSpPr>
        <p:sp>
          <p:nvSpPr>
            <p:cNvPr name="Freeform 9" id="57">
              <a:hlinkClick r:id="rId9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171717"/>
            </a:solidFill>
          </p:spPr>
        </p:sp>
        <p:sp>
          <p:nvSpPr>
            <p:cNvPr name="TextBox 10" id="58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FAFAFA"/>
                  </a:solidFill>
                  <a:latin typeface="Poppins"/>
                  <a:ea typeface="Poppins"/>
                  <a:cs typeface="Poppins"/>
                  <a:sym typeface="Poppins"/>
                </a:rPr>
                <a:t>Service</a:t>
              </a:r>
            </a:p>
          </p:txBody>
        </p:sp>
      </p:grpSp>
      <p:grpSp>
        <p:nvGrpSpPr>
          <p:cNvPr name="Group 11" id="59"/>
          <p:cNvGrpSpPr/>
          <p:nvPr/>
        </p:nvGrpSpPr>
        <p:grpSpPr>
          <a:xfrm rot="0">
            <a:off x="10835640" y="1190730"/>
            <a:ext cx="1513332" cy="384962"/>
            <a:chOff x="0" y="0"/>
            <a:chExt cx="2017776" cy="513283"/>
          </a:xfrm>
        </p:grpSpPr>
        <p:sp>
          <p:nvSpPr>
            <p:cNvPr name="Freeform 12" id="60">
              <a:hlinkClick r:id="rId10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3" id="61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Team</a:t>
              </a:r>
            </a:p>
          </p:txBody>
        </p:sp>
      </p:grpSp>
      <p:grpSp>
        <p:nvGrpSpPr>
          <p:cNvPr name="Group 14" id="62"/>
          <p:cNvGrpSpPr/>
          <p:nvPr/>
        </p:nvGrpSpPr>
        <p:grpSpPr>
          <a:xfrm rot="0">
            <a:off x="12458700" y="1190730"/>
            <a:ext cx="1513332" cy="384962"/>
            <a:chOff x="0" y="0"/>
            <a:chExt cx="2017776" cy="513283"/>
          </a:xfrm>
        </p:grpSpPr>
        <p:sp>
          <p:nvSpPr>
            <p:cNvPr name="Freeform 15" id="63">
              <a:hlinkClick r:id="rId11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6" id="64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Conclusion</a:t>
              </a:r>
            </a:p>
          </p:txBody>
        </p:sp>
      </p:grpSp>
      <p:grpSp>
        <p:nvGrpSpPr>
          <p:cNvPr name="Group 52" id="65"/>
          <p:cNvGrpSpPr/>
          <p:nvPr/>
        </p:nvGrpSpPr>
        <p:grpSpPr>
          <a:xfrm rot="0">
            <a:off x="4158586" y="1272016"/>
            <a:ext cx="269215" cy="222028"/>
            <a:chOff x="0" y="0"/>
            <a:chExt cx="358953" cy="296037"/>
          </a:xfrm>
        </p:grpSpPr>
        <p:sp>
          <p:nvSpPr>
            <p:cNvPr name="Freeform 53" id="66" descr="image.png"/>
            <p:cNvSpPr/>
            <p:nvPr/>
          </p:nvSpPr>
          <p:spPr>
            <a:xfrm flipH="false" flipV="false" rot="0">
              <a:off x="0" y="0"/>
              <a:ext cx="358902" cy="296037"/>
            </a:xfrm>
            <a:custGeom>
              <a:avLst/>
              <a:gdLst/>
              <a:ahLst/>
              <a:cxnLst/>
              <a:rect r="r" b="b" t="t" l="l"/>
              <a:pathLst>
                <a:path h="296037" w="358902">
                  <a:moveTo>
                    <a:pt x="0" y="0"/>
                  </a:moveTo>
                  <a:lnTo>
                    <a:pt x="358902" y="0"/>
                  </a:lnTo>
                  <a:lnTo>
                    <a:pt x="358902" y="296037"/>
                  </a:lnTo>
                  <a:lnTo>
                    <a:pt x="0" y="296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14" b="0"/>
              </a:stretch>
            </a:blipFill>
          </p:spPr>
        </p:sp>
      </p:grpSp>
      <p:grpSp>
        <p:nvGrpSpPr>
          <p:cNvPr name="Group 17" id="67"/>
          <p:cNvGrpSpPr/>
          <p:nvPr/>
        </p:nvGrpSpPr>
        <p:grpSpPr>
          <a:xfrm rot="0">
            <a:off x="16879824" y="9619488"/>
            <a:ext cx="1042416" cy="347472"/>
            <a:chOff x="0" y="0"/>
            <a:chExt cx="1389888" cy="463296"/>
          </a:xfrm>
        </p:grpSpPr>
        <p:sp>
          <p:nvSpPr>
            <p:cNvPr name="Freeform 18" id="68"/>
            <p:cNvSpPr/>
            <p:nvPr/>
          </p:nvSpPr>
          <p:spPr>
            <a:xfrm flipH="false" flipV="false" rot="0">
              <a:off x="0" y="0"/>
              <a:ext cx="1389888" cy="463296"/>
            </a:xfrm>
            <a:custGeom>
              <a:avLst/>
              <a:gdLst/>
              <a:ahLst/>
              <a:cxnLst/>
              <a:rect r="r" b="b" t="t" l="l"/>
              <a:pathLst>
                <a:path h="463296" w="1389888">
                  <a:moveTo>
                    <a:pt x="0" y="106553"/>
                  </a:moveTo>
                  <a:cubicBezTo>
                    <a:pt x="0" y="47752"/>
                    <a:pt x="47752" y="0"/>
                    <a:pt x="106553" y="0"/>
                  </a:cubicBezTo>
                  <a:lnTo>
                    <a:pt x="1283335" y="0"/>
                  </a:lnTo>
                  <a:cubicBezTo>
                    <a:pt x="1342136" y="0"/>
                    <a:pt x="1389888" y="47752"/>
                    <a:pt x="1389888" y="106553"/>
                  </a:cubicBezTo>
                  <a:lnTo>
                    <a:pt x="1389888" y="356743"/>
                  </a:lnTo>
                  <a:cubicBezTo>
                    <a:pt x="1389888" y="415544"/>
                    <a:pt x="1342136" y="463296"/>
                    <a:pt x="1283335" y="463296"/>
                  </a:cubicBezTo>
                  <a:lnTo>
                    <a:pt x="106553" y="463296"/>
                  </a:lnTo>
                  <a:cubicBezTo>
                    <a:pt x="47752" y="463296"/>
                    <a:pt x="0" y="415544"/>
                    <a:pt x="0" y="356743"/>
                  </a:cubicBezTo>
                  <a:close/>
                </a:path>
              </a:pathLst>
            </a:custGeom>
            <a:solidFill>
              <a:srgbClr val="1D2023"/>
            </a:solidFill>
          </p:spPr>
        </p:sp>
        <p:sp>
          <p:nvSpPr>
            <p:cNvPr name="TextBox 19" id="69"/>
            <p:cNvSpPr txBox="true"/>
            <p:nvPr/>
          </p:nvSpPr>
          <p:spPr>
            <a:xfrm>
              <a:off x="0" y="-9525"/>
              <a:ext cx="1389888" cy="472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BFBFB"/>
                  </a:solidFill>
                  <a:latin typeface="Poppins"/>
                  <a:ea typeface="Poppins"/>
                  <a:cs typeface="Poppins"/>
                  <a:sym typeface="Poppins"/>
                </a:rPr>
                <a:t>Page 08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069848" y="199339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4970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1042416" y="2496312"/>
            <a:ext cx="16203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300" b="1" spc="-100" kern="0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WE </a:t>
            </a:r>
            <a:pPr indent="0" marL="0">
              <a:buNone/>
            </a:pPr>
            <a:r>
              <a:rPr lang="en-US" sz="5300" b="1" spc="-100" kern="0" dirty="0">
                <a:solidFill>
                  <a:srgbClr val="4970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STAND.</a:t>
            </a:r>
            <a:endParaRPr lang="en-US" sz="5300" dirty="0"/>
          </a:p>
        </p:txBody>
      </p:sp>
      <p:sp>
        <p:nvSpPr>
          <p:cNvPr id="5" name="Text 2"/>
          <p:cNvSpPr txBox="1"/>
          <p:nvPr/>
        </p:nvSpPr>
        <p:spPr>
          <a:xfrm>
            <a:off x="1069848" y="3557016"/>
            <a:ext cx="16203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and validate first. Then build, launch, grow.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1069848" y="4050792"/>
            <a:ext cx="16203168" cy="0"/>
          </a:xfrm>
          <a:prstGeom prst="line">
            <a:avLst/>
          </a:prstGeom>
          <a:noFill/>
          <a:ln w="9525">
            <a:solidFill>
              <a:srgbClr val="DADB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353312" y="4846320"/>
            <a:ext cx="12460986" cy="0"/>
          </a:xfrm>
          <a:prstGeom prst="line">
            <a:avLst/>
          </a:prstGeom>
          <a:noFill/>
          <a:ln w="38100">
            <a:solidFill>
              <a:srgbClr val="DADB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53312" y="4846320"/>
            <a:ext cx="1871091" cy="0"/>
          </a:xfrm>
          <a:prstGeom prst="line">
            <a:avLst/>
          </a:prstGeom>
          <a:noFill/>
          <a:ln w="38100">
            <a:solidFill>
              <a:srgbClr val="17171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4407408"/>
            <a:ext cx="877824" cy="877824"/>
          </a:xfrm>
          <a:prstGeom prst="ellipse">
            <a:avLst/>
          </a:prstGeom>
          <a:solidFill>
            <a:srgbClr val="FBFBFB"/>
          </a:solidFill>
          <a:ln w="15875">
            <a:solidFill>
              <a:srgbClr val="B5B7B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69848" y="4562856"/>
            <a:ext cx="566928" cy="56692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69848" y="5349240"/>
            <a:ext cx="37421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069848" y="5650992"/>
            <a:ext cx="37421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AND VALIDATE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069848" y="6217920"/>
            <a:ext cx="374218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3B3E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Planning the product.</a:t>
            </a:r>
            <a:endParaRPr lang="en-US" sz="1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B3E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Validating the legal model country by country.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223510" y="4562856"/>
            <a:ext cx="566928" cy="566928"/>
          </a:xfrm>
          <a:prstGeom prst="ellipse">
            <a:avLst/>
          </a:prstGeom>
          <a:solidFill>
            <a:srgbClr val="497078"/>
          </a:solidFill>
          <a:ln w="12700">
            <a:solidFill>
              <a:srgbClr val="49707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24678" y="476402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23510" y="5349240"/>
            <a:ext cx="37421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15D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ENTREPRENEURS LAB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223510" y="5650992"/>
            <a:ext cx="37421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5223510" y="6217920"/>
            <a:ext cx="374218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3B3E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the MVP.</a:t>
            </a:r>
            <a:endParaRPr lang="en-US" sz="1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B3E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Evidence graph, adviser, legal gate.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377172" y="4562856"/>
            <a:ext cx="566928" cy="566928"/>
          </a:xfrm>
          <a:prstGeom prst="ellipse">
            <a:avLst/>
          </a:prstGeom>
          <a:solidFill>
            <a:srgbClr val="FBFBFB"/>
          </a:solidFill>
          <a:ln w="22225">
            <a:solidFill>
              <a:srgbClr val="B9BBB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377172" y="5349240"/>
            <a:ext cx="37421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THEN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9377172" y="5650992"/>
            <a:ext cx="37421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A4D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LAUNCH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9377172" y="6217920"/>
            <a:ext cx="374218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NIS2 readiness in the Netherlands.</a:t>
            </a:r>
            <a:endParaRPr lang="en-US" sz="1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Win customers. Sign law firm partners.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3530834" y="4562856"/>
            <a:ext cx="566928" cy="566928"/>
          </a:xfrm>
          <a:prstGeom prst="ellipse">
            <a:avLst/>
          </a:prstGeom>
          <a:solidFill>
            <a:srgbClr val="FBFBFB"/>
          </a:solidFill>
          <a:ln w="22225">
            <a:solidFill>
              <a:srgbClr val="B9BBB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3530834" y="5349240"/>
            <a:ext cx="37421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THEN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13530834" y="5650992"/>
            <a:ext cx="37421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A4D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GROW</a:t>
            </a:r>
            <a:endParaRPr lang="en-US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13530834" y="6217920"/>
            <a:ext cx="374218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Sweden next.</a:t>
            </a:r>
            <a:endParaRPr lang="en-US" sz="1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Germany as a country pack. Every further regulation.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1069848" y="7955280"/>
            <a:ext cx="16203168" cy="960120"/>
          </a:xfrm>
          <a:prstGeom prst="roundRect">
            <a:avLst>
              <a:gd name="adj" fmla="val 15238"/>
            </a:avLst>
          </a:prstGeom>
          <a:solidFill>
            <a:srgbClr val="E8F2F2"/>
          </a:solidFill>
          <a:ln w="9525">
            <a:solidFill>
              <a:srgbClr val="E8F2F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rot="16200000">
            <a:off x="1732788" y="7292340"/>
            <a:ext cx="960120" cy="2286000"/>
          </a:xfrm>
          <a:prstGeom prst="round2SameRect">
            <a:avLst>
              <a:gd name="adj" fmla="val 15238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69848" y="795528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MISSION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3767328" y="7955280"/>
            <a:ext cx="13185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Companies spend less on regulation and more on what makes them </a:t>
            </a:r>
            <a:pPr indent="0" marL="0">
              <a:buNone/>
            </a:pPr>
            <a:r>
              <a:rPr lang="en-US" sz="2200" b="1" spc="-50" kern="0" dirty="0">
                <a:solidFill>
                  <a:srgbClr val="315D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competitive.</a:t>
            </a:r>
            <a:endParaRPr lang="en-US" sz="2200" dirty="0"/>
          </a:p>
        </p:txBody>
      </p:sp>
      <p:sp>
        <p:nvSpPr>
          <p:cNvPr name="Freeform 2" id="31"/>
          <p:cNvSpPr/>
          <p:nvPr/>
        </p:nvSpPr>
        <p:spPr>
          <a:xfrm flipH="false" flipV="false" rot="0">
            <a:off x="4027427" y="954576"/>
            <a:ext cx="10233146" cy="693858"/>
          </a:xfrm>
          <a:custGeom>
            <a:avLst/>
            <a:gdLst/>
            <a:ahLst/>
            <a:cxnLst/>
            <a:rect r="r" b="b" t="t" l="l"/>
            <a:pathLst>
              <a:path h="693858" w="10233146">
                <a:moveTo>
                  <a:pt x="0" y="0"/>
                </a:moveTo>
                <a:lnTo>
                  <a:pt x="10233146" y="0"/>
                </a:lnTo>
                <a:lnTo>
                  <a:pt x="10233146" y="693859"/>
                </a:lnTo>
                <a:lnTo>
                  <a:pt x="0" y="693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2"/>
          <p:cNvSpPr/>
          <p:nvPr/>
        </p:nvSpPr>
        <p:spPr>
          <a:xfrm flipH="false" flipV="false" rot="0">
            <a:off x="4100894" y="1190730"/>
            <a:ext cx="384600" cy="384600"/>
          </a:xfrm>
          <a:custGeom>
            <a:avLst/>
            <a:gdLst/>
            <a:ahLst/>
            <a:cxnLst/>
            <a:rect r="r" b="b" t="t" l="l"/>
            <a:pathLst>
              <a:path h="384600" w="384600">
                <a:moveTo>
                  <a:pt x="0" y="0"/>
                </a:moveTo>
                <a:lnTo>
                  <a:pt x="384600" y="0"/>
                </a:lnTo>
                <a:lnTo>
                  <a:pt x="384600" y="384600"/>
                </a:lnTo>
                <a:lnTo>
                  <a:pt x="0" y="384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33"/>
          <p:cNvSpPr txBox="true"/>
          <p:nvPr/>
        </p:nvSpPr>
        <p:spPr>
          <a:xfrm rot="0">
            <a:off x="4545644" y="1148715"/>
            <a:ext cx="2067239" cy="36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7"/>
              </a:lnSpc>
            </a:pPr>
            <a:r>
              <a:rPr lang="en-US" sz="1797" b="true">
                <a:solidFill>
                  <a:srgbClr val="171717"/>
                </a:solidFill>
                <a:latin typeface="Poppins Bold"/>
                <a:ea typeface="Poppins Bold"/>
                <a:cs typeface="Poppins Bold"/>
                <a:sym typeface="Poppins Bold"/>
              </a:rPr>
              <a:t>Regulift</a:t>
            </a:r>
          </a:p>
        </p:txBody>
      </p:sp>
      <p:grpSp>
        <p:nvGrpSpPr>
          <p:cNvPr name="Group 5" id="34"/>
          <p:cNvGrpSpPr/>
          <p:nvPr/>
        </p:nvGrpSpPr>
        <p:grpSpPr>
          <a:xfrm rot="0">
            <a:off x="7589520" y="1190730"/>
            <a:ext cx="1513332" cy="384962"/>
            <a:chOff x="0" y="0"/>
            <a:chExt cx="2017776" cy="513283"/>
          </a:xfrm>
        </p:grpSpPr>
        <p:sp>
          <p:nvSpPr>
            <p:cNvPr name="Freeform 6" id="35">
              <a:hlinkClick r:id="rId6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7" id="36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About</a:t>
              </a:r>
            </a:p>
          </p:txBody>
        </p:sp>
      </p:grpSp>
      <p:grpSp>
        <p:nvGrpSpPr>
          <p:cNvPr name="Group 8" id="37"/>
          <p:cNvGrpSpPr/>
          <p:nvPr/>
        </p:nvGrpSpPr>
        <p:grpSpPr>
          <a:xfrm rot="0">
            <a:off x="9212580" y="1190730"/>
            <a:ext cx="1513332" cy="384962"/>
            <a:chOff x="0" y="0"/>
            <a:chExt cx="2017776" cy="513283"/>
          </a:xfrm>
        </p:grpSpPr>
        <p:sp>
          <p:nvSpPr>
            <p:cNvPr name="Freeform 9" id="38">
              <a:hlinkClick r:id="rId7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0" id="39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Service</a:t>
              </a:r>
            </a:p>
          </p:txBody>
        </p:sp>
      </p:grpSp>
      <p:grpSp>
        <p:nvGrpSpPr>
          <p:cNvPr name="Group 11" id="40"/>
          <p:cNvGrpSpPr/>
          <p:nvPr/>
        </p:nvGrpSpPr>
        <p:grpSpPr>
          <a:xfrm rot="0">
            <a:off x="10835640" y="1190730"/>
            <a:ext cx="1513332" cy="384962"/>
            <a:chOff x="0" y="0"/>
            <a:chExt cx="2017776" cy="513283"/>
          </a:xfrm>
        </p:grpSpPr>
        <p:sp>
          <p:nvSpPr>
            <p:cNvPr name="Freeform 12" id="41">
              <a:hlinkClick r:id="rId8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3" id="42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Team</a:t>
              </a:r>
            </a:p>
          </p:txBody>
        </p:sp>
      </p:grpSp>
      <p:grpSp>
        <p:nvGrpSpPr>
          <p:cNvPr name="Group 14" id="43"/>
          <p:cNvGrpSpPr/>
          <p:nvPr/>
        </p:nvGrpSpPr>
        <p:grpSpPr>
          <a:xfrm rot="0">
            <a:off x="12458700" y="1190730"/>
            <a:ext cx="1513332" cy="384962"/>
            <a:chOff x="0" y="0"/>
            <a:chExt cx="2017776" cy="513283"/>
          </a:xfrm>
        </p:grpSpPr>
        <p:sp>
          <p:nvSpPr>
            <p:cNvPr name="Freeform 15" id="44">
              <a:hlinkClick r:id="rId9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171717"/>
            </a:solidFill>
          </p:spPr>
        </p:sp>
        <p:sp>
          <p:nvSpPr>
            <p:cNvPr name="TextBox 16" id="45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FAFAFA"/>
                  </a:solidFill>
                  <a:latin typeface="Poppins"/>
                  <a:ea typeface="Poppins"/>
                  <a:cs typeface="Poppins"/>
                  <a:sym typeface="Poppins"/>
                </a:rPr>
                <a:t>Conclusion</a:t>
              </a:r>
            </a:p>
          </p:txBody>
        </p:sp>
      </p:grpSp>
      <p:grpSp>
        <p:nvGrpSpPr>
          <p:cNvPr name="Group 52" id="46"/>
          <p:cNvGrpSpPr/>
          <p:nvPr/>
        </p:nvGrpSpPr>
        <p:grpSpPr>
          <a:xfrm rot="0">
            <a:off x="4158586" y="1272016"/>
            <a:ext cx="269215" cy="222028"/>
            <a:chOff x="0" y="0"/>
            <a:chExt cx="358953" cy="296037"/>
          </a:xfrm>
        </p:grpSpPr>
        <p:sp>
          <p:nvSpPr>
            <p:cNvPr name="Freeform 53" id="47" descr="image.png"/>
            <p:cNvSpPr/>
            <p:nvPr/>
          </p:nvSpPr>
          <p:spPr>
            <a:xfrm flipH="false" flipV="false" rot="0">
              <a:off x="0" y="0"/>
              <a:ext cx="358902" cy="296037"/>
            </a:xfrm>
            <a:custGeom>
              <a:avLst/>
              <a:gdLst/>
              <a:ahLst/>
              <a:cxnLst/>
              <a:rect r="r" b="b" t="t" l="l"/>
              <a:pathLst>
                <a:path h="296037" w="358902">
                  <a:moveTo>
                    <a:pt x="0" y="0"/>
                  </a:moveTo>
                  <a:lnTo>
                    <a:pt x="358902" y="0"/>
                  </a:lnTo>
                  <a:lnTo>
                    <a:pt x="358902" y="296037"/>
                  </a:lnTo>
                  <a:lnTo>
                    <a:pt x="0" y="296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14" b="0"/>
              </a:stretch>
            </a:blipFill>
          </p:spPr>
        </p:sp>
      </p:grpSp>
      <p:grpSp>
        <p:nvGrpSpPr>
          <p:cNvPr name="Group 17" id="48"/>
          <p:cNvGrpSpPr/>
          <p:nvPr/>
        </p:nvGrpSpPr>
        <p:grpSpPr>
          <a:xfrm rot="0">
            <a:off x="16879824" y="9619488"/>
            <a:ext cx="1042416" cy="347472"/>
            <a:chOff x="0" y="0"/>
            <a:chExt cx="1389888" cy="463296"/>
          </a:xfrm>
        </p:grpSpPr>
        <p:sp>
          <p:nvSpPr>
            <p:cNvPr name="Freeform 18" id="49"/>
            <p:cNvSpPr/>
            <p:nvPr/>
          </p:nvSpPr>
          <p:spPr>
            <a:xfrm flipH="false" flipV="false" rot="0">
              <a:off x="0" y="0"/>
              <a:ext cx="1389888" cy="463296"/>
            </a:xfrm>
            <a:custGeom>
              <a:avLst/>
              <a:gdLst/>
              <a:ahLst/>
              <a:cxnLst/>
              <a:rect r="r" b="b" t="t" l="l"/>
              <a:pathLst>
                <a:path h="463296" w="1389888">
                  <a:moveTo>
                    <a:pt x="0" y="106553"/>
                  </a:moveTo>
                  <a:cubicBezTo>
                    <a:pt x="0" y="47752"/>
                    <a:pt x="47752" y="0"/>
                    <a:pt x="106553" y="0"/>
                  </a:cubicBezTo>
                  <a:lnTo>
                    <a:pt x="1283335" y="0"/>
                  </a:lnTo>
                  <a:cubicBezTo>
                    <a:pt x="1342136" y="0"/>
                    <a:pt x="1389888" y="47752"/>
                    <a:pt x="1389888" y="106553"/>
                  </a:cubicBezTo>
                  <a:lnTo>
                    <a:pt x="1389888" y="356743"/>
                  </a:lnTo>
                  <a:cubicBezTo>
                    <a:pt x="1389888" y="415544"/>
                    <a:pt x="1342136" y="463296"/>
                    <a:pt x="1283335" y="463296"/>
                  </a:cubicBezTo>
                  <a:lnTo>
                    <a:pt x="106553" y="463296"/>
                  </a:lnTo>
                  <a:cubicBezTo>
                    <a:pt x="47752" y="463296"/>
                    <a:pt x="0" y="415544"/>
                    <a:pt x="0" y="356743"/>
                  </a:cubicBezTo>
                  <a:close/>
                </a:path>
              </a:pathLst>
            </a:custGeom>
            <a:solidFill>
              <a:srgbClr val="1D2023"/>
            </a:solidFill>
          </p:spPr>
        </p:sp>
        <p:sp>
          <p:nvSpPr>
            <p:cNvPr name="TextBox 19" id="50"/>
            <p:cNvSpPr txBox="true"/>
            <p:nvPr/>
          </p:nvSpPr>
          <p:spPr>
            <a:xfrm>
              <a:off x="0" y="-9525"/>
              <a:ext cx="1389888" cy="472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BFBFB"/>
                  </a:solidFill>
                  <a:latin typeface="Poppins"/>
                  <a:ea typeface="Poppins"/>
                  <a:cs typeface="Poppins"/>
                  <a:sym typeface="Poppins"/>
                </a:rPr>
                <a:t>Page 09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069848" y="199339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4970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PAIN POINTS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1042416" y="2496312"/>
            <a:ext cx="16203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300" b="1" spc="-100" kern="0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COMPLIANCE IS STILL </a:t>
            </a:r>
            <a:pPr indent="0" marL="0">
              <a:buNone/>
            </a:pPr>
            <a:r>
              <a:rPr lang="en-US" sz="5300" b="1" spc="-100" kern="0" dirty="0">
                <a:solidFill>
                  <a:srgbClr val="A95E5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GUESSWORK.</a:t>
            </a:r>
            <a:endParaRPr lang="en-US" sz="5300" dirty="0"/>
          </a:p>
        </p:txBody>
      </p:sp>
      <p:sp>
        <p:nvSpPr>
          <p:cNvPr id="5" name="Text 2"/>
          <p:cNvSpPr txBox="1"/>
          <p:nvPr/>
        </p:nvSpPr>
        <p:spPr>
          <a:xfrm>
            <a:off x="1069848" y="3557016"/>
            <a:ext cx="16203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6870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Companies pay to reconstruct facts that already exist in their systems.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1069848" y="4050792"/>
            <a:ext cx="16203168" cy="0"/>
          </a:xfrm>
          <a:prstGeom prst="line">
            <a:avLst/>
          </a:prstGeom>
          <a:noFill/>
          <a:ln w="9525">
            <a:solidFill>
              <a:srgbClr val="DADB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69848" y="4572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TODAY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824728" y="4645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spc="150" kern="0" dirty="0">
                <a:solidFill>
                  <a:srgbClr val="A95E5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OUTSIDE-IN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069848" y="5074920"/>
            <a:ext cx="8412480" cy="0"/>
          </a:xfrm>
          <a:prstGeom prst="line">
            <a:avLst/>
          </a:prstGeom>
          <a:noFill/>
          <a:ln w="19050">
            <a:solidFill>
              <a:srgbClr val="17171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69848" y="5522976"/>
            <a:ext cx="603504" cy="603504"/>
          </a:xfrm>
          <a:prstGeom prst="ellipse">
            <a:avLst/>
          </a:prstGeom>
          <a:solidFill>
            <a:srgbClr val="F2E5E2"/>
          </a:solidFill>
          <a:ln w="12700">
            <a:solidFill>
              <a:srgbClr val="F2E5E2"/>
            </a:solidFill>
            <a:prstDash val="solid"/>
          </a:ln>
        </p:spPr>
      </p:sp>
      <p:pic>
        <p:nvPicPr>
          <p:cNvPr id="11" name="Image 0" descr="/home/andi/Dokumente/Business/Simone Business/Business/fable-andi/pitch/src/assets/pain-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5550408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38528" y="544068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QUESTIONNAIRES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938528" y="582472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3E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Answers from memory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1069848" y="6419088"/>
            <a:ext cx="8412480" cy="0"/>
          </a:xfrm>
          <a:prstGeom prst="line">
            <a:avLst/>
          </a:prstGeom>
          <a:noFill/>
          <a:ln w="9525">
            <a:solidFill>
              <a:srgbClr val="DADBD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69848" y="6711696"/>
            <a:ext cx="603504" cy="603504"/>
          </a:xfrm>
          <a:prstGeom prst="ellipse">
            <a:avLst/>
          </a:prstGeom>
          <a:solidFill>
            <a:srgbClr val="F2E5E2"/>
          </a:solidFill>
          <a:ln w="12700">
            <a:solidFill>
              <a:srgbClr val="F2E5E2"/>
            </a:solidFill>
            <a:prstDash val="solid"/>
          </a:ln>
        </p:spPr>
      </p:sp>
      <p:pic>
        <p:nvPicPr>
          <p:cNvPr id="16" name="Image 1" descr="/home/andi/Dokumente/Business/Simone Business/Business/fable-andi/pitch/src/assets/pain-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6739128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938528" y="662940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STALE EVIDENCE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938528" y="70134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3E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Gaps go unseen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1069848" y="7607808"/>
            <a:ext cx="8412480" cy="0"/>
          </a:xfrm>
          <a:prstGeom prst="line">
            <a:avLst/>
          </a:prstGeom>
          <a:noFill/>
          <a:ln w="9525">
            <a:solidFill>
              <a:srgbClr val="DADBD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69848" y="7900416"/>
            <a:ext cx="603504" cy="603504"/>
          </a:xfrm>
          <a:prstGeom prst="ellipse">
            <a:avLst/>
          </a:prstGeom>
          <a:solidFill>
            <a:srgbClr val="F2E5E2"/>
          </a:solidFill>
          <a:ln w="12700">
            <a:solidFill>
              <a:srgbClr val="F2E5E2"/>
            </a:solidFill>
            <a:prstDash val="solid"/>
          </a:ln>
        </p:spPr>
      </p:sp>
      <p:pic>
        <p:nvPicPr>
          <p:cNvPr id="21" name="Image 2" descr="/home/andi/Dokumente/Business/Simone Business/Business/fable-andi/pitch/src/assets/pain-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7927848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938528" y="781812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LEGAL OVERHEAD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1938528" y="82021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3E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Fact-finding repeats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9848088" y="7013448"/>
            <a:ext cx="731520" cy="0"/>
          </a:xfrm>
          <a:prstGeom prst="line">
            <a:avLst/>
          </a:prstGeom>
          <a:noFill/>
          <a:ln w="38100">
            <a:solidFill>
              <a:srgbClr val="497078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10945368" y="4572000"/>
            <a:ext cx="6327648" cy="4224528"/>
          </a:xfrm>
          <a:prstGeom prst="roundRect">
            <a:avLst>
              <a:gd name="adj" fmla="val 4762"/>
            </a:avLst>
          </a:prstGeom>
          <a:solidFill>
            <a:srgbClr val="E8F2F2"/>
          </a:solidFill>
          <a:ln w="9525">
            <a:solidFill>
              <a:srgbClr val="E8F2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1356848" y="5001768"/>
            <a:ext cx="201168" cy="201168"/>
          </a:xfrm>
          <a:prstGeom prst="ellipse">
            <a:avLst/>
          </a:prstGeom>
          <a:solidFill>
            <a:srgbClr val="497078"/>
          </a:solidFill>
          <a:ln w="19050">
            <a:solidFill>
              <a:srgbClr val="B9D4D8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11676888" y="49377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15D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REGULIFT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11356848" y="5440680"/>
            <a:ext cx="55046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spc="-50" kern="0" dirty="0">
                <a:solidFill>
                  <a:srgbClr val="4970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AI-first compliance: </a:t>
            </a:r>
            <a:pPr indent="0" marL="0">
              <a:lnSpc>
                <a:spcPct val="105000"/>
              </a:lnSpc>
              <a:buNone/>
            </a:pPr>
            <a:r>
              <a:rPr lang="en-US" sz="2600" b="1" spc="-50" kern="0" dirty="0">
                <a:solidFill>
                  <a:srgbClr val="1717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facts come from your systems, not from questionnaires.</a:t>
            </a:r>
            <a:endParaRPr lang="en-US" sz="2600" dirty="0"/>
          </a:p>
        </p:txBody>
      </p:sp>
      <p:sp>
        <p:nvSpPr>
          <p:cNvPr id="29" name="Shape 23"/>
          <p:cNvSpPr/>
          <p:nvPr/>
        </p:nvSpPr>
        <p:spPr>
          <a:xfrm>
            <a:off x="11356848" y="7882128"/>
            <a:ext cx="5504688" cy="0"/>
          </a:xfrm>
          <a:prstGeom prst="line">
            <a:avLst/>
          </a:prstGeom>
          <a:noFill/>
          <a:ln w="9525">
            <a:solidFill>
              <a:srgbClr val="C9DCDE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11356848" y="8019288"/>
            <a:ext cx="5504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15D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Next: </a:t>
            </a:r>
            <a:pPr indent="0" marL="0">
              <a:buNone/>
            </a:pPr>
            <a:r>
              <a:rPr lang="en-US" sz="1300" dirty="0">
                <a:solidFill>
                  <a:srgbClr val="4A5E6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inside out framework.</a:t>
            </a:r>
            <a:endParaRPr lang="en-US" sz="1300" dirty="0"/>
          </a:p>
        </p:txBody>
      </p:sp>
      <p:sp>
        <p:nvSpPr>
          <p:cNvPr name="Freeform 2" id="31"/>
          <p:cNvSpPr/>
          <p:nvPr/>
        </p:nvSpPr>
        <p:spPr>
          <a:xfrm flipH="false" flipV="false" rot="0">
            <a:off x="4027427" y="954576"/>
            <a:ext cx="10233146" cy="693858"/>
          </a:xfrm>
          <a:custGeom>
            <a:avLst/>
            <a:gdLst/>
            <a:ahLst/>
            <a:cxnLst/>
            <a:rect r="r" b="b" t="t" l="l"/>
            <a:pathLst>
              <a:path h="693858" w="10233146">
                <a:moveTo>
                  <a:pt x="0" y="0"/>
                </a:moveTo>
                <a:lnTo>
                  <a:pt x="10233146" y="0"/>
                </a:lnTo>
                <a:lnTo>
                  <a:pt x="10233146" y="693859"/>
                </a:lnTo>
                <a:lnTo>
                  <a:pt x="0" y="6938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2"/>
          <p:cNvSpPr/>
          <p:nvPr/>
        </p:nvSpPr>
        <p:spPr>
          <a:xfrm flipH="false" flipV="false" rot="0">
            <a:off x="4100894" y="1190730"/>
            <a:ext cx="384600" cy="384600"/>
          </a:xfrm>
          <a:custGeom>
            <a:avLst/>
            <a:gdLst/>
            <a:ahLst/>
            <a:cxnLst/>
            <a:rect r="r" b="b" t="t" l="l"/>
            <a:pathLst>
              <a:path h="384600" w="384600">
                <a:moveTo>
                  <a:pt x="0" y="0"/>
                </a:moveTo>
                <a:lnTo>
                  <a:pt x="384600" y="0"/>
                </a:lnTo>
                <a:lnTo>
                  <a:pt x="384600" y="384600"/>
                </a:lnTo>
                <a:lnTo>
                  <a:pt x="0" y="3846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33"/>
          <p:cNvSpPr txBox="true"/>
          <p:nvPr/>
        </p:nvSpPr>
        <p:spPr>
          <a:xfrm rot="0">
            <a:off x="4545644" y="1148715"/>
            <a:ext cx="2067239" cy="36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7"/>
              </a:lnSpc>
            </a:pPr>
            <a:r>
              <a:rPr lang="en-US" sz="1797" b="true">
                <a:solidFill>
                  <a:srgbClr val="171717"/>
                </a:solidFill>
                <a:latin typeface="Poppins Bold"/>
                <a:ea typeface="Poppins Bold"/>
                <a:cs typeface="Poppins Bold"/>
                <a:sym typeface="Poppins Bold"/>
              </a:rPr>
              <a:t>Regulift</a:t>
            </a:r>
          </a:p>
        </p:txBody>
      </p:sp>
      <p:grpSp>
        <p:nvGrpSpPr>
          <p:cNvPr name="Group 5" id="34"/>
          <p:cNvGrpSpPr/>
          <p:nvPr/>
        </p:nvGrpSpPr>
        <p:grpSpPr>
          <a:xfrm rot="0">
            <a:off x="7589520" y="1190730"/>
            <a:ext cx="1513332" cy="384962"/>
            <a:chOff x="0" y="0"/>
            <a:chExt cx="2017776" cy="513283"/>
          </a:xfrm>
        </p:grpSpPr>
        <p:sp>
          <p:nvSpPr>
            <p:cNvPr name="Freeform 6" id="35">
              <a:hlinkClick r:id="rId9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171717"/>
            </a:solidFill>
          </p:spPr>
        </p:sp>
        <p:sp>
          <p:nvSpPr>
            <p:cNvPr name="TextBox 7" id="36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FAFAFA"/>
                  </a:solidFill>
                  <a:latin typeface="Poppins"/>
                  <a:ea typeface="Poppins"/>
                  <a:cs typeface="Poppins"/>
                  <a:sym typeface="Poppins"/>
                </a:rPr>
                <a:t>About</a:t>
              </a:r>
            </a:p>
          </p:txBody>
        </p:sp>
      </p:grpSp>
      <p:grpSp>
        <p:nvGrpSpPr>
          <p:cNvPr name="Group 8" id="37"/>
          <p:cNvGrpSpPr/>
          <p:nvPr/>
        </p:nvGrpSpPr>
        <p:grpSpPr>
          <a:xfrm rot="0">
            <a:off x="9212580" y="1190730"/>
            <a:ext cx="1513332" cy="384962"/>
            <a:chOff x="0" y="0"/>
            <a:chExt cx="2017776" cy="513283"/>
          </a:xfrm>
        </p:grpSpPr>
        <p:sp>
          <p:nvSpPr>
            <p:cNvPr name="Freeform 9" id="38">
              <a:hlinkClick r:id="rId10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0" id="39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Service</a:t>
              </a:r>
            </a:p>
          </p:txBody>
        </p:sp>
      </p:grpSp>
      <p:grpSp>
        <p:nvGrpSpPr>
          <p:cNvPr name="Group 11" id="40"/>
          <p:cNvGrpSpPr/>
          <p:nvPr/>
        </p:nvGrpSpPr>
        <p:grpSpPr>
          <a:xfrm rot="0">
            <a:off x="10835640" y="1190730"/>
            <a:ext cx="1513332" cy="384962"/>
            <a:chOff x="0" y="0"/>
            <a:chExt cx="2017776" cy="513283"/>
          </a:xfrm>
        </p:grpSpPr>
        <p:sp>
          <p:nvSpPr>
            <p:cNvPr name="Freeform 12" id="41">
              <a:hlinkClick r:id="rId11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3" id="42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Team</a:t>
              </a:r>
            </a:p>
          </p:txBody>
        </p:sp>
      </p:grpSp>
      <p:grpSp>
        <p:nvGrpSpPr>
          <p:cNvPr name="Group 14" id="43"/>
          <p:cNvGrpSpPr/>
          <p:nvPr/>
        </p:nvGrpSpPr>
        <p:grpSpPr>
          <a:xfrm rot="0">
            <a:off x="12458700" y="1190730"/>
            <a:ext cx="1513332" cy="384962"/>
            <a:chOff x="0" y="0"/>
            <a:chExt cx="2017776" cy="513283"/>
          </a:xfrm>
        </p:grpSpPr>
        <p:sp>
          <p:nvSpPr>
            <p:cNvPr name="Freeform 15" id="44">
              <a:hlinkClick r:id="rId12" action="ppaction://hlinksldjump"/>
            </p:cNvPr>
            <p:cNvSpPr/>
            <p:nvPr/>
          </p:nvSpPr>
          <p:spPr>
            <a:xfrm flipH="false" flipV="false" rot="0">
              <a:off x="0" y="0"/>
              <a:ext cx="2017776" cy="513334"/>
            </a:xfrm>
            <a:custGeom>
              <a:avLst/>
              <a:gdLst/>
              <a:ahLst/>
              <a:cxnLst/>
              <a:rect r="r" b="b" t="t" l="l"/>
              <a:pathLst>
                <a:path h="513334" w="201777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761109" y="0"/>
                  </a:lnTo>
                  <a:cubicBezTo>
                    <a:pt x="1902841" y="0"/>
                    <a:pt x="2017776" y="114935"/>
                    <a:pt x="2017776" y="256667"/>
                  </a:cubicBezTo>
                  <a:cubicBezTo>
                    <a:pt x="2017776" y="398399"/>
                    <a:pt x="1902841" y="513334"/>
                    <a:pt x="1761109" y="513334"/>
                  </a:cubicBezTo>
                  <a:lnTo>
                    <a:pt x="256667" y="513334"/>
                  </a:lnTo>
                  <a:cubicBezTo>
                    <a:pt x="114935" y="513334"/>
                    <a:pt x="0" y="398399"/>
                    <a:pt x="0" y="256667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16" id="45"/>
            <p:cNvSpPr txBox="true"/>
            <p:nvPr/>
          </p:nvSpPr>
          <p:spPr>
            <a:xfrm>
              <a:off x="0" y="-9525"/>
              <a:ext cx="2017776" cy="52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171717"/>
                  </a:solidFill>
                  <a:latin typeface="Poppins"/>
                  <a:ea typeface="Poppins"/>
                  <a:cs typeface="Poppins"/>
                  <a:sym typeface="Poppins"/>
                </a:rPr>
                <a:t>Conclusion</a:t>
              </a:r>
            </a:p>
          </p:txBody>
        </p:sp>
      </p:grpSp>
      <p:grpSp>
        <p:nvGrpSpPr>
          <p:cNvPr name="Group 52" id="46"/>
          <p:cNvGrpSpPr/>
          <p:nvPr/>
        </p:nvGrpSpPr>
        <p:grpSpPr>
          <a:xfrm rot="0">
            <a:off x="4158586" y="1272016"/>
            <a:ext cx="269215" cy="222028"/>
            <a:chOff x="0" y="0"/>
            <a:chExt cx="358953" cy="296037"/>
          </a:xfrm>
        </p:grpSpPr>
        <p:sp>
          <p:nvSpPr>
            <p:cNvPr name="Freeform 53" id="47" descr="image.png"/>
            <p:cNvSpPr/>
            <p:nvPr/>
          </p:nvSpPr>
          <p:spPr>
            <a:xfrm flipH="false" flipV="false" rot="0">
              <a:off x="0" y="0"/>
              <a:ext cx="358902" cy="296037"/>
            </a:xfrm>
            <a:custGeom>
              <a:avLst/>
              <a:gdLst/>
              <a:ahLst/>
              <a:cxnLst/>
              <a:rect r="r" b="b" t="t" l="l"/>
              <a:pathLst>
                <a:path h="296037" w="358902">
                  <a:moveTo>
                    <a:pt x="0" y="0"/>
                  </a:moveTo>
                  <a:lnTo>
                    <a:pt x="358902" y="0"/>
                  </a:lnTo>
                  <a:lnTo>
                    <a:pt x="358902" y="296037"/>
                  </a:lnTo>
                  <a:lnTo>
                    <a:pt x="0" y="296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14" b="0"/>
              </a:stretch>
            </a:blipFill>
          </p:spPr>
        </p:sp>
      </p:grpSp>
      <p:grpSp>
        <p:nvGrpSpPr>
          <p:cNvPr name="Group 17" id="48"/>
          <p:cNvGrpSpPr/>
          <p:nvPr/>
        </p:nvGrpSpPr>
        <p:grpSpPr>
          <a:xfrm rot="0">
            <a:off x="16879824" y="9619488"/>
            <a:ext cx="1042416" cy="347472"/>
            <a:chOff x="0" y="0"/>
            <a:chExt cx="1389888" cy="463296"/>
          </a:xfrm>
        </p:grpSpPr>
        <p:sp>
          <p:nvSpPr>
            <p:cNvPr name="Freeform 18" id="49"/>
            <p:cNvSpPr/>
            <p:nvPr/>
          </p:nvSpPr>
          <p:spPr>
            <a:xfrm flipH="false" flipV="false" rot="0">
              <a:off x="0" y="0"/>
              <a:ext cx="1389888" cy="463296"/>
            </a:xfrm>
            <a:custGeom>
              <a:avLst/>
              <a:gdLst/>
              <a:ahLst/>
              <a:cxnLst/>
              <a:rect r="r" b="b" t="t" l="l"/>
              <a:pathLst>
                <a:path h="463296" w="1389888">
                  <a:moveTo>
                    <a:pt x="0" y="106553"/>
                  </a:moveTo>
                  <a:cubicBezTo>
                    <a:pt x="0" y="47752"/>
                    <a:pt x="47752" y="0"/>
                    <a:pt x="106553" y="0"/>
                  </a:cubicBezTo>
                  <a:lnTo>
                    <a:pt x="1283335" y="0"/>
                  </a:lnTo>
                  <a:cubicBezTo>
                    <a:pt x="1342136" y="0"/>
                    <a:pt x="1389888" y="47752"/>
                    <a:pt x="1389888" y="106553"/>
                  </a:cubicBezTo>
                  <a:lnTo>
                    <a:pt x="1389888" y="356743"/>
                  </a:lnTo>
                  <a:cubicBezTo>
                    <a:pt x="1389888" y="415544"/>
                    <a:pt x="1342136" y="463296"/>
                    <a:pt x="1283335" y="463296"/>
                  </a:cubicBezTo>
                  <a:lnTo>
                    <a:pt x="106553" y="463296"/>
                  </a:lnTo>
                  <a:cubicBezTo>
                    <a:pt x="47752" y="463296"/>
                    <a:pt x="0" y="415544"/>
                    <a:pt x="0" y="356743"/>
                  </a:cubicBezTo>
                  <a:close/>
                </a:path>
              </a:pathLst>
            </a:custGeom>
            <a:solidFill>
              <a:srgbClr val="1D2023"/>
            </a:solidFill>
          </p:spPr>
        </p:sp>
        <p:sp>
          <p:nvSpPr>
            <p:cNvPr name="TextBox 19" id="50"/>
            <p:cNvSpPr txBox="true"/>
            <p:nvPr/>
          </p:nvSpPr>
          <p:spPr>
            <a:xfrm>
              <a:off x="0" y="-9525"/>
              <a:ext cx="1389888" cy="472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BFBFB"/>
                  </a:solidFill>
                  <a:latin typeface="Poppins"/>
                  <a:ea typeface="Poppins"/>
                  <a:cs typeface="Poppins"/>
                  <a:sym typeface="Poppins"/>
                </a:rPr>
                <a:t>Page 02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DAHYepigwf8</dc:identifier>
  <dcterms:modified xsi:type="dcterms:W3CDTF">2011-08-01T06:04:30Z</dcterms:modified>
  <cp:revision>1</cp:revision>
  <dc:title>slides.pptx</dc:title>
</cp:coreProperties>
</file>