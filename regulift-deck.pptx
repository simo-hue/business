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3" r:id="rId15"/>
    <p:sldId id="264" r:id="rId16"/>
    <p:sldId id="265" r:id="rId17"/>
    <p:sldId id="266" r:id="rId18"/>
    <p:sldId id="267" r:id="rId19"/>
    <p:sldId id="261" r:id="rId11"/>
    <p:sldId id="262" r:id="rId12"/>
  </p:sldIdLst>
  <p:sldSz cx="18288000" cy="10287000"/>
  <p:notesSz cx="6858000" cy="9144000"/>
  <p:embeddedFontLst>
    <p:embeddedFont>
      <p:font typeface="Poppins Bold" charset="1" panose="00000800000000000000"/>
      <p:regular r:id="rId13"/>
    </p:embeddedFont>
    <p:embeddedFont>
      <p:font typeface="Poppins" charset="1" panose="00000500000000000000"/>
      <p:regular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arget="slideMasters/slideMaster1.xml" Type="http://schemas.openxmlformats.org/officeDocument/2006/relationships/slideMaster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slide6.xml" Type="http://schemas.openxmlformats.org/officeDocument/2006/relationships/slide"/><Relationship Id="rId11" Target="../media/image6.pn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slide1.xml" Type="http://schemas.openxmlformats.org/officeDocument/2006/relationships/slide"/><Relationship Id="rId8" Target="slide3.xml" Type="http://schemas.openxmlformats.org/officeDocument/2006/relationships/slide"/><Relationship Id="rId9" Target="slide7.xml" Type="http://schemas.openxmlformats.org/officeDocument/2006/relationships/slid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7.jpeg" Type="http://schemas.openxmlformats.org/officeDocument/2006/relationships/image"/><Relationship Id="rId11" Target="../media/image6.png" Type="http://schemas.openxmlformats.org/officeDocument/2006/relationships/image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4" Target="../media/image4.png" Type="http://schemas.openxmlformats.org/officeDocument/2006/relationships/image"/><Relationship Id="rId5" Target="../media/image5.svg" Type="http://schemas.openxmlformats.org/officeDocument/2006/relationships/image"/><Relationship Id="rId6" Target="slide1.xml" Type="http://schemas.openxmlformats.org/officeDocument/2006/relationships/slide"/><Relationship Id="rId7" Target="slide3.xml" Type="http://schemas.openxmlformats.org/officeDocument/2006/relationships/slide"/><Relationship Id="rId8" Target="slide7.xml" Type="http://schemas.openxmlformats.org/officeDocument/2006/relationships/slide"/><Relationship Id="rId9" Target="slide6.xml" Type="http://schemas.openxmlformats.org/officeDocument/2006/relationships/slid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7.jpeg" Type="http://schemas.openxmlformats.org/officeDocument/2006/relationships/image"/><Relationship Id="rId11" Target="../media/image8.png" Type="http://schemas.openxmlformats.org/officeDocument/2006/relationships/image"/><Relationship Id="rId12" Target="../media/image6.png" Type="http://schemas.openxmlformats.org/officeDocument/2006/relationships/image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4" Target="../media/image4.png" Type="http://schemas.openxmlformats.org/officeDocument/2006/relationships/image"/><Relationship Id="rId5" Target="../media/image5.svg" Type="http://schemas.openxmlformats.org/officeDocument/2006/relationships/image"/><Relationship Id="rId6" Target="slide1.xml" Type="http://schemas.openxmlformats.org/officeDocument/2006/relationships/slide"/><Relationship Id="rId7" Target="slide3.xml" Type="http://schemas.openxmlformats.org/officeDocument/2006/relationships/slide"/><Relationship Id="rId8" Target="slide7.xml" Type="http://schemas.openxmlformats.org/officeDocument/2006/relationships/slide"/><Relationship Id="rId9" Target="slide6.xml" Type="http://schemas.openxmlformats.org/officeDocument/2006/relationships/slid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7.jpeg" Type="http://schemas.openxmlformats.org/officeDocument/2006/relationships/image"/><Relationship Id="rId11" Target="../media/image6.png" Type="http://schemas.openxmlformats.org/officeDocument/2006/relationships/image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4" Target="../media/image4.png" Type="http://schemas.openxmlformats.org/officeDocument/2006/relationships/image"/><Relationship Id="rId5" Target="../media/image5.svg" Type="http://schemas.openxmlformats.org/officeDocument/2006/relationships/image"/><Relationship Id="rId6" Target="slide1.xml" Type="http://schemas.openxmlformats.org/officeDocument/2006/relationships/slide"/><Relationship Id="rId7" Target="slide3.xml" Type="http://schemas.openxmlformats.org/officeDocument/2006/relationships/slide"/><Relationship Id="rId8" Target="slide7.xml" Type="http://schemas.openxmlformats.org/officeDocument/2006/relationships/slide"/><Relationship Id="rId9" Target="slide6.xml" Type="http://schemas.openxmlformats.org/officeDocument/2006/relationships/slid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slide3.xml" Type="http://schemas.openxmlformats.org/officeDocument/2006/relationships/slide"/><Relationship Id="rId11" Target="slide7.xml" Type="http://schemas.openxmlformats.org/officeDocument/2006/relationships/slide"/><Relationship Id="rId12" Target="slide6.xml" Type="http://schemas.openxmlformats.org/officeDocument/2006/relationships/slide"/><Relationship Id="rId13" Target="https://simo-hue.github.io/regulift/" TargetMode="External" Type="http://schemas.openxmlformats.org/officeDocument/2006/relationships/hyperlink"/><Relationship Id="rId14" Target="../media/image11.png" Type="http://schemas.openxmlformats.org/officeDocument/2006/relationships/image"/><Relationship Id="rId15" Target="../media/image6.png" Type="http://schemas.openxmlformats.org/officeDocument/2006/relationships/image"/><Relationship Id="rId2" Target="../media/image9.png" Type="http://schemas.openxmlformats.org/officeDocument/2006/relationships/image"/><Relationship Id="rId3" Target="../media/image7.jpeg" Type="http://schemas.openxmlformats.org/officeDocument/2006/relationships/image"/><Relationship Id="rId4" Target="../media/image10.png" Type="http://schemas.openxmlformats.org/officeDocument/2006/relationships/image"/><Relationship Id="rId5" Target="../media/image2.png" Type="http://schemas.openxmlformats.org/officeDocument/2006/relationships/image"/><Relationship Id="rId6" Target="../media/image3.svg" Type="http://schemas.openxmlformats.org/officeDocument/2006/relationships/image"/><Relationship Id="rId7" Target="../media/image4.png" Type="http://schemas.openxmlformats.org/officeDocument/2006/relationships/image"/><Relationship Id="rId8" Target="../media/image5.svg" Type="http://schemas.openxmlformats.org/officeDocument/2006/relationships/image"/><Relationship Id="rId9" Target="slide1.xml" Type="http://schemas.openxmlformats.org/officeDocument/2006/relationships/slid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slide6.xml" Type="http://schemas.openxmlformats.org/officeDocument/2006/relationships/slide"/><Relationship Id="rId11" Target="../media/image6.png" Type="http://schemas.openxmlformats.org/officeDocument/2006/relationships/image"/><Relationship Id="rId2" Target="../media/image12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slide1.xml" Type="http://schemas.openxmlformats.org/officeDocument/2006/relationships/slide"/><Relationship Id="rId8" Target="slide3.xml" Type="http://schemas.openxmlformats.org/officeDocument/2006/relationships/slide"/><Relationship Id="rId9" Target="slide7.xml" Type="http://schemas.openxmlformats.org/officeDocument/2006/relationships/slide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hyperlink" Target="https://wetten.overheid.nl/BWBR0002093/2026-01-01" TargetMode="External"/><Relationship Id="rId2" Type="http://schemas.openxmlformats.org/officeDocument/2006/relationships/hyperlink" Target="https://www.riksdagen.se/sv/dokument-och-lagar/dokument/svensk-forfattningssamling/lag-1985354-om-forbud-mot-juridiskt-eller_sfs-1985-354/" TargetMode="External"/><Relationship Id="rId3" Type="http://schemas.openxmlformats.org/officeDocument/2006/relationships/hyperlink" Target="https://www.retsinformation.dk/eli/lta/2025/1298/pdf" TargetMode="External"/><Relationship Id="rId4" Type="http://schemas.openxmlformats.org/officeDocument/2006/relationships/hyperlink" Target="https://opendata.finlex.fi/finlex/avoindata/v1/akn/fi/act/statute-consolidated/1958/496/fin@20250543" TargetMode="External"/><Relationship Id="rId5" Type="http://schemas.openxmlformats.org/officeDocument/2006/relationships/hyperlink" Target="https://api.sejm.gov.pl/eli/acts/DU/2026/1290/text.pdf" TargetMode="External"/><Relationship Id="rId6" Type="http://schemas.openxmlformats.org/officeDocument/2006/relationships/hyperlink" Target="https://www.ejustice.just.fgov.be/eli/loi/1967/10/10/1967101053/justel" TargetMode="External"/><Relationship Id="rId7" Type="http://schemas.openxmlformats.org/officeDocument/2006/relationships/hyperlink" Target="https://www.fedlex.admin.ch/eli/cc/2002/153/de" TargetMode="External"/><Relationship Id="rId8" Type="http://schemas.openxmlformats.org/officeDocument/2006/relationships/hyperlink" Target="https://www.gesetze-im-internet.de/rdg/" TargetMode="External"/><Relationship Id="rId9" Type="http://schemas.openxmlformats.org/officeDocument/2006/relationships/hyperlink" Target="https://www.bundesgerichtshof.de/SharedDocs/Pressemitteilungen/DE/2021/2021171.html" TargetMode="External"/><Relationship Id="rId10" Type="http://schemas.openxmlformats.org/officeDocument/2006/relationships/hyperlink" Target="https://www.normattiva.it/uri-res/N2Ls?urn:nir:stato:legge:2012-12-31;247~art2" TargetMode="External"/><Relationship Id="rId11" Type="http://schemas.openxmlformats.org/officeDocument/2006/relationships/hyperlink" Target="https://www.ris.bka.gv.at/NormDokument.wxe?Abfrage=Bundesnormen&amp;Gesetzesnummer=10001673&amp;Paragraf=8" TargetMode="External"/><Relationship Id="rId12" Type="http://schemas.openxmlformats.org/officeDocument/2006/relationships/hyperlink" Target="https://ec.europa.eu/eurostat/databrowser/view/sbs_sc_ovw/default/table" TargetMode="External"/><Relationship Id="rId13" Type="http://schemas.openxmlformats.org/officeDocument/2006/relationships/hyperlink" Target="https://dam-api.bfs.admin.ch/hub/api/dam/assets/36734571/master" TargetMode="External"/><Relationship Id="rId14" Type="http://schemas.openxmlformats.org/officeDocument/2006/relationships/hyperlink" Target="https://ec.europa.eu/eurostat/databrowser/view/sbs_ovw_act/default/table" TargetMode="External"/><Relationship Id="rId15" Type="http://schemas.openxmlformats.org/officeDocument/2006/relationships/hyperlink" Target="https://e-justice.europa.eu/topics/taking-legal-action/where-and-how/costs_en" TargetMode="External"/><Relationship Id="rId16" Type="http://schemas.openxmlformats.org/officeDocument/2006/relationships/hyperlink" Target="https://www.rdi.nl/actueel/nieuws/2026/08/15/de-cyberbeveiligingswet-treedt-in-werking" TargetMode="External"/><Relationship Id="rId17" Type="http://schemas.openxmlformats.org/officeDocument/2006/relationships/hyperlink" Target="https://www.riksdagen.se/sv/dokument-och-lagar/dokument/svensk-forfattningssamling/cybersakerhetslag-20251506_sfs-2025-1506/" TargetMode="External"/><Relationship Id="rId18" Type="http://schemas.openxmlformats.org/officeDocument/2006/relationships/hyperlink" Target="https://www.retsinformation.dk/eli/lta/2025/434" TargetMode="External"/><Relationship Id="rId19" Type="http://schemas.openxmlformats.org/officeDocument/2006/relationships/hyperlink" Target="https://www.finlex.fi/fi/lainsaadanto/2025/124" TargetMode="External"/><Relationship Id="rId20" Type="http://schemas.openxmlformats.org/officeDocument/2006/relationships/hyperlink" Target="https://api.sejm.gov.pl/eli/acts/DU/2026/252" TargetMode="External"/><Relationship Id="rId21" Type="http://schemas.openxmlformats.org/officeDocument/2006/relationships/hyperlink" Target="https://www.bsi.bund.de/DE/Service-Navi/Presse/Pressemitteilungen/Presse2025/251205_NIS-2-Umsetzungsgesetz_in_Kraft.html" TargetMode="External"/><Relationship Id="rId22" Type="http://schemas.openxmlformats.org/officeDocument/2006/relationships/hyperlink" Target="https://www.gazzettaufficiale.it/eli/id/2024/10/01/24G00155/sg" TargetMode="External"/><Relationship Id="rId23" Type="http://schemas.openxmlformats.org/officeDocument/2006/relationships/hyperlink" Target="https://www.ris.bka.gv.at/Dokumente/Bundesnormen/NOR40273890/NOR40273890.pdf" TargetMode="External"/><Relationship Id="rId24" Type="http://schemas.openxmlformats.org/officeDocument/2006/relationships/hyperlink" Target="https://digital-strategy.ec.europa.eu/en/policies/nis-transposition" TargetMode="External"/><Relationship Id="rId25" Type="http://schemas.openxmlformats.org/officeDocument/2006/relationships/slideLayout" Target="../slideLayouts/slideLayout7.xml"/><Relationship Id="rId26" Type="http://schemas.openxmlformats.org/officeDocument/2006/relationships/image" Target="../media/image2.png"/><Relationship Id="rId27" Type="http://schemas.openxmlformats.org/officeDocument/2006/relationships/image" Target="../media/image3.svg"/><Relationship Id="rId28" Type="http://schemas.openxmlformats.org/officeDocument/2006/relationships/image" Target="../media/image4.png"/><Relationship Id="rId29" Type="http://schemas.openxmlformats.org/officeDocument/2006/relationships/image" Target="../media/image5.svg"/><Relationship Id="rId30" Type="http://schemas.openxmlformats.org/officeDocument/2006/relationships/slide" Target="slide1.xml"/><Relationship Id="rId31" Type="http://schemas.openxmlformats.org/officeDocument/2006/relationships/slide" Target="slide3.xml"/><Relationship Id="rId32" Type="http://schemas.openxmlformats.org/officeDocument/2006/relationships/slide" Target="slide7.xml"/><Relationship Id="rId33" Type="http://schemas.openxmlformats.org/officeDocument/2006/relationships/slide" Target="slide6.xml"/><Relationship Id="rId34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hyperlink" Target="https://www.bundesgerichtshof.de/SharedDocs/Pressemitteilungen/DE/2021/2021171.html" TargetMode="External"/><Relationship Id="rId2" Type="http://schemas.openxmlformats.org/officeDocument/2006/relationships/slideLayout" Target="../slideLayouts/slideLayout7.xml"/><Relationship Id="rId3" Type="http://schemas.openxmlformats.org/officeDocument/2006/relationships/image" Target="../media/image2.png"/><Relationship Id="rId4" Type="http://schemas.openxmlformats.org/officeDocument/2006/relationships/image" Target="../media/image3.svg"/><Relationship Id="rId5" Type="http://schemas.openxmlformats.org/officeDocument/2006/relationships/image" Target="../media/image4.png"/><Relationship Id="rId6" Type="http://schemas.openxmlformats.org/officeDocument/2006/relationships/image" Target="../media/image5.svg"/><Relationship Id="rId7" Type="http://schemas.openxmlformats.org/officeDocument/2006/relationships/slide" Target="slide1.xml"/><Relationship Id="rId8" Type="http://schemas.openxmlformats.org/officeDocument/2006/relationships/slide" Target="slide3.xml"/><Relationship Id="rId9" Type="http://schemas.openxmlformats.org/officeDocument/2006/relationships/slide" Target="slide7.xml"/><Relationship Id="rId10" Type="http://schemas.openxmlformats.org/officeDocument/2006/relationships/slide" Target="slide6.xml"/><Relationship Id="rId11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2" Type="http://schemas.openxmlformats.org/officeDocument/2006/relationships/hyperlink" Target="https://wetten.overheid.nl/BWBR0002093/2026-01-01" TargetMode="External"/><Relationship Id="rId3" Type="http://schemas.openxmlformats.org/officeDocument/2006/relationships/hyperlink" Target="https://www.gesetze-im-internet.de/rdg/" TargetMode="External"/><Relationship Id="rId4" Type="http://schemas.openxmlformats.org/officeDocument/2006/relationships/hyperlink" Target="https://www.ris.bka.gv.at/NormDokument.wxe?Abfrage=Bundesnormen&amp;Gesetzesnummer=10001673&amp;Paragraf=8" TargetMode="External"/><Relationship Id="rId5" Type="http://schemas.openxmlformats.org/officeDocument/2006/relationships/hyperlink" Target="https://www.rdi.nl/actueel/nieuws/2026/08/15/de-cyberbeveiligingswet-treedt-in-werking" TargetMode="External"/><Relationship Id="rId6" Type="http://schemas.openxmlformats.org/officeDocument/2006/relationships/hyperlink" Target="https://www.nctv.nl/onderwerpen/c/cyberbeveiligingswet/vragen-en-antwoorden" TargetMode="External"/><Relationship Id="rId1" Type="http://schemas.openxmlformats.org/officeDocument/2006/relationships/image" Target="../media/image13.png"/><Relationship Id="rId7" Type="http://schemas.openxmlformats.org/officeDocument/2006/relationships/slideLayout" Target="../slideLayouts/slideLayout7.xml"/><Relationship Id="rId8" Type="http://schemas.openxmlformats.org/officeDocument/2006/relationships/image" Target="../media/image2.png"/><Relationship Id="rId9" Type="http://schemas.openxmlformats.org/officeDocument/2006/relationships/image" Target="../media/image3.svg"/><Relationship Id="rId10" Type="http://schemas.openxmlformats.org/officeDocument/2006/relationships/image" Target="../media/image4.png"/><Relationship Id="rId11" Type="http://schemas.openxmlformats.org/officeDocument/2006/relationships/image" Target="../media/image5.svg"/><Relationship Id="rId12" Type="http://schemas.openxmlformats.org/officeDocument/2006/relationships/slide" Target="slide1.xml"/><Relationship Id="rId13" Type="http://schemas.openxmlformats.org/officeDocument/2006/relationships/slide" Target="slide3.xml"/><Relationship Id="rId14" Type="http://schemas.openxmlformats.org/officeDocument/2006/relationships/slide" Target="slide7.xml"/><Relationship Id="rId15" Type="http://schemas.openxmlformats.org/officeDocument/2006/relationships/slide" Target="slide6.xml"/><Relationship Id="rId16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hyperlink" Target="https://www.beck-aktuell.de/rechtsbranche/anwaltschaft/brak-star-umfrage-statistik-anwaltschaft-maenner-frauen-unterschiede-einkommen-2026-02-10" TargetMode="External"/><Relationship Id="rId2" Type="http://schemas.openxmlformats.org/officeDocument/2006/relationships/hyperlink" Target="https://www.srd-rechtsanwaelte.de/nis2-anwendbarkeit-pruefen" TargetMode="External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2.png"/><Relationship Id="rId5" Type="http://schemas.openxmlformats.org/officeDocument/2006/relationships/image" Target="../media/image3.svg"/><Relationship Id="rId6" Type="http://schemas.openxmlformats.org/officeDocument/2006/relationships/image" Target="../media/image4.png"/><Relationship Id="rId7" Type="http://schemas.openxmlformats.org/officeDocument/2006/relationships/image" Target="../media/image5.svg"/><Relationship Id="rId8" Type="http://schemas.openxmlformats.org/officeDocument/2006/relationships/slide" Target="slide1.xml"/><Relationship Id="rId9" Type="http://schemas.openxmlformats.org/officeDocument/2006/relationships/slide" Target="slide3.xml"/><Relationship Id="rId10" Type="http://schemas.openxmlformats.org/officeDocument/2006/relationships/slide" Target="slide7.xml"/><Relationship Id="rId11" Type="http://schemas.openxmlformats.org/officeDocument/2006/relationships/slide" Target="slide6.xml"/><Relationship Id="rId1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2.png"/><Relationship Id="rId5" Type="http://schemas.openxmlformats.org/officeDocument/2006/relationships/image" Target="../media/image3.svg"/><Relationship Id="rId6" Type="http://schemas.openxmlformats.org/officeDocument/2006/relationships/image" Target="../media/image4.png"/><Relationship Id="rId7" Type="http://schemas.openxmlformats.org/officeDocument/2006/relationships/image" Target="../media/image5.svg"/><Relationship Id="rId8" Type="http://schemas.openxmlformats.org/officeDocument/2006/relationships/slide" Target="slide1.xml"/><Relationship Id="rId9" Type="http://schemas.openxmlformats.org/officeDocument/2006/relationships/slide" Target="slide3.xml"/><Relationship Id="rId10" Type="http://schemas.openxmlformats.org/officeDocument/2006/relationships/slide" Target="slide7.xml"/><Relationship Id="rId11" Type="http://schemas.openxmlformats.org/officeDocument/2006/relationships/slide" Target="slide6.xml"/><Relationship Id="rId12" Type="http://schemas.openxmlformats.org/officeDocument/2006/relationships/image" Target="../media/image6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-1124307" y="2510150"/>
            <a:ext cx="20536614" cy="33974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658"/>
              </a:lnSpc>
            </a:pPr>
            <a:r>
              <a:rPr lang="en-US" b="true" sz="28976" spc="-2318">
                <a:solidFill>
                  <a:srgbClr val="171717"/>
                </a:solidFill>
                <a:latin typeface="Poppins Bold"/>
                <a:ea typeface="Poppins Bold"/>
                <a:cs typeface="Poppins Bold"/>
                <a:sym typeface="Poppins Bold"/>
              </a:rPr>
              <a:t>REGULIFT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2371188" y="4483687"/>
            <a:ext cx="12962420" cy="5930313"/>
            <a:chOff x="0" y="0"/>
            <a:chExt cx="17283227" cy="7907084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7283176" cy="7907020"/>
            </a:xfrm>
            <a:custGeom>
              <a:avLst/>
              <a:gdLst/>
              <a:ahLst/>
              <a:cxnLst/>
              <a:rect r="r" b="b" t="t" l="l"/>
              <a:pathLst>
                <a:path h="7907020" w="17283176">
                  <a:moveTo>
                    <a:pt x="0" y="0"/>
                  </a:moveTo>
                  <a:lnTo>
                    <a:pt x="17283176" y="0"/>
                  </a:lnTo>
                  <a:lnTo>
                    <a:pt x="17283176" y="7907020"/>
                  </a:lnTo>
                  <a:lnTo>
                    <a:pt x="0" y="79070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60" r="0" b="-61"/>
              </a:stretch>
            </a:blipFill>
          </p:spPr>
        </p:sp>
      </p:grpSp>
      <p:sp>
        <p:nvSpPr>
          <p:cNvPr name="Freeform 5" id="5"/>
          <p:cNvSpPr/>
          <p:nvPr/>
        </p:nvSpPr>
        <p:spPr>
          <a:xfrm flipH="false" flipV="false" rot="0">
            <a:off x="4027427" y="954576"/>
            <a:ext cx="10233146" cy="693858"/>
          </a:xfrm>
          <a:custGeom>
            <a:avLst/>
            <a:gdLst/>
            <a:ahLst/>
            <a:cxnLst/>
            <a:rect r="r" b="b" t="t" l="l"/>
            <a:pathLst>
              <a:path h="693858" w="10233146">
                <a:moveTo>
                  <a:pt x="0" y="0"/>
                </a:moveTo>
                <a:lnTo>
                  <a:pt x="10233146" y="0"/>
                </a:lnTo>
                <a:lnTo>
                  <a:pt x="10233146" y="693859"/>
                </a:lnTo>
                <a:lnTo>
                  <a:pt x="0" y="69385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4100894" y="1190730"/>
            <a:ext cx="384600" cy="384600"/>
          </a:xfrm>
          <a:custGeom>
            <a:avLst/>
            <a:gdLst/>
            <a:ahLst/>
            <a:cxnLst/>
            <a:rect r="r" b="b" t="t" l="l"/>
            <a:pathLst>
              <a:path h="384600" w="384600">
                <a:moveTo>
                  <a:pt x="0" y="0"/>
                </a:moveTo>
                <a:lnTo>
                  <a:pt x="384600" y="0"/>
                </a:lnTo>
                <a:lnTo>
                  <a:pt x="384600" y="384600"/>
                </a:lnTo>
                <a:lnTo>
                  <a:pt x="0" y="3846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4545644" y="1148715"/>
            <a:ext cx="2067239" cy="3686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7"/>
              </a:lnSpc>
            </a:pPr>
            <a:r>
              <a:rPr lang="en-US" sz="1797" b="true">
                <a:solidFill>
                  <a:srgbClr val="171717"/>
                </a:solidFill>
                <a:latin typeface="Poppins Bold"/>
                <a:ea typeface="Poppins Bold"/>
                <a:cs typeface="Poppins Bold"/>
                <a:sym typeface="Poppins Bold"/>
              </a:rPr>
              <a:t>Regulift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7589520" y="1190730"/>
            <a:ext cx="1513332" cy="384962"/>
            <a:chOff x="0" y="0"/>
            <a:chExt cx="2017776" cy="513283"/>
          </a:xfrm>
        </p:grpSpPr>
        <p:sp>
          <p:nvSpPr>
            <p:cNvPr name="Freeform 9" id="9">
              <a:hlinkClick r:id="rId7" action="ppaction://hlinksldjump"/>
            </p:cNvPr>
            <p:cNvSpPr/>
            <p:nvPr/>
          </p:nvSpPr>
          <p:spPr>
            <a:xfrm flipH="false" flipV="false" rot="0">
              <a:off x="0" y="0"/>
              <a:ext cx="2017776" cy="513334"/>
            </a:xfrm>
            <a:custGeom>
              <a:avLst/>
              <a:gdLst/>
              <a:ahLst/>
              <a:cxnLst/>
              <a:rect r="r" b="b" t="t" l="l"/>
              <a:pathLst>
                <a:path h="513334" w="2017776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761109" y="0"/>
                  </a:lnTo>
                  <a:cubicBezTo>
                    <a:pt x="1902841" y="0"/>
                    <a:pt x="2017776" y="114935"/>
                    <a:pt x="2017776" y="256667"/>
                  </a:cubicBezTo>
                  <a:cubicBezTo>
                    <a:pt x="2017776" y="398399"/>
                    <a:pt x="1902841" y="513334"/>
                    <a:pt x="1761109" y="513334"/>
                  </a:cubicBezTo>
                  <a:lnTo>
                    <a:pt x="256667" y="513334"/>
                  </a:lnTo>
                  <a:cubicBezTo>
                    <a:pt x="114935" y="513334"/>
                    <a:pt x="0" y="398399"/>
                    <a:pt x="0" y="256667"/>
                  </a:cubicBezTo>
                  <a:close/>
                </a:path>
              </a:pathLst>
            </a:custGeom>
            <a:solidFill>
              <a:srgbClr val="171717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2017776" cy="5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>
                  <a:solidFill>
                    <a:srgbClr val="FAFAFA"/>
                  </a:solidFill>
                  <a:latin typeface="Poppins"/>
                  <a:ea typeface="Poppins"/>
                  <a:cs typeface="Poppins"/>
                  <a:sym typeface="Poppins"/>
                </a:rPr>
                <a:t>About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9212580" y="1190730"/>
            <a:ext cx="1513332" cy="384962"/>
            <a:chOff x="0" y="0"/>
            <a:chExt cx="2017776" cy="513283"/>
          </a:xfrm>
        </p:grpSpPr>
        <p:sp>
          <p:nvSpPr>
            <p:cNvPr name="Freeform 12" id="12">
              <a:hlinkClick r:id="rId8" action="ppaction://hlinksldjump"/>
            </p:cNvPr>
            <p:cNvSpPr/>
            <p:nvPr/>
          </p:nvSpPr>
          <p:spPr>
            <a:xfrm flipH="false" flipV="false" rot="0">
              <a:off x="0" y="0"/>
              <a:ext cx="2017776" cy="513334"/>
            </a:xfrm>
            <a:custGeom>
              <a:avLst/>
              <a:gdLst/>
              <a:ahLst/>
              <a:cxnLst/>
              <a:rect r="r" b="b" t="t" l="l"/>
              <a:pathLst>
                <a:path h="513334" w="2017776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761109" y="0"/>
                  </a:lnTo>
                  <a:cubicBezTo>
                    <a:pt x="1902841" y="0"/>
                    <a:pt x="2017776" y="114935"/>
                    <a:pt x="2017776" y="256667"/>
                  </a:cubicBezTo>
                  <a:cubicBezTo>
                    <a:pt x="2017776" y="398399"/>
                    <a:pt x="1902841" y="513334"/>
                    <a:pt x="1761109" y="513334"/>
                  </a:cubicBezTo>
                  <a:lnTo>
                    <a:pt x="256667" y="513334"/>
                  </a:lnTo>
                  <a:cubicBezTo>
                    <a:pt x="114935" y="513334"/>
                    <a:pt x="0" y="398399"/>
                    <a:pt x="0" y="256667"/>
                  </a:cubicBezTo>
                  <a:close/>
                </a:path>
              </a:pathLst>
            </a:custGeom>
            <a:solidFill>
              <a:srgbClr val="CCCCCC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9525"/>
              <a:ext cx="2017776" cy="5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>
                  <a:solidFill>
                    <a:srgbClr val="171717"/>
                  </a:solidFill>
                  <a:latin typeface="Poppins"/>
                  <a:ea typeface="Poppins"/>
                  <a:cs typeface="Poppins"/>
                  <a:sym typeface="Poppins"/>
                </a:rPr>
                <a:t>Service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0835640" y="1190730"/>
            <a:ext cx="1513332" cy="384962"/>
            <a:chOff x="0" y="0"/>
            <a:chExt cx="2017776" cy="513283"/>
          </a:xfrm>
        </p:grpSpPr>
        <p:sp>
          <p:nvSpPr>
            <p:cNvPr name="Freeform 15" id="15">
              <a:hlinkClick r:id="rId9" action="ppaction://hlinksldjump"/>
            </p:cNvPr>
            <p:cNvSpPr/>
            <p:nvPr/>
          </p:nvSpPr>
          <p:spPr>
            <a:xfrm flipH="false" flipV="false" rot="0">
              <a:off x="0" y="0"/>
              <a:ext cx="2017776" cy="513334"/>
            </a:xfrm>
            <a:custGeom>
              <a:avLst/>
              <a:gdLst/>
              <a:ahLst/>
              <a:cxnLst/>
              <a:rect r="r" b="b" t="t" l="l"/>
              <a:pathLst>
                <a:path h="513334" w="2017776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761109" y="0"/>
                  </a:lnTo>
                  <a:cubicBezTo>
                    <a:pt x="1902841" y="0"/>
                    <a:pt x="2017776" y="114935"/>
                    <a:pt x="2017776" y="256667"/>
                  </a:cubicBezTo>
                  <a:cubicBezTo>
                    <a:pt x="2017776" y="398399"/>
                    <a:pt x="1902841" y="513334"/>
                    <a:pt x="1761109" y="513334"/>
                  </a:cubicBezTo>
                  <a:lnTo>
                    <a:pt x="256667" y="513334"/>
                  </a:lnTo>
                  <a:cubicBezTo>
                    <a:pt x="114935" y="513334"/>
                    <a:pt x="0" y="398399"/>
                    <a:pt x="0" y="256667"/>
                  </a:cubicBezTo>
                  <a:close/>
                </a:path>
              </a:pathLst>
            </a:custGeom>
            <a:solidFill>
              <a:srgbClr val="CCCCCC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9525"/>
              <a:ext cx="2017776" cy="5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>
                  <a:solidFill>
                    <a:srgbClr val="171717"/>
                  </a:solidFill>
                  <a:latin typeface="Poppins"/>
                  <a:ea typeface="Poppins"/>
                  <a:cs typeface="Poppins"/>
                  <a:sym typeface="Poppins"/>
                </a:rPr>
                <a:t>Team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2458700" y="1190730"/>
            <a:ext cx="1513332" cy="384962"/>
            <a:chOff x="0" y="0"/>
            <a:chExt cx="2017776" cy="513283"/>
          </a:xfrm>
        </p:grpSpPr>
        <p:sp>
          <p:nvSpPr>
            <p:cNvPr name="Freeform 18" id="18">
              <a:hlinkClick r:id="rId10" action="ppaction://hlinksldjump"/>
            </p:cNvPr>
            <p:cNvSpPr/>
            <p:nvPr/>
          </p:nvSpPr>
          <p:spPr>
            <a:xfrm flipH="false" flipV="false" rot="0">
              <a:off x="0" y="0"/>
              <a:ext cx="2017776" cy="513334"/>
            </a:xfrm>
            <a:custGeom>
              <a:avLst/>
              <a:gdLst/>
              <a:ahLst/>
              <a:cxnLst/>
              <a:rect r="r" b="b" t="t" l="l"/>
              <a:pathLst>
                <a:path h="513334" w="2017776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761109" y="0"/>
                  </a:lnTo>
                  <a:cubicBezTo>
                    <a:pt x="1902841" y="0"/>
                    <a:pt x="2017776" y="114935"/>
                    <a:pt x="2017776" y="256667"/>
                  </a:cubicBezTo>
                  <a:cubicBezTo>
                    <a:pt x="2017776" y="398399"/>
                    <a:pt x="1902841" y="513334"/>
                    <a:pt x="1761109" y="513334"/>
                  </a:cubicBezTo>
                  <a:lnTo>
                    <a:pt x="256667" y="513334"/>
                  </a:lnTo>
                  <a:cubicBezTo>
                    <a:pt x="114935" y="513334"/>
                    <a:pt x="0" y="398399"/>
                    <a:pt x="0" y="256667"/>
                  </a:cubicBezTo>
                  <a:close/>
                </a:path>
              </a:pathLst>
            </a:custGeom>
            <a:solidFill>
              <a:srgbClr val="CCCCCC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2017776" cy="5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>
                  <a:solidFill>
                    <a:srgbClr val="171717"/>
                  </a:solidFill>
                  <a:latin typeface="Poppins"/>
                  <a:ea typeface="Poppins"/>
                  <a:cs typeface="Poppins"/>
                  <a:sym typeface="Poppins"/>
                </a:rPr>
                <a:t>Conclusion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6879824" y="9619488"/>
            <a:ext cx="1042416" cy="347472"/>
            <a:chOff x="0" y="0"/>
            <a:chExt cx="1389888" cy="46329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389888" cy="463296"/>
            </a:xfrm>
            <a:custGeom>
              <a:avLst/>
              <a:gdLst/>
              <a:ahLst/>
              <a:cxnLst/>
              <a:rect r="r" b="b" t="t" l="l"/>
              <a:pathLst>
                <a:path h="463296" w="1389888">
                  <a:moveTo>
                    <a:pt x="0" y="106553"/>
                  </a:moveTo>
                  <a:cubicBezTo>
                    <a:pt x="0" y="47752"/>
                    <a:pt x="47752" y="0"/>
                    <a:pt x="106553" y="0"/>
                  </a:cubicBezTo>
                  <a:lnTo>
                    <a:pt x="1283335" y="0"/>
                  </a:lnTo>
                  <a:cubicBezTo>
                    <a:pt x="1342136" y="0"/>
                    <a:pt x="1389888" y="47752"/>
                    <a:pt x="1389888" y="106553"/>
                  </a:cubicBezTo>
                  <a:lnTo>
                    <a:pt x="1389888" y="356743"/>
                  </a:lnTo>
                  <a:cubicBezTo>
                    <a:pt x="1389888" y="415544"/>
                    <a:pt x="1342136" y="463296"/>
                    <a:pt x="1283335" y="463296"/>
                  </a:cubicBezTo>
                  <a:lnTo>
                    <a:pt x="106553" y="463296"/>
                  </a:lnTo>
                  <a:cubicBezTo>
                    <a:pt x="47752" y="463296"/>
                    <a:pt x="0" y="415544"/>
                    <a:pt x="0" y="356743"/>
                  </a:cubicBezTo>
                  <a:close/>
                </a:path>
              </a:pathLst>
            </a:custGeom>
            <a:solidFill>
              <a:srgbClr val="1D2023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9525"/>
              <a:ext cx="1389888" cy="4728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439"/>
                </a:lnSpc>
              </a:pPr>
              <a:r>
                <a:rPr lang="en-US" sz="1200">
                  <a:solidFill>
                    <a:srgbClr val="FBFBFB"/>
                  </a:solidFill>
                  <a:latin typeface="Poppins"/>
                  <a:ea typeface="Poppins"/>
                  <a:cs typeface="Poppins"/>
                  <a:sym typeface="Poppins"/>
                </a:rPr>
                <a:t>Page 01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4158586" y="1272016"/>
            <a:ext cx="269215" cy="222028"/>
            <a:chOff x="0" y="0"/>
            <a:chExt cx="358953" cy="296037"/>
          </a:xfrm>
        </p:grpSpPr>
        <p:sp>
          <p:nvSpPr>
            <p:cNvPr name="Freeform 24" id="24" descr="image.png"/>
            <p:cNvSpPr/>
            <p:nvPr/>
          </p:nvSpPr>
          <p:spPr>
            <a:xfrm flipH="false" flipV="false" rot="0">
              <a:off x="0" y="0"/>
              <a:ext cx="358902" cy="296037"/>
            </a:xfrm>
            <a:custGeom>
              <a:avLst/>
              <a:gdLst/>
              <a:ahLst/>
              <a:cxnLst/>
              <a:rect r="r" b="b" t="t" l="l"/>
              <a:pathLst>
                <a:path h="296037" w="358902">
                  <a:moveTo>
                    <a:pt x="0" y="0"/>
                  </a:moveTo>
                  <a:lnTo>
                    <a:pt x="358902" y="0"/>
                  </a:lnTo>
                  <a:lnTo>
                    <a:pt x="358902" y="296037"/>
                  </a:lnTo>
                  <a:lnTo>
                    <a:pt x="0" y="2960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-14" b="0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027427" y="954576"/>
            <a:ext cx="10233146" cy="693858"/>
          </a:xfrm>
          <a:custGeom>
            <a:avLst/>
            <a:gdLst/>
            <a:ahLst/>
            <a:cxnLst/>
            <a:rect r="r" b="b" t="t" l="l"/>
            <a:pathLst>
              <a:path h="693858" w="10233146">
                <a:moveTo>
                  <a:pt x="0" y="0"/>
                </a:moveTo>
                <a:lnTo>
                  <a:pt x="10233146" y="0"/>
                </a:lnTo>
                <a:lnTo>
                  <a:pt x="10233146" y="693859"/>
                </a:lnTo>
                <a:lnTo>
                  <a:pt x="0" y="69385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100894" y="1190730"/>
            <a:ext cx="384600" cy="384600"/>
          </a:xfrm>
          <a:custGeom>
            <a:avLst/>
            <a:gdLst/>
            <a:ahLst/>
            <a:cxnLst/>
            <a:rect r="r" b="b" t="t" l="l"/>
            <a:pathLst>
              <a:path h="384600" w="384600">
                <a:moveTo>
                  <a:pt x="0" y="0"/>
                </a:moveTo>
                <a:lnTo>
                  <a:pt x="384600" y="0"/>
                </a:lnTo>
                <a:lnTo>
                  <a:pt x="384600" y="384600"/>
                </a:lnTo>
                <a:lnTo>
                  <a:pt x="0" y="3846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4545644" y="1148715"/>
            <a:ext cx="2067239" cy="3686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7"/>
              </a:lnSpc>
            </a:pPr>
            <a:r>
              <a:rPr lang="en-US" sz="1797" b="true">
                <a:solidFill>
                  <a:srgbClr val="171717"/>
                </a:solidFill>
                <a:latin typeface="Poppins Bold"/>
                <a:ea typeface="Poppins Bold"/>
                <a:cs typeface="Poppins Bold"/>
                <a:sym typeface="Poppins Bold"/>
              </a:rPr>
              <a:t>Regulift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7589520" y="1190730"/>
            <a:ext cx="1513332" cy="384962"/>
            <a:chOff x="0" y="0"/>
            <a:chExt cx="2017776" cy="513283"/>
          </a:xfrm>
        </p:grpSpPr>
        <p:sp>
          <p:nvSpPr>
            <p:cNvPr name="Freeform 6" id="6">
              <a:hlinkClick r:id="rId6" action="ppaction://hlinksldjump"/>
            </p:cNvPr>
            <p:cNvSpPr/>
            <p:nvPr/>
          </p:nvSpPr>
          <p:spPr>
            <a:xfrm flipH="false" flipV="false" rot="0">
              <a:off x="0" y="0"/>
              <a:ext cx="2017776" cy="513334"/>
            </a:xfrm>
            <a:custGeom>
              <a:avLst/>
              <a:gdLst/>
              <a:ahLst/>
              <a:cxnLst/>
              <a:rect r="r" b="b" t="t" l="l"/>
              <a:pathLst>
                <a:path h="513334" w="2017776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761109" y="0"/>
                  </a:lnTo>
                  <a:cubicBezTo>
                    <a:pt x="1902841" y="0"/>
                    <a:pt x="2017776" y="114935"/>
                    <a:pt x="2017776" y="256667"/>
                  </a:cubicBezTo>
                  <a:cubicBezTo>
                    <a:pt x="2017776" y="398399"/>
                    <a:pt x="1902841" y="513334"/>
                    <a:pt x="1761109" y="513334"/>
                  </a:cubicBezTo>
                  <a:lnTo>
                    <a:pt x="256667" y="513334"/>
                  </a:lnTo>
                  <a:cubicBezTo>
                    <a:pt x="114935" y="513334"/>
                    <a:pt x="0" y="398399"/>
                    <a:pt x="0" y="256667"/>
                  </a:cubicBezTo>
                  <a:close/>
                </a:path>
              </a:pathLst>
            </a:custGeom>
            <a:solidFill>
              <a:srgbClr val="171717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9525"/>
              <a:ext cx="2017776" cy="5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>
                  <a:solidFill>
                    <a:srgbClr val="FAFAFA"/>
                  </a:solidFill>
                  <a:latin typeface="Poppins"/>
                  <a:ea typeface="Poppins"/>
                  <a:cs typeface="Poppins"/>
                  <a:sym typeface="Poppins"/>
                </a:rPr>
                <a:t>About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212580" y="1190730"/>
            <a:ext cx="1513332" cy="384962"/>
            <a:chOff x="0" y="0"/>
            <a:chExt cx="2017776" cy="513283"/>
          </a:xfrm>
        </p:grpSpPr>
        <p:sp>
          <p:nvSpPr>
            <p:cNvPr name="Freeform 9" id="9">
              <a:hlinkClick r:id="rId7" action="ppaction://hlinksldjump"/>
            </p:cNvPr>
            <p:cNvSpPr/>
            <p:nvPr/>
          </p:nvSpPr>
          <p:spPr>
            <a:xfrm flipH="false" flipV="false" rot="0">
              <a:off x="0" y="0"/>
              <a:ext cx="2017776" cy="513334"/>
            </a:xfrm>
            <a:custGeom>
              <a:avLst/>
              <a:gdLst/>
              <a:ahLst/>
              <a:cxnLst/>
              <a:rect r="r" b="b" t="t" l="l"/>
              <a:pathLst>
                <a:path h="513334" w="2017776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761109" y="0"/>
                  </a:lnTo>
                  <a:cubicBezTo>
                    <a:pt x="1902841" y="0"/>
                    <a:pt x="2017776" y="114935"/>
                    <a:pt x="2017776" y="256667"/>
                  </a:cubicBezTo>
                  <a:cubicBezTo>
                    <a:pt x="2017776" y="398399"/>
                    <a:pt x="1902841" y="513334"/>
                    <a:pt x="1761109" y="513334"/>
                  </a:cubicBezTo>
                  <a:lnTo>
                    <a:pt x="256667" y="513334"/>
                  </a:lnTo>
                  <a:cubicBezTo>
                    <a:pt x="114935" y="513334"/>
                    <a:pt x="0" y="398399"/>
                    <a:pt x="0" y="256667"/>
                  </a:cubicBezTo>
                  <a:close/>
                </a:path>
              </a:pathLst>
            </a:custGeom>
            <a:solidFill>
              <a:srgbClr val="CCCCCC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2017776" cy="5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>
                  <a:solidFill>
                    <a:srgbClr val="171717"/>
                  </a:solidFill>
                  <a:latin typeface="Poppins"/>
                  <a:ea typeface="Poppins"/>
                  <a:cs typeface="Poppins"/>
                  <a:sym typeface="Poppins"/>
                </a:rPr>
                <a:t>Service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835640" y="1190730"/>
            <a:ext cx="1513332" cy="384962"/>
            <a:chOff x="0" y="0"/>
            <a:chExt cx="2017776" cy="513283"/>
          </a:xfrm>
        </p:grpSpPr>
        <p:sp>
          <p:nvSpPr>
            <p:cNvPr name="Freeform 12" id="12">
              <a:hlinkClick r:id="rId8" action="ppaction://hlinksldjump"/>
            </p:cNvPr>
            <p:cNvSpPr/>
            <p:nvPr/>
          </p:nvSpPr>
          <p:spPr>
            <a:xfrm flipH="false" flipV="false" rot="0">
              <a:off x="0" y="0"/>
              <a:ext cx="2017776" cy="513334"/>
            </a:xfrm>
            <a:custGeom>
              <a:avLst/>
              <a:gdLst/>
              <a:ahLst/>
              <a:cxnLst/>
              <a:rect r="r" b="b" t="t" l="l"/>
              <a:pathLst>
                <a:path h="513334" w="2017776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761109" y="0"/>
                  </a:lnTo>
                  <a:cubicBezTo>
                    <a:pt x="1902841" y="0"/>
                    <a:pt x="2017776" y="114935"/>
                    <a:pt x="2017776" y="256667"/>
                  </a:cubicBezTo>
                  <a:cubicBezTo>
                    <a:pt x="2017776" y="398399"/>
                    <a:pt x="1902841" y="513334"/>
                    <a:pt x="1761109" y="513334"/>
                  </a:cubicBezTo>
                  <a:lnTo>
                    <a:pt x="256667" y="513334"/>
                  </a:lnTo>
                  <a:cubicBezTo>
                    <a:pt x="114935" y="513334"/>
                    <a:pt x="0" y="398399"/>
                    <a:pt x="0" y="256667"/>
                  </a:cubicBezTo>
                  <a:close/>
                </a:path>
              </a:pathLst>
            </a:custGeom>
            <a:solidFill>
              <a:srgbClr val="CCCCCC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9525"/>
              <a:ext cx="2017776" cy="5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>
                  <a:solidFill>
                    <a:srgbClr val="171717"/>
                  </a:solidFill>
                  <a:latin typeface="Poppins"/>
                  <a:ea typeface="Poppins"/>
                  <a:cs typeface="Poppins"/>
                  <a:sym typeface="Poppins"/>
                </a:rPr>
                <a:t>Team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2458700" y="1190730"/>
            <a:ext cx="1513332" cy="384962"/>
            <a:chOff x="0" y="0"/>
            <a:chExt cx="2017776" cy="513283"/>
          </a:xfrm>
        </p:grpSpPr>
        <p:sp>
          <p:nvSpPr>
            <p:cNvPr name="Freeform 15" id="15">
              <a:hlinkClick r:id="rId9" action="ppaction://hlinksldjump"/>
            </p:cNvPr>
            <p:cNvSpPr/>
            <p:nvPr/>
          </p:nvSpPr>
          <p:spPr>
            <a:xfrm flipH="false" flipV="false" rot="0">
              <a:off x="0" y="0"/>
              <a:ext cx="2017776" cy="513334"/>
            </a:xfrm>
            <a:custGeom>
              <a:avLst/>
              <a:gdLst/>
              <a:ahLst/>
              <a:cxnLst/>
              <a:rect r="r" b="b" t="t" l="l"/>
              <a:pathLst>
                <a:path h="513334" w="2017776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761109" y="0"/>
                  </a:lnTo>
                  <a:cubicBezTo>
                    <a:pt x="1902841" y="0"/>
                    <a:pt x="2017776" y="114935"/>
                    <a:pt x="2017776" y="256667"/>
                  </a:cubicBezTo>
                  <a:cubicBezTo>
                    <a:pt x="2017776" y="398399"/>
                    <a:pt x="1902841" y="513334"/>
                    <a:pt x="1761109" y="513334"/>
                  </a:cubicBezTo>
                  <a:lnTo>
                    <a:pt x="256667" y="513334"/>
                  </a:lnTo>
                  <a:cubicBezTo>
                    <a:pt x="114935" y="513334"/>
                    <a:pt x="0" y="398399"/>
                    <a:pt x="0" y="256667"/>
                  </a:cubicBezTo>
                  <a:close/>
                </a:path>
              </a:pathLst>
            </a:custGeom>
            <a:solidFill>
              <a:srgbClr val="CCCCCC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9525"/>
              <a:ext cx="2017776" cy="5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>
                  <a:solidFill>
                    <a:srgbClr val="171717"/>
                  </a:solidFill>
                  <a:latin typeface="Poppins"/>
                  <a:ea typeface="Poppins"/>
                  <a:cs typeface="Poppins"/>
                  <a:sym typeface="Poppins"/>
                </a:rPr>
                <a:t>Conclusion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6879824" y="9619488"/>
            <a:ext cx="1042416" cy="347472"/>
            <a:chOff x="0" y="0"/>
            <a:chExt cx="1389888" cy="46329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389888" cy="463296"/>
            </a:xfrm>
            <a:custGeom>
              <a:avLst/>
              <a:gdLst/>
              <a:ahLst/>
              <a:cxnLst/>
              <a:rect r="r" b="b" t="t" l="l"/>
              <a:pathLst>
                <a:path h="463296" w="1389888">
                  <a:moveTo>
                    <a:pt x="0" y="106553"/>
                  </a:moveTo>
                  <a:cubicBezTo>
                    <a:pt x="0" y="47752"/>
                    <a:pt x="47752" y="0"/>
                    <a:pt x="106553" y="0"/>
                  </a:cubicBezTo>
                  <a:lnTo>
                    <a:pt x="1283335" y="0"/>
                  </a:lnTo>
                  <a:cubicBezTo>
                    <a:pt x="1342136" y="0"/>
                    <a:pt x="1389888" y="47752"/>
                    <a:pt x="1389888" y="106553"/>
                  </a:cubicBezTo>
                  <a:lnTo>
                    <a:pt x="1389888" y="356743"/>
                  </a:lnTo>
                  <a:cubicBezTo>
                    <a:pt x="1389888" y="415544"/>
                    <a:pt x="1342136" y="463296"/>
                    <a:pt x="1283335" y="463296"/>
                  </a:cubicBezTo>
                  <a:lnTo>
                    <a:pt x="106553" y="463296"/>
                  </a:lnTo>
                  <a:cubicBezTo>
                    <a:pt x="47752" y="463296"/>
                    <a:pt x="0" y="415544"/>
                    <a:pt x="0" y="356743"/>
                  </a:cubicBezTo>
                  <a:close/>
                </a:path>
              </a:pathLst>
            </a:custGeom>
            <a:solidFill>
              <a:srgbClr val="1D2023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1389888" cy="4728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439"/>
                </a:lnSpc>
              </a:pPr>
              <a:r>
                <a:rPr lang="en-US" sz="1200">
                  <a:solidFill>
                    <a:srgbClr val="FBFBFB"/>
                  </a:solidFill>
                  <a:latin typeface="Poppins"/>
                  <a:ea typeface="Poppins"/>
                  <a:cs typeface="Poppins"/>
                  <a:sym typeface="Poppins"/>
                </a:rPr>
                <a:t>Page 02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069848" y="1993392"/>
            <a:ext cx="7132320" cy="347472"/>
            <a:chOff x="0" y="0"/>
            <a:chExt cx="9509760" cy="46329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9509760" cy="463296"/>
            </a:xfrm>
            <a:custGeom>
              <a:avLst/>
              <a:gdLst/>
              <a:ahLst/>
              <a:cxnLst/>
              <a:rect r="r" b="b" t="t" l="l"/>
              <a:pathLst>
                <a:path h="463296" w="9509760">
                  <a:moveTo>
                    <a:pt x="0" y="0"/>
                  </a:moveTo>
                  <a:lnTo>
                    <a:pt x="9509760" y="0"/>
                  </a:lnTo>
                  <a:lnTo>
                    <a:pt x="9509760" y="463296"/>
                  </a:lnTo>
                  <a:lnTo>
                    <a:pt x="0" y="463296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349956" r="0" b="-349956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9525"/>
              <a:ext cx="9509760" cy="4728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6"/>
                </a:lnSpc>
              </a:pPr>
              <a:r>
                <a:rPr lang="en-US" sz="1730" b="true">
                  <a:solidFill>
                    <a:srgbClr val="497078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MARKET PAIN POINTS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042416" y="2496312"/>
            <a:ext cx="10067544" cy="868680"/>
            <a:chOff x="0" y="0"/>
            <a:chExt cx="13423392" cy="11582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3423392" cy="1158240"/>
            </a:xfrm>
            <a:custGeom>
              <a:avLst/>
              <a:gdLst/>
              <a:ahLst/>
              <a:cxnLst/>
              <a:rect r="r" b="b" t="t" l="l"/>
              <a:pathLst>
                <a:path h="1158240" w="13423392">
                  <a:moveTo>
                    <a:pt x="0" y="0"/>
                  </a:moveTo>
                  <a:lnTo>
                    <a:pt x="13423392" y="0"/>
                  </a:lnTo>
                  <a:lnTo>
                    <a:pt x="13423392" y="1158240"/>
                  </a:lnTo>
                  <a:lnTo>
                    <a:pt x="0" y="11582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75821" r="0" b="-175821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47625"/>
              <a:ext cx="13423392" cy="12058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360"/>
                </a:lnSpc>
              </a:pPr>
              <a:r>
                <a:rPr lang="en-US" sz="5300" b="true">
                  <a:solidFill>
                    <a:srgbClr val="171717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COMPLIANCE IS STILL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0149840" y="2496312"/>
            <a:ext cx="6949440" cy="868680"/>
            <a:chOff x="0" y="0"/>
            <a:chExt cx="9265920" cy="115824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9265920" cy="1158240"/>
            </a:xfrm>
            <a:custGeom>
              <a:avLst/>
              <a:gdLst/>
              <a:ahLst/>
              <a:cxnLst/>
              <a:rect r="r" b="b" t="t" l="l"/>
              <a:pathLst>
                <a:path h="1158240" w="9265920">
                  <a:moveTo>
                    <a:pt x="0" y="0"/>
                  </a:moveTo>
                  <a:lnTo>
                    <a:pt x="9265920" y="0"/>
                  </a:lnTo>
                  <a:lnTo>
                    <a:pt x="9265920" y="1158240"/>
                  </a:lnTo>
                  <a:lnTo>
                    <a:pt x="0" y="11582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05880" r="0" b="-105880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47625"/>
              <a:ext cx="9265920" cy="12058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360"/>
                </a:lnSpc>
              </a:pPr>
              <a:r>
                <a:rPr lang="en-US" sz="5300" b="true">
                  <a:solidFill>
                    <a:srgbClr val="A95E53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GUESSWORK.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069848" y="3557016"/>
            <a:ext cx="16184880" cy="420624"/>
            <a:chOff x="0" y="0"/>
            <a:chExt cx="21579840" cy="560832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21579839" cy="560832"/>
            </a:xfrm>
            <a:custGeom>
              <a:avLst/>
              <a:gdLst/>
              <a:ahLst/>
              <a:cxnLst/>
              <a:rect r="r" b="b" t="t" l="l"/>
              <a:pathLst>
                <a:path h="560832" w="21579839">
                  <a:moveTo>
                    <a:pt x="0" y="0"/>
                  </a:moveTo>
                  <a:lnTo>
                    <a:pt x="21579839" y="0"/>
                  </a:lnTo>
                  <a:lnTo>
                    <a:pt x="21579839" y="560832"/>
                  </a:lnTo>
                  <a:lnTo>
                    <a:pt x="0" y="560832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699750" r="0" b="-699750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19050"/>
              <a:ext cx="21579840" cy="57988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>
                  <a:solidFill>
                    <a:srgbClr val="687075"/>
                  </a:solidFill>
                  <a:latin typeface="Poppins"/>
                  <a:ea typeface="Poppins"/>
                  <a:cs typeface="Poppins"/>
                  <a:sym typeface="Poppins"/>
                </a:rPr>
                <a:t>Companies pay to reconstruct facts that already exist in their systems.</a:t>
              </a:r>
            </a:p>
          </p:txBody>
        </p:sp>
      </p:grpSp>
      <p:sp>
        <p:nvSpPr>
          <p:cNvPr name="AutoShape 32" id="32"/>
          <p:cNvSpPr/>
          <p:nvPr/>
        </p:nvSpPr>
        <p:spPr>
          <a:xfrm rot="3240">
            <a:off x="1071372" y="4055174"/>
            <a:ext cx="16200130" cy="0"/>
          </a:xfrm>
          <a:prstGeom prst="line">
            <a:avLst/>
          </a:prstGeom>
          <a:ln cap="rnd" w="9525">
            <a:solidFill>
              <a:srgbClr val="DFE6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3" id="33"/>
          <p:cNvGrpSpPr/>
          <p:nvPr/>
        </p:nvGrpSpPr>
        <p:grpSpPr>
          <a:xfrm rot="0">
            <a:off x="1063180" y="5049964"/>
            <a:ext cx="5207127" cy="3579495"/>
            <a:chOff x="0" y="0"/>
            <a:chExt cx="6942836" cy="477266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6942836" cy="4772660"/>
            </a:xfrm>
            <a:custGeom>
              <a:avLst/>
              <a:gdLst/>
              <a:ahLst/>
              <a:cxnLst/>
              <a:rect r="r" b="b" t="t" l="l"/>
              <a:pathLst>
                <a:path h="4772660" w="6942836">
                  <a:moveTo>
                    <a:pt x="0" y="715899"/>
                  </a:moveTo>
                  <a:cubicBezTo>
                    <a:pt x="0" y="320548"/>
                    <a:pt x="320548" y="0"/>
                    <a:pt x="715899" y="0"/>
                  </a:cubicBezTo>
                  <a:lnTo>
                    <a:pt x="6226937" y="0"/>
                  </a:lnTo>
                  <a:cubicBezTo>
                    <a:pt x="6622288" y="0"/>
                    <a:pt x="6942836" y="320548"/>
                    <a:pt x="6942836" y="715899"/>
                  </a:cubicBezTo>
                  <a:lnTo>
                    <a:pt x="6942836" y="4056761"/>
                  </a:lnTo>
                  <a:cubicBezTo>
                    <a:pt x="6942836" y="4452112"/>
                    <a:pt x="6622288" y="4772660"/>
                    <a:pt x="6226937" y="4772660"/>
                  </a:cubicBezTo>
                  <a:lnTo>
                    <a:pt x="715899" y="4772660"/>
                  </a:lnTo>
                  <a:cubicBezTo>
                    <a:pt x="320548" y="4772660"/>
                    <a:pt x="0" y="4452112"/>
                    <a:pt x="0" y="4056761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DDE6E7"/>
              </a:solidFill>
              <a:prstDash val="solid"/>
              <a:miter/>
            </a:ln>
          </p:spPr>
        </p:sp>
      </p:grpSp>
      <p:grpSp>
        <p:nvGrpSpPr>
          <p:cNvPr name="Group 35" id="35"/>
          <p:cNvGrpSpPr/>
          <p:nvPr/>
        </p:nvGrpSpPr>
        <p:grpSpPr>
          <a:xfrm rot="0">
            <a:off x="1081735" y="5068519"/>
            <a:ext cx="5170018" cy="1490472"/>
            <a:chOff x="0" y="0"/>
            <a:chExt cx="6893357" cy="1987296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6893306" cy="1987169"/>
            </a:xfrm>
            <a:custGeom>
              <a:avLst/>
              <a:gdLst/>
              <a:ahLst/>
              <a:cxnLst/>
              <a:rect r="r" b="b" t="t" l="l"/>
              <a:pathLst>
                <a:path h="1987169" w="6893306">
                  <a:moveTo>
                    <a:pt x="0" y="715391"/>
                  </a:moveTo>
                  <a:cubicBezTo>
                    <a:pt x="0" y="320294"/>
                    <a:pt x="320294" y="0"/>
                    <a:pt x="715391" y="0"/>
                  </a:cubicBezTo>
                  <a:lnTo>
                    <a:pt x="6177915" y="0"/>
                  </a:lnTo>
                  <a:cubicBezTo>
                    <a:pt x="6573012" y="0"/>
                    <a:pt x="6893306" y="320294"/>
                    <a:pt x="6893306" y="715391"/>
                  </a:cubicBezTo>
                  <a:lnTo>
                    <a:pt x="6893306" y="1271778"/>
                  </a:lnTo>
                  <a:cubicBezTo>
                    <a:pt x="6893306" y="1666875"/>
                    <a:pt x="6573012" y="1987169"/>
                    <a:pt x="6177915" y="1987169"/>
                  </a:cubicBezTo>
                  <a:lnTo>
                    <a:pt x="715391" y="1987169"/>
                  </a:lnTo>
                  <a:cubicBezTo>
                    <a:pt x="320294" y="1987296"/>
                    <a:pt x="0" y="1667002"/>
                    <a:pt x="0" y="1271905"/>
                  </a:cubicBezTo>
                  <a:close/>
                </a:path>
              </a:pathLst>
            </a:custGeom>
            <a:solidFill>
              <a:srgbClr val="F6EDEA"/>
            </a:solid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1081735" y="6099048"/>
            <a:ext cx="5170018" cy="475488"/>
            <a:chOff x="0" y="0"/>
            <a:chExt cx="6893357" cy="633984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6893306" cy="633984"/>
            </a:xfrm>
            <a:custGeom>
              <a:avLst/>
              <a:gdLst/>
              <a:ahLst/>
              <a:cxnLst/>
              <a:rect r="r" b="b" t="t" l="l"/>
              <a:pathLst>
                <a:path h="633984" w="6893306">
                  <a:moveTo>
                    <a:pt x="0" y="0"/>
                  </a:moveTo>
                  <a:lnTo>
                    <a:pt x="6893306" y="0"/>
                  </a:lnTo>
                  <a:lnTo>
                    <a:pt x="6893306" y="633984"/>
                  </a:lnTo>
                  <a:lnTo>
                    <a:pt x="0" y="633984"/>
                  </a:lnTo>
                  <a:close/>
                </a:path>
              </a:pathLst>
            </a:custGeom>
            <a:solidFill>
              <a:srgbClr val="F6EDEA"/>
            </a:solidFill>
          </p:spPr>
        </p:sp>
      </p:grpSp>
      <p:sp>
        <p:nvSpPr>
          <p:cNvPr name="AutoShape 39" id="39"/>
          <p:cNvSpPr/>
          <p:nvPr/>
        </p:nvSpPr>
        <p:spPr>
          <a:xfrm rot="6780">
            <a:off x="1092194" y="6569774"/>
            <a:ext cx="5149101" cy="0"/>
          </a:xfrm>
          <a:prstGeom prst="line">
            <a:avLst/>
          </a:prstGeom>
          <a:ln cap="rnd" w="9525">
            <a:solidFill>
              <a:srgbClr val="DFE8E8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0" id="40"/>
          <p:cNvGrpSpPr/>
          <p:nvPr/>
        </p:nvGrpSpPr>
        <p:grpSpPr>
          <a:xfrm rot="0">
            <a:off x="1399032" y="5330952"/>
            <a:ext cx="1051560" cy="1051560"/>
            <a:chOff x="0" y="0"/>
            <a:chExt cx="1402080" cy="140208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402080" cy="1402080"/>
            </a:xfrm>
            <a:custGeom>
              <a:avLst/>
              <a:gdLst/>
              <a:ahLst/>
              <a:cxnLst/>
              <a:rect r="r" b="b" t="t" l="l"/>
              <a:pathLst>
                <a:path h="1402080" w="1402080">
                  <a:moveTo>
                    <a:pt x="0" y="701040"/>
                  </a:moveTo>
                  <a:cubicBezTo>
                    <a:pt x="0" y="313817"/>
                    <a:pt x="313817" y="0"/>
                    <a:pt x="701040" y="0"/>
                  </a:cubicBezTo>
                  <a:cubicBezTo>
                    <a:pt x="1088263" y="0"/>
                    <a:pt x="1402080" y="313817"/>
                    <a:pt x="1402080" y="701040"/>
                  </a:cubicBezTo>
                  <a:cubicBezTo>
                    <a:pt x="1402080" y="1088263"/>
                    <a:pt x="1088263" y="1402080"/>
                    <a:pt x="701040" y="1402080"/>
                  </a:cubicBezTo>
                  <a:cubicBezTo>
                    <a:pt x="313817" y="1402080"/>
                    <a:pt x="0" y="1088263"/>
                    <a:pt x="0" y="701040"/>
                  </a:cubicBezTo>
                  <a:close/>
                </a:path>
              </a:pathLst>
            </a:custGeom>
            <a:solidFill>
              <a:srgbClr val="A95E53"/>
            </a:solidFill>
          </p:spPr>
        </p:sp>
      </p:grpSp>
      <p:grpSp>
        <p:nvGrpSpPr>
          <p:cNvPr name="Group 42" id="42"/>
          <p:cNvGrpSpPr/>
          <p:nvPr/>
        </p:nvGrpSpPr>
        <p:grpSpPr>
          <a:xfrm rot="0">
            <a:off x="1596647" y="5473703"/>
            <a:ext cx="601475" cy="702059"/>
            <a:chOff x="0" y="0"/>
            <a:chExt cx="801967" cy="936079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801878" cy="935990"/>
            </a:xfrm>
            <a:custGeom>
              <a:avLst/>
              <a:gdLst/>
              <a:ahLst/>
              <a:cxnLst/>
              <a:rect r="r" b="b" t="t" l="l"/>
              <a:pathLst>
                <a:path h="935990" w="801878">
                  <a:moveTo>
                    <a:pt x="0" y="120269"/>
                  </a:moveTo>
                  <a:cubicBezTo>
                    <a:pt x="0" y="53848"/>
                    <a:pt x="53848" y="0"/>
                    <a:pt x="120269" y="0"/>
                  </a:cubicBezTo>
                  <a:lnTo>
                    <a:pt x="681609" y="0"/>
                  </a:lnTo>
                  <a:cubicBezTo>
                    <a:pt x="748030" y="0"/>
                    <a:pt x="801878" y="53848"/>
                    <a:pt x="801878" y="120269"/>
                  </a:cubicBezTo>
                  <a:lnTo>
                    <a:pt x="801878" y="815721"/>
                  </a:lnTo>
                  <a:cubicBezTo>
                    <a:pt x="801878" y="882142"/>
                    <a:pt x="748030" y="935990"/>
                    <a:pt x="681609" y="935990"/>
                  </a:cubicBezTo>
                  <a:lnTo>
                    <a:pt x="120269" y="935990"/>
                  </a:lnTo>
                  <a:cubicBezTo>
                    <a:pt x="53848" y="936117"/>
                    <a:pt x="0" y="882269"/>
                    <a:pt x="0" y="815721"/>
                  </a:cubicBezTo>
                  <a:close/>
                </a:path>
              </a:pathLst>
            </a:custGeom>
            <a:solidFill>
              <a:srgbClr val="A95E53"/>
            </a:solidFill>
            <a:ln w="2540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44" id="44"/>
          <p:cNvGrpSpPr/>
          <p:nvPr/>
        </p:nvGrpSpPr>
        <p:grpSpPr>
          <a:xfrm rot="0">
            <a:off x="1683067" y="5669852"/>
            <a:ext cx="67437" cy="67437"/>
            <a:chOff x="0" y="0"/>
            <a:chExt cx="89916" cy="89916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89916" cy="89916"/>
            </a:xfrm>
            <a:custGeom>
              <a:avLst/>
              <a:gdLst/>
              <a:ahLst/>
              <a:cxnLst/>
              <a:rect r="r" b="b" t="t" l="l"/>
              <a:pathLst>
                <a:path h="89916" w="89916">
                  <a:moveTo>
                    <a:pt x="0" y="44958"/>
                  </a:moveTo>
                  <a:cubicBezTo>
                    <a:pt x="0" y="20066"/>
                    <a:pt x="20066" y="0"/>
                    <a:pt x="44958" y="0"/>
                  </a:cubicBezTo>
                  <a:cubicBezTo>
                    <a:pt x="69850" y="0"/>
                    <a:pt x="89916" y="20066"/>
                    <a:pt x="89916" y="44958"/>
                  </a:cubicBezTo>
                  <a:cubicBezTo>
                    <a:pt x="89916" y="69850"/>
                    <a:pt x="69850" y="89916"/>
                    <a:pt x="44958" y="89916"/>
                  </a:cubicBezTo>
                  <a:cubicBezTo>
                    <a:pt x="20066" y="89916"/>
                    <a:pt x="0" y="69850"/>
                    <a:pt x="0" y="44958"/>
                  </a:cubicBez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78303" t="0" r="-78303" b="0"/>
              </a:stretch>
            </a:blipFill>
            <a:ln w="17145" cap="sq">
              <a:solidFill>
                <a:srgbClr val="FFFFFF"/>
              </a:solidFill>
              <a:prstDash val="solid"/>
              <a:miter/>
            </a:ln>
          </p:spPr>
        </p:sp>
      </p:grpSp>
      <p:sp>
        <p:nvSpPr>
          <p:cNvPr name="AutoShape 46" id="46"/>
          <p:cNvSpPr/>
          <p:nvPr/>
        </p:nvSpPr>
        <p:spPr>
          <a:xfrm rot="222900">
            <a:off x="1801330" y="5698350"/>
            <a:ext cx="274387" cy="0"/>
          </a:xfrm>
          <a:prstGeom prst="line">
            <a:avLst/>
          </a:prstGeom>
          <a:ln cap="rnd" w="95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7" id="47"/>
          <p:cNvGrpSpPr/>
          <p:nvPr/>
        </p:nvGrpSpPr>
        <p:grpSpPr>
          <a:xfrm rot="0">
            <a:off x="1683067" y="5816156"/>
            <a:ext cx="67437" cy="67437"/>
            <a:chOff x="0" y="0"/>
            <a:chExt cx="89916" cy="89916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89916" cy="89916"/>
            </a:xfrm>
            <a:custGeom>
              <a:avLst/>
              <a:gdLst/>
              <a:ahLst/>
              <a:cxnLst/>
              <a:rect r="r" b="b" t="t" l="l"/>
              <a:pathLst>
                <a:path h="89916" w="89916">
                  <a:moveTo>
                    <a:pt x="0" y="44958"/>
                  </a:moveTo>
                  <a:cubicBezTo>
                    <a:pt x="0" y="20066"/>
                    <a:pt x="20066" y="0"/>
                    <a:pt x="44958" y="0"/>
                  </a:cubicBezTo>
                  <a:cubicBezTo>
                    <a:pt x="69850" y="0"/>
                    <a:pt x="89916" y="20066"/>
                    <a:pt x="89916" y="44958"/>
                  </a:cubicBezTo>
                  <a:cubicBezTo>
                    <a:pt x="89916" y="69850"/>
                    <a:pt x="69850" y="89916"/>
                    <a:pt x="44958" y="89916"/>
                  </a:cubicBezTo>
                  <a:cubicBezTo>
                    <a:pt x="20066" y="89916"/>
                    <a:pt x="0" y="69850"/>
                    <a:pt x="0" y="44958"/>
                  </a:cubicBez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78303" t="0" r="-78303" b="0"/>
              </a:stretch>
            </a:blipFill>
            <a:ln w="17145" cap="sq">
              <a:solidFill>
                <a:srgbClr val="FFFFFF"/>
              </a:solidFill>
              <a:prstDash val="solid"/>
              <a:miter/>
            </a:ln>
          </p:spPr>
        </p:sp>
      </p:grpSp>
      <p:sp>
        <p:nvSpPr>
          <p:cNvPr name="AutoShape 49" id="49"/>
          <p:cNvSpPr/>
          <p:nvPr/>
        </p:nvSpPr>
        <p:spPr>
          <a:xfrm rot="222900">
            <a:off x="1801330" y="5844654"/>
            <a:ext cx="274387" cy="0"/>
          </a:xfrm>
          <a:prstGeom prst="line">
            <a:avLst/>
          </a:prstGeom>
          <a:ln cap="rnd" w="95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50" id="50"/>
          <p:cNvGrpSpPr/>
          <p:nvPr/>
        </p:nvGrpSpPr>
        <p:grpSpPr>
          <a:xfrm rot="0">
            <a:off x="1683067" y="5962460"/>
            <a:ext cx="67437" cy="67437"/>
            <a:chOff x="0" y="0"/>
            <a:chExt cx="89916" cy="89916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89916" cy="89916"/>
            </a:xfrm>
            <a:custGeom>
              <a:avLst/>
              <a:gdLst/>
              <a:ahLst/>
              <a:cxnLst/>
              <a:rect r="r" b="b" t="t" l="l"/>
              <a:pathLst>
                <a:path h="89916" w="89916">
                  <a:moveTo>
                    <a:pt x="0" y="44958"/>
                  </a:moveTo>
                  <a:cubicBezTo>
                    <a:pt x="0" y="20066"/>
                    <a:pt x="20066" y="0"/>
                    <a:pt x="44958" y="0"/>
                  </a:cubicBezTo>
                  <a:cubicBezTo>
                    <a:pt x="69850" y="0"/>
                    <a:pt x="89916" y="20066"/>
                    <a:pt x="89916" y="44958"/>
                  </a:cubicBezTo>
                  <a:cubicBezTo>
                    <a:pt x="89916" y="69850"/>
                    <a:pt x="69850" y="89916"/>
                    <a:pt x="44958" y="89916"/>
                  </a:cubicBezTo>
                  <a:cubicBezTo>
                    <a:pt x="20066" y="89916"/>
                    <a:pt x="0" y="69850"/>
                    <a:pt x="0" y="44958"/>
                  </a:cubicBez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78303" t="0" r="-78303" b="0"/>
              </a:stretch>
            </a:blipFill>
            <a:ln w="17145" cap="sq">
              <a:solidFill>
                <a:srgbClr val="FFFFFF"/>
              </a:solidFill>
              <a:prstDash val="solid"/>
              <a:miter/>
            </a:ln>
          </p:spPr>
        </p:sp>
      </p:grpSp>
      <p:sp>
        <p:nvSpPr>
          <p:cNvPr name="AutoShape 52" id="52"/>
          <p:cNvSpPr/>
          <p:nvPr/>
        </p:nvSpPr>
        <p:spPr>
          <a:xfrm rot="222900">
            <a:off x="1801330" y="5990958"/>
            <a:ext cx="274387" cy="0"/>
          </a:xfrm>
          <a:prstGeom prst="line">
            <a:avLst/>
          </a:prstGeom>
          <a:ln cap="rnd" w="95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53" id="53"/>
          <p:cNvGrpSpPr/>
          <p:nvPr/>
        </p:nvGrpSpPr>
        <p:grpSpPr>
          <a:xfrm rot="0">
            <a:off x="4581144" y="5413248"/>
            <a:ext cx="1280160" cy="329184"/>
            <a:chOff x="0" y="0"/>
            <a:chExt cx="1706880" cy="438912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706880" cy="438912"/>
            </a:xfrm>
            <a:custGeom>
              <a:avLst/>
              <a:gdLst/>
              <a:ahLst/>
              <a:cxnLst/>
              <a:rect r="r" b="b" t="t" l="l"/>
              <a:pathLst>
                <a:path h="438912" w="1706880">
                  <a:moveTo>
                    <a:pt x="0" y="0"/>
                  </a:moveTo>
                  <a:lnTo>
                    <a:pt x="1706880" y="0"/>
                  </a:lnTo>
                  <a:lnTo>
                    <a:pt x="1706880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25775" r="0" b="-25775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9525"/>
              <a:ext cx="1706880" cy="44843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584"/>
                </a:lnSpc>
              </a:pPr>
              <a:r>
                <a:rPr lang="en-US" sz="1320" b="true">
                  <a:solidFill>
                    <a:srgbClr val="A95E53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PAIN 01</a:t>
              </a: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1426464" y="7022592"/>
            <a:ext cx="4480560" cy="557784"/>
            <a:chOff x="0" y="0"/>
            <a:chExt cx="5974080" cy="743712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5974079" cy="743712"/>
            </a:xfrm>
            <a:custGeom>
              <a:avLst/>
              <a:gdLst/>
              <a:ahLst/>
              <a:cxnLst/>
              <a:rect r="r" b="b" t="t" l="l"/>
              <a:pathLst>
                <a:path h="743712" w="5974079">
                  <a:moveTo>
                    <a:pt x="0" y="0"/>
                  </a:moveTo>
                  <a:lnTo>
                    <a:pt x="5974079" y="0"/>
                  </a:lnTo>
                  <a:lnTo>
                    <a:pt x="5974079" y="743712"/>
                  </a:lnTo>
                  <a:lnTo>
                    <a:pt x="0" y="743712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06519" r="0" b="-106519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28575"/>
              <a:ext cx="5974080" cy="77228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87"/>
                </a:lnSpc>
              </a:pPr>
              <a:r>
                <a:rPr lang="en-US" sz="2739" b="true">
                  <a:solidFill>
                    <a:srgbClr val="171717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QUESTIONNAIRES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1435608" y="7754112"/>
            <a:ext cx="4462272" cy="448056"/>
            <a:chOff x="0" y="0"/>
            <a:chExt cx="5949696" cy="597408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5949696" cy="597408"/>
            </a:xfrm>
            <a:custGeom>
              <a:avLst/>
              <a:gdLst/>
              <a:ahLst/>
              <a:cxnLst/>
              <a:rect r="r" b="b" t="t" l="l"/>
              <a:pathLst>
                <a:path h="597408" w="5949696">
                  <a:moveTo>
                    <a:pt x="0" y="0"/>
                  </a:moveTo>
                  <a:lnTo>
                    <a:pt x="5949696" y="0"/>
                  </a:lnTo>
                  <a:lnTo>
                    <a:pt x="5949696" y="597408"/>
                  </a:lnTo>
                  <a:lnTo>
                    <a:pt x="0" y="597408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44055" r="0" b="-144055"/>
              </a:stretch>
            </a:blip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19050"/>
              <a:ext cx="5949696" cy="61645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56636A"/>
                  </a:solidFill>
                  <a:latin typeface="Poppins"/>
                  <a:ea typeface="Poppins"/>
                  <a:cs typeface="Poppins"/>
                  <a:sym typeface="Poppins"/>
                </a:rPr>
                <a:t>Answers from memory</a:t>
              </a:r>
            </a:p>
          </p:txBody>
        </p:sp>
      </p:grpSp>
      <p:grpSp>
        <p:nvGrpSpPr>
          <p:cNvPr name="Group 62" id="62"/>
          <p:cNvGrpSpPr/>
          <p:nvPr/>
        </p:nvGrpSpPr>
        <p:grpSpPr>
          <a:xfrm rot="0">
            <a:off x="6604444" y="5049964"/>
            <a:ext cx="5207127" cy="3579495"/>
            <a:chOff x="0" y="0"/>
            <a:chExt cx="6942836" cy="477266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6942836" cy="4772660"/>
            </a:xfrm>
            <a:custGeom>
              <a:avLst/>
              <a:gdLst/>
              <a:ahLst/>
              <a:cxnLst/>
              <a:rect r="r" b="b" t="t" l="l"/>
              <a:pathLst>
                <a:path h="4772660" w="6942836">
                  <a:moveTo>
                    <a:pt x="0" y="715899"/>
                  </a:moveTo>
                  <a:cubicBezTo>
                    <a:pt x="0" y="320548"/>
                    <a:pt x="320548" y="0"/>
                    <a:pt x="715899" y="0"/>
                  </a:cubicBezTo>
                  <a:lnTo>
                    <a:pt x="6226937" y="0"/>
                  </a:lnTo>
                  <a:cubicBezTo>
                    <a:pt x="6622288" y="0"/>
                    <a:pt x="6942836" y="320548"/>
                    <a:pt x="6942836" y="715899"/>
                  </a:cubicBezTo>
                  <a:lnTo>
                    <a:pt x="6942836" y="4056761"/>
                  </a:lnTo>
                  <a:cubicBezTo>
                    <a:pt x="6942836" y="4452112"/>
                    <a:pt x="6622288" y="4772660"/>
                    <a:pt x="6226937" y="4772660"/>
                  </a:cubicBezTo>
                  <a:lnTo>
                    <a:pt x="715899" y="4772660"/>
                  </a:lnTo>
                  <a:cubicBezTo>
                    <a:pt x="320548" y="4772660"/>
                    <a:pt x="0" y="4452112"/>
                    <a:pt x="0" y="4056761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DDE6E7"/>
              </a:solidFill>
              <a:prstDash val="solid"/>
              <a:miter/>
            </a:ln>
          </p:spPr>
        </p:sp>
      </p:grpSp>
      <p:grpSp>
        <p:nvGrpSpPr>
          <p:cNvPr name="Group 64" id="64"/>
          <p:cNvGrpSpPr/>
          <p:nvPr/>
        </p:nvGrpSpPr>
        <p:grpSpPr>
          <a:xfrm rot="0">
            <a:off x="6622999" y="5068519"/>
            <a:ext cx="5170018" cy="1490472"/>
            <a:chOff x="0" y="0"/>
            <a:chExt cx="6893357" cy="1987296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6893306" cy="1987169"/>
            </a:xfrm>
            <a:custGeom>
              <a:avLst/>
              <a:gdLst/>
              <a:ahLst/>
              <a:cxnLst/>
              <a:rect r="r" b="b" t="t" l="l"/>
              <a:pathLst>
                <a:path h="1987169" w="6893306">
                  <a:moveTo>
                    <a:pt x="0" y="715391"/>
                  </a:moveTo>
                  <a:cubicBezTo>
                    <a:pt x="0" y="320294"/>
                    <a:pt x="320294" y="0"/>
                    <a:pt x="715391" y="0"/>
                  </a:cubicBezTo>
                  <a:lnTo>
                    <a:pt x="6177915" y="0"/>
                  </a:lnTo>
                  <a:cubicBezTo>
                    <a:pt x="6573012" y="0"/>
                    <a:pt x="6893306" y="320294"/>
                    <a:pt x="6893306" y="715391"/>
                  </a:cubicBezTo>
                  <a:lnTo>
                    <a:pt x="6893306" y="1271778"/>
                  </a:lnTo>
                  <a:cubicBezTo>
                    <a:pt x="6893306" y="1666875"/>
                    <a:pt x="6573012" y="1987169"/>
                    <a:pt x="6177915" y="1987169"/>
                  </a:cubicBezTo>
                  <a:lnTo>
                    <a:pt x="715391" y="1987169"/>
                  </a:lnTo>
                  <a:cubicBezTo>
                    <a:pt x="320294" y="1987296"/>
                    <a:pt x="0" y="1667002"/>
                    <a:pt x="0" y="1271905"/>
                  </a:cubicBezTo>
                  <a:close/>
                </a:path>
              </a:pathLst>
            </a:custGeom>
            <a:solidFill>
              <a:srgbClr val="F6EDEA"/>
            </a:solidFill>
          </p:spPr>
        </p:sp>
      </p:grpSp>
      <p:grpSp>
        <p:nvGrpSpPr>
          <p:cNvPr name="Group 66" id="66"/>
          <p:cNvGrpSpPr/>
          <p:nvPr/>
        </p:nvGrpSpPr>
        <p:grpSpPr>
          <a:xfrm rot="0">
            <a:off x="6622999" y="6099048"/>
            <a:ext cx="5170018" cy="475488"/>
            <a:chOff x="0" y="0"/>
            <a:chExt cx="6893357" cy="633984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6893306" cy="633984"/>
            </a:xfrm>
            <a:custGeom>
              <a:avLst/>
              <a:gdLst/>
              <a:ahLst/>
              <a:cxnLst/>
              <a:rect r="r" b="b" t="t" l="l"/>
              <a:pathLst>
                <a:path h="633984" w="6893306">
                  <a:moveTo>
                    <a:pt x="0" y="0"/>
                  </a:moveTo>
                  <a:lnTo>
                    <a:pt x="6893306" y="0"/>
                  </a:lnTo>
                  <a:lnTo>
                    <a:pt x="6893306" y="633984"/>
                  </a:lnTo>
                  <a:lnTo>
                    <a:pt x="0" y="633984"/>
                  </a:lnTo>
                  <a:close/>
                </a:path>
              </a:pathLst>
            </a:custGeom>
            <a:solidFill>
              <a:srgbClr val="F6EDEA"/>
            </a:solidFill>
          </p:spPr>
        </p:sp>
      </p:grpSp>
      <p:sp>
        <p:nvSpPr>
          <p:cNvPr name="AutoShape 68" id="68"/>
          <p:cNvSpPr/>
          <p:nvPr/>
        </p:nvSpPr>
        <p:spPr>
          <a:xfrm rot="6780">
            <a:off x="6633458" y="6569774"/>
            <a:ext cx="5149101" cy="0"/>
          </a:xfrm>
          <a:prstGeom prst="line">
            <a:avLst/>
          </a:prstGeom>
          <a:ln cap="rnd" w="9525">
            <a:solidFill>
              <a:srgbClr val="DFE8E8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9" id="69"/>
          <p:cNvGrpSpPr/>
          <p:nvPr/>
        </p:nvGrpSpPr>
        <p:grpSpPr>
          <a:xfrm rot="0">
            <a:off x="6940296" y="5330952"/>
            <a:ext cx="1051560" cy="1051560"/>
            <a:chOff x="0" y="0"/>
            <a:chExt cx="1402080" cy="1402080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1402080" cy="1402080"/>
            </a:xfrm>
            <a:custGeom>
              <a:avLst/>
              <a:gdLst/>
              <a:ahLst/>
              <a:cxnLst/>
              <a:rect r="r" b="b" t="t" l="l"/>
              <a:pathLst>
                <a:path h="1402080" w="1402080">
                  <a:moveTo>
                    <a:pt x="0" y="701040"/>
                  </a:moveTo>
                  <a:cubicBezTo>
                    <a:pt x="0" y="313817"/>
                    <a:pt x="313817" y="0"/>
                    <a:pt x="701040" y="0"/>
                  </a:cubicBezTo>
                  <a:cubicBezTo>
                    <a:pt x="1088263" y="0"/>
                    <a:pt x="1402080" y="313817"/>
                    <a:pt x="1402080" y="701040"/>
                  </a:cubicBezTo>
                  <a:cubicBezTo>
                    <a:pt x="1402080" y="1088263"/>
                    <a:pt x="1088263" y="1402080"/>
                    <a:pt x="701040" y="1402080"/>
                  </a:cubicBezTo>
                  <a:cubicBezTo>
                    <a:pt x="313817" y="1402080"/>
                    <a:pt x="0" y="1088263"/>
                    <a:pt x="0" y="701040"/>
                  </a:cubicBezTo>
                  <a:close/>
                </a:path>
              </a:pathLst>
            </a:custGeom>
            <a:solidFill>
              <a:srgbClr val="A95E53"/>
            </a:solidFill>
          </p:spPr>
        </p:sp>
      </p:grpSp>
      <p:grpSp>
        <p:nvGrpSpPr>
          <p:cNvPr name="Group 71" id="71"/>
          <p:cNvGrpSpPr/>
          <p:nvPr/>
        </p:nvGrpSpPr>
        <p:grpSpPr>
          <a:xfrm rot="0">
            <a:off x="7128767" y="5473703"/>
            <a:ext cx="574043" cy="674627"/>
            <a:chOff x="0" y="0"/>
            <a:chExt cx="765391" cy="899503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765429" cy="899541"/>
            </a:xfrm>
            <a:custGeom>
              <a:avLst/>
              <a:gdLst/>
              <a:ahLst/>
              <a:cxnLst/>
              <a:rect r="r" b="b" t="t" l="l"/>
              <a:pathLst>
                <a:path h="899541" w="765429">
                  <a:moveTo>
                    <a:pt x="0" y="114808"/>
                  </a:moveTo>
                  <a:cubicBezTo>
                    <a:pt x="0" y="51435"/>
                    <a:pt x="51435" y="0"/>
                    <a:pt x="114808" y="0"/>
                  </a:cubicBezTo>
                  <a:lnTo>
                    <a:pt x="650621" y="0"/>
                  </a:lnTo>
                  <a:cubicBezTo>
                    <a:pt x="713994" y="0"/>
                    <a:pt x="765429" y="51435"/>
                    <a:pt x="765429" y="114808"/>
                  </a:cubicBezTo>
                  <a:lnTo>
                    <a:pt x="765429" y="784733"/>
                  </a:lnTo>
                  <a:cubicBezTo>
                    <a:pt x="765429" y="848106"/>
                    <a:pt x="713994" y="899541"/>
                    <a:pt x="650621" y="899541"/>
                  </a:cubicBezTo>
                  <a:lnTo>
                    <a:pt x="114808" y="899541"/>
                  </a:lnTo>
                  <a:cubicBezTo>
                    <a:pt x="51435" y="899541"/>
                    <a:pt x="0" y="848106"/>
                    <a:pt x="0" y="784733"/>
                  </a:cubicBezTo>
                  <a:close/>
                </a:path>
              </a:pathLst>
            </a:custGeom>
            <a:solidFill>
              <a:srgbClr val="A95E53"/>
            </a:solidFill>
            <a:ln w="25400" cap="sq">
              <a:solidFill>
                <a:srgbClr val="FFFFFF"/>
              </a:solidFill>
              <a:prstDash val="solid"/>
              <a:miter/>
            </a:ln>
          </p:spPr>
        </p:sp>
      </p:grpSp>
      <p:sp>
        <p:nvSpPr>
          <p:cNvPr name="AutoShape 73" id="73"/>
          <p:cNvSpPr/>
          <p:nvPr/>
        </p:nvSpPr>
        <p:spPr>
          <a:xfrm rot="196680">
            <a:off x="7223760" y="5664518"/>
            <a:ext cx="310896" cy="0"/>
          </a:xfrm>
          <a:prstGeom prst="line">
            <a:avLst/>
          </a:prstGeom>
          <a:ln cap="rnd" w="95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4" id="74"/>
          <p:cNvSpPr/>
          <p:nvPr/>
        </p:nvSpPr>
        <p:spPr>
          <a:xfrm rot="247680">
            <a:off x="7223693" y="5765102"/>
            <a:ext cx="247021" cy="0"/>
          </a:xfrm>
          <a:prstGeom prst="line">
            <a:avLst/>
          </a:prstGeom>
          <a:ln cap="rnd" w="95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75" id="75"/>
          <p:cNvGrpSpPr/>
          <p:nvPr/>
        </p:nvGrpSpPr>
        <p:grpSpPr>
          <a:xfrm rot="0">
            <a:off x="7356729" y="5802249"/>
            <a:ext cx="410718" cy="410718"/>
            <a:chOff x="0" y="0"/>
            <a:chExt cx="547624" cy="547624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547624" cy="547624"/>
            </a:xfrm>
            <a:custGeom>
              <a:avLst/>
              <a:gdLst/>
              <a:ahLst/>
              <a:cxnLst/>
              <a:rect r="r" b="b" t="t" l="l"/>
              <a:pathLst>
                <a:path h="547624" w="547624">
                  <a:moveTo>
                    <a:pt x="0" y="273812"/>
                  </a:moveTo>
                  <a:cubicBezTo>
                    <a:pt x="0" y="122555"/>
                    <a:pt x="122555" y="0"/>
                    <a:pt x="273812" y="0"/>
                  </a:cubicBezTo>
                  <a:cubicBezTo>
                    <a:pt x="425069" y="0"/>
                    <a:pt x="547624" y="122555"/>
                    <a:pt x="547624" y="273812"/>
                  </a:cubicBezTo>
                  <a:cubicBezTo>
                    <a:pt x="547624" y="425069"/>
                    <a:pt x="425069" y="547624"/>
                    <a:pt x="273812" y="547624"/>
                  </a:cubicBezTo>
                  <a:cubicBezTo>
                    <a:pt x="122555" y="547624"/>
                    <a:pt x="0" y="425069"/>
                    <a:pt x="0" y="273812"/>
                  </a:cubicBezTo>
                  <a:close/>
                </a:path>
              </a:pathLst>
            </a:custGeom>
            <a:solidFill>
              <a:srgbClr val="A95E53"/>
            </a:solidFill>
            <a:ln w="26670" cap="sq">
              <a:solidFill>
                <a:srgbClr val="FFFFFF"/>
              </a:solidFill>
              <a:prstDash val="solid"/>
              <a:miter/>
            </a:ln>
          </p:spPr>
        </p:sp>
      </p:grpSp>
      <p:sp>
        <p:nvSpPr>
          <p:cNvPr name="AutoShape 77" id="77"/>
          <p:cNvSpPr/>
          <p:nvPr/>
        </p:nvSpPr>
        <p:spPr>
          <a:xfrm rot="4850280">
            <a:off x="7490308" y="5947791"/>
            <a:ext cx="143561" cy="0"/>
          </a:xfrm>
          <a:prstGeom prst="line">
            <a:avLst/>
          </a:prstGeom>
          <a:ln cap="rnd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8" id="78"/>
          <p:cNvSpPr/>
          <p:nvPr/>
        </p:nvSpPr>
        <p:spPr>
          <a:xfrm rot="1857840">
            <a:off x="7541162" y="6030087"/>
            <a:ext cx="133293" cy="0"/>
          </a:xfrm>
          <a:prstGeom prst="line">
            <a:avLst/>
          </a:prstGeom>
          <a:ln cap="rnd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79" id="79"/>
          <p:cNvGrpSpPr/>
          <p:nvPr/>
        </p:nvGrpSpPr>
        <p:grpSpPr>
          <a:xfrm rot="0">
            <a:off x="10122408" y="5413248"/>
            <a:ext cx="1280160" cy="329184"/>
            <a:chOff x="0" y="0"/>
            <a:chExt cx="1706880" cy="438912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1706880" cy="438912"/>
            </a:xfrm>
            <a:custGeom>
              <a:avLst/>
              <a:gdLst/>
              <a:ahLst/>
              <a:cxnLst/>
              <a:rect r="r" b="b" t="t" l="l"/>
              <a:pathLst>
                <a:path h="438912" w="1706880">
                  <a:moveTo>
                    <a:pt x="0" y="0"/>
                  </a:moveTo>
                  <a:lnTo>
                    <a:pt x="1706880" y="0"/>
                  </a:lnTo>
                  <a:lnTo>
                    <a:pt x="1706880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25775" r="0" b="-25775"/>
              </a:stretch>
            </a:blipFill>
          </p:spPr>
        </p:sp>
        <p:sp>
          <p:nvSpPr>
            <p:cNvPr name="TextBox 81" id="81"/>
            <p:cNvSpPr txBox="true"/>
            <p:nvPr/>
          </p:nvSpPr>
          <p:spPr>
            <a:xfrm>
              <a:off x="0" y="-9525"/>
              <a:ext cx="1706880" cy="44843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584"/>
                </a:lnSpc>
              </a:pPr>
              <a:r>
                <a:rPr lang="en-US" sz="1320" b="true">
                  <a:solidFill>
                    <a:srgbClr val="A95E53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PAIN 02</a:t>
              </a:r>
            </a:p>
          </p:txBody>
        </p:sp>
      </p:grpSp>
      <p:grpSp>
        <p:nvGrpSpPr>
          <p:cNvPr name="Group 82" id="82"/>
          <p:cNvGrpSpPr/>
          <p:nvPr/>
        </p:nvGrpSpPr>
        <p:grpSpPr>
          <a:xfrm rot="0">
            <a:off x="6967728" y="7022592"/>
            <a:ext cx="4480560" cy="557784"/>
            <a:chOff x="0" y="0"/>
            <a:chExt cx="5974080" cy="743712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5974079" cy="743712"/>
            </a:xfrm>
            <a:custGeom>
              <a:avLst/>
              <a:gdLst/>
              <a:ahLst/>
              <a:cxnLst/>
              <a:rect r="r" b="b" t="t" l="l"/>
              <a:pathLst>
                <a:path h="743712" w="5974079">
                  <a:moveTo>
                    <a:pt x="0" y="0"/>
                  </a:moveTo>
                  <a:lnTo>
                    <a:pt x="5974079" y="0"/>
                  </a:lnTo>
                  <a:lnTo>
                    <a:pt x="5974079" y="743712"/>
                  </a:lnTo>
                  <a:lnTo>
                    <a:pt x="0" y="743712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06519" r="0" b="-106519"/>
              </a:stretch>
            </a:blipFill>
          </p:spPr>
        </p:sp>
        <p:sp>
          <p:nvSpPr>
            <p:cNvPr name="TextBox 84" id="84"/>
            <p:cNvSpPr txBox="true"/>
            <p:nvPr/>
          </p:nvSpPr>
          <p:spPr>
            <a:xfrm>
              <a:off x="0" y="-28575"/>
              <a:ext cx="5974080" cy="77228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87"/>
                </a:lnSpc>
              </a:pPr>
              <a:r>
                <a:rPr lang="en-US" sz="2739" b="true">
                  <a:solidFill>
                    <a:srgbClr val="171717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STALE EVIDENCE</a:t>
              </a:r>
            </a:p>
          </p:txBody>
        </p:sp>
      </p:grpSp>
      <p:grpSp>
        <p:nvGrpSpPr>
          <p:cNvPr name="Group 85" id="85"/>
          <p:cNvGrpSpPr/>
          <p:nvPr/>
        </p:nvGrpSpPr>
        <p:grpSpPr>
          <a:xfrm rot="0">
            <a:off x="6976872" y="7754112"/>
            <a:ext cx="4462272" cy="448056"/>
            <a:chOff x="0" y="0"/>
            <a:chExt cx="5949696" cy="597408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5949696" cy="597408"/>
            </a:xfrm>
            <a:custGeom>
              <a:avLst/>
              <a:gdLst/>
              <a:ahLst/>
              <a:cxnLst/>
              <a:rect r="r" b="b" t="t" l="l"/>
              <a:pathLst>
                <a:path h="597408" w="5949696">
                  <a:moveTo>
                    <a:pt x="0" y="0"/>
                  </a:moveTo>
                  <a:lnTo>
                    <a:pt x="5949696" y="0"/>
                  </a:lnTo>
                  <a:lnTo>
                    <a:pt x="5949696" y="597408"/>
                  </a:lnTo>
                  <a:lnTo>
                    <a:pt x="0" y="597408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44055" r="0" b="-144055"/>
              </a:stretch>
            </a:blipFill>
          </p:spPr>
        </p:sp>
        <p:sp>
          <p:nvSpPr>
            <p:cNvPr name="TextBox 87" id="87"/>
            <p:cNvSpPr txBox="true"/>
            <p:nvPr/>
          </p:nvSpPr>
          <p:spPr>
            <a:xfrm>
              <a:off x="0" y="-19050"/>
              <a:ext cx="5949696" cy="61645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56636A"/>
                  </a:solidFill>
                  <a:latin typeface="Poppins"/>
                  <a:ea typeface="Poppins"/>
                  <a:cs typeface="Poppins"/>
                  <a:sym typeface="Poppins"/>
                </a:rPr>
                <a:t>Gaps go unseen</a:t>
              </a:r>
            </a:p>
          </p:txBody>
        </p:sp>
      </p:grpSp>
      <p:grpSp>
        <p:nvGrpSpPr>
          <p:cNvPr name="Group 88" id="88"/>
          <p:cNvGrpSpPr/>
          <p:nvPr/>
        </p:nvGrpSpPr>
        <p:grpSpPr>
          <a:xfrm rot="0">
            <a:off x="12145708" y="5049964"/>
            <a:ext cx="5207127" cy="3579495"/>
            <a:chOff x="0" y="0"/>
            <a:chExt cx="6942836" cy="4772660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6942836" cy="4772660"/>
            </a:xfrm>
            <a:custGeom>
              <a:avLst/>
              <a:gdLst/>
              <a:ahLst/>
              <a:cxnLst/>
              <a:rect r="r" b="b" t="t" l="l"/>
              <a:pathLst>
                <a:path h="4772660" w="6942836">
                  <a:moveTo>
                    <a:pt x="0" y="715899"/>
                  </a:moveTo>
                  <a:cubicBezTo>
                    <a:pt x="0" y="320548"/>
                    <a:pt x="320548" y="0"/>
                    <a:pt x="715899" y="0"/>
                  </a:cubicBezTo>
                  <a:lnTo>
                    <a:pt x="6226937" y="0"/>
                  </a:lnTo>
                  <a:cubicBezTo>
                    <a:pt x="6622288" y="0"/>
                    <a:pt x="6942836" y="320548"/>
                    <a:pt x="6942836" y="715899"/>
                  </a:cubicBezTo>
                  <a:lnTo>
                    <a:pt x="6942836" y="4056761"/>
                  </a:lnTo>
                  <a:cubicBezTo>
                    <a:pt x="6942836" y="4452112"/>
                    <a:pt x="6622288" y="4772660"/>
                    <a:pt x="6226937" y="4772660"/>
                  </a:cubicBezTo>
                  <a:lnTo>
                    <a:pt x="715899" y="4772660"/>
                  </a:lnTo>
                  <a:cubicBezTo>
                    <a:pt x="320548" y="4772660"/>
                    <a:pt x="0" y="4452112"/>
                    <a:pt x="0" y="4056761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DDE6E7"/>
              </a:solidFill>
              <a:prstDash val="solid"/>
              <a:miter/>
            </a:ln>
          </p:spPr>
        </p:sp>
      </p:grpSp>
      <p:grpSp>
        <p:nvGrpSpPr>
          <p:cNvPr name="Group 90" id="90"/>
          <p:cNvGrpSpPr/>
          <p:nvPr/>
        </p:nvGrpSpPr>
        <p:grpSpPr>
          <a:xfrm rot="0">
            <a:off x="12164263" y="5068519"/>
            <a:ext cx="5170018" cy="1490472"/>
            <a:chOff x="0" y="0"/>
            <a:chExt cx="6893357" cy="1987296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6893306" cy="1987169"/>
            </a:xfrm>
            <a:custGeom>
              <a:avLst/>
              <a:gdLst/>
              <a:ahLst/>
              <a:cxnLst/>
              <a:rect r="r" b="b" t="t" l="l"/>
              <a:pathLst>
                <a:path h="1987169" w="6893306">
                  <a:moveTo>
                    <a:pt x="0" y="715391"/>
                  </a:moveTo>
                  <a:cubicBezTo>
                    <a:pt x="0" y="320294"/>
                    <a:pt x="320294" y="0"/>
                    <a:pt x="715391" y="0"/>
                  </a:cubicBezTo>
                  <a:lnTo>
                    <a:pt x="6177915" y="0"/>
                  </a:lnTo>
                  <a:cubicBezTo>
                    <a:pt x="6573012" y="0"/>
                    <a:pt x="6893306" y="320294"/>
                    <a:pt x="6893306" y="715391"/>
                  </a:cubicBezTo>
                  <a:lnTo>
                    <a:pt x="6893306" y="1271778"/>
                  </a:lnTo>
                  <a:cubicBezTo>
                    <a:pt x="6893306" y="1666875"/>
                    <a:pt x="6573012" y="1987169"/>
                    <a:pt x="6177915" y="1987169"/>
                  </a:cubicBezTo>
                  <a:lnTo>
                    <a:pt x="715391" y="1987169"/>
                  </a:lnTo>
                  <a:cubicBezTo>
                    <a:pt x="320294" y="1987296"/>
                    <a:pt x="0" y="1667002"/>
                    <a:pt x="0" y="1271905"/>
                  </a:cubicBezTo>
                  <a:close/>
                </a:path>
              </a:pathLst>
            </a:custGeom>
            <a:solidFill>
              <a:srgbClr val="F6EDEA"/>
            </a:solidFill>
          </p:spPr>
        </p:sp>
      </p:grpSp>
      <p:grpSp>
        <p:nvGrpSpPr>
          <p:cNvPr name="Group 92" id="92"/>
          <p:cNvGrpSpPr/>
          <p:nvPr/>
        </p:nvGrpSpPr>
        <p:grpSpPr>
          <a:xfrm rot="0">
            <a:off x="12164263" y="6099048"/>
            <a:ext cx="5170018" cy="475488"/>
            <a:chOff x="0" y="0"/>
            <a:chExt cx="6893357" cy="633984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6893306" cy="633984"/>
            </a:xfrm>
            <a:custGeom>
              <a:avLst/>
              <a:gdLst/>
              <a:ahLst/>
              <a:cxnLst/>
              <a:rect r="r" b="b" t="t" l="l"/>
              <a:pathLst>
                <a:path h="633984" w="6893306">
                  <a:moveTo>
                    <a:pt x="0" y="0"/>
                  </a:moveTo>
                  <a:lnTo>
                    <a:pt x="6893306" y="0"/>
                  </a:lnTo>
                  <a:lnTo>
                    <a:pt x="6893306" y="633984"/>
                  </a:lnTo>
                  <a:lnTo>
                    <a:pt x="0" y="633984"/>
                  </a:lnTo>
                  <a:close/>
                </a:path>
              </a:pathLst>
            </a:custGeom>
            <a:solidFill>
              <a:srgbClr val="F6EDEA"/>
            </a:solidFill>
          </p:spPr>
        </p:sp>
      </p:grpSp>
      <p:sp>
        <p:nvSpPr>
          <p:cNvPr name="AutoShape 94" id="94"/>
          <p:cNvSpPr/>
          <p:nvPr/>
        </p:nvSpPr>
        <p:spPr>
          <a:xfrm rot="6780">
            <a:off x="12174722" y="6569774"/>
            <a:ext cx="5149101" cy="0"/>
          </a:xfrm>
          <a:prstGeom prst="line">
            <a:avLst/>
          </a:prstGeom>
          <a:ln cap="rnd" w="9525">
            <a:solidFill>
              <a:srgbClr val="DFE8E8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95" id="95"/>
          <p:cNvGrpSpPr/>
          <p:nvPr/>
        </p:nvGrpSpPr>
        <p:grpSpPr>
          <a:xfrm rot="0">
            <a:off x="12481560" y="5330952"/>
            <a:ext cx="1051560" cy="1051560"/>
            <a:chOff x="0" y="0"/>
            <a:chExt cx="1402080" cy="1402080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1402080" cy="1402080"/>
            </a:xfrm>
            <a:custGeom>
              <a:avLst/>
              <a:gdLst/>
              <a:ahLst/>
              <a:cxnLst/>
              <a:rect r="r" b="b" t="t" l="l"/>
              <a:pathLst>
                <a:path h="1402080" w="1402080">
                  <a:moveTo>
                    <a:pt x="0" y="701040"/>
                  </a:moveTo>
                  <a:cubicBezTo>
                    <a:pt x="0" y="313817"/>
                    <a:pt x="313817" y="0"/>
                    <a:pt x="701040" y="0"/>
                  </a:cubicBezTo>
                  <a:cubicBezTo>
                    <a:pt x="1088263" y="0"/>
                    <a:pt x="1402080" y="313817"/>
                    <a:pt x="1402080" y="701040"/>
                  </a:cubicBezTo>
                  <a:cubicBezTo>
                    <a:pt x="1402080" y="1088263"/>
                    <a:pt x="1088263" y="1402080"/>
                    <a:pt x="701040" y="1402080"/>
                  </a:cubicBezTo>
                  <a:cubicBezTo>
                    <a:pt x="313817" y="1402080"/>
                    <a:pt x="0" y="1088263"/>
                    <a:pt x="0" y="701040"/>
                  </a:cubicBezTo>
                  <a:close/>
                </a:path>
              </a:pathLst>
            </a:custGeom>
            <a:solidFill>
              <a:srgbClr val="A95E53"/>
            </a:solidFill>
          </p:spPr>
        </p:sp>
      </p:grpSp>
      <p:grpSp>
        <p:nvGrpSpPr>
          <p:cNvPr name="Group 97" id="97"/>
          <p:cNvGrpSpPr/>
          <p:nvPr/>
        </p:nvGrpSpPr>
        <p:grpSpPr>
          <a:xfrm rot="0">
            <a:off x="12679804" y="5510908"/>
            <a:ext cx="499615" cy="591055"/>
            <a:chOff x="0" y="0"/>
            <a:chExt cx="666153" cy="788073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666242" cy="788162"/>
            </a:xfrm>
            <a:custGeom>
              <a:avLst/>
              <a:gdLst/>
              <a:ahLst/>
              <a:cxnLst/>
              <a:rect r="r" b="b" t="t" l="l"/>
              <a:pathLst>
                <a:path h="788162" w="666242">
                  <a:moveTo>
                    <a:pt x="0" y="99949"/>
                  </a:moveTo>
                  <a:cubicBezTo>
                    <a:pt x="0" y="44704"/>
                    <a:pt x="44704" y="0"/>
                    <a:pt x="99949" y="0"/>
                  </a:cubicBezTo>
                  <a:lnTo>
                    <a:pt x="566293" y="0"/>
                  </a:lnTo>
                  <a:cubicBezTo>
                    <a:pt x="621538" y="0"/>
                    <a:pt x="666242" y="44704"/>
                    <a:pt x="666242" y="99949"/>
                  </a:cubicBezTo>
                  <a:lnTo>
                    <a:pt x="666242" y="688213"/>
                  </a:lnTo>
                  <a:cubicBezTo>
                    <a:pt x="666242" y="743458"/>
                    <a:pt x="621538" y="788162"/>
                    <a:pt x="566293" y="788162"/>
                  </a:cubicBezTo>
                  <a:lnTo>
                    <a:pt x="99949" y="788162"/>
                  </a:lnTo>
                  <a:cubicBezTo>
                    <a:pt x="44704" y="788035"/>
                    <a:pt x="0" y="743331"/>
                    <a:pt x="0" y="688213"/>
                  </a:cubicBezTo>
                  <a:close/>
                </a:path>
              </a:pathLst>
            </a:custGeom>
            <a:solidFill>
              <a:srgbClr val="A95E53"/>
            </a:solidFill>
            <a:ln w="2413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99" id="99"/>
          <p:cNvGrpSpPr/>
          <p:nvPr/>
        </p:nvGrpSpPr>
        <p:grpSpPr>
          <a:xfrm rot="0">
            <a:off x="12835252" y="5620636"/>
            <a:ext cx="472183" cy="581911"/>
            <a:chOff x="0" y="0"/>
            <a:chExt cx="629577" cy="775881"/>
          </a:xfrm>
        </p:grpSpPr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629666" cy="775970"/>
            </a:xfrm>
            <a:custGeom>
              <a:avLst/>
              <a:gdLst/>
              <a:ahLst/>
              <a:cxnLst/>
              <a:rect r="r" b="b" t="t" l="l"/>
              <a:pathLst>
                <a:path h="775970" w="629666">
                  <a:moveTo>
                    <a:pt x="0" y="94488"/>
                  </a:moveTo>
                  <a:cubicBezTo>
                    <a:pt x="0" y="42291"/>
                    <a:pt x="42291" y="0"/>
                    <a:pt x="94488" y="0"/>
                  </a:cubicBezTo>
                  <a:lnTo>
                    <a:pt x="535178" y="0"/>
                  </a:lnTo>
                  <a:cubicBezTo>
                    <a:pt x="587375" y="0"/>
                    <a:pt x="629666" y="42291"/>
                    <a:pt x="629666" y="94488"/>
                  </a:cubicBezTo>
                  <a:lnTo>
                    <a:pt x="629666" y="681482"/>
                  </a:lnTo>
                  <a:cubicBezTo>
                    <a:pt x="629666" y="733679"/>
                    <a:pt x="587375" y="775970"/>
                    <a:pt x="535178" y="775970"/>
                  </a:cubicBezTo>
                  <a:lnTo>
                    <a:pt x="94488" y="775970"/>
                  </a:lnTo>
                  <a:cubicBezTo>
                    <a:pt x="42291" y="775843"/>
                    <a:pt x="0" y="733552"/>
                    <a:pt x="0" y="681482"/>
                  </a:cubicBezTo>
                  <a:close/>
                </a:path>
              </a:pathLst>
            </a:custGeom>
            <a:solidFill>
              <a:srgbClr val="A95E53"/>
            </a:solidFill>
            <a:ln w="24130" cap="sq">
              <a:solidFill>
                <a:srgbClr val="FFFFFF"/>
              </a:solidFill>
              <a:prstDash val="solid"/>
              <a:miter/>
            </a:ln>
          </p:spPr>
        </p:sp>
      </p:grpSp>
      <p:sp>
        <p:nvSpPr>
          <p:cNvPr name="AutoShape 101" id="101"/>
          <p:cNvSpPr/>
          <p:nvPr/>
        </p:nvSpPr>
        <p:spPr>
          <a:xfrm rot="215760">
            <a:off x="12920443" y="5810821"/>
            <a:ext cx="283512" cy="0"/>
          </a:xfrm>
          <a:prstGeom prst="line">
            <a:avLst/>
          </a:prstGeom>
          <a:ln cap="rnd" w="95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2" id="102"/>
          <p:cNvSpPr/>
          <p:nvPr/>
        </p:nvSpPr>
        <p:spPr>
          <a:xfrm rot="215760">
            <a:off x="12920443" y="5902262"/>
            <a:ext cx="283512" cy="0"/>
          </a:xfrm>
          <a:prstGeom prst="line">
            <a:avLst/>
          </a:prstGeom>
          <a:ln cap="rnd" w="95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3" id="103"/>
          <p:cNvSpPr/>
          <p:nvPr/>
        </p:nvSpPr>
        <p:spPr>
          <a:xfrm rot="215760">
            <a:off x="12920443" y="5993702"/>
            <a:ext cx="283512" cy="0"/>
          </a:xfrm>
          <a:prstGeom prst="line">
            <a:avLst/>
          </a:prstGeom>
          <a:ln cap="rnd" w="95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4" id="104"/>
          <p:cNvSpPr/>
          <p:nvPr/>
        </p:nvSpPr>
        <p:spPr>
          <a:xfrm rot="10170540">
            <a:off x="12624530" y="6171819"/>
            <a:ext cx="125540" cy="0"/>
          </a:xfrm>
          <a:prstGeom prst="line">
            <a:avLst/>
          </a:prstGeom>
          <a:ln cap="rnd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5" id="105"/>
          <p:cNvSpPr/>
          <p:nvPr/>
        </p:nvSpPr>
        <p:spPr>
          <a:xfrm rot="-4813080">
            <a:off x="12569733" y="6116955"/>
            <a:ext cx="134541" cy="0"/>
          </a:xfrm>
          <a:prstGeom prst="line">
            <a:avLst/>
          </a:prstGeom>
          <a:ln cap="rnd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6" id="106"/>
          <p:cNvSpPr/>
          <p:nvPr/>
        </p:nvSpPr>
        <p:spPr>
          <a:xfrm rot="8100000">
            <a:off x="12565656" y="6084951"/>
            <a:ext cx="96984" cy="0"/>
          </a:xfrm>
          <a:prstGeom prst="line">
            <a:avLst/>
          </a:prstGeom>
          <a:ln cap="rnd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7" id="107"/>
          <p:cNvSpPr/>
          <p:nvPr/>
        </p:nvSpPr>
        <p:spPr>
          <a:xfrm rot="2485440">
            <a:off x="12612614" y="6084951"/>
            <a:ext cx="103651" cy="0"/>
          </a:xfrm>
          <a:prstGeom prst="line">
            <a:avLst/>
          </a:prstGeom>
          <a:ln cap="rnd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8" id="108"/>
          <p:cNvGrpSpPr/>
          <p:nvPr/>
        </p:nvGrpSpPr>
        <p:grpSpPr>
          <a:xfrm rot="0">
            <a:off x="15663672" y="5413248"/>
            <a:ext cx="1280160" cy="329184"/>
            <a:chOff x="0" y="0"/>
            <a:chExt cx="1706880" cy="438912"/>
          </a:xfrm>
        </p:grpSpPr>
        <p:sp>
          <p:nvSpPr>
            <p:cNvPr name="Freeform 109" id="109"/>
            <p:cNvSpPr/>
            <p:nvPr/>
          </p:nvSpPr>
          <p:spPr>
            <a:xfrm flipH="false" flipV="false" rot="0">
              <a:off x="0" y="0"/>
              <a:ext cx="1706880" cy="438912"/>
            </a:xfrm>
            <a:custGeom>
              <a:avLst/>
              <a:gdLst/>
              <a:ahLst/>
              <a:cxnLst/>
              <a:rect r="r" b="b" t="t" l="l"/>
              <a:pathLst>
                <a:path h="438912" w="1706880">
                  <a:moveTo>
                    <a:pt x="0" y="0"/>
                  </a:moveTo>
                  <a:lnTo>
                    <a:pt x="1706880" y="0"/>
                  </a:lnTo>
                  <a:lnTo>
                    <a:pt x="1706880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25775" r="0" b="-25775"/>
              </a:stretch>
            </a:blipFill>
          </p:spPr>
        </p:sp>
        <p:sp>
          <p:nvSpPr>
            <p:cNvPr name="TextBox 110" id="110"/>
            <p:cNvSpPr txBox="true"/>
            <p:nvPr/>
          </p:nvSpPr>
          <p:spPr>
            <a:xfrm>
              <a:off x="0" y="-9525"/>
              <a:ext cx="1706880" cy="44843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584"/>
                </a:lnSpc>
              </a:pPr>
              <a:r>
                <a:rPr lang="en-US" sz="1320" b="true">
                  <a:solidFill>
                    <a:srgbClr val="A95E53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PAIN 03</a:t>
              </a:r>
            </a:p>
          </p:txBody>
        </p:sp>
      </p:grpSp>
      <p:grpSp>
        <p:nvGrpSpPr>
          <p:cNvPr name="Group 111" id="111"/>
          <p:cNvGrpSpPr/>
          <p:nvPr/>
        </p:nvGrpSpPr>
        <p:grpSpPr>
          <a:xfrm rot="0">
            <a:off x="12508992" y="7022592"/>
            <a:ext cx="4480560" cy="557784"/>
            <a:chOff x="0" y="0"/>
            <a:chExt cx="5974080" cy="743712"/>
          </a:xfrm>
        </p:grpSpPr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5974079" cy="743712"/>
            </a:xfrm>
            <a:custGeom>
              <a:avLst/>
              <a:gdLst/>
              <a:ahLst/>
              <a:cxnLst/>
              <a:rect r="r" b="b" t="t" l="l"/>
              <a:pathLst>
                <a:path h="743712" w="5974079">
                  <a:moveTo>
                    <a:pt x="0" y="0"/>
                  </a:moveTo>
                  <a:lnTo>
                    <a:pt x="5974079" y="0"/>
                  </a:lnTo>
                  <a:lnTo>
                    <a:pt x="5974079" y="743712"/>
                  </a:lnTo>
                  <a:lnTo>
                    <a:pt x="0" y="743712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06519" r="0" b="-106519"/>
              </a:stretch>
            </a:blipFill>
          </p:spPr>
        </p:sp>
        <p:sp>
          <p:nvSpPr>
            <p:cNvPr name="TextBox 113" id="113"/>
            <p:cNvSpPr txBox="true"/>
            <p:nvPr/>
          </p:nvSpPr>
          <p:spPr>
            <a:xfrm>
              <a:off x="0" y="-28575"/>
              <a:ext cx="5974080" cy="77228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87"/>
                </a:lnSpc>
              </a:pPr>
              <a:r>
                <a:rPr lang="en-US" sz="2739" b="true">
                  <a:solidFill>
                    <a:srgbClr val="171717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LEGAL OVERHEAD</a:t>
              </a:r>
            </a:p>
          </p:txBody>
        </p:sp>
      </p:grpSp>
      <p:grpSp>
        <p:nvGrpSpPr>
          <p:cNvPr name="Group 114" id="114"/>
          <p:cNvGrpSpPr/>
          <p:nvPr/>
        </p:nvGrpSpPr>
        <p:grpSpPr>
          <a:xfrm rot="0">
            <a:off x="12518136" y="7754112"/>
            <a:ext cx="4462272" cy="448056"/>
            <a:chOff x="0" y="0"/>
            <a:chExt cx="5949696" cy="597408"/>
          </a:xfrm>
        </p:grpSpPr>
        <p:sp>
          <p:nvSpPr>
            <p:cNvPr name="Freeform 115" id="115"/>
            <p:cNvSpPr/>
            <p:nvPr/>
          </p:nvSpPr>
          <p:spPr>
            <a:xfrm flipH="false" flipV="false" rot="0">
              <a:off x="0" y="0"/>
              <a:ext cx="5949696" cy="597408"/>
            </a:xfrm>
            <a:custGeom>
              <a:avLst/>
              <a:gdLst/>
              <a:ahLst/>
              <a:cxnLst/>
              <a:rect r="r" b="b" t="t" l="l"/>
              <a:pathLst>
                <a:path h="597408" w="5949696">
                  <a:moveTo>
                    <a:pt x="0" y="0"/>
                  </a:moveTo>
                  <a:lnTo>
                    <a:pt x="5949696" y="0"/>
                  </a:lnTo>
                  <a:lnTo>
                    <a:pt x="5949696" y="597408"/>
                  </a:lnTo>
                  <a:lnTo>
                    <a:pt x="0" y="597408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44055" r="0" b="-144055"/>
              </a:stretch>
            </a:blipFill>
          </p:spPr>
        </p:sp>
        <p:sp>
          <p:nvSpPr>
            <p:cNvPr name="TextBox 116" id="116"/>
            <p:cNvSpPr txBox="true"/>
            <p:nvPr/>
          </p:nvSpPr>
          <p:spPr>
            <a:xfrm>
              <a:off x="0" y="-19050"/>
              <a:ext cx="5949696" cy="61645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56636A"/>
                  </a:solidFill>
                  <a:latin typeface="Poppins"/>
                  <a:ea typeface="Poppins"/>
                  <a:cs typeface="Poppins"/>
                  <a:sym typeface="Poppins"/>
                </a:rPr>
                <a:t>Fact-finding repeats</a:t>
              </a:r>
            </a:p>
          </p:txBody>
        </p:sp>
      </p:grpSp>
      <p:grpSp>
        <p:nvGrpSpPr>
          <p:cNvPr name="Group 117" id="117"/>
          <p:cNvGrpSpPr/>
          <p:nvPr/>
        </p:nvGrpSpPr>
        <p:grpSpPr>
          <a:xfrm rot="0">
            <a:off x="4158586" y="1272016"/>
            <a:ext cx="269215" cy="222028"/>
            <a:chOff x="0" y="0"/>
            <a:chExt cx="358953" cy="296037"/>
          </a:xfrm>
        </p:grpSpPr>
        <p:sp>
          <p:nvSpPr>
            <p:cNvPr name="Freeform 118" id="118" descr="image.png"/>
            <p:cNvSpPr/>
            <p:nvPr/>
          </p:nvSpPr>
          <p:spPr>
            <a:xfrm flipH="false" flipV="false" rot="0">
              <a:off x="0" y="0"/>
              <a:ext cx="358902" cy="296037"/>
            </a:xfrm>
            <a:custGeom>
              <a:avLst/>
              <a:gdLst/>
              <a:ahLst/>
              <a:cxnLst/>
              <a:rect r="r" b="b" t="t" l="l"/>
              <a:pathLst>
                <a:path h="296037" w="358902">
                  <a:moveTo>
                    <a:pt x="0" y="0"/>
                  </a:moveTo>
                  <a:lnTo>
                    <a:pt x="358902" y="0"/>
                  </a:lnTo>
                  <a:lnTo>
                    <a:pt x="358902" y="296037"/>
                  </a:lnTo>
                  <a:lnTo>
                    <a:pt x="0" y="2960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-14" b="0"/>
              </a:stretch>
            </a:blipFill>
          </p:spPr>
        </p:sp>
      </p:grpSp>
    </p:spTree>
  </p:cSld>
  <p:clrMapOvr>
    <a:masterClrMapping/>
  </p:clrMapOvr>
  <p:transition spd="fast">
    <p:fade/>
  </p:transition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027427" y="954576"/>
            <a:ext cx="10233146" cy="693858"/>
          </a:xfrm>
          <a:custGeom>
            <a:avLst/>
            <a:gdLst/>
            <a:ahLst/>
            <a:cxnLst/>
            <a:rect r="r" b="b" t="t" l="l"/>
            <a:pathLst>
              <a:path h="693858" w="10233146">
                <a:moveTo>
                  <a:pt x="0" y="0"/>
                </a:moveTo>
                <a:lnTo>
                  <a:pt x="10233146" y="0"/>
                </a:lnTo>
                <a:lnTo>
                  <a:pt x="10233146" y="693859"/>
                </a:lnTo>
                <a:lnTo>
                  <a:pt x="0" y="69385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100894" y="1190730"/>
            <a:ext cx="384600" cy="384600"/>
          </a:xfrm>
          <a:custGeom>
            <a:avLst/>
            <a:gdLst/>
            <a:ahLst/>
            <a:cxnLst/>
            <a:rect r="r" b="b" t="t" l="l"/>
            <a:pathLst>
              <a:path h="384600" w="384600">
                <a:moveTo>
                  <a:pt x="0" y="0"/>
                </a:moveTo>
                <a:lnTo>
                  <a:pt x="384600" y="0"/>
                </a:lnTo>
                <a:lnTo>
                  <a:pt x="384600" y="384600"/>
                </a:lnTo>
                <a:lnTo>
                  <a:pt x="0" y="3846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4545644" y="1148715"/>
            <a:ext cx="2067239" cy="3686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7"/>
              </a:lnSpc>
            </a:pPr>
            <a:r>
              <a:rPr lang="en-US" sz="1797" b="true">
                <a:solidFill>
                  <a:srgbClr val="171717"/>
                </a:solidFill>
                <a:latin typeface="Poppins Bold"/>
                <a:ea typeface="Poppins Bold"/>
                <a:cs typeface="Poppins Bold"/>
                <a:sym typeface="Poppins Bold"/>
              </a:rPr>
              <a:t>Regulift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7589520" y="1190730"/>
            <a:ext cx="1513332" cy="384962"/>
            <a:chOff x="0" y="0"/>
            <a:chExt cx="2017776" cy="513283"/>
          </a:xfrm>
        </p:grpSpPr>
        <p:sp>
          <p:nvSpPr>
            <p:cNvPr name="Freeform 6" id="6">
              <a:hlinkClick r:id="rId6" action="ppaction://hlinksldjump"/>
            </p:cNvPr>
            <p:cNvSpPr/>
            <p:nvPr/>
          </p:nvSpPr>
          <p:spPr>
            <a:xfrm flipH="false" flipV="false" rot="0">
              <a:off x="0" y="0"/>
              <a:ext cx="2017776" cy="513334"/>
            </a:xfrm>
            <a:custGeom>
              <a:avLst/>
              <a:gdLst/>
              <a:ahLst/>
              <a:cxnLst/>
              <a:rect r="r" b="b" t="t" l="l"/>
              <a:pathLst>
                <a:path h="513334" w="2017776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761109" y="0"/>
                  </a:lnTo>
                  <a:cubicBezTo>
                    <a:pt x="1902841" y="0"/>
                    <a:pt x="2017776" y="114935"/>
                    <a:pt x="2017776" y="256667"/>
                  </a:cubicBezTo>
                  <a:cubicBezTo>
                    <a:pt x="2017776" y="398399"/>
                    <a:pt x="1902841" y="513334"/>
                    <a:pt x="1761109" y="513334"/>
                  </a:cubicBezTo>
                  <a:lnTo>
                    <a:pt x="256667" y="513334"/>
                  </a:lnTo>
                  <a:cubicBezTo>
                    <a:pt x="114935" y="513334"/>
                    <a:pt x="0" y="398399"/>
                    <a:pt x="0" y="256667"/>
                  </a:cubicBezTo>
                  <a:close/>
                </a:path>
              </a:pathLst>
            </a:custGeom>
            <a:solidFill>
              <a:srgbClr val="CCCCCC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9525"/>
              <a:ext cx="2017776" cy="5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>
                  <a:solidFill>
                    <a:srgbClr val="171717"/>
                  </a:solidFill>
                  <a:latin typeface="Poppins"/>
                  <a:ea typeface="Poppins"/>
                  <a:cs typeface="Poppins"/>
                  <a:sym typeface="Poppins"/>
                </a:rPr>
                <a:t>About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212580" y="1190730"/>
            <a:ext cx="1513332" cy="384962"/>
            <a:chOff x="0" y="0"/>
            <a:chExt cx="2017776" cy="513283"/>
          </a:xfrm>
        </p:grpSpPr>
        <p:sp>
          <p:nvSpPr>
            <p:cNvPr name="Freeform 9" id="9">
              <a:hlinkClick r:id="rId7" action="ppaction://hlinksldjump"/>
            </p:cNvPr>
            <p:cNvSpPr/>
            <p:nvPr/>
          </p:nvSpPr>
          <p:spPr>
            <a:xfrm flipH="false" flipV="false" rot="0">
              <a:off x="0" y="0"/>
              <a:ext cx="2017776" cy="513334"/>
            </a:xfrm>
            <a:custGeom>
              <a:avLst/>
              <a:gdLst/>
              <a:ahLst/>
              <a:cxnLst/>
              <a:rect r="r" b="b" t="t" l="l"/>
              <a:pathLst>
                <a:path h="513334" w="2017776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761109" y="0"/>
                  </a:lnTo>
                  <a:cubicBezTo>
                    <a:pt x="1902841" y="0"/>
                    <a:pt x="2017776" y="114935"/>
                    <a:pt x="2017776" y="256667"/>
                  </a:cubicBezTo>
                  <a:cubicBezTo>
                    <a:pt x="2017776" y="398399"/>
                    <a:pt x="1902841" y="513334"/>
                    <a:pt x="1761109" y="513334"/>
                  </a:cubicBezTo>
                  <a:lnTo>
                    <a:pt x="256667" y="513334"/>
                  </a:lnTo>
                  <a:cubicBezTo>
                    <a:pt x="114935" y="513334"/>
                    <a:pt x="0" y="398399"/>
                    <a:pt x="0" y="256667"/>
                  </a:cubicBezTo>
                  <a:close/>
                </a:path>
              </a:pathLst>
            </a:custGeom>
            <a:solidFill>
              <a:srgbClr val="171717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2017776" cy="5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>
                  <a:solidFill>
                    <a:srgbClr val="FAFAFA"/>
                  </a:solidFill>
                  <a:latin typeface="Poppins"/>
                  <a:ea typeface="Poppins"/>
                  <a:cs typeface="Poppins"/>
                  <a:sym typeface="Poppins"/>
                </a:rPr>
                <a:t>Service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835640" y="1190730"/>
            <a:ext cx="1513332" cy="384962"/>
            <a:chOff x="0" y="0"/>
            <a:chExt cx="2017776" cy="513283"/>
          </a:xfrm>
        </p:grpSpPr>
        <p:sp>
          <p:nvSpPr>
            <p:cNvPr name="Freeform 12" id="12">
              <a:hlinkClick r:id="rId8" action="ppaction://hlinksldjump"/>
            </p:cNvPr>
            <p:cNvSpPr/>
            <p:nvPr/>
          </p:nvSpPr>
          <p:spPr>
            <a:xfrm flipH="false" flipV="false" rot="0">
              <a:off x="0" y="0"/>
              <a:ext cx="2017776" cy="513334"/>
            </a:xfrm>
            <a:custGeom>
              <a:avLst/>
              <a:gdLst/>
              <a:ahLst/>
              <a:cxnLst/>
              <a:rect r="r" b="b" t="t" l="l"/>
              <a:pathLst>
                <a:path h="513334" w="2017776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761109" y="0"/>
                  </a:lnTo>
                  <a:cubicBezTo>
                    <a:pt x="1902841" y="0"/>
                    <a:pt x="2017776" y="114935"/>
                    <a:pt x="2017776" y="256667"/>
                  </a:cubicBezTo>
                  <a:cubicBezTo>
                    <a:pt x="2017776" y="398399"/>
                    <a:pt x="1902841" y="513334"/>
                    <a:pt x="1761109" y="513334"/>
                  </a:cubicBezTo>
                  <a:lnTo>
                    <a:pt x="256667" y="513334"/>
                  </a:lnTo>
                  <a:cubicBezTo>
                    <a:pt x="114935" y="513334"/>
                    <a:pt x="0" y="398399"/>
                    <a:pt x="0" y="256667"/>
                  </a:cubicBezTo>
                  <a:close/>
                </a:path>
              </a:pathLst>
            </a:custGeom>
            <a:solidFill>
              <a:srgbClr val="CCCCCC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9525"/>
              <a:ext cx="2017776" cy="5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>
                  <a:solidFill>
                    <a:srgbClr val="171717"/>
                  </a:solidFill>
                  <a:latin typeface="Poppins"/>
                  <a:ea typeface="Poppins"/>
                  <a:cs typeface="Poppins"/>
                  <a:sym typeface="Poppins"/>
                </a:rPr>
                <a:t>Team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2458700" y="1190730"/>
            <a:ext cx="1513332" cy="384962"/>
            <a:chOff x="0" y="0"/>
            <a:chExt cx="2017776" cy="513283"/>
          </a:xfrm>
        </p:grpSpPr>
        <p:sp>
          <p:nvSpPr>
            <p:cNvPr name="Freeform 15" id="15">
              <a:hlinkClick r:id="rId9" action="ppaction://hlinksldjump"/>
            </p:cNvPr>
            <p:cNvSpPr/>
            <p:nvPr/>
          </p:nvSpPr>
          <p:spPr>
            <a:xfrm flipH="false" flipV="false" rot="0">
              <a:off x="0" y="0"/>
              <a:ext cx="2017776" cy="513334"/>
            </a:xfrm>
            <a:custGeom>
              <a:avLst/>
              <a:gdLst/>
              <a:ahLst/>
              <a:cxnLst/>
              <a:rect r="r" b="b" t="t" l="l"/>
              <a:pathLst>
                <a:path h="513334" w="2017776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761109" y="0"/>
                  </a:lnTo>
                  <a:cubicBezTo>
                    <a:pt x="1902841" y="0"/>
                    <a:pt x="2017776" y="114935"/>
                    <a:pt x="2017776" y="256667"/>
                  </a:cubicBezTo>
                  <a:cubicBezTo>
                    <a:pt x="2017776" y="398399"/>
                    <a:pt x="1902841" y="513334"/>
                    <a:pt x="1761109" y="513334"/>
                  </a:cubicBezTo>
                  <a:lnTo>
                    <a:pt x="256667" y="513334"/>
                  </a:lnTo>
                  <a:cubicBezTo>
                    <a:pt x="114935" y="513334"/>
                    <a:pt x="0" y="398399"/>
                    <a:pt x="0" y="256667"/>
                  </a:cubicBezTo>
                  <a:close/>
                </a:path>
              </a:pathLst>
            </a:custGeom>
            <a:solidFill>
              <a:srgbClr val="CCCCCC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9525"/>
              <a:ext cx="2017776" cy="5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>
                  <a:solidFill>
                    <a:srgbClr val="171717"/>
                  </a:solidFill>
                  <a:latin typeface="Poppins"/>
                  <a:ea typeface="Poppins"/>
                  <a:cs typeface="Poppins"/>
                  <a:sym typeface="Poppins"/>
                </a:rPr>
                <a:t>Conclusion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6879824" y="9619488"/>
            <a:ext cx="1042416" cy="347472"/>
            <a:chOff x="0" y="0"/>
            <a:chExt cx="1389888" cy="46329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389888" cy="463296"/>
            </a:xfrm>
            <a:custGeom>
              <a:avLst/>
              <a:gdLst/>
              <a:ahLst/>
              <a:cxnLst/>
              <a:rect r="r" b="b" t="t" l="l"/>
              <a:pathLst>
                <a:path h="463296" w="1389888">
                  <a:moveTo>
                    <a:pt x="0" y="106553"/>
                  </a:moveTo>
                  <a:cubicBezTo>
                    <a:pt x="0" y="47752"/>
                    <a:pt x="47752" y="0"/>
                    <a:pt x="106553" y="0"/>
                  </a:cubicBezTo>
                  <a:lnTo>
                    <a:pt x="1283335" y="0"/>
                  </a:lnTo>
                  <a:cubicBezTo>
                    <a:pt x="1342136" y="0"/>
                    <a:pt x="1389888" y="47752"/>
                    <a:pt x="1389888" y="106553"/>
                  </a:cubicBezTo>
                  <a:lnTo>
                    <a:pt x="1389888" y="356743"/>
                  </a:lnTo>
                  <a:cubicBezTo>
                    <a:pt x="1389888" y="415544"/>
                    <a:pt x="1342136" y="463296"/>
                    <a:pt x="1283335" y="463296"/>
                  </a:cubicBezTo>
                  <a:lnTo>
                    <a:pt x="106553" y="463296"/>
                  </a:lnTo>
                  <a:cubicBezTo>
                    <a:pt x="47752" y="463296"/>
                    <a:pt x="0" y="415544"/>
                    <a:pt x="0" y="356743"/>
                  </a:cubicBezTo>
                  <a:close/>
                </a:path>
              </a:pathLst>
            </a:custGeom>
            <a:solidFill>
              <a:srgbClr val="1D2023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1389888" cy="4728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439"/>
                </a:lnSpc>
              </a:pPr>
              <a:r>
                <a:rPr lang="en-US" sz="1200">
                  <a:solidFill>
                    <a:srgbClr val="FBFBFB"/>
                  </a:solidFill>
                  <a:latin typeface="Poppins"/>
                  <a:ea typeface="Poppins"/>
                  <a:cs typeface="Poppins"/>
                  <a:sym typeface="Poppins"/>
                </a:rPr>
                <a:t>Page 03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097280" y="1892808"/>
            <a:ext cx="8229600" cy="329184"/>
            <a:chOff x="0" y="0"/>
            <a:chExt cx="10972800" cy="43891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0972800" cy="438912"/>
            </a:xfrm>
            <a:custGeom>
              <a:avLst/>
              <a:gdLst/>
              <a:ahLst/>
              <a:cxnLst/>
              <a:rect r="r" b="b" t="t" l="l"/>
              <a:pathLst>
                <a:path h="438912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437125" r="0" b="-437125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19050"/>
              <a:ext cx="10972800" cy="45796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19"/>
                </a:lnSpc>
              </a:pPr>
              <a:r>
                <a:rPr lang="en-US" sz="1599" b="true">
                  <a:solidFill>
                    <a:srgbClr val="497078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THE SOLUTION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051560" y="2249424"/>
            <a:ext cx="16322040" cy="722376"/>
            <a:chOff x="0" y="0"/>
            <a:chExt cx="21762720" cy="963168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1762720" cy="963168"/>
            </a:xfrm>
            <a:custGeom>
              <a:avLst/>
              <a:gdLst/>
              <a:ahLst/>
              <a:cxnLst/>
              <a:rect r="r" b="b" t="t" l="l"/>
              <a:pathLst>
                <a:path h="963168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963168"/>
                  </a:lnTo>
                  <a:lnTo>
                    <a:pt x="0" y="963168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390263" r="0" b="-390263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47625"/>
              <a:ext cx="21762720" cy="101079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000"/>
                </a:lnSpc>
              </a:pPr>
              <a:r>
                <a:rPr lang="en-US" sz="5000" b="true">
                  <a:solidFill>
                    <a:srgbClr val="171717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INSIDE OUT FRAMEWORK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795528" y="3657600"/>
            <a:ext cx="16696944" cy="4320988"/>
            <a:chOff x="0" y="0"/>
            <a:chExt cx="22262592" cy="5761317"/>
          </a:xfrm>
        </p:grpSpPr>
        <p:sp>
          <p:nvSpPr>
            <p:cNvPr name="Freeform 27" id="27" descr="Screenshot 2026-10-19 at 16.09.39.png"/>
            <p:cNvSpPr/>
            <p:nvPr/>
          </p:nvSpPr>
          <p:spPr>
            <a:xfrm flipH="false" flipV="false" rot="0">
              <a:off x="0" y="0"/>
              <a:ext cx="22262592" cy="5761355"/>
            </a:xfrm>
            <a:custGeom>
              <a:avLst/>
              <a:gdLst/>
              <a:ahLst/>
              <a:cxnLst/>
              <a:rect r="r" b="b" t="t" l="l"/>
              <a:pathLst>
                <a:path h="5761355" w="22262592">
                  <a:moveTo>
                    <a:pt x="0" y="0"/>
                  </a:moveTo>
                  <a:lnTo>
                    <a:pt x="22262592" y="0"/>
                  </a:lnTo>
                  <a:lnTo>
                    <a:pt x="22262592" y="5761355"/>
                  </a:lnTo>
                  <a:lnTo>
                    <a:pt x="0" y="57613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097280" y="8302752"/>
            <a:ext cx="5093208" cy="13716"/>
            <a:chOff x="0" y="0"/>
            <a:chExt cx="6790944" cy="18288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790944" cy="18288"/>
            </a:xfrm>
            <a:custGeom>
              <a:avLst/>
              <a:gdLst/>
              <a:ahLst/>
              <a:cxnLst/>
              <a:rect r="r" b="b" t="t" l="l"/>
              <a:pathLst>
                <a:path h="18288" w="6790944">
                  <a:moveTo>
                    <a:pt x="0" y="0"/>
                  </a:moveTo>
                  <a:lnTo>
                    <a:pt x="6790944" y="0"/>
                  </a:lnTo>
                  <a:lnTo>
                    <a:pt x="6790944" y="18288"/>
                  </a:lnTo>
                  <a:lnTo>
                    <a:pt x="0" y="18288"/>
                  </a:lnTo>
                  <a:close/>
                </a:path>
              </a:pathLst>
            </a:custGeom>
            <a:solidFill>
              <a:srgbClr val="DAE1E1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1097280" y="8430768"/>
            <a:ext cx="5120640" cy="292608"/>
            <a:chOff x="0" y="0"/>
            <a:chExt cx="6827520" cy="390144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6827520" cy="390144"/>
            </a:xfrm>
            <a:custGeom>
              <a:avLst/>
              <a:gdLst/>
              <a:ahLst/>
              <a:cxnLst/>
              <a:rect r="r" b="b" t="t" l="l"/>
              <a:pathLst>
                <a:path h="390144" w="6827520">
                  <a:moveTo>
                    <a:pt x="0" y="0"/>
                  </a:moveTo>
                  <a:lnTo>
                    <a:pt x="6827520" y="0"/>
                  </a:lnTo>
                  <a:lnTo>
                    <a:pt x="6827520" y="390144"/>
                  </a:lnTo>
                  <a:lnTo>
                    <a:pt x="0" y="390144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290988" r="0" b="-290988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19050"/>
              <a:ext cx="6827520" cy="40919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 b="true">
                  <a:solidFill>
                    <a:srgbClr val="497078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01  DISCOVER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097280" y="8778240"/>
            <a:ext cx="5120640" cy="338328"/>
            <a:chOff x="0" y="0"/>
            <a:chExt cx="6827520" cy="451104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6827520" cy="451104"/>
            </a:xfrm>
            <a:custGeom>
              <a:avLst/>
              <a:gdLst/>
              <a:ahLst/>
              <a:cxnLst/>
              <a:rect r="r" b="b" t="t" l="l"/>
              <a:pathLst>
                <a:path h="451104" w="6827520">
                  <a:moveTo>
                    <a:pt x="0" y="0"/>
                  </a:moveTo>
                  <a:lnTo>
                    <a:pt x="6827520" y="0"/>
                  </a:lnTo>
                  <a:lnTo>
                    <a:pt x="6827520" y="451104"/>
                  </a:lnTo>
                  <a:lnTo>
                    <a:pt x="0" y="451104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244908" r="0" b="-244908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19050"/>
              <a:ext cx="6827520" cy="47015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697377"/>
                  </a:solidFill>
                  <a:latin typeface="Poppins"/>
                  <a:ea typeface="Poppins"/>
                  <a:cs typeface="Poppins"/>
                  <a:sym typeface="Poppins"/>
                </a:rPr>
                <a:t>Read-only system context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583680" y="8302752"/>
            <a:ext cx="5093208" cy="13716"/>
            <a:chOff x="0" y="0"/>
            <a:chExt cx="6790944" cy="18288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6790944" cy="18288"/>
            </a:xfrm>
            <a:custGeom>
              <a:avLst/>
              <a:gdLst/>
              <a:ahLst/>
              <a:cxnLst/>
              <a:rect r="r" b="b" t="t" l="l"/>
              <a:pathLst>
                <a:path h="18288" w="6790944">
                  <a:moveTo>
                    <a:pt x="0" y="0"/>
                  </a:moveTo>
                  <a:lnTo>
                    <a:pt x="6790944" y="0"/>
                  </a:lnTo>
                  <a:lnTo>
                    <a:pt x="6790944" y="18288"/>
                  </a:lnTo>
                  <a:lnTo>
                    <a:pt x="0" y="18288"/>
                  </a:lnTo>
                  <a:close/>
                </a:path>
              </a:pathLst>
            </a:custGeom>
            <a:solidFill>
              <a:srgbClr val="DAE1E1"/>
            </a:solid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6583680" y="8430768"/>
            <a:ext cx="5120640" cy="292608"/>
            <a:chOff x="0" y="0"/>
            <a:chExt cx="6827520" cy="390144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6827520" cy="390144"/>
            </a:xfrm>
            <a:custGeom>
              <a:avLst/>
              <a:gdLst/>
              <a:ahLst/>
              <a:cxnLst/>
              <a:rect r="r" b="b" t="t" l="l"/>
              <a:pathLst>
                <a:path h="390144" w="6827520">
                  <a:moveTo>
                    <a:pt x="0" y="0"/>
                  </a:moveTo>
                  <a:lnTo>
                    <a:pt x="6827520" y="0"/>
                  </a:lnTo>
                  <a:lnTo>
                    <a:pt x="6827520" y="390144"/>
                  </a:lnTo>
                  <a:lnTo>
                    <a:pt x="0" y="390144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290988" r="0" b="-290988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19050"/>
              <a:ext cx="6827520" cy="40919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 b="true">
                  <a:solidFill>
                    <a:srgbClr val="497078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02  APPROVE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6583680" y="8778240"/>
            <a:ext cx="5120640" cy="338328"/>
            <a:chOff x="0" y="0"/>
            <a:chExt cx="6827520" cy="451104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6827520" cy="451104"/>
            </a:xfrm>
            <a:custGeom>
              <a:avLst/>
              <a:gdLst/>
              <a:ahLst/>
              <a:cxnLst/>
              <a:rect r="r" b="b" t="t" l="l"/>
              <a:pathLst>
                <a:path h="451104" w="6827520">
                  <a:moveTo>
                    <a:pt x="0" y="0"/>
                  </a:moveTo>
                  <a:lnTo>
                    <a:pt x="6827520" y="0"/>
                  </a:lnTo>
                  <a:lnTo>
                    <a:pt x="6827520" y="451104"/>
                  </a:lnTo>
                  <a:lnTo>
                    <a:pt x="0" y="451104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244908" r="0" b="-244908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19050"/>
              <a:ext cx="6827520" cy="47015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697377"/>
                  </a:solidFill>
                  <a:latin typeface="Poppins"/>
                  <a:ea typeface="Poppins"/>
                  <a:cs typeface="Poppins"/>
                  <a:sym typeface="Poppins"/>
                </a:rPr>
                <a:t>Your representative controls release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12051792" y="8302752"/>
            <a:ext cx="5093208" cy="13716"/>
            <a:chOff x="0" y="0"/>
            <a:chExt cx="6790944" cy="18288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6790944" cy="18288"/>
            </a:xfrm>
            <a:custGeom>
              <a:avLst/>
              <a:gdLst/>
              <a:ahLst/>
              <a:cxnLst/>
              <a:rect r="r" b="b" t="t" l="l"/>
              <a:pathLst>
                <a:path h="18288" w="6790944">
                  <a:moveTo>
                    <a:pt x="0" y="0"/>
                  </a:moveTo>
                  <a:lnTo>
                    <a:pt x="6790944" y="0"/>
                  </a:lnTo>
                  <a:lnTo>
                    <a:pt x="6790944" y="18288"/>
                  </a:lnTo>
                  <a:lnTo>
                    <a:pt x="0" y="18288"/>
                  </a:lnTo>
                  <a:close/>
                </a:path>
              </a:pathLst>
            </a:custGeom>
            <a:solidFill>
              <a:srgbClr val="DAE1E1"/>
            </a:solid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12051792" y="8430768"/>
            <a:ext cx="5120640" cy="292608"/>
            <a:chOff x="0" y="0"/>
            <a:chExt cx="6827520" cy="390144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6827520" cy="390144"/>
            </a:xfrm>
            <a:custGeom>
              <a:avLst/>
              <a:gdLst/>
              <a:ahLst/>
              <a:cxnLst/>
              <a:rect r="r" b="b" t="t" l="l"/>
              <a:pathLst>
                <a:path h="390144" w="6827520">
                  <a:moveTo>
                    <a:pt x="0" y="0"/>
                  </a:moveTo>
                  <a:lnTo>
                    <a:pt x="6827520" y="0"/>
                  </a:lnTo>
                  <a:lnTo>
                    <a:pt x="6827520" y="390144"/>
                  </a:lnTo>
                  <a:lnTo>
                    <a:pt x="0" y="390144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290988" r="0" b="-290988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19050"/>
              <a:ext cx="6827520" cy="40919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 b="true">
                  <a:solidFill>
                    <a:srgbClr val="497078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03  ACT</a:t>
              </a: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12051792" y="8778240"/>
            <a:ext cx="5120640" cy="338328"/>
            <a:chOff x="0" y="0"/>
            <a:chExt cx="6827520" cy="451104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6827520" cy="451104"/>
            </a:xfrm>
            <a:custGeom>
              <a:avLst/>
              <a:gdLst/>
              <a:ahLst/>
              <a:cxnLst/>
              <a:rect r="r" b="b" t="t" l="l"/>
              <a:pathLst>
                <a:path h="451104" w="6827520">
                  <a:moveTo>
                    <a:pt x="0" y="0"/>
                  </a:moveTo>
                  <a:lnTo>
                    <a:pt x="6827520" y="0"/>
                  </a:lnTo>
                  <a:lnTo>
                    <a:pt x="6827520" y="451104"/>
                  </a:lnTo>
                  <a:lnTo>
                    <a:pt x="0" y="451104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244908" r="0" b="-244908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19050"/>
              <a:ext cx="6827520" cy="47015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697377"/>
                  </a:solidFill>
                  <a:latin typeface="Poppins"/>
                  <a:ea typeface="Poppins"/>
                  <a:cs typeface="Poppins"/>
                  <a:sym typeface="Poppins"/>
                </a:rPr>
                <a:t>Implement Regulift’s recommended fixes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4158586" y="1272016"/>
            <a:ext cx="269215" cy="222028"/>
            <a:chOff x="0" y="0"/>
            <a:chExt cx="358953" cy="296037"/>
          </a:xfrm>
        </p:grpSpPr>
        <p:sp>
          <p:nvSpPr>
            <p:cNvPr name="Freeform 53" id="53" descr="image.png"/>
            <p:cNvSpPr/>
            <p:nvPr/>
          </p:nvSpPr>
          <p:spPr>
            <a:xfrm flipH="false" flipV="false" rot="0">
              <a:off x="0" y="0"/>
              <a:ext cx="358902" cy="296037"/>
            </a:xfrm>
            <a:custGeom>
              <a:avLst/>
              <a:gdLst/>
              <a:ahLst/>
              <a:cxnLst/>
              <a:rect r="r" b="b" t="t" l="l"/>
              <a:pathLst>
                <a:path h="296037" w="358902">
                  <a:moveTo>
                    <a:pt x="0" y="0"/>
                  </a:moveTo>
                  <a:lnTo>
                    <a:pt x="358902" y="0"/>
                  </a:lnTo>
                  <a:lnTo>
                    <a:pt x="358902" y="296037"/>
                  </a:lnTo>
                  <a:lnTo>
                    <a:pt x="0" y="2960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0" t="0" r="-14" b="0"/>
              </a:stretch>
            </a:blipFill>
          </p:spPr>
        </p:sp>
      </p:grpSp>
    </p:spTree>
  </p:cSld>
  <p:clrMapOvr>
    <a:masterClrMapping/>
  </p:clrMapOvr>
  <p:transition spd="fast">
    <p:fade/>
  </p:transition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027427" y="954576"/>
            <a:ext cx="10233146" cy="693858"/>
          </a:xfrm>
          <a:custGeom>
            <a:avLst/>
            <a:gdLst/>
            <a:ahLst/>
            <a:cxnLst/>
            <a:rect r="r" b="b" t="t" l="l"/>
            <a:pathLst>
              <a:path h="693858" w="10233146">
                <a:moveTo>
                  <a:pt x="0" y="0"/>
                </a:moveTo>
                <a:lnTo>
                  <a:pt x="10233146" y="0"/>
                </a:lnTo>
                <a:lnTo>
                  <a:pt x="10233146" y="693859"/>
                </a:lnTo>
                <a:lnTo>
                  <a:pt x="0" y="69385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100894" y="1190730"/>
            <a:ext cx="384600" cy="384600"/>
          </a:xfrm>
          <a:custGeom>
            <a:avLst/>
            <a:gdLst/>
            <a:ahLst/>
            <a:cxnLst/>
            <a:rect r="r" b="b" t="t" l="l"/>
            <a:pathLst>
              <a:path h="384600" w="384600">
                <a:moveTo>
                  <a:pt x="0" y="0"/>
                </a:moveTo>
                <a:lnTo>
                  <a:pt x="384600" y="0"/>
                </a:lnTo>
                <a:lnTo>
                  <a:pt x="384600" y="384600"/>
                </a:lnTo>
                <a:lnTo>
                  <a:pt x="0" y="3846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4545644" y="1148715"/>
            <a:ext cx="2067239" cy="3686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7"/>
              </a:lnSpc>
            </a:pPr>
            <a:r>
              <a:rPr lang="en-US" sz="1797" b="true">
                <a:solidFill>
                  <a:srgbClr val="171717"/>
                </a:solidFill>
                <a:latin typeface="Poppins Bold"/>
                <a:ea typeface="Poppins Bold"/>
                <a:cs typeface="Poppins Bold"/>
                <a:sym typeface="Poppins Bold"/>
              </a:rPr>
              <a:t>Regulift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7589520" y="1190730"/>
            <a:ext cx="1513332" cy="384962"/>
            <a:chOff x="0" y="0"/>
            <a:chExt cx="2017776" cy="513283"/>
          </a:xfrm>
        </p:grpSpPr>
        <p:sp>
          <p:nvSpPr>
            <p:cNvPr name="Freeform 6" id="6">
              <a:hlinkClick r:id="rId6" action="ppaction://hlinksldjump"/>
            </p:cNvPr>
            <p:cNvSpPr/>
            <p:nvPr/>
          </p:nvSpPr>
          <p:spPr>
            <a:xfrm flipH="false" flipV="false" rot="0">
              <a:off x="0" y="0"/>
              <a:ext cx="2017776" cy="513334"/>
            </a:xfrm>
            <a:custGeom>
              <a:avLst/>
              <a:gdLst/>
              <a:ahLst/>
              <a:cxnLst/>
              <a:rect r="r" b="b" t="t" l="l"/>
              <a:pathLst>
                <a:path h="513334" w="2017776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761109" y="0"/>
                  </a:lnTo>
                  <a:cubicBezTo>
                    <a:pt x="1902841" y="0"/>
                    <a:pt x="2017776" y="114935"/>
                    <a:pt x="2017776" y="256667"/>
                  </a:cubicBezTo>
                  <a:cubicBezTo>
                    <a:pt x="2017776" y="398399"/>
                    <a:pt x="1902841" y="513334"/>
                    <a:pt x="1761109" y="513334"/>
                  </a:cubicBezTo>
                  <a:lnTo>
                    <a:pt x="256667" y="513334"/>
                  </a:lnTo>
                  <a:cubicBezTo>
                    <a:pt x="114935" y="513334"/>
                    <a:pt x="0" y="398399"/>
                    <a:pt x="0" y="256667"/>
                  </a:cubicBezTo>
                  <a:close/>
                </a:path>
              </a:pathLst>
            </a:custGeom>
            <a:solidFill>
              <a:srgbClr val="CCCCCC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9525"/>
              <a:ext cx="2017776" cy="5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>
                  <a:solidFill>
                    <a:srgbClr val="171717"/>
                  </a:solidFill>
                  <a:latin typeface="Poppins"/>
                  <a:ea typeface="Poppins"/>
                  <a:cs typeface="Poppins"/>
                  <a:sym typeface="Poppins"/>
                </a:rPr>
                <a:t>About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212580" y="1190730"/>
            <a:ext cx="1513332" cy="384962"/>
            <a:chOff x="0" y="0"/>
            <a:chExt cx="2017776" cy="513283"/>
          </a:xfrm>
        </p:grpSpPr>
        <p:sp>
          <p:nvSpPr>
            <p:cNvPr name="Freeform 9" id="9">
              <a:hlinkClick r:id="rId7" action="ppaction://hlinksldjump"/>
            </p:cNvPr>
            <p:cNvSpPr/>
            <p:nvPr/>
          </p:nvSpPr>
          <p:spPr>
            <a:xfrm flipH="false" flipV="false" rot="0">
              <a:off x="0" y="0"/>
              <a:ext cx="2017776" cy="513334"/>
            </a:xfrm>
            <a:custGeom>
              <a:avLst/>
              <a:gdLst/>
              <a:ahLst/>
              <a:cxnLst/>
              <a:rect r="r" b="b" t="t" l="l"/>
              <a:pathLst>
                <a:path h="513334" w="2017776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761109" y="0"/>
                  </a:lnTo>
                  <a:cubicBezTo>
                    <a:pt x="1902841" y="0"/>
                    <a:pt x="2017776" y="114935"/>
                    <a:pt x="2017776" y="256667"/>
                  </a:cubicBezTo>
                  <a:cubicBezTo>
                    <a:pt x="2017776" y="398399"/>
                    <a:pt x="1902841" y="513334"/>
                    <a:pt x="1761109" y="513334"/>
                  </a:cubicBezTo>
                  <a:lnTo>
                    <a:pt x="256667" y="513334"/>
                  </a:lnTo>
                  <a:cubicBezTo>
                    <a:pt x="114935" y="513334"/>
                    <a:pt x="0" y="398399"/>
                    <a:pt x="0" y="256667"/>
                  </a:cubicBezTo>
                  <a:close/>
                </a:path>
              </a:pathLst>
            </a:custGeom>
            <a:solidFill>
              <a:srgbClr val="171717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2017776" cy="5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>
                  <a:solidFill>
                    <a:srgbClr val="FAFAFA"/>
                  </a:solidFill>
                  <a:latin typeface="Poppins"/>
                  <a:ea typeface="Poppins"/>
                  <a:cs typeface="Poppins"/>
                  <a:sym typeface="Poppins"/>
                </a:rPr>
                <a:t>Service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835640" y="1190730"/>
            <a:ext cx="1513332" cy="384962"/>
            <a:chOff x="0" y="0"/>
            <a:chExt cx="2017776" cy="513283"/>
          </a:xfrm>
        </p:grpSpPr>
        <p:sp>
          <p:nvSpPr>
            <p:cNvPr name="Freeform 12" id="12">
              <a:hlinkClick r:id="rId8" action="ppaction://hlinksldjump"/>
            </p:cNvPr>
            <p:cNvSpPr/>
            <p:nvPr/>
          </p:nvSpPr>
          <p:spPr>
            <a:xfrm flipH="false" flipV="false" rot="0">
              <a:off x="0" y="0"/>
              <a:ext cx="2017776" cy="513334"/>
            </a:xfrm>
            <a:custGeom>
              <a:avLst/>
              <a:gdLst/>
              <a:ahLst/>
              <a:cxnLst/>
              <a:rect r="r" b="b" t="t" l="l"/>
              <a:pathLst>
                <a:path h="513334" w="2017776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761109" y="0"/>
                  </a:lnTo>
                  <a:cubicBezTo>
                    <a:pt x="1902841" y="0"/>
                    <a:pt x="2017776" y="114935"/>
                    <a:pt x="2017776" y="256667"/>
                  </a:cubicBezTo>
                  <a:cubicBezTo>
                    <a:pt x="2017776" y="398399"/>
                    <a:pt x="1902841" y="513334"/>
                    <a:pt x="1761109" y="513334"/>
                  </a:cubicBezTo>
                  <a:lnTo>
                    <a:pt x="256667" y="513334"/>
                  </a:lnTo>
                  <a:cubicBezTo>
                    <a:pt x="114935" y="513334"/>
                    <a:pt x="0" y="398399"/>
                    <a:pt x="0" y="256667"/>
                  </a:cubicBezTo>
                  <a:close/>
                </a:path>
              </a:pathLst>
            </a:custGeom>
            <a:solidFill>
              <a:srgbClr val="CCCCCC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9525"/>
              <a:ext cx="2017776" cy="5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>
                  <a:solidFill>
                    <a:srgbClr val="171717"/>
                  </a:solidFill>
                  <a:latin typeface="Poppins"/>
                  <a:ea typeface="Poppins"/>
                  <a:cs typeface="Poppins"/>
                  <a:sym typeface="Poppins"/>
                </a:rPr>
                <a:t>Team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2458700" y="1190730"/>
            <a:ext cx="1513332" cy="384962"/>
            <a:chOff x="0" y="0"/>
            <a:chExt cx="2017776" cy="513283"/>
          </a:xfrm>
        </p:grpSpPr>
        <p:sp>
          <p:nvSpPr>
            <p:cNvPr name="Freeform 15" id="15">
              <a:hlinkClick r:id="rId9" action="ppaction://hlinksldjump"/>
            </p:cNvPr>
            <p:cNvSpPr/>
            <p:nvPr/>
          </p:nvSpPr>
          <p:spPr>
            <a:xfrm flipH="false" flipV="false" rot="0">
              <a:off x="0" y="0"/>
              <a:ext cx="2017776" cy="513334"/>
            </a:xfrm>
            <a:custGeom>
              <a:avLst/>
              <a:gdLst/>
              <a:ahLst/>
              <a:cxnLst/>
              <a:rect r="r" b="b" t="t" l="l"/>
              <a:pathLst>
                <a:path h="513334" w="2017776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761109" y="0"/>
                  </a:lnTo>
                  <a:cubicBezTo>
                    <a:pt x="1902841" y="0"/>
                    <a:pt x="2017776" y="114935"/>
                    <a:pt x="2017776" y="256667"/>
                  </a:cubicBezTo>
                  <a:cubicBezTo>
                    <a:pt x="2017776" y="398399"/>
                    <a:pt x="1902841" y="513334"/>
                    <a:pt x="1761109" y="513334"/>
                  </a:cubicBezTo>
                  <a:lnTo>
                    <a:pt x="256667" y="513334"/>
                  </a:lnTo>
                  <a:cubicBezTo>
                    <a:pt x="114935" y="513334"/>
                    <a:pt x="0" y="398399"/>
                    <a:pt x="0" y="256667"/>
                  </a:cubicBezTo>
                  <a:close/>
                </a:path>
              </a:pathLst>
            </a:custGeom>
            <a:solidFill>
              <a:srgbClr val="CCCCCC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9525"/>
              <a:ext cx="2017776" cy="5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>
                  <a:solidFill>
                    <a:srgbClr val="171717"/>
                  </a:solidFill>
                  <a:latin typeface="Poppins"/>
                  <a:ea typeface="Poppins"/>
                  <a:cs typeface="Poppins"/>
                  <a:sym typeface="Poppins"/>
                </a:rPr>
                <a:t>Conclusion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6879824" y="9619488"/>
            <a:ext cx="1042416" cy="347472"/>
            <a:chOff x="0" y="0"/>
            <a:chExt cx="1389888" cy="46329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389888" cy="463296"/>
            </a:xfrm>
            <a:custGeom>
              <a:avLst/>
              <a:gdLst/>
              <a:ahLst/>
              <a:cxnLst/>
              <a:rect r="r" b="b" t="t" l="l"/>
              <a:pathLst>
                <a:path h="463296" w="1389888">
                  <a:moveTo>
                    <a:pt x="0" y="106553"/>
                  </a:moveTo>
                  <a:cubicBezTo>
                    <a:pt x="0" y="47752"/>
                    <a:pt x="47752" y="0"/>
                    <a:pt x="106553" y="0"/>
                  </a:cubicBezTo>
                  <a:lnTo>
                    <a:pt x="1283335" y="0"/>
                  </a:lnTo>
                  <a:cubicBezTo>
                    <a:pt x="1342136" y="0"/>
                    <a:pt x="1389888" y="47752"/>
                    <a:pt x="1389888" y="106553"/>
                  </a:cubicBezTo>
                  <a:lnTo>
                    <a:pt x="1389888" y="356743"/>
                  </a:lnTo>
                  <a:cubicBezTo>
                    <a:pt x="1389888" y="415544"/>
                    <a:pt x="1342136" y="463296"/>
                    <a:pt x="1283335" y="463296"/>
                  </a:cubicBezTo>
                  <a:lnTo>
                    <a:pt x="106553" y="463296"/>
                  </a:lnTo>
                  <a:cubicBezTo>
                    <a:pt x="47752" y="463296"/>
                    <a:pt x="0" y="415544"/>
                    <a:pt x="0" y="356743"/>
                  </a:cubicBezTo>
                  <a:close/>
                </a:path>
              </a:pathLst>
            </a:custGeom>
            <a:solidFill>
              <a:srgbClr val="1D2023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1389888" cy="4728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439"/>
                </a:lnSpc>
              </a:pPr>
              <a:r>
                <a:rPr lang="en-US" sz="1200">
                  <a:solidFill>
                    <a:srgbClr val="FBFBFB"/>
                  </a:solidFill>
                  <a:latin typeface="Poppins"/>
                  <a:ea typeface="Poppins"/>
                  <a:cs typeface="Poppins"/>
                  <a:sym typeface="Poppins"/>
                </a:rPr>
                <a:t>Page 04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097280" y="1892808"/>
            <a:ext cx="8229600" cy="329184"/>
            <a:chOff x="0" y="0"/>
            <a:chExt cx="10972800" cy="43891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0972800" cy="438912"/>
            </a:xfrm>
            <a:custGeom>
              <a:avLst/>
              <a:gdLst/>
              <a:ahLst/>
              <a:cxnLst/>
              <a:rect r="r" b="b" t="t" l="l"/>
              <a:pathLst>
                <a:path h="438912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437125" r="0" b="-437125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19050"/>
              <a:ext cx="10972800" cy="45796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19"/>
                </a:lnSpc>
              </a:pPr>
              <a:r>
                <a:rPr lang="en-US" sz="1599" b="true">
                  <a:solidFill>
                    <a:srgbClr val="497078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THE SOLUTION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051560" y="2249424"/>
            <a:ext cx="16322040" cy="722376"/>
            <a:chOff x="0" y="0"/>
            <a:chExt cx="21762720" cy="963168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1762720" cy="963168"/>
            </a:xfrm>
            <a:custGeom>
              <a:avLst/>
              <a:gdLst/>
              <a:ahLst/>
              <a:cxnLst/>
              <a:rect r="r" b="b" t="t" l="l"/>
              <a:pathLst>
                <a:path h="963168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963168"/>
                  </a:lnTo>
                  <a:lnTo>
                    <a:pt x="0" y="963168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390263" r="0" b="-390263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47625"/>
              <a:ext cx="21762720" cy="101079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000"/>
                </a:lnSpc>
              </a:pPr>
              <a:r>
                <a:rPr lang="en-US" sz="5000" b="true">
                  <a:solidFill>
                    <a:srgbClr val="171717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THE COMPLIANCE LOOP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4714858" y="3769490"/>
            <a:ext cx="2812037" cy="4357373"/>
            <a:chOff x="0" y="0"/>
            <a:chExt cx="3749383" cy="5809831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3749421" cy="5809869"/>
            </a:xfrm>
            <a:custGeom>
              <a:avLst/>
              <a:gdLst/>
              <a:ahLst/>
              <a:cxnLst/>
              <a:rect r="r" b="b" t="t" l="l"/>
              <a:pathLst>
                <a:path h="5809869" w="3749421">
                  <a:moveTo>
                    <a:pt x="0" y="449961"/>
                  </a:moveTo>
                  <a:cubicBezTo>
                    <a:pt x="0" y="201422"/>
                    <a:pt x="201422" y="0"/>
                    <a:pt x="449961" y="0"/>
                  </a:cubicBezTo>
                  <a:lnTo>
                    <a:pt x="3299460" y="0"/>
                  </a:lnTo>
                  <a:cubicBezTo>
                    <a:pt x="3547999" y="0"/>
                    <a:pt x="3749421" y="201422"/>
                    <a:pt x="3749421" y="449961"/>
                  </a:cubicBezTo>
                  <a:lnTo>
                    <a:pt x="3749421" y="5359908"/>
                  </a:lnTo>
                  <a:cubicBezTo>
                    <a:pt x="3749421" y="5608447"/>
                    <a:pt x="3547999" y="5809869"/>
                    <a:pt x="3299460" y="5809869"/>
                  </a:cubicBezTo>
                  <a:lnTo>
                    <a:pt x="449961" y="5809869"/>
                  </a:lnTo>
                  <a:cubicBezTo>
                    <a:pt x="201422" y="5809869"/>
                    <a:pt x="0" y="5608447"/>
                    <a:pt x="0" y="5359908"/>
                  </a:cubicBezTo>
                  <a:close/>
                </a:path>
              </a:pathLst>
            </a:custGeom>
            <a:solidFill>
              <a:srgbClr val="F3F6F6"/>
            </a:solidFill>
            <a:ln w="13970" cap="sq">
              <a:solidFill>
                <a:srgbClr val="CED9D9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14996160" y="4014216"/>
            <a:ext cx="265176" cy="265176"/>
            <a:chOff x="0" y="0"/>
            <a:chExt cx="353568" cy="353568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353568" cy="353568"/>
            </a:xfrm>
            <a:custGeom>
              <a:avLst/>
              <a:gdLst/>
              <a:ahLst/>
              <a:cxnLst/>
              <a:rect r="r" b="b" t="t" l="l"/>
              <a:pathLst>
                <a:path h="353568" w="353568">
                  <a:moveTo>
                    <a:pt x="0" y="176784"/>
                  </a:moveTo>
                  <a:cubicBezTo>
                    <a:pt x="0" y="79121"/>
                    <a:pt x="79121" y="0"/>
                    <a:pt x="176784" y="0"/>
                  </a:cubicBezTo>
                  <a:cubicBezTo>
                    <a:pt x="274447" y="0"/>
                    <a:pt x="353568" y="79121"/>
                    <a:pt x="353568" y="176784"/>
                  </a:cubicBezTo>
                  <a:cubicBezTo>
                    <a:pt x="353568" y="274447"/>
                    <a:pt x="274447" y="353568"/>
                    <a:pt x="176784" y="353568"/>
                  </a:cubicBezTo>
                  <a:cubicBezTo>
                    <a:pt x="79121" y="353568"/>
                    <a:pt x="0" y="274447"/>
                    <a:pt x="0" y="176784"/>
                  </a:cubicBezTo>
                  <a:close/>
                </a:path>
              </a:pathLst>
            </a:custGeom>
            <a:solidFill>
              <a:srgbClr val="497078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14996160" y="4020617"/>
            <a:ext cx="265176" cy="246888"/>
            <a:chOff x="0" y="0"/>
            <a:chExt cx="353568" cy="329184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353568" cy="329184"/>
            </a:xfrm>
            <a:custGeom>
              <a:avLst/>
              <a:gdLst/>
              <a:ahLst/>
              <a:cxnLst/>
              <a:rect r="r" b="b" t="t" l="l"/>
              <a:pathLst>
                <a:path h="329184" w="353568">
                  <a:moveTo>
                    <a:pt x="0" y="0"/>
                  </a:moveTo>
                  <a:lnTo>
                    <a:pt x="353568" y="0"/>
                  </a:lnTo>
                  <a:lnTo>
                    <a:pt x="353568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69455" t="0" r="-69455" b="0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9525"/>
              <a:ext cx="353568" cy="3387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260"/>
                </a:lnSpc>
              </a:pPr>
              <a:r>
                <a:rPr lang="en-US" sz="1050" b="true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3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5352776" y="3986784"/>
            <a:ext cx="1874520" cy="338328"/>
            <a:chOff x="0" y="0"/>
            <a:chExt cx="2499360" cy="451104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499359" cy="451104"/>
            </a:xfrm>
            <a:custGeom>
              <a:avLst/>
              <a:gdLst/>
              <a:ahLst/>
              <a:cxnLst/>
              <a:rect r="r" b="b" t="t" l="l"/>
              <a:pathLst>
                <a:path h="451104" w="2499359">
                  <a:moveTo>
                    <a:pt x="0" y="0"/>
                  </a:moveTo>
                  <a:lnTo>
                    <a:pt x="2499359" y="0"/>
                  </a:lnTo>
                  <a:lnTo>
                    <a:pt x="2499359" y="451104"/>
                  </a:lnTo>
                  <a:lnTo>
                    <a:pt x="0" y="451104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57957" r="0" b="-57957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19050"/>
              <a:ext cx="2499360" cy="47015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80"/>
                </a:lnSpc>
              </a:pPr>
              <a:r>
                <a:rPr lang="en-US" sz="1400" b="true">
                  <a:solidFill>
                    <a:srgbClr val="497078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LAW FIRM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14974062" y="4732782"/>
            <a:ext cx="2293620" cy="3098292"/>
            <a:chOff x="0" y="0"/>
            <a:chExt cx="3058160" cy="4131056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3058160" cy="4131056"/>
            </a:xfrm>
            <a:custGeom>
              <a:avLst/>
              <a:gdLst/>
              <a:ahLst/>
              <a:cxnLst/>
              <a:rect r="r" b="b" t="t" l="l"/>
              <a:pathLst>
                <a:path h="4131056" w="3058160">
                  <a:moveTo>
                    <a:pt x="0" y="367030"/>
                  </a:moveTo>
                  <a:cubicBezTo>
                    <a:pt x="0" y="164338"/>
                    <a:pt x="164338" y="0"/>
                    <a:pt x="367030" y="0"/>
                  </a:cubicBezTo>
                  <a:lnTo>
                    <a:pt x="2691130" y="0"/>
                  </a:lnTo>
                  <a:cubicBezTo>
                    <a:pt x="2893822" y="0"/>
                    <a:pt x="3058160" y="164338"/>
                    <a:pt x="3058160" y="367030"/>
                  </a:cubicBezTo>
                  <a:lnTo>
                    <a:pt x="3058160" y="3764026"/>
                  </a:lnTo>
                  <a:cubicBezTo>
                    <a:pt x="3058160" y="3966718"/>
                    <a:pt x="2893822" y="4131056"/>
                    <a:pt x="2691130" y="4131056"/>
                  </a:cubicBezTo>
                  <a:lnTo>
                    <a:pt x="367030" y="4131056"/>
                  </a:lnTo>
                  <a:cubicBezTo>
                    <a:pt x="164338" y="4131056"/>
                    <a:pt x="0" y="3966718"/>
                    <a:pt x="0" y="3764026"/>
                  </a:cubicBezTo>
                  <a:close/>
                </a:path>
              </a:pathLst>
            </a:custGeom>
            <a:solidFill>
              <a:srgbClr val="FFFFFF"/>
            </a:solidFill>
            <a:ln w="7620" cap="sq">
              <a:solidFill>
                <a:srgbClr val="CED9D9"/>
              </a:solidFill>
              <a:prstDash val="solid"/>
              <a:miter/>
            </a:ln>
          </p:spPr>
        </p:sp>
      </p:grpSp>
      <p:sp>
        <p:nvSpPr>
          <p:cNvPr name="AutoShape 38" id="38"/>
          <p:cNvSpPr/>
          <p:nvPr/>
        </p:nvSpPr>
        <p:spPr>
          <a:xfrm rot="5225220">
            <a:off x="15845942" y="5216271"/>
            <a:ext cx="549859" cy="0"/>
          </a:xfrm>
          <a:prstGeom prst="line">
            <a:avLst/>
          </a:prstGeom>
          <a:ln cap="rnd" w="19050">
            <a:solidFill>
              <a:srgbClr val="49707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9" id="39"/>
          <p:cNvSpPr/>
          <p:nvPr/>
        </p:nvSpPr>
        <p:spPr>
          <a:xfrm rot="101880">
            <a:off x="15649499" y="5138547"/>
            <a:ext cx="942756" cy="0"/>
          </a:xfrm>
          <a:prstGeom prst="line">
            <a:avLst/>
          </a:prstGeom>
          <a:ln cap="rnd" w="19050">
            <a:solidFill>
              <a:srgbClr val="49707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0" id="40"/>
          <p:cNvSpPr/>
          <p:nvPr/>
        </p:nvSpPr>
        <p:spPr>
          <a:xfrm rot="5145420">
            <a:off x="15635507" y="5257419"/>
            <a:ext cx="257499" cy="0"/>
          </a:xfrm>
          <a:prstGeom prst="line">
            <a:avLst/>
          </a:prstGeom>
          <a:ln cap="rnd" w="19050">
            <a:solidFill>
              <a:srgbClr val="49707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1" id="41"/>
          <p:cNvSpPr/>
          <p:nvPr/>
        </p:nvSpPr>
        <p:spPr>
          <a:xfrm rot="5145420">
            <a:off x="16330451" y="5257419"/>
            <a:ext cx="257499" cy="0"/>
          </a:xfrm>
          <a:prstGeom prst="line">
            <a:avLst/>
          </a:prstGeom>
          <a:ln cap="rnd" w="19050">
            <a:solidFill>
              <a:srgbClr val="49707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2" id="42"/>
          <p:cNvSpPr/>
          <p:nvPr/>
        </p:nvSpPr>
        <p:spPr>
          <a:xfrm rot="210660">
            <a:off x="15598340" y="5376291"/>
            <a:ext cx="331841" cy="0"/>
          </a:xfrm>
          <a:prstGeom prst="line">
            <a:avLst/>
          </a:prstGeom>
          <a:ln cap="rnd" w="19050">
            <a:solidFill>
              <a:srgbClr val="49707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3" id="43"/>
          <p:cNvSpPr/>
          <p:nvPr/>
        </p:nvSpPr>
        <p:spPr>
          <a:xfrm rot="216600">
            <a:off x="16302418" y="5376291"/>
            <a:ext cx="322717" cy="0"/>
          </a:xfrm>
          <a:prstGeom prst="line">
            <a:avLst/>
          </a:prstGeom>
          <a:ln cap="rnd" w="19050">
            <a:solidFill>
              <a:srgbClr val="49707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4" id="44"/>
          <p:cNvSpPr/>
          <p:nvPr/>
        </p:nvSpPr>
        <p:spPr>
          <a:xfrm rot="154380">
            <a:off x="15823778" y="5550027"/>
            <a:ext cx="594198" cy="0"/>
          </a:xfrm>
          <a:prstGeom prst="line">
            <a:avLst/>
          </a:prstGeom>
          <a:ln cap="rnd" w="19050">
            <a:solidFill>
              <a:srgbClr val="497078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5" id="45"/>
          <p:cNvGrpSpPr/>
          <p:nvPr/>
        </p:nvGrpSpPr>
        <p:grpSpPr>
          <a:xfrm rot="0">
            <a:off x="15124176" y="5769864"/>
            <a:ext cx="1993392" cy="402336"/>
            <a:chOff x="0" y="0"/>
            <a:chExt cx="2657856" cy="536448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2657856" cy="536448"/>
            </a:xfrm>
            <a:custGeom>
              <a:avLst/>
              <a:gdLst/>
              <a:ahLst/>
              <a:cxnLst/>
              <a:rect r="r" b="b" t="t" l="l"/>
              <a:pathLst>
                <a:path h="536448" w="2657856">
                  <a:moveTo>
                    <a:pt x="0" y="0"/>
                  </a:moveTo>
                  <a:lnTo>
                    <a:pt x="2657856" y="0"/>
                  </a:lnTo>
                  <a:lnTo>
                    <a:pt x="2657856" y="536448"/>
                  </a:lnTo>
                  <a:lnTo>
                    <a:pt x="0" y="536448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46539" r="0" b="-46539"/>
              </a:stretch>
            </a:blipFill>
          </p:spPr>
        </p:sp>
        <p:sp>
          <p:nvSpPr>
            <p:cNvPr name="TextBox 47" id="47"/>
            <p:cNvSpPr txBox="true"/>
            <p:nvPr/>
          </p:nvSpPr>
          <p:spPr>
            <a:xfrm>
              <a:off x="0" y="-19050"/>
              <a:ext cx="2657856" cy="5554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203439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LEGAL REVIEW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15133320" y="6245352"/>
            <a:ext cx="1965960" cy="603504"/>
            <a:chOff x="0" y="0"/>
            <a:chExt cx="2621280" cy="804672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2621280" cy="804672"/>
            </a:xfrm>
            <a:custGeom>
              <a:avLst/>
              <a:gdLst/>
              <a:ahLst/>
              <a:cxnLst/>
              <a:rect r="r" b="b" t="t" l="l"/>
              <a:pathLst>
                <a:path h="804672" w="2621280">
                  <a:moveTo>
                    <a:pt x="0" y="0"/>
                  </a:moveTo>
                  <a:lnTo>
                    <a:pt x="2621280" y="0"/>
                  </a:lnTo>
                  <a:lnTo>
                    <a:pt x="26212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3473" r="0" b="-13473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0"/>
              <a:ext cx="26212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379"/>
                </a:lnSpc>
              </a:pPr>
              <a:r>
                <a:rPr lang="en-US" sz="1149">
                  <a:solidFill>
                    <a:srgbClr val="697377"/>
                  </a:solidFill>
                  <a:latin typeface="Poppins"/>
                  <a:ea typeface="Poppins"/>
                  <a:cs typeface="Poppins"/>
                  <a:sym typeface="Poppins"/>
                </a:rPr>
                <a:t>Lawyer validates the</a:t>
              </a:r>
            </a:p>
            <a:p>
              <a:pPr algn="ctr">
                <a:lnSpc>
                  <a:spcPts val="1379"/>
                </a:lnSpc>
              </a:pPr>
              <a:r>
                <a:rPr lang="en-US" sz="1149">
                  <a:solidFill>
                    <a:srgbClr val="697377"/>
                  </a:solidFill>
                  <a:latin typeface="Poppins"/>
                  <a:ea typeface="Poppins"/>
                  <a:cs typeface="Poppins"/>
                  <a:sym typeface="Poppins"/>
                </a:rPr>
                <a:t>evidence pack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15206472" y="6940296"/>
            <a:ext cx="1847088" cy="365760"/>
            <a:chOff x="0" y="0"/>
            <a:chExt cx="2462784" cy="48768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2462784" cy="487680"/>
            </a:xfrm>
            <a:custGeom>
              <a:avLst/>
              <a:gdLst/>
              <a:ahLst/>
              <a:cxnLst/>
              <a:rect r="r" b="b" t="t" l="l"/>
              <a:pathLst>
                <a:path h="487680" w="2462784">
                  <a:moveTo>
                    <a:pt x="0" y="58547"/>
                  </a:moveTo>
                  <a:cubicBezTo>
                    <a:pt x="0" y="26162"/>
                    <a:pt x="26162" y="0"/>
                    <a:pt x="58547" y="0"/>
                  </a:cubicBezTo>
                  <a:lnTo>
                    <a:pt x="2404237" y="0"/>
                  </a:lnTo>
                  <a:cubicBezTo>
                    <a:pt x="2436495" y="0"/>
                    <a:pt x="2462784" y="26162"/>
                    <a:pt x="2462784" y="58547"/>
                  </a:cubicBezTo>
                  <a:lnTo>
                    <a:pt x="2462784" y="429133"/>
                  </a:lnTo>
                  <a:cubicBezTo>
                    <a:pt x="2462784" y="461391"/>
                    <a:pt x="2436622" y="487680"/>
                    <a:pt x="2404237" y="487680"/>
                  </a:cubicBezTo>
                  <a:lnTo>
                    <a:pt x="58547" y="487680"/>
                  </a:lnTo>
                  <a:cubicBezTo>
                    <a:pt x="26162" y="487680"/>
                    <a:pt x="0" y="461518"/>
                    <a:pt x="0" y="429133"/>
                  </a:cubicBezTo>
                  <a:close/>
                </a:path>
              </a:pathLst>
            </a:custGeom>
            <a:solidFill>
              <a:srgbClr val="E3F0E9"/>
            </a:solidFill>
          </p:spPr>
        </p:sp>
      </p:grpSp>
      <p:grpSp>
        <p:nvGrpSpPr>
          <p:cNvPr name="Group 53" id="53"/>
          <p:cNvGrpSpPr/>
          <p:nvPr/>
        </p:nvGrpSpPr>
        <p:grpSpPr>
          <a:xfrm rot="0">
            <a:off x="15279624" y="6940296"/>
            <a:ext cx="1700784" cy="365760"/>
            <a:chOff x="0" y="0"/>
            <a:chExt cx="2267712" cy="48768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2267712" cy="487680"/>
            </a:xfrm>
            <a:custGeom>
              <a:avLst/>
              <a:gdLst/>
              <a:ahLst/>
              <a:cxnLst/>
              <a:rect r="r" b="b" t="t" l="l"/>
              <a:pathLst>
                <a:path h="487680" w="2267712">
                  <a:moveTo>
                    <a:pt x="0" y="0"/>
                  </a:moveTo>
                  <a:lnTo>
                    <a:pt x="2267712" y="0"/>
                  </a:lnTo>
                  <a:lnTo>
                    <a:pt x="2267712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40605" r="0" b="-40605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9525"/>
              <a:ext cx="2267712" cy="497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296"/>
                </a:lnSpc>
              </a:pPr>
              <a:r>
                <a:rPr lang="en-US" sz="1080" b="true">
                  <a:solidFill>
                    <a:srgbClr val="3C7668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LEGAL CERTIFICATION</a:t>
              </a: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15124176" y="7379208"/>
            <a:ext cx="2011680" cy="356616"/>
            <a:chOff x="0" y="0"/>
            <a:chExt cx="2682240" cy="475488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2682240" cy="475488"/>
            </a:xfrm>
            <a:custGeom>
              <a:avLst/>
              <a:gdLst/>
              <a:ahLst/>
              <a:cxnLst/>
              <a:rect r="r" b="b" t="t" l="l"/>
              <a:pathLst>
                <a:path h="475488" w="2682240">
                  <a:moveTo>
                    <a:pt x="0" y="0"/>
                  </a:moveTo>
                  <a:lnTo>
                    <a:pt x="2682240" y="0"/>
                  </a:lnTo>
                  <a:lnTo>
                    <a:pt x="268224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59915" r="0" b="-59915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19050"/>
              <a:ext cx="2682240" cy="49453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212"/>
                </a:lnSpc>
              </a:pPr>
              <a:r>
                <a:rPr lang="en-US" sz="1010">
                  <a:solidFill>
                    <a:srgbClr val="697377"/>
                  </a:solidFill>
                  <a:latin typeface="Poppins"/>
                  <a:ea typeface="Poppins"/>
                  <a:cs typeface="Poppins"/>
                  <a:sym typeface="Poppins"/>
                </a:rPr>
                <a:t>When requirements are met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752599" y="3760975"/>
            <a:ext cx="13618969" cy="4365241"/>
            <a:chOff x="0" y="0"/>
            <a:chExt cx="18158625" cy="5820321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18158713" cy="5820410"/>
            </a:xfrm>
            <a:custGeom>
              <a:avLst/>
              <a:gdLst/>
              <a:ahLst/>
              <a:cxnLst/>
              <a:rect r="r" b="b" t="t" l="l"/>
              <a:pathLst>
                <a:path h="5820410" w="18158713">
                  <a:moveTo>
                    <a:pt x="0" y="698500"/>
                  </a:moveTo>
                  <a:cubicBezTo>
                    <a:pt x="0" y="312674"/>
                    <a:pt x="312674" y="0"/>
                    <a:pt x="698500" y="0"/>
                  </a:cubicBezTo>
                  <a:lnTo>
                    <a:pt x="17460213" y="0"/>
                  </a:lnTo>
                  <a:cubicBezTo>
                    <a:pt x="17845912" y="0"/>
                    <a:pt x="18158713" y="312674"/>
                    <a:pt x="18158713" y="698500"/>
                  </a:cubicBezTo>
                  <a:lnTo>
                    <a:pt x="18158713" y="5121910"/>
                  </a:lnTo>
                  <a:cubicBezTo>
                    <a:pt x="18158713" y="5507609"/>
                    <a:pt x="17846039" y="5820410"/>
                    <a:pt x="17460213" y="5820410"/>
                  </a:cubicBezTo>
                  <a:lnTo>
                    <a:pt x="698500" y="5820410"/>
                  </a:lnTo>
                  <a:cubicBezTo>
                    <a:pt x="312801" y="5820410"/>
                    <a:pt x="0" y="5507736"/>
                    <a:pt x="0" y="5121910"/>
                  </a:cubicBezTo>
                  <a:close/>
                </a:path>
              </a:pathLst>
            </a:custGeom>
            <a:solidFill>
              <a:srgbClr val="F5F8F8"/>
            </a:solidFill>
            <a:ln w="12700" cap="sq">
              <a:solidFill>
                <a:srgbClr val="D1DDDE"/>
              </a:solidFill>
              <a:prstDash val="solid"/>
              <a:miter/>
            </a:ln>
          </p:spPr>
        </p:sp>
      </p:grpSp>
      <p:grpSp>
        <p:nvGrpSpPr>
          <p:cNvPr name="Group 61" id="61"/>
          <p:cNvGrpSpPr/>
          <p:nvPr/>
        </p:nvGrpSpPr>
        <p:grpSpPr>
          <a:xfrm rot="0">
            <a:off x="1124712" y="4041648"/>
            <a:ext cx="265176" cy="265176"/>
            <a:chOff x="0" y="0"/>
            <a:chExt cx="353568" cy="353568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353568" cy="353568"/>
            </a:xfrm>
            <a:custGeom>
              <a:avLst/>
              <a:gdLst/>
              <a:ahLst/>
              <a:cxnLst/>
              <a:rect r="r" b="b" t="t" l="l"/>
              <a:pathLst>
                <a:path h="353568" w="353568">
                  <a:moveTo>
                    <a:pt x="0" y="176784"/>
                  </a:moveTo>
                  <a:cubicBezTo>
                    <a:pt x="0" y="79121"/>
                    <a:pt x="79121" y="0"/>
                    <a:pt x="176784" y="0"/>
                  </a:cubicBezTo>
                  <a:cubicBezTo>
                    <a:pt x="274447" y="0"/>
                    <a:pt x="353568" y="79121"/>
                    <a:pt x="353568" y="176784"/>
                  </a:cubicBezTo>
                  <a:cubicBezTo>
                    <a:pt x="353568" y="274447"/>
                    <a:pt x="274447" y="353568"/>
                    <a:pt x="176784" y="353568"/>
                  </a:cubicBezTo>
                  <a:cubicBezTo>
                    <a:pt x="79121" y="353568"/>
                    <a:pt x="0" y="274447"/>
                    <a:pt x="0" y="176784"/>
                  </a:cubicBezTo>
                  <a:close/>
                </a:path>
              </a:pathLst>
            </a:custGeom>
            <a:solidFill>
              <a:srgbClr val="E8F2F2"/>
            </a:solidFill>
          </p:spPr>
        </p:sp>
      </p:grpSp>
      <p:grpSp>
        <p:nvGrpSpPr>
          <p:cNvPr name="Group 63" id="63"/>
          <p:cNvGrpSpPr/>
          <p:nvPr/>
        </p:nvGrpSpPr>
        <p:grpSpPr>
          <a:xfrm rot="0">
            <a:off x="1165860" y="4045306"/>
            <a:ext cx="192024" cy="228600"/>
            <a:chOff x="0" y="0"/>
            <a:chExt cx="256032" cy="304800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256032" cy="304800"/>
            </a:xfrm>
            <a:custGeom>
              <a:avLst/>
              <a:gdLst/>
              <a:ahLst/>
              <a:cxnLst/>
              <a:rect r="r" b="b" t="t" l="l"/>
              <a:pathLst>
                <a:path h="304800" w="256032">
                  <a:moveTo>
                    <a:pt x="0" y="0"/>
                  </a:moveTo>
                  <a:lnTo>
                    <a:pt x="256032" y="0"/>
                  </a:lnTo>
                  <a:lnTo>
                    <a:pt x="256032" y="304800"/>
                  </a:lnTo>
                  <a:lnTo>
                    <a:pt x="0" y="30480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102742" t="0" r="-102742" b="0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-28575"/>
              <a:ext cx="256032" cy="3333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40"/>
                </a:lnSpc>
              </a:pPr>
              <a:r>
                <a:rPr lang="en-US" sz="1700" b="true">
                  <a:solidFill>
                    <a:srgbClr val="315D6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↻</a:t>
              </a:r>
            </a:p>
          </p:txBody>
        </p:sp>
      </p:grpSp>
      <p:grpSp>
        <p:nvGrpSpPr>
          <p:cNvPr name="Group 66" id="66"/>
          <p:cNvGrpSpPr/>
          <p:nvPr/>
        </p:nvGrpSpPr>
        <p:grpSpPr>
          <a:xfrm rot="0">
            <a:off x="1508760" y="4005072"/>
            <a:ext cx="4663440" cy="320040"/>
            <a:chOff x="0" y="0"/>
            <a:chExt cx="6217920" cy="42672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6217920" cy="426720"/>
            </a:xfrm>
            <a:custGeom>
              <a:avLst/>
              <a:gdLst/>
              <a:ahLst/>
              <a:cxnLst/>
              <a:rect r="r" b="b" t="t" l="l"/>
              <a:pathLst>
                <a:path h="426720" w="6217920">
                  <a:moveTo>
                    <a:pt x="0" y="0"/>
                  </a:moveTo>
                  <a:lnTo>
                    <a:pt x="6217920" y="0"/>
                  </a:lnTo>
                  <a:lnTo>
                    <a:pt x="6217920" y="426720"/>
                  </a:lnTo>
                  <a:lnTo>
                    <a:pt x="0" y="42672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233924" r="0" b="-233924"/>
              </a:stretch>
            </a:blipFill>
          </p:spPr>
        </p:sp>
        <p:sp>
          <p:nvSpPr>
            <p:cNvPr name="TextBox 68" id="68"/>
            <p:cNvSpPr txBox="true"/>
            <p:nvPr/>
          </p:nvSpPr>
          <p:spPr>
            <a:xfrm>
              <a:off x="0" y="-9525"/>
              <a:ext cx="6217920" cy="4362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51"/>
                </a:lnSpc>
              </a:pPr>
              <a:r>
                <a:rPr lang="en-US" sz="1209" b="true">
                  <a:solidFill>
                    <a:srgbClr val="315D6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REPEAT UNTIL NO GAPS REMAIN</a:t>
              </a:r>
            </a:p>
          </p:txBody>
        </p:sp>
      </p:grpSp>
      <p:grpSp>
        <p:nvGrpSpPr>
          <p:cNvPr name="Group 69" id="69"/>
          <p:cNvGrpSpPr/>
          <p:nvPr/>
        </p:nvGrpSpPr>
        <p:grpSpPr>
          <a:xfrm rot="0">
            <a:off x="1137285" y="4547997"/>
            <a:ext cx="4674870" cy="2077974"/>
            <a:chOff x="0" y="0"/>
            <a:chExt cx="6233160" cy="2770632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6233160" cy="2770632"/>
            </a:xfrm>
            <a:custGeom>
              <a:avLst/>
              <a:gdLst/>
              <a:ahLst/>
              <a:cxnLst/>
              <a:rect r="r" b="b" t="t" l="l"/>
              <a:pathLst>
                <a:path h="2770632" w="6233160">
                  <a:moveTo>
                    <a:pt x="0" y="332486"/>
                  </a:moveTo>
                  <a:cubicBezTo>
                    <a:pt x="0" y="148844"/>
                    <a:pt x="148844" y="0"/>
                    <a:pt x="332486" y="0"/>
                  </a:cubicBezTo>
                  <a:lnTo>
                    <a:pt x="5900674" y="0"/>
                  </a:lnTo>
                  <a:cubicBezTo>
                    <a:pt x="6084316" y="0"/>
                    <a:pt x="6233160" y="148844"/>
                    <a:pt x="6233160" y="332486"/>
                  </a:cubicBezTo>
                  <a:lnTo>
                    <a:pt x="6233160" y="2438146"/>
                  </a:lnTo>
                  <a:cubicBezTo>
                    <a:pt x="6233160" y="2621788"/>
                    <a:pt x="6084316" y="2770632"/>
                    <a:pt x="5900674" y="2770632"/>
                  </a:cubicBezTo>
                  <a:lnTo>
                    <a:pt x="332486" y="2770632"/>
                  </a:lnTo>
                  <a:cubicBezTo>
                    <a:pt x="148844" y="2770632"/>
                    <a:pt x="0" y="2621788"/>
                    <a:pt x="0" y="2438146"/>
                  </a:cubicBezTo>
                  <a:close/>
                </a:path>
              </a:pathLst>
            </a:custGeom>
            <a:solidFill>
              <a:srgbClr val="FFFFFF"/>
            </a:solidFill>
            <a:ln w="11430" cap="sq">
              <a:solidFill>
                <a:srgbClr val="D1DDDE"/>
              </a:solidFill>
              <a:prstDash val="solid"/>
              <a:miter/>
            </a:ln>
          </p:spPr>
        </p:sp>
      </p:grpSp>
      <p:grpSp>
        <p:nvGrpSpPr>
          <p:cNvPr name="Group 71" id="71"/>
          <p:cNvGrpSpPr/>
          <p:nvPr/>
        </p:nvGrpSpPr>
        <p:grpSpPr>
          <a:xfrm rot="0">
            <a:off x="1161288" y="4572000"/>
            <a:ext cx="4626864" cy="502920"/>
            <a:chOff x="0" y="0"/>
            <a:chExt cx="6169152" cy="67056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6169152" cy="670433"/>
            </a:xfrm>
            <a:custGeom>
              <a:avLst/>
              <a:gdLst/>
              <a:ahLst/>
              <a:cxnLst/>
              <a:rect r="r" b="b" t="t" l="l"/>
              <a:pathLst>
                <a:path h="670433" w="6169152">
                  <a:moveTo>
                    <a:pt x="0" y="305054"/>
                  </a:moveTo>
                  <a:cubicBezTo>
                    <a:pt x="0" y="136652"/>
                    <a:pt x="136652" y="0"/>
                    <a:pt x="305054" y="0"/>
                  </a:cubicBezTo>
                  <a:lnTo>
                    <a:pt x="5864098" y="0"/>
                  </a:lnTo>
                  <a:cubicBezTo>
                    <a:pt x="6032500" y="0"/>
                    <a:pt x="6169152" y="136652"/>
                    <a:pt x="6169152" y="305054"/>
                  </a:cubicBezTo>
                  <a:lnTo>
                    <a:pt x="6169152" y="365379"/>
                  </a:lnTo>
                  <a:cubicBezTo>
                    <a:pt x="6169152" y="533908"/>
                    <a:pt x="6032500" y="670433"/>
                    <a:pt x="5864098" y="670433"/>
                  </a:cubicBezTo>
                  <a:lnTo>
                    <a:pt x="305054" y="670433"/>
                  </a:lnTo>
                  <a:cubicBezTo>
                    <a:pt x="136652" y="670560"/>
                    <a:pt x="0" y="533908"/>
                    <a:pt x="0" y="365506"/>
                  </a:cubicBezTo>
                  <a:close/>
                </a:path>
              </a:pathLst>
            </a:custGeom>
            <a:solidFill>
              <a:srgbClr val="E8F2F2"/>
            </a:solidFill>
          </p:spPr>
        </p:sp>
      </p:grpSp>
      <p:grpSp>
        <p:nvGrpSpPr>
          <p:cNvPr name="Group 73" id="73"/>
          <p:cNvGrpSpPr/>
          <p:nvPr/>
        </p:nvGrpSpPr>
        <p:grpSpPr>
          <a:xfrm rot="0">
            <a:off x="1161288" y="4910328"/>
            <a:ext cx="4626864" cy="182880"/>
            <a:chOff x="0" y="0"/>
            <a:chExt cx="6169152" cy="243840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6169152" cy="243840"/>
            </a:xfrm>
            <a:custGeom>
              <a:avLst/>
              <a:gdLst/>
              <a:ahLst/>
              <a:cxnLst/>
              <a:rect r="r" b="b" t="t" l="l"/>
              <a:pathLst>
                <a:path h="243840" w="6169152">
                  <a:moveTo>
                    <a:pt x="0" y="0"/>
                  </a:moveTo>
                  <a:lnTo>
                    <a:pt x="6169152" y="0"/>
                  </a:lnTo>
                  <a:lnTo>
                    <a:pt x="6169152" y="243840"/>
                  </a:lnTo>
                  <a:lnTo>
                    <a:pt x="0" y="243840"/>
                  </a:lnTo>
                  <a:close/>
                </a:path>
              </a:pathLst>
            </a:custGeom>
            <a:solidFill>
              <a:srgbClr val="E8F2F2"/>
            </a:solidFill>
          </p:spPr>
        </p:sp>
      </p:grpSp>
      <p:grpSp>
        <p:nvGrpSpPr>
          <p:cNvPr name="Group 75" id="75"/>
          <p:cNvGrpSpPr/>
          <p:nvPr/>
        </p:nvGrpSpPr>
        <p:grpSpPr>
          <a:xfrm rot="0">
            <a:off x="1473708" y="4742688"/>
            <a:ext cx="252984" cy="298704"/>
            <a:chOff x="0" y="0"/>
            <a:chExt cx="337312" cy="398272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337312" cy="398272"/>
            </a:xfrm>
            <a:custGeom>
              <a:avLst/>
              <a:gdLst/>
              <a:ahLst/>
              <a:cxnLst/>
              <a:rect r="r" b="b" t="t" l="l"/>
              <a:pathLst>
                <a:path h="398272" w="337312">
                  <a:moveTo>
                    <a:pt x="0" y="0"/>
                  </a:moveTo>
                  <a:lnTo>
                    <a:pt x="337312" y="0"/>
                  </a:lnTo>
                  <a:lnTo>
                    <a:pt x="337312" y="398272"/>
                  </a:lnTo>
                  <a:lnTo>
                    <a:pt x="0" y="398272"/>
                  </a:ln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436E75"/>
              </a:solidFill>
              <a:prstDash val="solid"/>
              <a:miter/>
            </a:ln>
          </p:spPr>
        </p:sp>
      </p:grpSp>
      <p:grpSp>
        <p:nvGrpSpPr>
          <p:cNvPr name="Group 77" id="77"/>
          <p:cNvGrpSpPr/>
          <p:nvPr/>
        </p:nvGrpSpPr>
        <p:grpSpPr>
          <a:xfrm rot="0">
            <a:off x="1427988" y="4701540"/>
            <a:ext cx="252984" cy="298704"/>
            <a:chOff x="0" y="0"/>
            <a:chExt cx="337312" cy="398272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337312" cy="398272"/>
            </a:xfrm>
            <a:custGeom>
              <a:avLst/>
              <a:gdLst/>
              <a:ahLst/>
              <a:cxnLst/>
              <a:rect r="r" b="b" t="t" l="l"/>
              <a:pathLst>
                <a:path h="398272" w="337312">
                  <a:moveTo>
                    <a:pt x="0" y="0"/>
                  </a:moveTo>
                  <a:lnTo>
                    <a:pt x="337312" y="0"/>
                  </a:lnTo>
                  <a:lnTo>
                    <a:pt x="337312" y="398272"/>
                  </a:lnTo>
                  <a:lnTo>
                    <a:pt x="0" y="398272"/>
                  </a:ln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436E75"/>
              </a:solidFill>
              <a:prstDash val="solid"/>
              <a:miter/>
            </a:ln>
          </p:spPr>
        </p:sp>
      </p:grpSp>
      <p:grpSp>
        <p:nvGrpSpPr>
          <p:cNvPr name="Group 79" id="79"/>
          <p:cNvGrpSpPr/>
          <p:nvPr/>
        </p:nvGrpSpPr>
        <p:grpSpPr>
          <a:xfrm rot="0">
            <a:off x="1382268" y="4651248"/>
            <a:ext cx="252984" cy="298704"/>
            <a:chOff x="0" y="0"/>
            <a:chExt cx="337312" cy="398272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337312" cy="398272"/>
            </a:xfrm>
            <a:custGeom>
              <a:avLst/>
              <a:gdLst/>
              <a:ahLst/>
              <a:cxnLst/>
              <a:rect r="r" b="b" t="t" l="l"/>
              <a:pathLst>
                <a:path h="398272" w="337312">
                  <a:moveTo>
                    <a:pt x="0" y="0"/>
                  </a:moveTo>
                  <a:lnTo>
                    <a:pt x="337312" y="0"/>
                  </a:lnTo>
                  <a:lnTo>
                    <a:pt x="337312" y="398272"/>
                  </a:lnTo>
                  <a:lnTo>
                    <a:pt x="0" y="398272"/>
                  </a:ln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436E75"/>
              </a:solidFill>
              <a:prstDash val="solid"/>
              <a:miter/>
            </a:ln>
          </p:spPr>
        </p:sp>
      </p:grpSp>
      <p:sp>
        <p:nvSpPr>
          <p:cNvPr name="AutoShape 81" id="81"/>
          <p:cNvSpPr/>
          <p:nvPr/>
        </p:nvSpPr>
        <p:spPr>
          <a:xfrm rot="376260">
            <a:off x="1432141" y="4750118"/>
            <a:ext cx="139522" cy="0"/>
          </a:xfrm>
          <a:prstGeom prst="line">
            <a:avLst/>
          </a:prstGeom>
          <a:ln cap="rnd" w="9525">
            <a:solidFill>
              <a:srgbClr val="436E7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2" id="82"/>
          <p:cNvSpPr/>
          <p:nvPr/>
        </p:nvSpPr>
        <p:spPr>
          <a:xfrm rot="376260">
            <a:off x="1432141" y="4814126"/>
            <a:ext cx="139522" cy="0"/>
          </a:xfrm>
          <a:prstGeom prst="line">
            <a:avLst/>
          </a:prstGeom>
          <a:ln cap="rnd" w="9525">
            <a:solidFill>
              <a:srgbClr val="436E75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83" id="83"/>
          <p:cNvGrpSpPr/>
          <p:nvPr/>
        </p:nvGrpSpPr>
        <p:grpSpPr>
          <a:xfrm rot="0">
            <a:off x="1856232" y="4654296"/>
            <a:ext cx="3145536" cy="338328"/>
            <a:chOff x="0" y="0"/>
            <a:chExt cx="4194048" cy="451104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4194048" cy="451104"/>
            </a:xfrm>
            <a:custGeom>
              <a:avLst/>
              <a:gdLst/>
              <a:ahLst/>
              <a:cxnLst/>
              <a:rect r="r" b="b" t="t" l="l"/>
              <a:pathLst>
                <a:path h="451104" w="4194048">
                  <a:moveTo>
                    <a:pt x="0" y="0"/>
                  </a:moveTo>
                  <a:lnTo>
                    <a:pt x="4194048" y="0"/>
                  </a:lnTo>
                  <a:lnTo>
                    <a:pt x="4194048" y="451104"/>
                  </a:lnTo>
                  <a:lnTo>
                    <a:pt x="0" y="451104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31158" r="0" b="-131158"/>
              </a:stretch>
            </a:blipFill>
          </p:spPr>
        </p:sp>
        <p:sp>
          <p:nvSpPr>
            <p:cNvPr name="TextBox 85" id="85"/>
            <p:cNvSpPr txBox="true"/>
            <p:nvPr/>
          </p:nvSpPr>
          <p:spPr>
            <a:xfrm>
              <a:off x="0" y="-19050"/>
              <a:ext cx="4194048" cy="47015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11"/>
                </a:lnSpc>
              </a:pPr>
              <a:r>
                <a:rPr lang="en-US" sz="1509" b="true">
                  <a:solidFill>
                    <a:srgbClr val="263C4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COMPANY CONTEXT</a:t>
              </a:r>
            </a:p>
          </p:txBody>
        </p:sp>
      </p:grpSp>
      <p:grpSp>
        <p:nvGrpSpPr>
          <p:cNvPr name="Group 86" id="86"/>
          <p:cNvGrpSpPr/>
          <p:nvPr/>
        </p:nvGrpSpPr>
        <p:grpSpPr>
          <a:xfrm rot="0">
            <a:off x="4645152" y="4686300"/>
            <a:ext cx="1097280" cy="246888"/>
            <a:chOff x="0" y="0"/>
            <a:chExt cx="1463040" cy="329184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1463040" cy="329184"/>
            </a:xfrm>
            <a:custGeom>
              <a:avLst/>
              <a:gdLst/>
              <a:ahLst/>
              <a:cxnLst/>
              <a:rect r="r" b="b" t="t" l="l"/>
              <a:pathLst>
                <a:path h="329184" w="1463040">
                  <a:moveTo>
                    <a:pt x="0" y="39497"/>
                  </a:moveTo>
                  <a:cubicBezTo>
                    <a:pt x="0" y="17653"/>
                    <a:pt x="17653" y="0"/>
                    <a:pt x="39497" y="0"/>
                  </a:cubicBezTo>
                  <a:lnTo>
                    <a:pt x="1423543" y="0"/>
                  </a:lnTo>
                  <a:cubicBezTo>
                    <a:pt x="1445387" y="0"/>
                    <a:pt x="1463040" y="17653"/>
                    <a:pt x="1463040" y="39497"/>
                  </a:cubicBezTo>
                  <a:lnTo>
                    <a:pt x="1463040" y="289687"/>
                  </a:lnTo>
                  <a:cubicBezTo>
                    <a:pt x="1463040" y="311531"/>
                    <a:pt x="1445387" y="329184"/>
                    <a:pt x="1423543" y="329184"/>
                  </a:cubicBezTo>
                  <a:lnTo>
                    <a:pt x="39497" y="329184"/>
                  </a:lnTo>
                  <a:cubicBezTo>
                    <a:pt x="17653" y="329184"/>
                    <a:pt x="0" y="311531"/>
                    <a:pt x="0" y="289687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88" id="88"/>
          <p:cNvGrpSpPr/>
          <p:nvPr/>
        </p:nvGrpSpPr>
        <p:grpSpPr>
          <a:xfrm rot="0">
            <a:off x="4700016" y="4686300"/>
            <a:ext cx="987552" cy="246888"/>
            <a:chOff x="0" y="0"/>
            <a:chExt cx="1316736" cy="329184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1316736" cy="329184"/>
            </a:xfrm>
            <a:custGeom>
              <a:avLst/>
              <a:gdLst/>
              <a:ahLst/>
              <a:cxnLst/>
              <a:rect r="r" b="b" t="t" l="l"/>
              <a:pathLst>
                <a:path h="329184" w="1316736">
                  <a:moveTo>
                    <a:pt x="0" y="0"/>
                  </a:moveTo>
                  <a:lnTo>
                    <a:pt x="1316736" y="0"/>
                  </a:lnTo>
                  <a:lnTo>
                    <a:pt x="1316736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27940" r="0" b="-27940"/>
              </a:stretch>
            </a:blipFill>
          </p:spPr>
        </p:sp>
        <p:sp>
          <p:nvSpPr>
            <p:cNvPr name="TextBox 90" id="90"/>
            <p:cNvSpPr txBox="true"/>
            <p:nvPr/>
          </p:nvSpPr>
          <p:spPr>
            <a:xfrm>
              <a:off x="0" y="-9525"/>
              <a:ext cx="1316736" cy="3387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116"/>
                </a:lnSpc>
              </a:pPr>
              <a:r>
                <a:rPr lang="en-US" sz="930" b="true">
                  <a:solidFill>
                    <a:srgbClr val="315D6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Version X</a:t>
              </a:r>
            </a:p>
          </p:txBody>
        </p:sp>
      </p:grpSp>
      <p:grpSp>
        <p:nvGrpSpPr>
          <p:cNvPr name="Group 91" id="91"/>
          <p:cNvGrpSpPr/>
          <p:nvPr/>
        </p:nvGrpSpPr>
        <p:grpSpPr>
          <a:xfrm rot="0">
            <a:off x="1453896" y="5318150"/>
            <a:ext cx="173736" cy="173736"/>
            <a:chOff x="0" y="0"/>
            <a:chExt cx="231648" cy="231648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231648" cy="231648"/>
            </a:xfrm>
            <a:custGeom>
              <a:avLst/>
              <a:gdLst/>
              <a:ahLst/>
              <a:cxnLst/>
              <a:rect r="r" b="b" t="t" l="l"/>
              <a:pathLst>
                <a:path h="231648" w="231648">
                  <a:moveTo>
                    <a:pt x="0" y="115824"/>
                  </a:moveTo>
                  <a:cubicBezTo>
                    <a:pt x="0" y="51816"/>
                    <a:pt x="51816" y="0"/>
                    <a:pt x="115824" y="0"/>
                  </a:cubicBezTo>
                  <a:cubicBezTo>
                    <a:pt x="179832" y="0"/>
                    <a:pt x="231648" y="51816"/>
                    <a:pt x="231648" y="115824"/>
                  </a:cubicBezTo>
                  <a:cubicBezTo>
                    <a:pt x="231648" y="179832"/>
                    <a:pt x="179832" y="231648"/>
                    <a:pt x="115824" y="231648"/>
                  </a:cubicBezTo>
                  <a:cubicBezTo>
                    <a:pt x="51816" y="231648"/>
                    <a:pt x="0" y="179832"/>
                    <a:pt x="0" y="115824"/>
                  </a:cubicBezTo>
                  <a:close/>
                </a:path>
              </a:pathLst>
            </a:custGeom>
            <a:solidFill>
              <a:srgbClr val="E8F2F2"/>
            </a:solidFill>
          </p:spPr>
        </p:sp>
      </p:grpSp>
      <p:sp>
        <p:nvSpPr>
          <p:cNvPr name="AutoShape 93" id="93"/>
          <p:cNvSpPr/>
          <p:nvPr/>
        </p:nvSpPr>
        <p:spPr>
          <a:xfrm rot="3017400">
            <a:off x="1475489" y="5403685"/>
            <a:ext cx="59265" cy="0"/>
          </a:xfrm>
          <a:prstGeom prst="line">
            <a:avLst/>
          </a:prstGeom>
          <a:ln cap="rnd" w="9525">
            <a:solidFill>
              <a:srgbClr val="436E7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4" id="94"/>
          <p:cNvSpPr/>
          <p:nvPr/>
        </p:nvSpPr>
        <p:spPr>
          <a:xfrm rot="-2814780">
            <a:off x="1488234" y="5380501"/>
            <a:ext cx="125911" cy="0"/>
          </a:xfrm>
          <a:prstGeom prst="line">
            <a:avLst/>
          </a:prstGeom>
          <a:ln cap="rnd" w="9525">
            <a:solidFill>
              <a:srgbClr val="436E75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95" id="95"/>
          <p:cNvGrpSpPr/>
          <p:nvPr/>
        </p:nvGrpSpPr>
        <p:grpSpPr>
          <a:xfrm rot="0">
            <a:off x="1746504" y="5298948"/>
            <a:ext cx="2048256" cy="201168"/>
            <a:chOff x="0" y="0"/>
            <a:chExt cx="2731008" cy="268224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2731008" cy="268224"/>
            </a:xfrm>
            <a:custGeom>
              <a:avLst/>
              <a:gdLst/>
              <a:ahLst/>
              <a:cxnLst/>
              <a:rect r="r" b="b" t="t" l="l"/>
              <a:pathLst>
                <a:path h="268224" w="2731008">
                  <a:moveTo>
                    <a:pt x="0" y="0"/>
                  </a:moveTo>
                  <a:lnTo>
                    <a:pt x="2731008" y="0"/>
                  </a:lnTo>
                  <a:lnTo>
                    <a:pt x="2731008" y="268224"/>
                  </a:lnTo>
                  <a:lnTo>
                    <a:pt x="0" y="268224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48393" r="0" b="-148393"/>
              </a:stretch>
            </a:blipFill>
          </p:spPr>
        </p:sp>
        <p:sp>
          <p:nvSpPr>
            <p:cNvPr name="TextBox 97" id="97"/>
            <p:cNvSpPr txBox="true"/>
            <p:nvPr/>
          </p:nvSpPr>
          <p:spPr>
            <a:xfrm>
              <a:off x="0" y="-19050"/>
              <a:ext cx="2731008" cy="28727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43"/>
                </a:lnSpc>
              </a:pPr>
              <a:r>
                <a:rPr lang="en-US" sz="1119">
                  <a:solidFill>
                    <a:srgbClr val="263C40"/>
                  </a:solidFill>
                  <a:latin typeface="Poppins"/>
                  <a:ea typeface="Poppins"/>
                  <a:cs typeface="Poppins"/>
                  <a:sym typeface="Poppins"/>
                </a:rPr>
                <a:t>Product / scope</a:t>
              </a:r>
            </a:p>
          </p:txBody>
        </p:sp>
      </p:grpSp>
      <p:grpSp>
        <p:nvGrpSpPr>
          <p:cNvPr name="Group 98" id="98"/>
          <p:cNvGrpSpPr/>
          <p:nvPr/>
        </p:nvGrpSpPr>
        <p:grpSpPr>
          <a:xfrm rot="0">
            <a:off x="3968496" y="5352898"/>
            <a:ext cx="1399032" cy="84125"/>
            <a:chOff x="0" y="0"/>
            <a:chExt cx="1865376" cy="112166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1865376" cy="112141"/>
            </a:xfrm>
            <a:custGeom>
              <a:avLst/>
              <a:gdLst/>
              <a:ahLst/>
              <a:cxnLst/>
              <a:rect r="r" b="b" t="t" l="l"/>
              <a:pathLst>
                <a:path h="112141" w="1865376">
                  <a:moveTo>
                    <a:pt x="0" y="13462"/>
                  </a:moveTo>
                  <a:cubicBezTo>
                    <a:pt x="0" y="5969"/>
                    <a:pt x="5969" y="0"/>
                    <a:pt x="13462" y="0"/>
                  </a:cubicBezTo>
                  <a:lnTo>
                    <a:pt x="1851914" y="0"/>
                  </a:lnTo>
                  <a:cubicBezTo>
                    <a:pt x="1859407" y="0"/>
                    <a:pt x="1865376" y="5969"/>
                    <a:pt x="1865376" y="13462"/>
                  </a:cubicBezTo>
                  <a:lnTo>
                    <a:pt x="1865376" y="98679"/>
                  </a:lnTo>
                  <a:cubicBezTo>
                    <a:pt x="1865376" y="106172"/>
                    <a:pt x="1859407" y="112141"/>
                    <a:pt x="1851914" y="112141"/>
                  </a:cubicBezTo>
                  <a:lnTo>
                    <a:pt x="13462" y="112141"/>
                  </a:lnTo>
                  <a:cubicBezTo>
                    <a:pt x="5969" y="112141"/>
                    <a:pt x="0" y="106172"/>
                    <a:pt x="0" y="98679"/>
                  </a:cubicBezTo>
                  <a:close/>
                </a:path>
              </a:pathLst>
            </a:custGeom>
            <a:solidFill>
              <a:srgbClr val="F2F5F5"/>
            </a:solidFill>
          </p:spPr>
        </p:sp>
      </p:grpSp>
      <p:grpSp>
        <p:nvGrpSpPr>
          <p:cNvPr name="Group 100" id="100"/>
          <p:cNvGrpSpPr/>
          <p:nvPr/>
        </p:nvGrpSpPr>
        <p:grpSpPr>
          <a:xfrm rot="0">
            <a:off x="3968496" y="5352898"/>
            <a:ext cx="1088136" cy="84125"/>
            <a:chOff x="0" y="0"/>
            <a:chExt cx="1450848" cy="112166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1450848" cy="112141"/>
            </a:xfrm>
            <a:custGeom>
              <a:avLst/>
              <a:gdLst/>
              <a:ahLst/>
              <a:cxnLst/>
              <a:rect r="r" b="b" t="t" l="l"/>
              <a:pathLst>
                <a:path h="112141" w="1450848">
                  <a:moveTo>
                    <a:pt x="0" y="13462"/>
                  </a:moveTo>
                  <a:cubicBezTo>
                    <a:pt x="0" y="5969"/>
                    <a:pt x="5969" y="0"/>
                    <a:pt x="13462" y="0"/>
                  </a:cubicBezTo>
                  <a:lnTo>
                    <a:pt x="1437386" y="0"/>
                  </a:lnTo>
                  <a:cubicBezTo>
                    <a:pt x="1444879" y="0"/>
                    <a:pt x="1450848" y="5969"/>
                    <a:pt x="1450848" y="13462"/>
                  </a:cubicBezTo>
                  <a:lnTo>
                    <a:pt x="1450848" y="98679"/>
                  </a:lnTo>
                  <a:cubicBezTo>
                    <a:pt x="1450848" y="106172"/>
                    <a:pt x="1444879" y="112141"/>
                    <a:pt x="1437386" y="112141"/>
                  </a:cubicBezTo>
                  <a:lnTo>
                    <a:pt x="13462" y="112141"/>
                  </a:lnTo>
                  <a:cubicBezTo>
                    <a:pt x="5969" y="112141"/>
                    <a:pt x="0" y="106172"/>
                    <a:pt x="0" y="98679"/>
                  </a:cubicBezTo>
                  <a:close/>
                </a:path>
              </a:pathLst>
            </a:custGeom>
            <a:solidFill>
              <a:srgbClr val="B7D3D4"/>
            </a:solidFill>
          </p:spPr>
        </p:sp>
      </p:grpSp>
      <p:grpSp>
        <p:nvGrpSpPr>
          <p:cNvPr name="Group 102" id="102"/>
          <p:cNvGrpSpPr/>
          <p:nvPr/>
        </p:nvGrpSpPr>
        <p:grpSpPr>
          <a:xfrm rot="0">
            <a:off x="1453896" y="5629046"/>
            <a:ext cx="173736" cy="173736"/>
            <a:chOff x="0" y="0"/>
            <a:chExt cx="231648" cy="231648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231648" cy="231648"/>
            </a:xfrm>
            <a:custGeom>
              <a:avLst/>
              <a:gdLst/>
              <a:ahLst/>
              <a:cxnLst/>
              <a:rect r="r" b="b" t="t" l="l"/>
              <a:pathLst>
                <a:path h="231648" w="231648">
                  <a:moveTo>
                    <a:pt x="0" y="115824"/>
                  </a:moveTo>
                  <a:cubicBezTo>
                    <a:pt x="0" y="51816"/>
                    <a:pt x="51816" y="0"/>
                    <a:pt x="115824" y="0"/>
                  </a:cubicBezTo>
                  <a:cubicBezTo>
                    <a:pt x="179832" y="0"/>
                    <a:pt x="231648" y="51816"/>
                    <a:pt x="231648" y="115824"/>
                  </a:cubicBezTo>
                  <a:cubicBezTo>
                    <a:pt x="231648" y="179832"/>
                    <a:pt x="179832" y="231648"/>
                    <a:pt x="115824" y="231648"/>
                  </a:cubicBezTo>
                  <a:cubicBezTo>
                    <a:pt x="51816" y="231648"/>
                    <a:pt x="0" y="179832"/>
                    <a:pt x="0" y="115824"/>
                  </a:cubicBezTo>
                  <a:close/>
                </a:path>
              </a:pathLst>
            </a:custGeom>
            <a:solidFill>
              <a:srgbClr val="E8F2F2"/>
            </a:solidFill>
          </p:spPr>
        </p:sp>
      </p:grpSp>
      <p:sp>
        <p:nvSpPr>
          <p:cNvPr name="AutoShape 104" id="104"/>
          <p:cNvSpPr/>
          <p:nvPr/>
        </p:nvSpPr>
        <p:spPr>
          <a:xfrm rot="3017400">
            <a:off x="1475489" y="5714581"/>
            <a:ext cx="59265" cy="0"/>
          </a:xfrm>
          <a:prstGeom prst="line">
            <a:avLst/>
          </a:prstGeom>
          <a:ln cap="rnd" w="9525">
            <a:solidFill>
              <a:srgbClr val="436E7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5" id="105"/>
          <p:cNvSpPr/>
          <p:nvPr/>
        </p:nvSpPr>
        <p:spPr>
          <a:xfrm rot="-2814780">
            <a:off x="1488234" y="5691397"/>
            <a:ext cx="125911" cy="0"/>
          </a:xfrm>
          <a:prstGeom prst="line">
            <a:avLst/>
          </a:prstGeom>
          <a:ln cap="rnd" w="9525">
            <a:solidFill>
              <a:srgbClr val="436E75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6" id="106"/>
          <p:cNvGrpSpPr/>
          <p:nvPr/>
        </p:nvGrpSpPr>
        <p:grpSpPr>
          <a:xfrm rot="0">
            <a:off x="1746504" y="5609844"/>
            <a:ext cx="2048256" cy="201168"/>
            <a:chOff x="0" y="0"/>
            <a:chExt cx="2731008" cy="268224"/>
          </a:xfrm>
        </p:grpSpPr>
        <p:sp>
          <p:nvSpPr>
            <p:cNvPr name="Freeform 107" id="107"/>
            <p:cNvSpPr/>
            <p:nvPr/>
          </p:nvSpPr>
          <p:spPr>
            <a:xfrm flipH="false" flipV="false" rot="0">
              <a:off x="0" y="0"/>
              <a:ext cx="2731008" cy="268224"/>
            </a:xfrm>
            <a:custGeom>
              <a:avLst/>
              <a:gdLst/>
              <a:ahLst/>
              <a:cxnLst/>
              <a:rect r="r" b="b" t="t" l="l"/>
              <a:pathLst>
                <a:path h="268224" w="2731008">
                  <a:moveTo>
                    <a:pt x="0" y="0"/>
                  </a:moveTo>
                  <a:lnTo>
                    <a:pt x="2731008" y="0"/>
                  </a:lnTo>
                  <a:lnTo>
                    <a:pt x="2731008" y="268224"/>
                  </a:lnTo>
                  <a:lnTo>
                    <a:pt x="0" y="268224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48393" r="0" b="-148393"/>
              </a:stretch>
            </a:blipFill>
          </p:spPr>
        </p:sp>
        <p:sp>
          <p:nvSpPr>
            <p:cNvPr name="TextBox 108" id="108"/>
            <p:cNvSpPr txBox="true"/>
            <p:nvPr/>
          </p:nvSpPr>
          <p:spPr>
            <a:xfrm>
              <a:off x="0" y="-19050"/>
              <a:ext cx="2731008" cy="28727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43"/>
                </a:lnSpc>
              </a:pPr>
              <a:r>
                <a:rPr lang="en-US" sz="1119">
                  <a:solidFill>
                    <a:srgbClr val="263C40"/>
                  </a:solidFill>
                  <a:latin typeface="Poppins"/>
                  <a:ea typeface="Poppins"/>
                  <a:cs typeface="Poppins"/>
                  <a:sym typeface="Poppins"/>
                </a:rPr>
                <a:t>Systems</a:t>
              </a:r>
            </a:p>
          </p:txBody>
        </p:sp>
      </p:grpSp>
      <p:grpSp>
        <p:nvGrpSpPr>
          <p:cNvPr name="Group 109" id="109"/>
          <p:cNvGrpSpPr/>
          <p:nvPr/>
        </p:nvGrpSpPr>
        <p:grpSpPr>
          <a:xfrm rot="0">
            <a:off x="3968496" y="5663794"/>
            <a:ext cx="1399032" cy="84125"/>
            <a:chOff x="0" y="0"/>
            <a:chExt cx="1865376" cy="112166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1865376" cy="112141"/>
            </a:xfrm>
            <a:custGeom>
              <a:avLst/>
              <a:gdLst/>
              <a:ahLst/>
              <a:cxnLst/>
              <a:rect r="r" b="b" t="t" l="l"/>
              <a:pathLst>
                <a:path h="112141" w="1865376">
                  <a:moveTo>
                    <a:pt x="0" y="13462"/>
                  </a:moveTo>
                  <a:cubicBezTo>
                    <a:pt x="0" y="5969"/>
                    <a:pt x="5969" y="0"/>
                    <a:pt x="13462" y="0"/>
                  </a:cubicBezTo>
                  <a:lnTo>
                    <a:pt x="1851914" y="0"/>
                  </a:lnTo>
                  <a:cubicBezTo>
                    <a:pt x="1859407" y="0"/>
                    <a:pt x="1865376" y="5969"/>
                    <a:pt x="1865376" y="13462"/>
                  </a:cubicBezTo>
                  <a:lnTo>
                    <a:pt x="1865376" y="98679"/>
                  </a:lnTo>
                  <a:cubicBezTo>
                    <a:pt x="1865376" y="106172"/>
                    <a:pt x="1859407" y="112141"/>
                    <a:pt x="1851914" y="112141"/>
                  </a:cubicBezTo>
                  <a:lnTo>
                    <a:pt x="13462" y="112141"/>
                  </a:lnTo>
                  <a:cubicBezTo>
                    <a:pt x="5969" y="112141"/>
                    <a:pt x="0" y="106172"/>
                    <a:pt x="0" y="98679"/>
                  </a:cubicBezTo>
                  <a:close/>
                </a:path>
              </a:pathLst>
            </a:custGeom>
            <a:solidFill>
              <a:srgbClr val="F2F5F5"/>
            </a:solidFill>
          </p:spPr>
        </p:sp>
      </p:grpSp>
      <p:grpSp>
        <p:nvGrpSpPr>
          <p:cNvPr name="Group 111" id="111"/>
          <p:cNvGrpSpPr/>
          <p:nvPr/>
        </p:nvGrpSpPr>
        <p:grpSpPr>
          <a:xfrm rot="0">
            <a:off x="3968496" y="5663794"/>
            <a:ext cx="1029062" cy="84125"/>
            <a:chOff x="0" y="0"/>
            <a:chExt cx="1372083" cy="112166"/>
          </a:xfrm>
        </p:grpSpPr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1372108" cy="112141"/>
            </a:xfrm>
            <a:custGeom>
              <a:avLst/>
              <a:gdLst/>
              <a:ahLst/>
              <a:cxnLst/>
              <a:rect r="r" b="b" t="t" l="l"/>
              <a:pathLst>
                <a:path h="112141" w="1372108">
                  <a:moveTo>
                    <a:pt x="0" y="13462"/>
                  </a:moveTo>
                  <a:cubicBezTo>
                    <a:pt x="0" y="5969"/>
                    <a:pt x="5969" y="0"/>
                    <a:pt x="13462" y="0"/>
                  </a:cubicBezTo>
                  <a:lnTo>
                    <a:pt x="1358646" y="0"/>
                  </a:lnTo>
                  <a:cubicBezTo>
                    <a:pt x="1366139" y="0"/>
                    <a:pt x="1372108" y="5969"/>
                    <a:pt x="1372108" y="13462"/>
                  </a:cubicBezTo>
                  <a:lnTo>
                    <a:pt x="1372108" y="98679"/>
                  </a:lnTo>
                  <a:cubicBezTo>
                    <a:pt x="1372108" y="106172"/>
                    <a:pt x="1366139" y="112141"/>
                    <a:pt x="1358646" y="112141"/>
                  </a:cubicBezTo>
                  <a:lnTo>
                    <a:pt x="13462" y="112141"/>
                  </a:lnTo>
                  <a:cubicBezTo>
                    <a:pt x="5969" y="112141"/>
                    <a:pt x="0" y="106172"/>
                    <a:pt x="0" y="98679"/>
                  </a:cubicBezTo>
                  <a:close/>
                </a:path>
              </a:pathLst>
            </a:custGeom>
            <a:solidFill>
              <a:srgbClr val="B7D3D4"/>
            </a:solidFill>
          </p:spPr>
        </p:sp>
      </p:grpSp>
      <p:grpSp>
        <p:nvGrpSpPr>
          <p:cNvPr name="Group 113" id="113"/>
          <p:cNvGrpSpPr/>
          <p:nvPr/>
        </p:nvGrpSpPr>
        <p:grpSpPr>
          <a:xfrm rot="0">
            <a:off x="1453896" y="5939942"/>
            <a:ext cx="173736" cy="173736"/>
            <a:chOff x="0" y="0"/>
            <a:chExt cx="231648" cy="231648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231648" cy="231648"/>
            </a:xfrm>
            <a:custGeom>
              <a:avLst/>
              <a:gdLst/>
              <a:ahLst/>
              <a:cxnLst/>
              <a:rect r="r" b="b" t="t" l="l"/>
              <a:pathLst>
                <a:path h="231648" w="231648">
                  <a:moveTo>
                    <a:pt x="0" y="115824"/>
                  </a:moveTo>
                  <a:cubicBezTo>
                    <a:pt x="0" y="51816"/>
                    <a:pt x="51816" y="0"/>
                    <a:pt x="115824" y="0"/>
                  </a:cubicBezTo>
                  <a:cubicBezTo>
                    <a:pt x="179832" y="0"/>
                    <a:pt x="231648" y="51816"/>
                    <a:pt x="231648" y="115824"/>
                  </a:cubicBezTo>
                  <a:cubicBezTo>
                    <a:pt x="231648" y="179832"/>
                    <a:pt x="179832" y="231648"/>
                    <a:pt x="115824" y="231648"/>
                  </a:cubicBezTo>
                  <a:cubicBezTo>
                    <a:pt x="51816" y="231648"/>
                    <a:pt x="0" y="179832"/>
                    <a:pt x="0" y="115824"/>
                  </a:cubicBezTo>
                  <a:close/>
                </a:path>
              </a:pathLst>
            </a:custGeom>
            <a:solidFill>
              <a:srgbClr val="E8F2F2"/>
            </a:solidFill>
          </p:spPr>
        </p:sp>
      </p:grpSp>
      <p:sp>
        <p:nvSpPr>
          <p:cNvPr name="AutoShape 115" id="115"/>
          <p:cNvSpPr/>
          <p:nvPr/>
        </p:nvSpPr>
        <p:spPr>
          <a:xfrm rot="3017400">
            <a:off x="1475489" y="6025477"/>
            <a:ext cx="59265" cy="0"/>
          </a:xfrm>
          <a:prstGeom prst="line">
            <a:avLst/>
          </a:prstGeom>
          <a:ln cap="rnd" w="9525">
            <a:solidFill>
              <a:srgbClr val="436E7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6" id="116"/>
          <p:cNvSpPr/>
          <p:nvPr/>
        </p:nvSpPr>
        <p:spPr>
          <a:xfrm rot="-2814780">
            <a:off x="1488234" y="6002293"/>
            <a:ext cx="125911" cy="0"/>
          </a:xfrm>
          <a:prstGeom prst="line">
            <a:avLst/>
          </a:prstGeom>
          <a:ln cap="rnd" w="9525">
            <a:solidFill>
              <a:srgbClr val="436E75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17" id="117"/>
          <p:cNvGrpSpPr/>
          <p:nvPr/>
        </p:nvGrpSpPr>
        <p:grpSpPr>
          <a:xfrm rot="0">
            <a:off x="1746504" y="5920740"/>
            <a:ext cx="2048256" cy="201168"/>
            <a:chOff x="0" y="0"/>
            <a:chExt cx="2731008" cy="268224"/>
          </a:xfrm>
        </p:grpSpPr>
        <p:sp>
          <p:nvSpPr>
            <p:cNvPr name="Freeform 118" id="118"/>
            <p:cNvSpPr/>
            <p:nvPr/>
          </p:nvSpPr>
          <p:spPr>
            <a:xfrm flipH="false" flipV="false" rot="0">
              <a:off x="0" y="0"/>
              <a:ext cx="2731008" cy="268224"/>
            </a:xfrm>
            <a:custGeom>
              <a:avLst/>
              <a:gdLst/>
              <a:ahLst/>
              <a:cxnLst/>
              <a:rect r="r" b="b" t="t" l="l"/>
              <a:pathLst>
                <a:path h="268224" w="2731008">
                  <a:moveTo>
                    <a:pt x="0" y="0"/>
                  </a:moveTo>
                  <a:lnTo>
                    <a:pt x="2731008" y="0"/>
                  </a:lnTo>
                  <a:lnTo>
                    <a:pt x="2731008" y="268224"/>
                  </a:lnTo>
                  <a:lnTo>
                    <a:pt x="0" y="268224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48393" r="0" b="-148393"/>
              </a:stretch>
            </a:blipFill>
          </p:spPr>
        </p:sp>
        <p:sp>
          <p:nvSpPr>
            <p:cNvPr name="TextBox 119" id="119"/>
            <p:cNvSpPr txBox="true"/>
            <p:nvPr/>
          </p:nvSpPr>
          <p:spPr>
            <a:xfrm>
              <a:off x="0" y="-19050"/>
              <a:ext cx="2731008" cy="28727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43"/>
                </a:lnSpc>
              </a:pPr>
              <a:r>
                <a:rPr lang="en-US" sz="1119">
                  <a:solidFill>
                    <a:srgbClr val="263C40"/>
                  </a:solidFill>
                  <a:latin typeface="Poppins"/>
                  <a:ea typeface="Poppins"/>
                  <a:cs typeface="Poppins"/>
                  <a:sym typeface="Poppins"/>
                </a:rPr>
                <a:t>Controls</a:t>
              </a:r>
            </a:p>
          </p:txBody>
        </p:sp>
      </p:grpSp>
      <p:grpSp>
        <p:nvGrpSpPr>
          <p:cNvPr name="Group 120" id="120"/>
          <p:cNvGrpSpPr/>
          <p:nvPr/>
        </p:nvGrpSpPr>
        <p:grpSpPr>
          <a:xfrm rot="0">
            <a:off x="3968496" y="5974690"/>
            <a:ext cx="1399032" cy="84125"/>
            <a:chOff x="0" y="0"/>
            <a:chExt cx="1865376" cy="112166"/>
          </a:xfrm>
        </p:grpSpPr>
        <p:sp>
          <p:nvSpPr>
            <p:cNvPr name="Freeform 121" id="121"/>
            <p:cNvSpPr/>
            <p:nvPr/>
          </p:nvSpPr>
          <p:spPr>
            <a:xfrm flipH="false" flipV="false" rot="0">
              <a:off x="0" y="0"/>
              <a:ext cx="1865376" cy="112141"/>
            </a:xfrm>
            <a:custGeom>
              <a:avLst/>
              <a:gdLst/>
              <a:ahLst/>
              <a:cxnLst/>
              <a:rect r="r" b="b" t="t" l="l"/>
              <a:pathLst>
                <a:path h="112141" w="1865376">
                  <a:moveTo>
                    <a:pt x="0" y="13462"/>
                  </a:moveTo>
                  <a:cubicBezTo>
                    <a:pt x="0" y="5969"/>
                    <a:pt x="5969" y="0"/>
                    <a:pt x="13462" y="0"/>
                  </a:cubicBezTo>
                  <a:lnTo>
                    <a:pt x="1851914" y="0"/>
                  </a:lnTo>
                  <a:cubicBezTo>
                    <a:pt x="1859407" y="0"/>
                    <a:pt x="1865376" y="5969"/>
                    <a:pt x="1865376" y="13462"/>
                  </a:cubicBezTo>
                  <a:lnTo>
                    <a:pt x="1865376" y="98679"/>
                  </a:lnTo>
                  <a:cubicBezTo>
                    <a:pt x="1865376" y="106172"/>
                    <a:pt x="1859407" y="112141"/>
                    <a:pt x="1851914" y="112141"/>
                  </a:cubicBezTo>
                  <a:lnTo>
                    <a:pt x="13462" y="112141"/>
                  </a:lnTo>
                  <a:cubicBezTo>
                    <a:pt x="5969" y="112141"/>
                    <a:pt x="0" y="106172"/>
                    <a:pt x="0" y="98679"/>
                  </a:cubicBezTo>
                  <a:close/>
                </a:path>
              </a:pathLst>
            </a:custGeom>
            <a:solidFill>
              <a:srgbClr val="F2F5F5"/>
            </a:solidFill>
          </p:spPr>
        </p:sp>
      </p:grpSp>
      <p:grpSp>
        <p:nvGrpSpPr>
          <p:cNvPr name="Group 122" id="122"/>
          <p:cNvGrpSpPr/>
          <p:nvPr/>
        </p:nvGrpSpPr>
        <p:grpSpPr>
          <a:xfrm rot="0">
            <a:off x="3968496" y="5974690"/>
            <a:ext cx="969997" cy="84125"/>
            <a:chOff x="0" y="0"/>
            <a:chExt cx="1293330" cy="112166"/>
          </a:xfrm>
        </p:grpSpPr>
        <p:sp>
          <p:nvSpPr>
            <p:cNvPr name="Freeform 123" id="123"/>
            <p:cNvSpPr/>
            <p:nvPr/>
          </p:nvSpPr>
          <p:spPr>
            <a:xfrm flipH="false" flipV="false" rot="0">
              <a:off x="0" y="0"/>
              <a:ext cx="1293368" cy="112141"/>
            </a:xfrm>
            <a:custGeom>
              <a:avLst/>
              <a:gdLst/>
              <a:ahLst/>
              <a:cxnLst/>
              <a:rect r="r" b="b" t="t" l="l"/>
              <a:pathLst>
                <a:path h="112141" w="1293368">
                  <a:moveTo>
                    <a:pt x="0" y="13462"/>
                  </a:moveTo>
                  <a:cubicBezTo>
                    <a:pt x="0" y="5969"/>
                    <a:pt x="5969" y="0"/>
                    <a:pt x="13462" y="0"/>
                  </a:cubicBezTo>
                  <a:lnTo>
                    <a:pt x="1279906" y="0"/>
                  </a:lnTo>
                  <a:cubicBezTo>
                    <a:pt x="1287399" y="0"/>
                    <a:pt x="1293368" y="5969"/>
                    <a:pt x="1293368" y="13462"/>
                  </a:cubicBezTo>
                  <a:lnTo>
                    <a:pt x="1293368" y="98679"/>
                  </a:lnTo>
                  <a:cubicBezTo>
                    <a:pt x="1293368" y="106172"/>
                    <a:pt x="1287399" y="112141"/>
                    <a:pt x="1279906" y="112141"/>
                  </a:cubicBezTo>
                  <a:lnTo>
                    <a:pt x="13462" y="112141"/>
                  </a:lnTo>
                  <a:cubicBezTo>
                    <a:pt x="5969" y="112141"/>
                    <a:pt x="0" y="106172"/>
                    <a:pt x="0" y="98679"/>
                  </a:cubicBezTo>
                  <a:close/>
                </a:path>
              </a:pathLst>
            </a:custGeom>
            <a:solidFill>
              <a:srgbClr val="B7D3D4"/>
            </a:solidFill>
          </p:spPr>
        </p:sp>
      </p:grpSp>
      <p:grpSp>
        <p:nvGrpSpPr>
          <p:cNvPr name="Group 124" id="124"/>
          <p:cNvGrpSpPr/>
          <p:nvPr/>
        </p:nvGrpSpPr>
        <p:grpSpPr>
          <a:xfrm rot="0">
            <a:off x="8269605" y="4547997"/>
            <a:ext cx="4674870" cy="2077974"/>
            <a:chOff x="0" y="0"/>
            <a:chExt cx="6233160" cy="2770632"/>
          </a:xfrm>
        </p:grpSpPr>
        <p:sp>
          <p:nvSpPr>
            <p:cNvPr name="Freeform 125" id="125"/>
            <p:cNvSpPr/>
            <p:nvPr/>
          </p:nvSpPr>
          <p:spPr>
            <a:xfrm flipH="false" flipV="false" rot="0">
              <a:off x="0" y="0"/>
              <a:ext cx="6233160" cy="2770632"/>
            </a:xfrm>
            <a:custGeom>
              <a:avLst/>
              <a:gdLst/>
              <a:ahLst/>
              <a:cxnLst/>
              <a:rect r="r" b="b" t="t" l="l"/>
              <a:pathLst>
                <a:path h="2770632" w="6233160">
                  <a:moveTo>
                    <a:pt x="0" y="332486"/>
                  </a:moveTo>
                  <a:cubicBezTo>
                    <a:pt x="0" y="148844"/>
                    <a:pt x="148844" y="0"/>
                    <a:pt x="332486" y="0"/>
                  </a:cubicBezTo>
                  <a:lnTo>
                    <a:pt x="5900674" y="0"/>
                  </a:lnTo>
                  <a:cubicBezTo>
                    <a:pt x="6084316" y="0"/>
                    <a:pt x="6233160" y="148844"/>
                    <a:pt x="6233160" y="332486"/>
                  </a:cubicBezTo>
                  <a:lnTo>
                    <a:pt x="6233160" y="2438146"/>
                  </a:lnTo>
                  <a:cubicBezTo>
                    <a:pt x="6233160" y="2621788"/>
                    <a:pt x="6084316" y="2770632"/>
                    <a:pt x="5900674" y="2770632"/>
                  </a:cubicBezTo>
                  <a:lnTo>
                    <a:pt x="332486" y="2770632"/>
                  </a:lnTo>
                  <a:cubicBezTo>
                    <a:pt x="148844" y="2770632"/>
                    <a:pt x="0" y="2621788"/>
                    <a:pt x="0" y="2438146"/>
                  </a:cubicBezTo>
                  <a:close/>
                </a:path>
              </a:pathLst>
            </a:custGeom>
            <a:solidFill>
              <a:srgbClr val="FFFFFF"/>
            </a:solidFill>
            <a:ln w="11430" cap="sq">
              <a:solidFill>
                <a:srgbClr val="D1DDDE"/>
              </a:solidFill>
              <a:prstDash val="solid"/>
              <a:miter/>
            </a:ln>
          </p:spPr>
        </p:sp>
      </p:grpSp>
      <p:grpSp>
        <p:nvGrpSpPr>
          <p:cNvPr name="Group 126" id="126"/>
          <p:cNvGrpSpPr/>
          <p:nvPr/>
        </p:nvGrpSpPr>
        <p:grpSpPr>
          <a:xfrm rot="0">
            <a:off x="8293608" y="4572000"/>
            <a:ext cx="4626864" cy="502920"/>
            <a:chOff x="0" y="0"/>
            <a:chExt cx="6169152" cy="670560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6169152" cy="670433"/>
            </a:xfrm>
            <a:custGeom>
              <a:avLst/>
              <a:gdLst/>
              <a:ahLst/>
              <a:cxnLst/>
              <a:rect r="r" b="b" t="t" l="l"/>
              <a:pathLst>
                <a:path h="670433" w="6169152">
                  <a:moveTo>
                    <a:pt x="0" y="305054"/>
                  </a:moveTo>
                  <a:cubicBezTo>
                    <a:pt x="0" y="136652"/>
                    <a:pt x="136652" y="0"/>
                    <a:pt x="305054" y="0"/>
                  </a:cubicBezTo>
                  <a:lnTo>
                    <a:pt x="5864098" y="0"/>
                  </a:lnTo>
                  <a:cubicBezTo>
                    <a:pt x="6032500" y="0"/>
                    <a:pt x="6169152" y="136652"/>
                    <a:pt x="6169152" y="305054"/>
                  </a:cubicBezTo>
                  <a:lnTo>
                    <a:pt x="6169152" y="365379"/>
                  </a:lnTo>
                  <a:cubicBezTo>
                    <a:pt x="6169152" y="533908"/>
                    <a:pt x="6032500" y="670433"/>
                    <a:pt x="5864098" y="670433"/>
                  </a:cubicBezTo>
                  <a:lnTo>
                    <a:pt x="305054" y="670433"/>
                  </a:lnTo>
                  <a:cubicBezTo>
                    <a:pt x="136652" y="670560"/>
                    <a:pt x="0" y="533908"/>
                    <a:pt x="0" y="365506"/>
                  </a:cubicBezTo>
                  <a:close/>
                </a:path>
              </a:pathLst>
            </a:custGeom>
            <a:solidFill>
              <a:srgbClr val="E8F2F2"/>
            </a:solidFill>
          </p:spPr>
        </p:sp>
      </p:grpSp>
      <p:grpSp>
        <p:nvGrpSpPr>
          <p:cNvPr name="Group 128" id="128"/>
          <p:cNvGrpSpPr/>
          <p:nvPr/>
        </p:nvGrpSpPr>
        <p:grpSpPr>
          <a:xfrm rot="0">
            <a:off x="8293608" y="4910328"/>
            <a:ext cx="4626864" cy="182880"/>
            <a:chOff x="0" y="0"/>
            <a:chExt cx="6169152" cy="243840"/>
          </a:xfrm>
        </p:grpSpPr>
        <p:sp>
          <p:nvSpPr>
            <p:cNvPr name="Freeform 129" id="129"/>
            <p:cNvSpPr/>
            <p:nvPr/>
          </p:nvSpPr>
          <p:spPr>
            <a:xfrm flipH="false" flipV="false" rot="0">
              <a:off x="0" y="0"/>
              <a:ext cx="6169152" cy="243840"/>
            </a:xfrm>
            <a:custGeom>
              <a:avLst/>
              <a:gdLst/>
              <a:ahLst/>
              <a:cxnLst/>
              <a:rect r="r" b="b" t="t" l="l"/>
              <a:pathLst>
                <a:path h="243840" w="6169152">
                  <a:moveTo>
                    <a:pt x="0" y="0"/>
                  </a:moveTo>
                  <a:lnTo>
                    <a:pt x="6169152" y="0"/>
                  </a:lnTo>
                  <a:lnTo>
                    <a:pt x="6169152" y="243840"/>
                  </a:lnTo>
                  <a:lnTo>
                    <a:pt x="0" y="243840"/>
                  </a:lnTo>
                  <a:close/>
                </a:path>
              </a:pathLst>
            </a:custGeom>
            <a:solidFill>
              <a:srgbClr val="E8F2F2"/>
            </a:solidFill>
          </p:spPr>
        </p:sp>
      </p:grpSp>
      <p:grpSp>
        <p:nvGrpSpPr>
          <p:cNvPr name="Group 130" id="130"/>
          <p:cNvGrpSpPr/>
          <p:nvPr/>
        </p:nvGrpSpPr>
        <p:grpSpPr>
          <a:xfrm rot="0">
            <a:off x="8540429" y="4645085"/>
            <a:ext cx="365884" cy="365884"/>
            <a:chOff x="0" y="0"/>
            <a:chExt cx="487845" cy="487845"/>
          </a:xfrm>
        </p:grpSpPr>
        <p:sp>
          <p:nvSpPr>
            <p:cNvPr name="Freeform 131" id="131"/>
            <p:cNvSpPr/>
            <p:nvPr/>
          </p:nvSpPr>
          <p:spPr>
            <a:xfrm flipH="false" flipV="false" rot="0">
              <a:off x="0" y="0"/>
              <a:ext cx="487807" cy="487934"/>
            </a:xfrm>
            <a:custGeom>
              <a:avLst/>
              <a:gdLst/>
              <a:ahLst/>
              <a:cxnLst/>
              <a:rect r="r" b="b" t="t" l="l"/>
              <a:pathLst>
                <a:path h="487934" w="487807">
                  <a:moveTo>
                    <a:pt x="0" y="243967"/>
                  </a:moveTo>
                  <a:lnTo>
                    <a:pt x="121920" y="0"/>
                  </a:lnTo>
                  <a:lnTo>
                    <a:pt x="365887" y="0"/>
                  </a:lnTo>
                  <a:lnTo>
                    <a:pt x="487807" y="243967"/>
                  </a:lnTo>
                  <a:lnTo>
                    <a:pt x="365887" y="487934"/>
                  </a:lnTo>
                  <a:lnTo>
                    <a:pt x="121920" y="487934"/>
                  </a:lnTo>
                  <a:close/>
                </a:path>
              </a:pathLst>
            </a:custGeom>
            <a:solidFill>
              <a:srgbClr val="FFFFFF"/>
            </a:solidFill>
            <a:ln w="18415" cap="sq">
              <a:solidFill>
                <a:srgbClr val="436E75"/>
              </a:solidFill>
              <a:prstDash val="solid"/>
              <a:miter/>
            </a:ln>
          </p:spPr>
        </p:sp>
      </p:grpSp>
      <p:sp>
        <p:nvSpPr>
          <p:cNvPr name="AutoShape 132" id="132"/>
          <p:cNvSpPr/>
          <p:nvPr/>
        </p:nvSpPr>
        <p:spPr>
          <a:xfrm rot="3031920">
            <a:off x="8618972" y="4832223"/>
            <a:ext cx="87192" cy="0"/>
          </a:xfrm>
          <a:prstGeom prst="line">
            <a:avLst/>
          </a:prstGeom>
          <a:ln cap="rnd" w="19050">
            <a:solidFill>
              <a:srgbClr val="347C69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33" id="133"/>
          <p:cNvSpPr/>
          <p:nvPr/>
        </p:nvSpPr>
        <p:spPr>
          <a:xfrm rot="-2817180">
            <a:off x="8638584" y="4796561"/>
            <a:ext cx="189700" cy="0"/>
          </a:xfrm>
          <a:prstGeom prst="line">
            <a:avLst/>
          </a:prstGeom>
          <a:ln cap="rnd" w="19050">
            <a:solidFill>
              <a:srgbClr val="347C69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34" id="134"/>
          <p:cNvGrpSpPr/>
          <p:nvPr/>
        </p:nvGrpSpPr>
        <p:grpSpPr>
          <a:xfrm rot="0">
            <a:off x="9052560" y="4654296"/>
            <a:ext cx="3182112" cy="338328"/>
            <a:chOff x="0" y="0"/>
            <a:chExt cx="4242816" cy="451104"/>
          </a:xfrm>
        </p:grpSpPr>
        <p:sp>
          <p:nvSpPr>
            <p:cNvPr name="Freeform 135" id="135"/>
            <p:cNvSpPr/>
            <p:nvPr/>
          </p:nvSpPr>
          <p:spPr>
            <a:xfrm flipH="false" flipV="false" rot="0">
              <a:off x="0" y="0"/>
              <a:ext cx="4242816" cy="451104"/>
            </a:xfrm>
            <a:custGeom>
              <a:avLst/>
              <a:gdLst/>
              <a:ahLst/>
              <a:cxnLst/>
              <a:rect r="r" b="b" t="t" l="l"/>
              <a:pathLst>
                <a:path h="451104" w="4242816">
                  <a:moveTo>
                    <a:pt x="0" y="0"/>
                  </a:moveTo>
                  <a:lnTo>
                    <a:pt x="4242816" y="0"/>
                  </a:lnTo>
                  <a:lnTo>
                    <a:pt x="4242816" y="451104"/>
                  </a:lnTo>
                  <a:lnTo>
                    <a:pt x="0" y="451104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33264" r="0" b="-133264"/>
              </a:stretch>
            </a:blipFill>
          </p:spPr>
        </p:sp>
        <p:sp>
          <p:nvSpPr>
            <p:cNvPr name="TextBox 136" id="136"/>
            <p:cNvSpPr txBox="true"/>
            <p:nvPr/>
          </p:nvSpPr>
          <p:spPr>
            <a:xfrm>
              <a:off x="0" y="-19050"/>
              <a:ext cx="4242816" cy="47015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11"/>
                </a:lnSpc>
              </a:pPr>
              <a:r>
                <a:rPr lang="en-US" sz="1509" b="true">
                  <a:solidFill>
                    <a:srgbClr val="263C4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REGULIFT CHECK</a:t>
              </a:r>
            </a:p>
          </p:txBody>
        </p:sp>
      </p:grpSp>
      <p:grpSp>
        <p:nvGrpSpPr>
          <p:cNvPr name="Group 137" id="137"/>
          <p:cNvGrpSpPr/>
          <p:nvPr/>
        </p:nvGrpSpPr>
        <p:grpSpPr>
          <a:xfrm rot="0">
            <a:off x="11951208" y="4686300"/>
            <a:ext cx="877824" cy="246888"/>
            <a:chOff x="0" y="0"/>
            <a:chExt cx="1170432" cy="329184"/>
          </a:xfrm>
        </p:grpSpPr>
        <p:sp>
          <p:nvSpPr>
            <p:cNvPr name="Freeform 138" id="138"/>
            <p:cNvSpPr/>
            <p:nvPr/>
          </p:nvSpPr>
          <p:spPr>
            <a:xfrm flipH="false" flipV="false" rot="0">
              <a:off x="0" y="0"/>
              <a:ext cx="1170432" cy="329184"/>
            </a:xfrm>
            <a:custGeom>
              <a:avLst/>
              <a:gdLst/>
              <a:ahLst/>
              <a:cxnLst/>
              <a:rect r="r" b="b" t="t" l="l"/>
              <a:pathLst>
                <a:path h="329184" w="1170432">
                  <a:moveTo>
                    <a:pt x="0" y="39497"/>
                  </a:moveTo>
                  <a:cubicBezTo>
                    <a:pt x="0" y="17653"/>
                    <a:pt x="17653" y="0"/>
                    <a:pt x="39497" y="0"/>
                  </a:cubicBezTo>
                  <a:lnTo>
                    <a:pt x="1130935" y="0"/>
                  </a:lnTo>
                  <a:cubicBezTo>
                    <a:pt x="1152779" y="0"/>
                    <a:pt x="1170432" y="17653"/>
                    <a:pt x="1170432" y="39497"/>
                  </a:cubicBezTo>
                  <a:lnTo>
                    <a:pt x="1170432" y="289687"/>
                  </a:lnTo>
                  <a:cubicBezTo>
                    <a:pt x="1170432" y="311531"/>
                    <a:pt x="1152779" y="329184"/>
                    <a:pt x="1130935" y="329184"/>
                  </a:cubicBezTo>
                  <a:lnTo>
                    <a:pt x="39497" y="329184"/>
                  </a:lnTo>
                  <a:cubicBezTo>
                    <a:pt x="17653" y="329184"/>
                    <a:pt x="0" y="311531"/>
                    <a:pt x="0" y="289687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139" id="139"/>
          <p:cNvGrpSpPr/>
          <p:nvPr/>
        </p:nvGrpSpPr>
        <p:grpSpPr>
          <a:xfrm rot="0">
            <a:off x="12006072" y="4686300"/>
            <a:ext cx="768096" cy="246888"/>
            <a:chOff x="0" y="0"/>
            <a:chExt cx="1024128" cy="329184"/>
          </a:xfrm>
        </p:grpSpPr>
        <p:sp>
          <p:nvSpPr>
            <p:cNvPr name="Freeform 140" id="140"/>
            <p:cNvSpPr/>
            <p:nvPr/>
          </p:nvSpPr>
          <p:spPr>
            <a:xfrm flipH="false" flipV="false" rot="0">
              <a:off x="0" y="0"/>
              <a:ext cx="1024128" cy="329184"/>
            </a:xfrm>
            <a:custGeom>
              <a:avLst/>
              <a:gdLst/>
              <a:ahLst/>
              <a:cxnLst/>
              <a:rect r="r" b="b" t="t" l="l"/>
              <a:pathLst>
                <a:path h="329184" w="1024128">
                  <a:moveTo>
                    <a:pt x="0" y="0"/>
                  </a:moveTo>
                  <a:lnTo>
                    <a:pt x="1024128" y="0"/>
                  </a:lnTo>
                  <a:lnTo>
                    <a:pt x="1024128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0620" r="0" b="-10620"/>
              </a:stretch>
            </a:blipFill>
          </p:spPr>
        </p:sp>
        <p:sp>
          <p:nvSpPr>
            <p:cNvPr name="TextBox 141" id="141"/>
            <p:cNvSpPr txBox="true"/>
            <p:nvPr/>
          </p:nvSpPr>
          <p:spPr>
            <a:xfrm>
              <a:off x="0" y="-9525"/>
              <a:ext cx="1024128" cy="3387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140"/>
                </a:lnSpc>
              </a:pPr>
              <a:r>
                <a:rPr lang="en-US" sz="950" b="true">
                  <a:solidFill>
                    <a:srgbClr val="315D6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Analysis</a:t>
              </a:r>
            </a:p>
          </p:txBody>
        </p:sp>
      </p:grpSp>
      <p:grpSp>
        <p:nvGrpSpPr>
          <p:cNvPr name="Group 142" id="142"/>
          <p:cNvGrpSpPr/>
          <p:nvPr/>
        </p:nvGrpSpPr>
        <p:grpSpPr>
          <a:xfrm rot="0">
            <a:off x="8613648" y="5303520"/>
            <a:ext cx="237744" cy="237744"/>
            <a:chOff x="0" y="0"/>
            <a:chExt cx="316992" cy="316992"/>
          </a:xfrm>
        </p:grpSpPr>
        <p:sp>
          <p:nvSpPr>
            <p:cNvPr name="Freeform 143" id="143"/>
            <p:cNvSpPr/>
            <p:nvPr/>
          </p:nvSpPr>
          <p:spPr>
            <a:xfrm flipH="false" flipV="false" rot="0">
              <a:off x="0" y="0"/>
              <a:ext cx="316992" cy="316992"/>
            </a:xfrm>
            <a:custGeom>
              <a:avLst/>
              <a:gdLst/>
              <a:ahLst/>
              <a:cxnLst/>
              <a:rect r="r" b="b" t="t" l="l"/>
              <a:pathLst>
                <a:path h="316992" w="316992">
                  <a:moveTo>
                    <a:pt x="0" y="158496"/>
                  </a:moveTo>
                  <a:cubicBezTo>
                    <a:pt x="0" y="70993"/>
                    <a:pt x="70993" y="0"/>
                    <a:pt x="158496" y="0"/>
                  </a:cubicBezTo>
                  <a:cubicBezTo>
                    <a:pt x="245999" y="0"/>
                    <a:pt x="316992" y="70993"/>
                    <a:pt x="316992" y="158496"/>
                  </a:cubicBezTo>
                  <a:cubicBezTo>
                    <a:pt x="316992" y="245999"/>
                    <a:pt x="245999" y="316992"/>
                    <a:pt x="158496" y="316992"/>
                  </a:cubicBezTo>
                  <a:cubicBezTo>
                    <a:pt x="70993" y="316992"/>
                    <a:pt x="0" y="245999"/>
                    <a:pt x="0" y="158496"/>
                  </a:cubicBezTo>
                  <a:close/>
                </a:path>
              </a:pathLst>
            </a:custGeom>
            <a:solidFill>
              <a:srgbClr val="FFF1EA"/>
            </a:solidFill>
          </p:spPr>
        </p:sp>
      </p:grpSp>
      <p:grpSp>
        <p:nvGrpSpPr>
          <p:cNvPr name="Group 144" id="144"/>
          <p:cNvGrpSpPr/>
          <p:nvPr/>
        </p:nvGrpSpPr>
        <p:grpSpPr>
          <a:xfrm rot="0">
            <a:off x="8627364" y="5289804"/>
            <a:ext cx="210312" cy="256032"/>
            <a:chOff x="0" y="0"/>
            <a:chExt cx="280416" cy="341376"/>
          </a:xfrm>
        </p:grpSpPr>
        <p:sp>
          <p:nvSpPr>
            <p:cNvPr name="Freeform 145" id="145"/>
            <p:cNvSpPr/>
            <p:nvPr/>
          </p:nvSpPr>
          <p:spPr>
            <a:xfrm flipH="false" flipV="false" rot="0">
              <a:off x="0" y="0"/>
              <a:ext cx="280416" cy="341376"/>
            </a:xfrm>
            <a:custGeom>
              <a:avLst/>
              <a:gdLst/>
              <a:ahLst/>
              <a:cxnLst/>
              <a:rect r="r" b="b" t="t" l="l"/>
              <a:pathLst>
                <a:path h="341376" w="280416">
                  <a:moveTo>
                    <a:pt x="0" y="0"/>
                  </a:moveTo>
                  <a:lnTo>
                    <a:pt x="280416" y="0"/>
                  </a:lnTo>
                  <a:lnTo>
                    <a:pt x="280416" y="341376"/>
                  </a:lnTo>
                  <a:lnTo>
                    <a:pt x="0" y="341376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106195" t="0" r="-106195" b="0"/>
              </a:stretch>
            </a:blipFill>
          </p:spPr>
        </p:sp>
        <p:sp>
          <p:nvSpPr>
            <p:cNvPr name="TextBox 146" id="146"/>
            <p:cNvSpPr txBox="true"/>
            <p:nvPr/>
          </p:nvSpPr>
          <p:spPr>
            <a:xfrm>
              <a:off x="0" y="-9525"/>
              <a:ext cx="280416" cy="35090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59"/>
                </a:lnSpc>
              </a:pPr>
              <a:r>
                <a:rPr lang="en-US" sz="1299" b="true">
                  <a:solidFill>
                    <a:srgbClr val="C1694E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!</a:t>
              </a:r>
            </a:p>
          </p:txBody>
        </p:sp>
      </p:grpSp>
      <p:grpSp>
        <p:nvGrpSpPr>
          <p:cNvPr name="Group 147" id="147"/>
          <p:cNvGrpSpPr/>
          <p:nvPr/>
        </p:nvGrpSpPr>
        <p:grpSpPr>
          <a:xfrm rot="0">
            <a:off x="8988552" y="5303520"/>
            <a:ext cx="2112264" cy="246888"/>
            <a:chOff x="0" y="0"/>
            <a:chExt cx="2816352" cy="329184"/>
          </a:xfrm>
        </p:grpSpPr>
        <p:sp>
          <p:nvSpPr>
            <p:cNvPr name="Freeform 148" id="148"/>
            <p:cNvSpPr/>
            <p:nvPr/>
          </p:nvSpPr>
          <p:spPr>
            <a:xfrm flipH="false" flipV="false" rot="0">
              <a:off x="0" y="0"/>
              <a:ext cx="2816352" cy="329184"/>
            </a:xfrm>
            <a:custGeom>
              <a:avLst/>
              <a:gdLst/>
              <a:ahLst/>
              <a:cxnLst/>
              <a:rect r="r" b="b" t="t" l="l"/>
              <a:pathLst>
                <a:path h="329184" w="2816352">
                  <a:moveTo>
                    <a:pt x="0" y="0"/>
                  </a:moveTo>
                  <a:lnTo>
                    <a:pt x="2816352" y="0"/>
                  </a:lnTo>
                  <a:lnTo>
                    <a:pt x="2816352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16705" r="0" b="-116705"/>
              </a:stretch>
            </a:blipFill>
          </p:spPr>
        </p:sp>
        <p:sp>
          <p:nvSpPr>
            <p:cNvPr name="TextBox 149" id="149"/>
            <p:cNvSpPr txBox="true"/>
            <p:nvPr/>
          </p:nvSpPr>
          <p:spPr>
            <a:xfrm>
              <a:off x="0" y="-9525"/>
              <a:ext cx="2816352" cy="3387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15"/>
                </a:lnSpc>
              </a:pPr>
              <a:r>
                <a:rPr lang="en-US" sz="1179" b="true">
                  <a:solidFill>
                    <a:srgbClr val="263C4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Gaps detected</a:t>
              </a:r>
            </a:p>
          </p:txBody>
        </p:sp>
      </p:grpSp>
      <p:grpSp>
        <p:nvGrpSpPr>
          <p:cNvPr name="Group 150" id="150"/>
          <p:cNvGrpSpPr/>
          <p:nvPr/>
        </p:nvGrpSpPr>
        <p:grpSpPr>
          <a:xfrm rot="0">
            <a:off x="11228832" y="5294376"/>
            <a:ext cx="1280160" cy="265176"/>
            <a:chOff x="0" y="0"/>
            <a:chExt cx="1706880" cy="353568"/>
          </a:xfrm>
        </p:grpSpPr>
        <p:sp>
          <p:nvSpPr>
            <p:cNvPr name="Freeform 151" id="151"/>
            <p:cNvSpPr/>
            <p:nvPr/>
          </p:nvSpPr>
          <p:spPr>
            <a:xfrm flipH="false" flipV="false" rot="0">
              <a:off x="0" y="0"/>
              <a:ext cx="1706880" cy="353568"/>
            </a:xfrm>
            <a:custGeom>
              <a:avLst/>
              <a:gdLst/>
              <a:ahLst/>
              <a:cxnLst/>
              <a:rect r="r" b="b" t="t" l="l"/>
              <a:pathLst>
                <a:path h="353568" w="1706880">
                  <a:moveTo>
                    <a:pt x="0" y="42418"/>
                  </a:moveTo>
                  <a:cubicBezTo>
                    <a:pt x="0" y="19050"/>
                    <a:pt x="19050" y="0"/>
                    <a:pt x="42418" y="0"/>
                  </a:cubicBezTo>
                  <a:lnTo>
                    <a:pt x="1664462" y="0"/>
                  </a:lnTo>
                  <a:cubicBezTo>
                    <a:pt x="1687957" y="0"/>
                    <a:pt x="1706880" y="19050"/>
                    <a:pt x="1706880" y="42418"/>
                  </a:cubicBezTo>
                  <a:lnTo>
                    <a:pt x="1706880" y="311150"/>
                  </a:lnTo>
                  <a:cubicBezTo>
                    <a:pt x="1706880" y="334645"/>
                    <a:pt x="1687830" y="353568"/>
                    <a:pt x="1664462" y="353568"/>
                  </a:cubicBezTo>
                  <a:lnTo>
                    <a:pt x="42418" y="353568"/>
                  </a:lnTo>
                  <a:cubicBezTo>
                    <a:pt x="19050" y="353568"/>
                    <a:pt x="0" y="334518"/>
                    <a:pt x="0" y="311150"/>
                  </a:cubicBezTo>
                  <a:close/>
                </a:path>
              </a:pathLst>
            </a:custGeom>
            <a:solidFill>
              <a:srgbClr val="FFF1EA"/>
            </a:solidFill>
          </p:spPr>
        </p:sp>
      </p:grpSp>
      <p:grpSp>
        <p:nvGrpSpPr>
          <p:cNvPr name="Group 152" id="152"/>
          <p:cNvGrpSpPr/>
          <p:nvPr/>
        </p:nvGrpSpPr>
        <p:grpSpPr>
          <a:xfrm rot="0">
            <a:off x="11274552" y="5294376"/>
            <a:ext cx="1188720" cy="265176"/>
            <a:chOff x="0" y="0"/>
            <a:chExt cx="1584960" cy="353568"/>
          </a:xfrm>
        </p:grpSpPr>
        <p:sp>
          <p:nvSpPr>
            <p:cNvPr name="Freeform 153" id="153"/>
            <p:cNvSpPr/>
            <p:nvPr/>
          </p:nvSpPr>
          <p:spPr>
            <a:xfrm flipH="false" flipV="false" rot="0">
              <a:off x="0" y="0"/>
              <a:ext cx="1584959" cy="353568"/>
            </a:xfrm>
            <a:custGeom>
              <a:avLst/>
              <a:gdLst/>
              <a:ahLst/>
              <a:cxnLst/>
              <a:rect r="r" b="b" t="t" l="l"/>
              <a:pathLst>
                <a:path h="353568" w="1584959">
                  <a:moveTo>
                    <a:pt x="0" y="0"/>
                  </a:moveTo>
                  <a:lnTo>
                    <a:pt x="1584959" y="0"/>
                  </a:lnTo>
                  <a:lnTo>
                    <a:pt x="1584959" y="353568"/>
                  </a:lnTo>
                  <a:lnTo>
                    <a:pt x="0" y="353568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37346" r="0" b="-37346"/>
              </a:stretch>
            </a:blipFill>
          </p:spPr>
        </p:sp>
        <p:sp>
          <p:nvSpPr>
            <p:cNvPr name="TextBox 154" id="154"/>
            <p:cNvSpPr txBox="true"/>
            <p:nvPr/>
          </p:nvSpPr>
          <p:spPr>
            <a:xfrm>
              <a:off x="0" y="0"/>
              <a:ext cx="1584960" cy="35356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199"/>
                </a:lnSpc>
              </a:pPr>
              <a:r>
                <a:rPr lang="en-US" sz="999" b="true">
                  <a:solidFill>
                    <a:srgbClr val="C1694E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REVIEW</a:t>
              </a:r>
            </a:p>
          </p:txBody>
        </p:sp>
      </p:grpSp>
      <p:grpSp>
        <p:nvGrpSpPr>
          <p:cNvPr name="Group 155" id="155"/>
          <p:cNvGrpSpPr/>
          <p:nvPr/>
        </p:nvGrpSpPr>
        <p:grpSpPr>
          <a:xfrm rot="0">
            <a:off x="8613648" y="5669280"/>
            <a:ext cx="237744" cy="237744"/>
            <a:chOff x="0" y="0"/>
            <a:chExt cx="316992" cy="316992"/>
          </a:xfrm>
        </p:grpSpPr>
        <p:sp>
          <p:nvSpPr>
            <p:cNvPr name="Freeform 156" id="156"/>
            <p:cNvSpPr/>
            <p:nvPr/>
          </p:nvSpPr>
          <p:spPr>
            <a:xfrm flipH="false" flipV="false" rot="0">
              <a:off x="0" y="0"/>
              <a:ext cx="316992" cy="316992"/>
            </a:xfrm>
            <a:custGeom>
              <a:avLst/>
              <a:gdLst/>
              <a:ahLst/>
              <a:cxnLst/>
              <a:rect r="r" b="b" t="t" l="l"/>
              <a:pathLst>
                <a:path h="316992" w="316992">
                  <a:moveTo>
                    <a:pt x="0" y="158496"/>
                  </a:moveTo>
                  <a:cubicBezTo>
                    <a:pt x="0" y="70993"/>
                    <a:pt x="70993" y="0"/>
                    <a:pt x="158496" y="0"/>
                  </a:cubicBezTo>
                  <a:cubicBezTo>
                    <a:pt x="245999" y="0"/>
                    <a:pt x="316992" y="70993"/>
                    <a:pt x="316992" y="158496"/>
                  </a:cubicBezTo>
                  <a:cubicBezTo>
                    <a:pt x="316992" y="245999"/>
                    <a:pt x="245999" y="316992"/>
                    <a:pt x="158496" y="316992"/>
                  </a:cubicBezTo>
                  <a:cubicBezTo>
                    <a:pt x="70993" y="316992"/>
                    <a:pt x="0" y="245999"/>
                    <a:pt x="0" y="158496"/>
                  </a:cubicBezTo>
                  <a:close/>
                </a:path>
              </a:pathLst>
            </a:custGeom>
            <a:solidFill>
              <a:srgbClr val="E8F2F2"/>
            </a:solidFill>
          </p:spPr>
        </p:sp>
      </p:grpSp>
      <p:grpSp>
        <p:nvGrpSpPr>
          <p:cNvPr name="Group 157" id="157"/>
          <p:cNvGrpSpPr/>
          <p:nvPr/>
        </p:nvGrpSpPr>
        <p:grpSpPr>
          <a:xfrm rot="0">
            <a:off x="8653882" y="5686654"/>
            <a:ext cx="164592" cy="182880"/>
            <a:chOff x="0" y="0"/>
            <a:chExt cx="219456" cy="243840"/>
          </a:xfrm>
        </p:grpSpPr>
        <p:sp>
          <p:nvSpPr>
            <p:cNvPr name="Freeform 158" id="158"/>
            <p:cNvSpPr/>
            <p:nvPr/>
          </p:nvSpPr>
          <p:spPr>
            <a:xfrm flipH="false" flipV="false" rot="0">
              <a:off x="0" y="0"/>
              <a:ext cx="219456" cy="243840"/>
            </a:xfrm>
            <a:custGeom>
              <a:avLst/>
              <a:gdLst/>
              <a:ahLst/>
              <a:cxnLst/>
              <a:rect r="r" b="b" t="t" l="l"/>
              <a:pathLst>
                <a:path h="243840" w="219456">
                  <a:moveTo>
                    <a:pt x="0" y="0"/>
                  </a:moveTo>
                  <a:lnTo>
                    <a:pt x="219456" y="0"/>
                  </a:lnTo>
                  <a:lnTo>
                    <a:pt x="219456" y="243840"/>
                  </a:lnTo>
                  <a:lnTo>
                    <a:pt x="0" y="24384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92559" t="0" r="-92559" b="0"/>
              </a:stretch>
            </a:blipFill>
          </p:spPr>
        </p:sp>
        <p:sp>
          <p:nvSpPr>
            <p:cNvPr name="TextBox 159" id="159"/>
            <p:cNvSpPr txBox="true"/>
            <p:nvPr/>
          </p:nvSpPr>
          <p:spPr>
            <a:xfrm>
              <a:off x="0" y="-9525"/>
              <a:ext cx="219456" cy="2533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59"/>
                </a:lnSpc>
              </a:pPr>
              <a:r>
                <a:rPr lang="en-US" sz="1299" b="true">
                  <a:solidFill>
                    <a:srgbClr val="315D6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→</a:t>
              </a:r>
            </a:p>
          </p:txBody>
        </p:sp>
      </p:grpSp>
      <p:grpSp>
        <p:nvGrpSpPr>
          <p:cNvPr name="Group 160" id="160"/>
          <p:cNvGrpSpPr/>
          <p:nvPr/>
        </p:nvGrpSpPr>
        <p:grpSpPr>
          <a:xfrm rot="0">
            <a:off x="8988552" y="5669280"/>
            <a:ext cx="2871216" cy="246888"/>
            <a:chOff x="0" y="0"/>
            <a:chExt cx="3828288" cy="329184"/>
          </a:xfrm>
        </p:grpSpPr>
        <p:sp>
          <p:nvSpPr>
            <p:cNvPr name="Freeform 161" id="161"/>
            <p:cNvSpPr/>
            <p:nvPr/>
          </p:nvSpPr>
          <p:spPr>
            <a:xfrm flipH="false" flipV="false" rot="0">
              <a:off x="0" y="0"/>
              <a:ext cx="3828288" cy="329184"/>
            </a:xfrm>
            <a:custGeom>
              <a:avLst/>
              <a:gdLst/>
              <a:ahLst/>
              <a:cxnLst/>
              <a:rect r="r" b="b" t="t" l="l"/>
              <a:pathLst>
                <a:path h="329184" w="3828288">
                  <a:moveTo>
                    <a:pt x="0" y="0"/>
                  </a:moveTo>
                  <a:lnTo>
                    <a:pt x="3828288" y="0"/>
                  </a:lnTo>
                  <a:lnTo>
                    <a:pt x="3828288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76603" r="0" b="-176603"/>
              </a:stretch>
            </a:blipFill>
          </p:spPr>
        </p:sp>
        <p:sp>
          <p:nvSpPr>
            <p:cNvPr name="TextBox 162" id="162"/>
            <p:cNvSpPr txBox="true"/>
            <p:nvPr/>
          </p:nvSpPr>
          <p:spPr>
            <a:xfrm>
              <a:off x="0" y="-9525"/>
              <a:ext cx="3828288" cy="3387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15"/>
                </a:lnSpc>
              </a:pPr>
              <a:r>
                <a:rPr lang="en-US" sz="1179" b="true">
                  <a:solidFill>
                    <a:srgbClr val="263C4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Recommended fixes</a:t>
              </a:r>
            </a:p>
          </p:txBody>
        </p:sp>
      </p:grpSp>
      <p:grpSp>
        <p:nvGrpSpPr>
          <p:cNvPr name="Group 163" id="163"/>
          <p:cNvGrpSpPr/>
          <p:nvPr/>
        </p:nvGrpSpPr>
        <p:grpSpPr>
          <a:xfrm rot="0">
            <a:off x="11960352" y="5769864"/>
            <a:ext cx="566928" cy="61265"/>
            <a:chOff x="0" y="0"/>
            <a:chExt cx="755904" cy="81686"/>
          </a:xfrm>
        </p:grpSpPr>
        <p:sp>
          <p:nvSpPr>
            <p:cNvPr name="Freeform 164" id="164"/>
            <p:cNvSpPr/>
            <p:nvPr/>
          </p:nvSpPr>
          <p:spPr>
            <a:xfrm flipH="false" flipV="false" rot="0">
              <a:off x="0" y="0"/>
              <a:ext cx="755904" cy="81661"/>
            </a:xfrm>
            <a:custGeom>
              <a:avLst/>
              <a:gdLst/>
              <a:ahLst/>
              <a:cxnLst/>
              <a:rect r="r" b="b" t="t" l="l"/>
              <a:pathLst>
                <a:path h="81661" w="755904">
                  <a:moveTo>
                    <a:pt x="0" y="9779"/>
                  </a:moveTo>
                  <a:cubicBezTo>
                    <a:pt x="0" y="4445"/>
                    <a:pt x="4445" y="0"/>
                    <a:pt x="9779" y="0"/>
                  </a:cubicBezTo>
                  <a:lnTo>
                    <a:pt x="746125" y="0"/>
                  </a:lnTo>
                  <a:cubicBezTo>
                    <a:pt x="751586" y="0"/>
                    <a:pt x="755904" y="4445"/>
                    <a:pt x="755904" y="9779"/>
                  </a:cubicBezTo>
                  <a:lnTo>
                    <a:pt x="755904" y="71882"/>
                  </a:lnTo>
                  <a:cubicBezTo>
                    <a:pt x="755904" y="77343"/>
                    <a:pt x="751459" y="81661"/>
                    <a:pt x="746125" y="81661"/>
                  </a:cubicBezTo>
                  <a:lnTo>
                    <a:pt x="9779" y="81661"/>
                  </a:lnTo>
                  <a:cubicBezTo>
                    <a:pt x="4445" y="81661"/>
                    <a:pt x="0" y="77343"/>
                    <a:pt x="0" y="71882"/>
                  </a:cubicBezTo>
                  <a:close/>
                </a:path>
              </a:pathLst>
            </a:custGeom>
            <a:solidFill>
              <a:srgbClr val="F2F5F5"/>
            </a:solidFill>
          </p:spPr>
        </p:sp>
      </p:grpSp>
      <p:grpSp>
        <p:nvGrpSpPr>
          <p:cNvPr name="Group 165" id="165"/>
          <p:cNvGrpSpPr/>
          <p:nvPr/>
        </p:nvGrpSpPr>
        <p:grpSpPr>
          <a:xfrm rot="0">
            <a:off x="11960352" y="5769864"/>
            <a:ext cx="374904" cy="61265"/>
            <a:chOff x="0" y="0"/>
            <a:chExt cx="499872" cy="81686"/>
          </a:xfrm>
        </p:grpSpPr>
        <p:sp>
          <p:nvSpPr>
            <p:cNvPr name="Freeform 166" id="166"/>
            <p:cNvSpPr/>
            <p:nvPr/>
          </p:nvSpPr>
          <p:spPr>
            <a:xfrm flipH="false" flipV="false" rot="0">
              <a:off x="0" y="0"/>
              <a:ext cx="499872" cy="81661"/>
            </a:xfrm>
            <a:custGeom>
              <a:avLst/>
              <a:gdLst/>
              <a:ahLst/>
              <a:cxnLst/>
              <a:rect r="r" b="b" t="t" l="l"/>
              <a:pathLst>
                <a:path h="81661" w="499872">
                  <a:moveTo>
                    <a:pt x="0" y="9779"/>
                  </a:moveTo>
                  <a:cubicBezTo>
                    <a:pt x="0" y="4445"/>
                    <a:pt x="4445" y="0"/>
                    <a:pt x="9779" y="0"/>
                  </a:cubicBezTo>
                  <a:lnTo>
                    <a:pt x="490093" y="0"/>
                  </a:lnTo>
                  <a:cubicBezTo>
                    <a:pt x="495554" y="0"/>
                    <a:pt x="499872" y="4445"/>
                    <a:pt x="499872" y="9779"/>
                  </a:cubicBezTo>
                  <a:lnTo>
                    <a:pt x="499872" y="71882"/>
                  </a:lnTo>
                  <a:cubicBezTo>
                    <a:pt x="499872" y="77343"/>
                    <a:pt x="495427" y="81661"/>
                    <a:pt x="490093" y="81661"/>
                  </a:cubicBezTo>
                  <a:lnTo>
                    <a:pt x="9779" y="81661"/>
                  </a:lnTo>
                  <a:cubicBezTo>
                    <a:pt x="4445" y="81661"/>
                    <a:pt x="0" y="77343"/>
                    <a:pt x="0" y="71882"/>
                  </a:cubicBezTo>
                  <a:close/>
                </a:path>
              </a:pathLst>
            </a:custGeom>
            <a:solidFill>
              <a:srgbClr val="B7D3D4"/>
            </a:solidFill>
          </p:spPr>
        </p:sp>
      </p:grpSp>
      <p:grpSp>
        <p:nvGrpSpPr>
          <p:cNvPr name="Group 167" id="167"/>
          <p:cNvGrpSpPr/>
          <p:nvPr/>
        </p:nvGrpSpPr>
        <p:grpSpPr>
          <a:xfrm rot="0">
            <a:off x="8613648" y="6035040"/>
            <a:ext cx="237744" cy="237744"/>
            <a:chOff x="0" y="0"/>
            <a:chExt cx="316992" cy="316992"/>
          </a:xfrm>
        </p:grpSpPr>
        <p:sp>
          <p:nvSpPr>
            <p:cNvPr name="Freeform 168" id="168"/>
            <p:cNvSpPr/>
            <p:nvPr/>
          </p:nvSpPr>
          <p:spPr>
            <a:xfrm flipH="false" flipV="false" rot="0">
              <a:off x="0" y="0"/>
              <a:ext cx="316992" cy="316992"/>
            </a:xfrm>
            <a:custGeom>
              <a:avLst/>
              <a:gdLst/>
              <a:ahLst/>
              <a:cxnLst/>
              <a:rect r="r" b="b" t="t" l="l"/>
              <a:pathLst>
                <a:path h="316992" w="316992">
                  <a:moveTo>
                    <a:pt x="0" y="158496"/>
                  </a:moveTo>
                  <a:cubicBezTo>
                    <a:pt x="0" y="70993"/>
                    <a:pt x="70993" y="0"/>
                    <a:pt x="158496" y="0"/>
                  </a:cubicBezTo>
                  <a:cubicBezTo>
                    <a:pt x="245999" y="0"/>
                    <a:pt x="316992" y="70993"/>
                    <a:pt x="316992" y="158496"/>
                  </a:cubicBezTo>
                  <a:cubicBezTo>
                    <a:pt x="316992" y="245999"/>
                    <a:pt x="245999" y="316992"/>
                    <a:pt x="158496" y="316992"/>
                  </a:cubicBezTo>
                  <a:cubicBezTo>
                    <a:pt x="70993" y="316992"/>
                    <a:pt x="0" y="245999"/>
                    <a:pt x="0" y="158496"/>
                  </a:cubicBezTo>
                  <a:close/>
                </a:path>
              </a:pathLst>
            </a:custGeom>
            <a:solidFill>
              <a:srgbClr val="E8F2F2"/>
            </a:solidFill>
          </p:spPr>
        </p:sp>
      </p:grpSp>
      <p:grpSp>
        <p:nvGrpSpPr>
          <p:cNvPr name="Group 169" id="169"/>
          <p:cNvGrpSpPr/>
          <p:nvPr/>
        </p:nvGrpSpPr>
        <p:grpSpPr>
          <a:xfrm rot="0">
            <a:off x="8633765" y="6038698"/>
            <a:ext cx="201168" cy="246888"/>
            <a:chOff x="0" y="0"/>
            <a:chExt cx="268224" cy="329184"/>
          </a:xfrm>
        </p:grpSpPr>
        <p:sp>
          <p:nvSpPr>
            <p:cNvPr name="Freeform 170" id="170"/>
            <p:cNvSpPr/>
            <p:nvPr/>
          </p:nvSpPr>
          <p:spPr>
            <a:xfrm flipH="false" flipV="false" rot="0">
              <a:off x="0" y="0"/>
              <a:ext cx="268224" cy="329184"/>
            </a:xfrm>
            <a:custGeom>
              <a:avLst/>
              <a:gdLst/>
              <a:ahLst/>
              <a:cxnLst/>
              <a:rect r="r" b="b" t="t" l="l"/>
              <a:pathLst>
                <a:path h="329184" w="268224">
                  <a:moveTo>
                    <a:pt x="0" y="0"/>
                  </a:moveTo>
                  <a:lnTo>
                    <a:pt x="268224" y="0"/>
                  </a:lnTo>
                  <a:lnTo>
                    <a:pt x="268224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107463" t="0" r="-107463" b="0"/>
              </a:stretch>
            </a:blipFill>
          </p:spPr>
        </p:sp>
        <p:sp>
          <p:nvSpPr>
            <p:cNvPr name="TextBox 171" id="171"/>
            <p:cNvSpPr txBox="true"/>
            <p:nvPr/>
          </p:nvSpPr>
          <p:spPr>
            <a:xfrm>
              <a:off x="0" y="-19050"/>
              <a:ext cx="268224" cy="34823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80"/>
                </a:lnSpc>
              </a:pPr>
              <a:r>
                <a:rPr lang="en-US" sz="1400" b="true">
                  <a:solidFill>
                    <a:srgbClr val="315D6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↻</a:t>
              </a:r>
            </a:p>
          </p:txBody>
        </p:sp>
      </p:grpSp>
      <p:grpSp>
        <p:nvGrpSpPr>
          <p:cNvPr name="Group 172" id="172"/>
          <p:cNvGrpSpPr/>
          <p:nvPr/>
        </p:nvGrpSpPr>
        <p:grpSpPr>
          <a:xfrm rot="0">
            <a:off x="8988552" y="6035040"/>
            <a:ext cx="2880360" cy="246888"/>
            <a:chOff x="0" y="0"/>
            <a:chExt cx="3840480" cy="329184"/>
          </a:xfrm>
        </p:grpSpPr>
        <p:sp>
          <p:nvSpPr>
            <p:cNvPr name="Freeform 173" id="173"/>
            <p:cNvSpPr/>
            <p:nvPr/>
          </p:nvSpPr>
          <p:spPr>
            <a:xfrm flipH="false" flipV="false" rot="0">
              <a:off x="0" y="0"/>
              <a:ext cx="3840480" cy="329184"/>
            </a:xfrm>
            <a:custGeom>
              <a:avLst/>
              <a:gdLst/>
              <a:ahLst/>
              <a:cxnLst/>
              <a:rect r="r" b="b" t="t" l="l"/>
              <a:pathLst>
                <a:path h="329184" w="3840480">
                  <a:moveTo>
                    <a:pt x="0" y="0"/>
                  </a:moveTo>
                  <a:lnTo>
                    <a:pt x="3840480" y="0"/>
                  </a:lnTo>
                  <a:lnTo>
                    <a:pt x="384048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77325" r="0" b="-177325"/>
              </a:stretch>
            </a:blipFill>
          </p:spPr>
        </p:sp>
        <p:sp>
          <p:nvSpPr>
            <p:cNvPr name="TextBox 174" id="174"/>
            <p:cNvSpPr txBox="true"/>
            <p:nvPr/>
          </p:nvSpPr>
          <p:spPr>
            <a:xfrm>
              <a:off x="0" y="-9525"/>
              <a:ext cx="3840480" cy="3387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15"/>
                </a:lnSpc>
              </a:pPr>
              <a:r>
                <a:rPr lang="en-US" sz="1179" b="true">
                  <a:solidFill>
                    <a:srgbClr val="263C4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Reassess</a:t>
              </a:r>
            </a:p>
          </p:txBody>
        </p:sp>
      </p:grpSp>
      <p:grpSp>
        <p:nvGrpSpPr>
          <p:cNvPr name="Group 175" id="175"/>
          <p:cNvGrpSpPr/>
          <p:nvPr/>
        </p:nvGrpSpPr>
        <p:grpSpPr>
          <a:xfrm rot="0">
            <a:off x="11960352" y="6136538"/>
            <a:ext cx="566928" cy="61265"/>
            <a:chOff x="0" y="0"/>
            <a:chExt cx="755904" cy="81686"/>
          </a:xfrm>
        </p:grpSpPr>
        <p:sp>
          <p:nvSpPr>
            <p:cNvPr name="Freeform 176" id="176"/>
            <p:cNvSpPr/>
            <p:nvPr/>
          </p:nvSpPr>
          <p:spPr>
            <a:xfrm flipH="false" flipV="false" rot="0">
              <a:off x="0" y="0"/>
              <a:ext cx="755904" cy="81661"/>
            </a:xfrm>
            <a:custGeom>
              <a:avLst/>
              <a:gdLst/>
              <a:ahLst/>
              <a:cxnLst/>
              <a:rect r="r" b="b" t="t" l="l"/>
              <a:pathLst>
                <a:path h="81661" w="755904">
                  <a:moveTo>
                    <a:pt x="0" y="9779"/>
                  </a:moveTo>
                  <a:cubicBezTo>
                    <a:pt x="0" y="4445"/>
                    <a:pt x="4445" y="0"/>
                    <a:pt x="9779" y="0"/>
                  </a:cubicBezTo>
                  <a:lnTo>
                    <a:pt x="746125" y="0"/>
                  </a:lnTo>
                  <a:cubicBezTo>
                    <a:pt x="751586" y="0"/>
                    <a:pt x="755904" y="4445"/>
                    <a:pt x="755904" y="9779"/>
                  </a:cubicBezTo>
                  <a:lnTo>
                    <a:pt x="755904" y="71882"/>
                  </a:lnTo>
                  <a:cubicBezTo>
                    <a:pt x="755904" y="77343"/>
                    <a:pt x="751459" y="81661"/>
                    <a:pt x="746125" y="81661"/>
                  </a:cubicBezTo>
                  <a:lnTo>
                    <a:pt x="9779" y="81661"/>
                  </a:lnTo>
                  <a:cubicBezTo>
                    <a:pt x="4445" y="81661"/>
                    <a:pt x="0" y="77343"/>
                    <a:pt x="0" y="71882"/>
                  </a:cubicBezTo>
                  <a:close/>
                </a:path>
              </a:pathLst>
            </a:custGeom>
            <a:solidFill>
              <a:srgbClr val="F2F5F5"/>
            </a:solidFill>
          </p:spPr>
        </p:sp>
      </p:grpSp>
      <p:grpSp>
        <p:nvGrpSpPr>
          <p:cNvPr name="Group 177" id="177"/>
          <p:cNvGrpSpPr/>
          <p:nvPr/>
        </p:nvGrpSpPr>
        <p:grpSpPr>
          <a:xfrm rot="0">
            <a:off x="11960352" y="6136538"/>
            <a:ext cx="484632" cy="61265"/>
            <a:chOff x="0" y="0"/>
            <a:chExt cx="646176" cy="81686"/>
          </a:xfrm>
        </p:grpSpPr>
        <p:sp>
          <p:nvSpPr>
            <p:cNvPr name="Freeform 178" id="178"/>
            <p:cNvSpPr/>
            <p:nvPr/>
          </p:nvSpPr>
          <p:spPr>
            <a:xfrm flipH="false" flipV="false" rot="0">
              <a:off x="0" y="0"/>
              <a:ext cx="646176" cy="81661"/>
            </a:xfrm>
            <a:custGeom>
              <a:avLst/>
              <a:gdLst/>
              <a:ahLst/>
              <a:cxnLst/>
              <a:rect r="r" b="b" t="t" l="l"/>
              <a:pathLst>
                <a:path h="81661" w="646176">
                  <a:moveTo>
                    <a:pt x="0" y="9779"/>
                  </a:moveTo>
                  <a:cubicBezTo>
                    <a:pt x="0" y="4445"/>
                    <a:pt x="4445" y="0"/>
                    <a:pt x="9779" y="0"/>
                  </a:cubicBezTo>
                  <a:lnTo>
                    <a:pt x="636397" y="0"/>
                  </a:lnTo>
                  <a:cubicBezTo>
                    <a:pt x="641858" y="0"/>
                    <a:pt x="646176" y="4445"/>
                    <a:pt x="646176" y="9779"/>
                  </a:cubicBezTo>
                  <a:lnTo>
                    <a:pt x="646176" y="71882"/>
                  </a:lnTo>
                  <a:cubicBezTo>
                    <a:pt x="646176" y="77343"/>
                    <a:pt x="641731" y="81661"/>
                    <a:pt x="636397" y="81661"/>
                  </a:cubicBezTo>
                  <a:lnTo>
                    <a:pt x="9779" y="81661"/>
                  </a:lnTo>
                  <a:cubicBezTo>
                    <a:pt x="4445" y="81661"/>
                    <a:pt x="0" y="77343"/>
                    <a:pt x="0" y="71882"/>
                  </a:cubicBezTo>
                  <a:close/>
                </a:path>
              </a:pathLst>
            </a:custGeom>
            <a:solidFill>
              <a:srgbClr val="B7D3D4"/>
            </a:solidFill>
          </p:spPr>
        </p:sp>
      </p:grpSp>
      <p:sp>
        <p:nvSpPr>
          <p:cNvPr name="AutoShape 179" id="179"/>
          <p:cNvSpPr/>
          <p:nvPr/>
        </p:nvSpPr>
        <p:spPr>
          <a:xfrm>
            <a:off x="5919743" y="5522976"/>
            <a:ext cx="2169300" cy="1172"/>
          </a:xfrm>
          <a:prstGeom prst="line">
            <a:avLst/>
          </a:prstGeom>
          <a:ln cap="rnd" w="104775">
            <a:solidFill>
              <a:srgbClr val="315D66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80" id="180"/>
          <p:cNvGrpSpPr/>
          <p:nvPr/>
        </p:nvGrpSpPr>
        <p:grpSpPr>
          <a:xfrm rot="0">
            <a:off x="7779639" y="5367528"/>
            <a:ext cx="356616" cy="310896"/>
            <a:chOff x="0" y="0"/>
            <a:chExt cx="475488" cy="414528"/>
          </a:xfrm>
        </p:grpSpPr>
        <p:sp>
          <p:nvSpPr>
            <p:cNvPr name="Freeform 181" id="181"/>
            <p:cNvSpPr/>
            <p:nvPr/>
          </p:nvSpPr>
          <p:spPr>
            <a:xfrm flipH="false" flipV="false" rot="0">
              <a:off x="0" y="0"/>
              <a:ext cx="475488" cy="414528"/>
            </a:xfrm>
            <a:custGeom>
              <a:avLst/>
              <a:gdLst/>
              <a:ahLst/>
              <a:cxnLst/>
              <a:rect r="r" b="b" t="t" l="l"/>
              <a:pathLst>
                <a:path h="414528" w="475488">
                  <a:moveTo>
                    <a:pt x="0" y="140970"/>
                  </a:moveTo>
                  <a:lnTo>
                    <a:pt x="359410" y="140970"/>
                  </a:lnTo>
                  <a:lnTo>
                    <a:pt x="359410" y="0"/>
                  </a:lnTo>
                  <a:lnTo>
                    <a:pt x="475488" y="207264"/>
                  </a:lnTo>
                  <a:lnTo>
                    <a:pt x="359410" y="414528"/>
                  </a:lnTo>
                  <a:lnTo>
                    <a:pt x="359410" y="273558"/>
                  </a:lnTo>
                  <a:lnTo>
                    <a:pt x="0" y="273558"/>
                  </a:lnTo>
                  <a:close/>
                </a:path>
              </a:pathLst>
            </a:custGeom>
            <a:solidFill>
              <a:srgbClr val="315D66"/>
            </a:solidFill>
          </p:spPr>
        </p:sp>
      </p:grpSp>
      <p:grpSp>
        <p:nvGrpSpPr>
          <p:cNvPr name="Group 182" id="182"/>
          <p:cNvGrpSpPr/>
          <p:nvPr/>
        </p:nvGrpSpPr>
        <p:grpSpPr>
          <a:xfrm rot="0">
            <a:off x="6565392" y="5038344"/>
            <a:ext cx="1124712" cy="329184"/>
            <a:chOff x="0" y="0"/>
            <a:chExt cx="1499616" cy="438912"/>
          </a:xfrm>
        </p:grpSpPr>
        <p:sp>
          <p:nvSpPr>
            <p:cNvPr name="Freeform 183" id="183"/>
            <p:cNvSpPr/>
            <p:nvPr/>
          </p:nvSpPr>
          <p:spPr>
            <a:xfrm flipH="false" flipV="false" rot="0">
              <a:off x="0" y="0"/>
              <a:ext cx="1499616" cy="438912"/>
            </a:xfrm>
            <a:custGeom>
              <a:avLst/>
              <a:gdLst/>
              <a:ahLst/>
              <a:cxnLst/>
              <a:rect r="r" b="b" t="t" l="l"/>
              <a:pathLst>
                <a:path h="438912" w="1499616">
                  <a:moveTo>
                    <a:pt x="0" y="52705"/>
                  </a:moveTo>
                  <a:cubicBezTo>
                    <a:pt x="0" y="23622"/>
                    <a:pt x="23622" y="0"/>
                    <a:pt x="52705" y="0"/>
                  </a:cubicBezTo>
                  <a:lnTo>
                    <a:pt x="1446911" y="0"/>
                  </a:lnTo>
                  <a:cubicBezTo>
                    <a:pt x="1475994" y="0"/>
                    <a:pt x="1499616" y="23622"/>
                    <a:pt x="1499616" y="52705"/>
                  </a:cubicBezTo>
                  <a:lnTo>
                    <a:pt x="1499616" y="386207"/>
                  </a:lnTo>
                  <a:cubicBezTo>
                    <a:pt x="1499616" y="415290"/>
                    <a:pt x="1475994" y="438912"/>
                    <a:pt x="1446911" y="438912"/>
                  </a:cubicBezTo>
                  <a:lnTo>
                    <a:pt x="52705" y="438912"/>
                  </a:lnTo>
                  <a:cubicBezTo>
                    <a:pt x="23622" y="438912"/>
                    <a:pt x="0" y="415290"/>
                    <a:pt x="0" y="386207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184" id="184"/>
          <p:cNvGrpSpPr/>
          <p:nvPr/>
        </p:nvGrpSpPr>
        <p:grpSpPr>
          <a:xfrm rot="0">
            <a:off x="6611112" y="5038344"/>
            <a:ext cx="1033272" cy="329184"/>
            <a:chOff x="0" y="0"/>
            <a:chExt cx="1377696" cy="438912"/>
          </a:xfrm>
        </p:grpSpPr>
        <p:sp>
          <p:nvSpPr>
            <p:cNvPr name="Freeform 185" id="185"/>
            <p:cNvSpPr/>
            <p:nvPr/>
          </p:nvSpPr>
          <p:spPr>
            <a:xfrm flipH="false" flipV="false" rot="0">
              <a:off x="0" y="0"/>
              <a:ext cx="1377695" cy="438912"/>
            </a:xfrm>
            <a:custGeom>
              <a:avLst/>
              <a:gdLst/>
              <a:ahLst/>
              <a:cxnLst/>
              <a:rect r="r" b="b" t="t" l="l"/>
              <a:pathLst>
                <a:path h="438912" w="1377695">
                  <a:moveTo>
                    <a:pt x="0" y="0"/>
                  </a:moveTo>
                  <a:lnTo>
                    <a:pt x="1377695" y="0"/>
                  </a:lnTo>
                  <a:lnTo>
                    <a:pt x="1377695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1161" r="0" b="-11161"/>
              </a:stretch>
            </a:blipFill>
          </p:spPr>
        </p:sp>
        <p:sp>
          <p:nvSpPr>
            <p:cNvPr name="TextBox 186" id="186"/>
            <p:cNvSpPr txBox="true"/>
            <p:nvPr/>
          </p:nvSpPr>
          <p:spPr>
            <a:xfrm>
              <a:off x="0" y="-9525"/>
              <a:ext cx="1377696" cy="44843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284"/>
                </a:lnSpc>
              </a:pPr>
              <a:r>
                <a:rPr lang="en-US" sz="1070" b="true">
                  <a:solidFill>
                    <a:srgbClr val="315D6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ASSESS</a:t>
              </a:r>
            </a:p>
          </p:txBody>
        </p:sp>
      </p:grpSp>
      <p:sp>
        <p:nvSpPr>
          <p:cNvPr name="AutoShape 187" id="187"/>
          <p:cNvSpPr/>
          <p:nvPr/>
        </p:nvSpPr>
        <p:spPr>
          <a:xfrm rot="5138880">
            <a:off x="10302192" y="6797421"/>
            <a:ext cx="426806" cy="0"/>
          </a:xfrm>
          <a:prstGeom prst="line">
            <a:avLst/>
          </a:prstGeom>
          <a:ln cap="rnd" w="57150">
            <a:solidFill>
              <a:srgbClr val="315D6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88" id="188"/>
          <p:cNvSpPr/>
          <p:nvPr/>
        </p:nvSpPr>
        <p:spPr>
          <a:xfrm rot="10784280">
            <a:off x="3458489" y="6994017"/>
            <a:ext cx="7073341" cy="0"/>
          </a:xfrm>
          <a:prstGeom prst="line">
            <a:avLst/>
          </a:prstGeom>
          <a:ln cap="rnd" w="57150">
            <a:solidFill>
              <a:srgbClr val="315D6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89" id="189"/>
          <p:cNvSpPr/>
          <p:nvPr/>
        </p:nvSpPr>
        <p:spPr>
          <a:xfrm rot="-5138880">
            <a:off x="3261312" y="6797421"/>
            <a:ext cx="426806" cy="0"/>
          </a:xfrm>
          <a:prstGeom prst="line">
            <a:avLst/>
          </a:prstGeom>
          <a:ln cap="rnd" w="57150">
            <a:solidFill>
              <a:srgbClr val="315D66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90" id="190"/>
          <p:cNvGrpSpPr/>
          <p:nvPr/>
        </p:nvGrpSpPr>
        <p:grpSpPr>
          <a:xfrm rot="0">
            <a:off x="3305556" y="6414516"/>
            <a:ext cx="347472" cy="484632"/>
            <a:chOff x="0" y="0"/>
            <a:chExt cx="463296" cy="646176"/>
          </a:xfrm>
        </p:grpSpPr>
        <p:sp>
          <p:nvSpPr>
            <p:cNvPr name="Freeform 191" id="191"/>
            <p:cNvSpPr/>
            <p:nvPr/>
          </p:nvSpPr>
          <p:spPr>
            <a:xfrm flipH="false" flipV="false" rot="0">
              <a:off x="0" y="0"/>
              <a:ext cx="463296" cy="646176"/>
            </a:xfrm>
            <a:custGeom>
              <a:avLst/>
              <a:gdLst/>
              <a:ahLst/>
              <a:cxnLst/>
              <a:rect r="r" b="b" t="t" l="l"/>
              <a:pathLst>
                <a:path h="646176" w="463296">
                  <a:moveTo>
                    <a:pt x="0" y="166751"/>
                  </a:moveTo>
                  <a:lnTo>
                    <a:pt x="231648" y="0"/>
                  </a:lnTo>
                  <a:lnTo>
                    <a:pt x="463296" y="166751"/>
                  </a:lnTo>
                  <a:lnTo>
                    <a:pt x="308102" y="166751"/>
                  </a:lnTo>
                  <a:lnTo>
                    <a:pt x="308102" y="646176"/>
                  </a:lnTo>
                  <a:lnTo>
                    <a:pt x="155194" y="646176"/>
                  </a:lnTo>
                  <a:lnTo>
                    <a:pt x="155194" y="166751"/>
                  </a:lnTo>
                  <a:close/>
                </a:path>
              </a:pathLst>
            </a:custGeom>
            <a:solidFill>
              <a:srgbClr val="315D66"/>
            </a:solidFill>
          </p:spPr>
        </p:sp>
      </p:grpSp>
      <p:grpSp>
        <p:nvGrpSpPr>
          <p:cNvPr name="Group 192" id="192"/>
          <p:cNvGrpSpPr/>
          <p:nvPr/>
        </p:nvGrpSpPr>
        <p:grpSpPr>
          <a:xfrm rot="0">
            <a:off x="5532120" y="6798564"/>
            <a:ext cx="2880360" cy="420624"/>
            <a:chOff x="0" y="0"/>
            <a:chExt cx="3840480" cy="560832"/>
          </a:xfrm>
        </p:grpSpPr>
        <p:sp>
          <p:nvSpPr>
            <p:cNvPr name="Freeform 193" id="193"/>
            <p:cNvSpPr/>
            <p:nvPr/>
          </p:nvSpPr>
          <p:spPr>
            <a:xfrm flipH="false" flipV="false" rot="0">
              <a:off x="0" y="0"/>
              <a:ext cx="3840480" cy="560832"/>
            </a:xfrm>
            <a:custGeom>
              <a:avLst/>
              <a:gdLst/>
              <a:ahLst/>
              <a:cxnLst/>
              <a:rect r="r" b="b" t="t" l="l"/>
              <a:pathLst>
                <a:path h="560832" w="3840480">
                  <a:moveTo>
                    <a:pt x="0" y="67310"/>
                  </a:moveTo>
                  <a:cubicBezTo>
                    <a:pt x="0" y="30099"/>
                    <a:pt x="30099" y="0"/>
                    <a:pt x="67310" y="0"/>
                  </a:cubicBezTo>
                  <a:lnTo>
                    <a:pt x="3773170" y="0"/>
                  </a:lnTo>
                  <a:cubicBezTo>
                    <a:pt x="3810381" y="0"/>
                    <a:pt x="3840480" y="30099"/>
                    <a:pt x="3840480" y="67310"/>
                  </a:cubicBezTo>
                  <a:lnTo>
                    <a:pt x="3840480" y="493522"/>
                  </a:lnTo>
                  <a:cubicBezTo>
                    <a:pt x="3840480" y="530733"/>
                    <a:pt x="3810381" y="560832"/>
                    <a:pt x="3773170" y="560832"/>
                  </a:cubicBezTo>
                  <a:lnTo>
                    <a:pt x="67310" y="560832"/>
                  </a:lnTo>
                  <a:cubicBezTo>
                    <a:pt x="30099" y="560832"/>
                    <a:pt x="0" y="530733"/>
                    <a:pt x="0" y="493522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194" id="194"/>
          <p:cNvGrpSpPr/>
          <p:nvPr/>
        </p:nvGrpSpPr>
        <p:grpSpPr>
          <a:xfrm rot="0">
            <a:off x="5577840" y="6798564"/>
            <a:ext cx="2788920" cy="420624"/>
            <a:chOff x="0" y="0"/>
            <a:chExt cx="3718560" cy="560832"/>
          </a:xfrm>
        </p:grpSpPr>
        <p:sp>
          <p:nvSpPr>
            <p:cNvPr name="Freeform 195" id="195"/>
            <p:cNvSpPr/>
            <p:nvPr/>
          </p:nvSpPr>
          <p:spPr>
            <a:xfrm flipH="false" flipV="false" rot="0">
              <a:off x="0" y="0"/>
              <a:ext cx="3718560" cy="560832"/>
            </a:xfrm>
            <a:custGeom>
              <a:avLst/>
              <a:gdLst/>
              <a:ahLst/>
              <a:cxnLst/>
              <a:rect r="r" b="b" t="t" l="l"/>
              <a:pathLst>
                <a:path h="560832" w="3718560">
                  <a:moveTo>
                    <a:pt x="0" y="0"/>
                  </a:moveTo>
                  <a:lnTo>
                    <a:pt x="3718560" y="0"/>
                  </a:lnTo>
                  <a:lnTo>
                    <a:pt x="3718560" y="560832"/>
                  </a:lnTo>
                  <a:lnTo>
                    <a:pt x="0" y="560832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79194" r="0" b="-79194"/>
              </a:stretch>
            </a:blipFill>
          </p:spPr>
        </p:sp>
        <p:sp>
          <p:nvSpPr>
            <p:cNvPr name="TextBox 196" id="196"/>
            <p:cNvSpPr txBox="true"/>
            <p:nvPr/>
          </p:nvSpPr>
          <p:spPr>
            <a:xfrm>
              <a:off x="0" y="0"/>
              <a:ext cx="3718560" cy="56083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392"/>
                </a:lnSpc>
              </a:pPr>
              <a:r>
                <a:rPr lang="en-US" sz="1160" b="true">
                  <a:solidFill>
                    <a:srgbClr val="315D6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FIX   ·   UPDATE   ·   RECHECK</a:t>
              </a:r>
            </a:p>
          </p:txBody>
        </p:sp>
      </p:grpSp>
      <p:grpSp>
        <p:nvGrpSpPr>
          <p:cNvPr name="Group 197" id="197"/>
          <p:cNvGrpSpPr/>
          <p:nvPr/>
        </p:nvGrpSpPr>
        <p:grpSpPr>
          <a:xfrm rot="0">
            <a:off x="1353312" y="7406640"/>
            <a:ext cx="3520440" cy="438912"/>
            <a:chOff x="0" y="0"/>
            <a:chExt cx="4693920" cy="585216"/>
          </a:xfrm>
        </p:grpSpPr>
        <p:sp>
          <p:nvSpPr>
            <p:cNvPr name="Freeform 198" id="198"/>
            <p:cNvSpPr/>
            <p:nvPr/>
          </p:nvSpPr>
          <p:spPr>
            <a:xfrm flipH="false" flipV="false" rot="0">
              <a:off x="0" y="0"/>
              <a:ext cx="4693920" cy="585216"/>
            </a:xfrm>
            <a:custGeom>
              <a:avLst/>
              <a:gdLst/>
              <a:ahLst/>
              <a:cxnLst/>
              <a:rect r="r" b="b" t="t" l="l"/>
              <a:pathLst>
                <a:path h="585216" w="4693920">
                  <a:moveTo>
                    <a:pt x="0" y="70231"/>
                  </a:moveTo>
                  <a:cubicBezTo>
                    <a:pt x="0" y="31496"/>
                    <a:pt x="31496" y="0"/>
                    <a:pt x="70231" y="0"/>
                  </a:cubicBezTo>
                  <a:lnTo>
                    <a:pt x="4623689" y="0"/>
                  </a:lnTo>
                  <a:cubicBezTo>
                    <a:pt x="4662424" y="0"/>
                    <a:pt x="4693920" y="31496"/>
                    <a:pt x="4693920" y="70231"/>
                  </a:cubicBezTo>
                  <a:lnTo>
                    <a:pt x="4693920" y="514985"/>
                  </a:lnTo>
                  <a:cubicBezTo>
                    <a:pt x="4693920" y="553720"/>
                    <a:pt x="4662424" y="585216"/>
                    <a:pt x="4623689" y="585216"/>
                  </a:cubicBezTo>
                  <a:lnTo>
                    <a:pt x="70231" y="585216"/>
                  </a:lnTo>
                  <a:cubicBezTo>
                    <a:pt x="31496" y="585216"/>
                    <a:pt x="0" y="553720"/>
                    <a:pt x="0" y="514985"/>
                  </a:cubicBezTo>
                  <a:close/>
                </a:path>
              </a:pathLst>
            </a:custGeom>
            <a:solidFill>
              <a:srgbClr val="FFF1EA"/>
            </a:solidFill>
          </p:spPr>
        </p:sp>
      </p:grpSp>
      <p:grpSp>
        <p:nvGrpSpPr>
          <p:cNvPr name="Group 199" id="199"/>
          <p:cNvGrpSpPr/>
          <p:nvPr/>
        </p:nvGrpSpPr>
        <p:grpSpPr>
          <a:xfrm rot="0">
            <a:off x="1435608" y="7479792"/>
            <a:ext cx="557784" cy="274320"/>
            <a:chOff x="0" y="0"/>
            <a:chExt cx="743712" cy="365760"/>
          </a:xfrm>
        </p:grpSpPr>
        <p:sp>
          <p:nvSpPr>
            <p:cNvPr name="Freeform 200" id="200"/>
            <p:cNvSpPr/>
            <p:nvPr/>
          </p:nvSpPr>
          <p:spPr>
            <a:xfrm flipH="false" flipV="false" rot="0">
              <a:off x="0" y="0"/>
              <a:ext cx="743712" cy="365760"/>
            </a:xfrm>
            <a:custGeom>
              <a:avLst/>
              <a:gdLst/>
              <a:ahLst/>
              <a:cxnLst/>
              <a:rect r="r" b="b" t="t" l="l"/>
              <a:pathLst>
                <a:path h="365760" w="743712">
                  <a:moveTo>
                    <a:pt x="0" y="43942"/>
                  </a:moveTo>
                  <a:cubicBezTo>
                    <a:pt x="0" y="19685"/>
                    <a:pt x="19685" y="0"/>
                    <a:pt x="43942" y="0"/>
                  </a:cubicBezTo>
                  <a:lnTo>
                    <a:pt x="699770" y="0"/>
                  </a:lnTo>
                  <a:cubicBezTo>
                    <a:pt x="724027" y="0"/>
                    <a:pt x="743712" y="19685"/>
                    <a:pt x="743712" y="43942"/>
                  </a:cubicBezTo>
                  <a:lnTo>
                    <a:pt x="743712" y="321818"/>
                  </a:lnTo>
                  <a:cubicBezTo>
                    <a:pt x="743712" y="346075"/>
                    <a:pt x="724027" y="365760"/>
                    <a:pt x="699770" y="365760"/>
                  </a:cubicBezTo>
                  <a:lnTo>
                    <a:pt x="43942" y="365760"/>
                  </a:lnTo>
                  <a:cubicBezTo>
                    <a:pt x="19685" y="365760"/>
                    <a:pt x="0" y="346075"/>
                    <a:pt x="0" y="321818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201" id="201"/>
          <p:cNvGrpSpPr/>
          <p:nvPr/>
        </p:nvGrpSpPr>
        <p:grpSpPr>
          <a:xfrm rot="0">
            <a:off x="1481328" y="7479792"/>
            <a:ext cx="466344" cy="274320"/>
            <a:chOff x="0" y="0"/>
            <a:chExt cx="621792" cy="365760"/>
          </a:xfrm>
        </p:grpSpPr>
        <p:sp>
          <p:nvSpPr>
            <p:cNvPr name="Freeform 202" id="202"/>
            <p:cNvSpPr/>
            <p:nvPr/>
          </p:nvSpPr>
          <p:spPr>
            <a:xfrm flipH="false" flipV="false" rot="0">
              <a:off x="0" y="0"/>
              <a:ext cx="621792" cy="365760"/>
            </a:xfrm>
            <a:custGeom>
              <a:avLst/>
              <a:gdLst/>
              <a:ahLst/>
              <a:cxnLst/>
              <a:rect r="r" b="b" t="t" l="l"/>
              <a:pathLst>
                <a:path h="365760" w="621792">
                  <a:moveTo>
                    <a:pt x="0" y="0"/>
                  </a:moveTo>
                  <a:lnTo>
                    <a:pt x="621792" y="0"/>
                  </a:lnTo>
                  <a:lnTo>
                    <a:pt x="621792" y="365760"/>
                  </a:lnTo>
                  <a:lnTo>
                    <a:pt x="0" y="36576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25472" t="0" r="-25472" b="0"/>
              </a:stretch>
            </a:blipFill>
          </p:spPr>
        </p:sp>
        <p:sp>
          <p:nvSpPr>
            <p:cNvPr name="TextBox 203" id="203"/>
            <p:cNvSpPr txBox="true"/>
            <p:nvPr/>
          </p:nvSpPr>
          <p:spPr>
            <a:xfrm>
              <a:off x="0" y="-19050"/>
              <a:ext cx="621792" cy="3848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320"/>
                </a:lnSpc>
              </a:pPr>
              <a:r>
                <a:rPr lang="en-US" sz="1100" b="true">
                  <a:solidFill>
                    <a:srgbClr val="C1694E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v1</a:t>
              </a:r>
            </a:p>
          </p:txBody>
        </p:sp>
      </p:grpSp>
      <p:grpSp>
        <p:nvGrpSpPr>
          <p:cNvPr name="Group 204" id="204"/>
          <p:cNvGrpSpPr/>
          <p:nvPr/>
        </p:nvGrpSpPr>
        <p:grpSpPr>
          <a:xfrm rot="0">
            <a:off x="2157984" y="7499909"/>
            <a:ext cx="210312" cy="210312"/>
            <a:chOff x="0" y="0"/>
            <a:chExt cx="280416" cy="280416"/>
          </a:xfrm>
        </p:grpSpPr>
        <p:sp>
          <p:nvSpPr>
            <p:cNvPr name="Freeform 205" id="205"/>
            <p:cNvSpPr/>
            <p:nvPr/>
          </p:nvSpPr>
          <p:spPr>
            <a:xfrm flipH="false" flipV="false" rot="0">
              <a:off x="0" y="0"/>
              <a:ext cx="280416" cy="280416"/>
            </a:xfrm>
            <a:custGeom>
              <a:avLst/>
              <a:gdLst/>
              <a:ahLst/>
              <a:cxnLst/>
              <a:rect r="r" b="b" t="t" l="l"/>
              <a:pathLst>
                <a:path h="280416" w="280416">
                  <a:moveTo>
                    <a:pt x="0" y="140208"/>
                  </a:moveTo>
                  <a:cubicBezTo>
                    <a:pt x="0" y="62738"/>
                    <a:pt x="62738" y="0"/>
                    <a:pt x="140208" y="0"/>
                  </a:cubicBezTo>
                  <a:cubicBezTo>
                    <a:pt x="217678" y="0"/>
                    <a:pt x="280416" y="62738"/>
                    <a:pt x="280416" y="140208"/>
                  </a:cubicBezTo>
                  <a:cubicBezTo>
                    <a:pt x="280416" y="217678"/>
                    <a:pt x="217678" y="280416"/>
                    <a:pt x="140208" y="280416"/>
                  </a:cubicBezTo>
                  <a:cubicBezTo>
                    <a:pt x="62738" y="280416"/>
                    <a:pt x="0" y="217678"/>
                    <a:pt x="0" y="140208"/>
                  </a:cubicBezTo>
                  <a:close/>
                </a:path>
              </a:pathLst>
            </a:custGeom>
            <a:solidFill>
              <a:srgbClr val="FFF1EA"/>
            </a:solidFill>
          </p:spPr>
        </p:sp>
      </p:grpSp>
      <p:grpSp>
        <p:nvGrpSpPr>
          <p:cNvPr name="Group 206" id="206"/>
          <p:cNvGrpSpPr/>
          <p:nvPr/>
        </p:nvGrpSpPr>
        <p:grpSpPr>
          <a:xfrm rot="0">
            <a:off x="2171700" y="7486193"/>
            <a:ext cx="182880" cy="228600"/>
            <a:chOff x="0" y="0"/>
            <a:chExt cx="243840" cy="304800"/>
          </a:xfrm>
        </p:grpSpPr>
        <p:sp>
          <p:nvSpPr>
            <p:cNvPr name="Freeform 207" id="207"/>
            <p:cNvSpPr/>
            <p:nvPr/>
          </p:nvSpPr>
          <p:spPr>
            <a:xfrm flipH="false" flipV="false" rot="0">
              <a:off x="0" y="0"/>
              <a:ext cx="243840" cy="304800"/>
            </a:xfrm>
            <a:custGeom>
              <a:avLst/>
              <a:gdLst/>
              <a:ahLst/>
              <a:cxnLst/>
              <a:rect r="r" b="b" t="t" l="l"/>
              <a:pathLst>
                <a:path h="304800" w="243840">
                  <a:moveTo>
                    <a:pt x="0" y="0"/>
                  </a:moveTo>
                  <a:lnTo>
                    <a:pt x="243840" y="0"/>
                  </a:lnTo>
                  <a:lnTo>
                    <a:pt x="243840" y="304800"/>
                  </a:lnTo>
                  <a:lnTo>
                    <a:pt x="0" y="30480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110379" t="0" r="-110379" b="0"/>
              </a:stretch>
            </a:blipFill>
          </p:spPr>
        </p:sp>
        <p:sp>
          <p:nvSpPr>
            <p:cNvPr name="TextBox 208" id="208"/>
            <p:cNvSpPr txBox="true"/>
            <p:nvPr/>
          </p:nvSpPr>
          <p:spPr>
            <a:xfrm>
              <a:off x="0" y="-9525"/>
              <a:ext cx="243840" cy="3143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59"/>
                </a:lnSpc>
              </a:pPr>
              <a:r>
                <a:rPr lang="en-US" sz="1299" b="true">
                  <a:solidFill>
                    <a:srgbClr val="C1694E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!</a:t>
              </a:r>
            </a:p>
          </p:txBody>
        </p:sp>
      </p:grpSp>
      <p:grpSp>
        <p:nvGrpSpPr>
          <p:cNvPr name="Group 209" id="209"/>
          <p:cNvGrpSpPr/>
          <p:nvPr/>
        </p:nvGrpSpPr>
        <p:grpSpPr>
          <a:xfrm rot="0">
            <a:off x="2523744" y="7467905"/>
            <a:ext cx="1965960" cy="301752"/>
            <a:chOff x="0" y="0"/>
            <a:chExt cx="2621280" cy="402336"/>
          </a:xfrm>
        </p:grpSpPr>
        <p:sp>
          <p:nvSpPr>
            <p:cNvPr name="Freeform 210" id="210"/>
            <p:cNvSpPr/>
            <p:nvPr/>
          </p:nvSpPr>
          <p:spPr>
            <a:xfrm flipH="false" flipV="false" rot="0">
              <a:off x="0" y="0"/>
              <a:ext cx="2621280" cy="402336"/>
            </a:xfrm>
            <a:custGeom>
              <a:avLst/>
              <a:gdLst/>
              <a:ahLst/>
              <a:cxnLst/>
              <a:rect r="r" b="b" t="t" l="l"/>
              <a:pathLst>
                <a:path h="402336" w="2621280">
                  <a:moveTo>
                    <a:pt x="0" y="0"/>
                  </a:moveTo>
                  <a:lnTo>
                    <a:pt x="2621280" y="0"/>
                  </a:lnTo>
                  <a:lnTo>
                    <a:pt x="2621280" y="402336"/>
                  </a:lnTo>
                  <a:lnTo>
                    <a:pt x="0" y="402336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76947" r="0" b="-76947"/>
              </a:stretch>
            </a:blipFill>
          </p:spPr>
        </p:sp>
        <p:sp>
          <p:nvSpPr>
            <p:cNvPr name="TextBox 211" id="211"/>
            <p:cNvSpPr txBox="true"/>
            <p:nvPr/>
          </p:nvSpPr>
          <p:spPr>
            <a:xfrm>
              <a:off x="0" y="-9525"/>
              <a:ext cx="2621280" cy="41186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39"/>
                </a:lnSpc>
              </a:pPr>
              <a:r>
                <a:rPr lang="en-US" sz="1200" b="true">
                  <a:solidFill>
                    <a:srgbClr val="C1694E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Gaps</a:t>
              </a:r>
            </a:p>
          </p:txBody>
        </p:sp>
      </p:grpSp>
      <p:grpSp>
        <p:nvGrpSpPr>
          <p:cNvPr name="Group 212" id="212"/>
          <p:cNvGrpSpPr/>
          <p:nvPr/>
        </p:nvGrpSpPr>
        <p:grpSpPr>
          <a:xfrm rot="0">
            <a:off x="5056632" y="7557516"/>
            <a:ext cx="521208" cy="155448"/>
            <a:chOff x="0" y="0"/>
            <a:chExt cx="694944" cy="207264"/>
          </a:xfrm>
        </p:grpSpPr>
        <p:sp>
          <p:nvSpPr>
            <p:cNvPr name="Freeform 213" id="213"/>
            <p:cNvSpPr/>
            <p:nvPr/>
          </p:nvSpPr>
          <p:spPr>
            <a:xfrm flipH="false" flipV="false" rot="0">
              <a:off x="0" y="0"/>
              <a:ext cx="694944" cy="207264"/>
            </a:xfrm>
            <a:custGeom>
              <a:avLst/>
              <a:gdLst/>
              <a:ahLst/>
              <a:cxnLst/>
              <a:rect r="r" b="b" t="t" l="l"/>
              <a:pathLst>
                <a:path h="207264" w="694944">
                  <a:moveTo>
                    <a:pt x="0" y="70485"/>
                  </a:moveTo>
                  <a:lnTo>
                    <a:pt x="636905" y="70485"/>
                  </a:lnTo>
                  <a:lnTo>
                    <a:pt x="636905" y="0"/>
                  </a:lnTo>
                  <a:lnTo>
                    <a:pt x="694944" y="103632"/>
                  </a:lnTo>
                  <a:lnTo>
                    <a:pt x="636905" y="207264"/>
                  </a:lnTo>
                  <a:lnTo>
                    <a:pt x="636905" y="136779"/>
                  </a:lnTo>
                  <a:lnTo>
                    <a:pt x="0" y="136779"/>
                  </a:lnTo>
                  <a:close/>
                </a:path>
              </a:pathLst>
            </a:custGeom>
            <a:solidFill>
              <a:srgbClr val="8DA2A4"/>
            </a:solidFill>
          </p:spPr>
        </p:sp>
      </p:grpSp>
      <p:grpSp>
        <p:nvGrpSpPr>
          <p:cNvPr name="Group 214" id="214"/>
          <p:cNvGrpSpPr/>
          <p:nvPr/>
        </p:nvGrpSpPr>
        <p:grpSpPr>
          <a:xfrm rot="0">
            <a:off x="5742432" y="7406640"/>
            <a:ext cx="3447288" cy="438912"/>
            <a:chOff x="0" y="0"/>
            <a:chExt cx="4596384" cy="585216"/>
          </a:xfrm>
        </p:grpSpPr>
        <p:sp>
          <p:nvSpPr>
            <p:cNvPr name="Freeform 215" id="215"/>
            <p:cNvSpPr/>
            <p:nvPr/>
          </p:nvSpPr>
          <p:spPr>
            <a:xfrm flipH="false" flipV="false" rot="0">
              <a:off x="0" y="0"/>
              <a:ext cx="4596384" cy="585216"/>
            </a:xfrm>
            <a:custGeom>
              <a:avLst/>
              <a:gdLst/>
              <a:ahLst/>
              <a:cxnLst/>
              <a:rect r="r" b="b" t="t" l="l"/>
              <a:pathLst>
                <a:path h="585216" w="4596384">
                  <a:moveTo>
                    <a:pt x="0" y="70231"/>
                  </a:moveTo>
                  <a:cubicBezTo>
                    <a:pt x="0" y="31496"/>
                    <a:pt x="31496" y="0"/>
                    <a:pt x="70231" y="0"/>
                  </a:cubicBezTo>
                  <a:lnTo>
                    <a:pt x="4526153" y="0"/>
                  </a:lnTo>
                  <a:cubicBezTo>
                    <a:pt x="4564888" y="0"/>
                    <a:pt x="4596384" y="31496"/>
                    <a:pt x="4596384" y="70231"/>
                  </a:cubicBezTo>
                  <a:lnTo>
                    <a:pt x="4596384" y="514985"/>
                  </a:lnTo>
                  <a:cubicBezTo>
                    <a:pt x="4596384" y="553720"/>
                    <a:pt x="4564888" y="585216"/>
                    <a:pt x="4526153" y="585216"/>
                  </a:cubicBezTo>
                  <a:lnTo>
                    <a:pt x="70231" y="585216"/>
                  </a:lnTo>
                  <a:cubicBezTo>
                    <a:pt x="31496" y="585216"/>
                    <a:pt x="0" y="553720"/>
                    <a:pt x="0" y="514985"/>
                  </a:cubicBezTo>
                  <a:close/>
                </a:path>
              </a:pathLst>
            </a:custGeom>
            <a:solidFill>
              <a:srgbClr val="FFEEAC"/>
            </a:solidFill>
          </p:spPr>
        </p:sp>
      </p:grpSp>
      <p:grpSp>
        <p:nvGrpSpPr>
          <p:cNvPr name="Group 216" id="216"/>
          <p:cNvGrpSpPr/>
          <p:nvPr/>
        </p:nvGrpSpPr>
        <p:grpSpPr>
          <a:xfrm rot="0">
            <a:off x="5843016" y="7479792"/>
            <a:ext cx="548640" cy="274320"/>
            <a:chOff x="0" y="0"/>
            <a:chExt cx="731520" cy="365760"/>
          </a:xfrm>
        </p:grpSpPr>
        <p:sp>
          <p:nvSpPr>
            <p:cNvPr name="Freeform 217" id="217"/>
            <p:cNvSpPr/>
            <p:nvPr/>
          </p:nvSpPr>
          <p:spPr>
            <a:xfrm flipH="false" flipV="false" rot="0">
              <a:off x="0" y="0"/>
              <a:ext cx="731520" cy="365760"/>
            </a:xfrm>
            <a:custGeom>
              <a:avLst/>
              <a:gdLst/>
              <a:ahLst/>
              <a:cxnLst/>
              <a:rect r="r" b="b" t="t" l="l"/>
              <a:pathLst>
                <a:path h="365760" w="731520">
                  <a:moveTo>
                    <a:pt x="0" y="43942"/>
                  </a:moveTo>
                  <a:cubicBezTo>
                    <a:pt x="0" y="19685"/>
                    <a:pt x="19685" y="0"/>
                    <a:pt x="43942" y="0"/>
                  </a:cubicBezTo>
                  <a:lnTo>
                    <a:pt x="687578" y="0"/>
                  </a:lnTo>
                  <a:cubicBezTo>
                    <a:pt x="711835" y="0"/>
                    <a:pt x="731520" y="19685"/>
                    <a:pt x="731520" y="43942"/>
                  </a:cubicBezTo>
                  <a:lnTo>
                    <a:pt x="731520" y="321818"/>
                  </a:lnTo>
                  <a:cubicBezTo>
                    <a:pt x="731520" y="346075"/>
                    <a:pt x="711835" y="365760"/>
                    <a:pt x="687578" y="365760"/>
                  </a:cubicBezTo>
                  <a:lnTo>
                    <a:pt x="43942" y="365760"/>
                  </a:lnTo>
                  <a:cubicBezTo>
                    <a:pt x="19685" y="365760"/>
                    <a:pt x="0" y="346075"/>
                    <a:pt x="0" y="321818"/>
                  </a:cubicBezTo>
                  <a:close/>
                </a:path>
              </a:pathLst>
            </a:custGeom>
            <a:solidFill>
              <a:srgbClr val="FFF9E5"/>
            </a:solidFill>
          </p:spPr>
        </p:sp>
      </p:grpSp>
      <p:grpSp>
        <p:nvGrpSpPr>
          <p:cNvPr name="Group 218" id="218"/>
          <p:cNvGrpSpPr/>
          <p:nvPr/>
        </p:nvGrpSpPr>
        <p:grpSpPr>
          <a:xfrm rot="0">
            <a:off x="5888736" y="7479792"/>
            <a:ext cx="457200" cy="274320"/>
            <a:chOff x="0" y="0"/>
            <a:chExt cx="609600" cy="365760"/>
          </a:xfrm>
        </p:grpSpPr>
        <p:sp>
          <p:nvSpPr>
            <p:cNvPr name="Freeform 219" id="219"/>
            <p:cNvSpPr/>
            <p:nvPr/>
          </p:nvSpPr>
          <p:spPr>
            <a:xfrm flipH="false" flipV="false" rot="0">
              <a:off x="0" y="0"/>
              <a:ext cx="609600" cy="365760"/>
            </a:xfrm>
            <a:custGeom>
              <a:avLst/>
              <a:gdLst/>
              <a:ahLst/>
              <a:cxnLst/>
              <a:rect r="r" b="b" t="t" l="l"/>
              <a:pathLst>
                <a:path h="365760" w="609600">
                  <a:moveTo>
                    <a:pt x="0" y="0"/>
                  </a:moveTo>
                  <a:lnTo>
                    <a:pt x="609600" y="0"/>
                  </a:lnTo>
                  <a:lnTo>
                    <a:pt x="609600" y="365760"/>
                  </a:lnTo>
                  <a:lnTo>
                    <a:pt x="0" y="36576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220" id="220"/>
            <p:cNvSpPr txBox="true"/>
            <p:nvPr/>
          </p:nvSpPr>
          <p:spPr>
            <a:xfrm>
              <a:off x="0" y="-19050"/>
              <a:ext cx="609600" cy="3848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320"/>
                </a:lnSpc>
              </a:pPr>
              <a:r>
                <a:rPr lang="en-US" sz="1100" b="true">
                  <a:solidFill>
                    <a:srgbClr val="956217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v2</a:t>
              </a:r>
            </a:p>
          </p:txBody>
        </p:sp>
      </p:grpSp>
      <p:grpSp>
        <p:nvGrpSpPr>
          <p:cNvPr name="Group 221" id="221"/>
          <p:cNvGrpSpPr/>
          <p:nvPr/>
        </p:nvGrpSpPr>
        <p:grpSpPr>
          <a:xfrm rot="0">
            <a:off x="6556248" y="7498080"/>
            <a:ext cx="201168" cy="201168"/>
            <a:chOff x="0" y="0"/>
            <a:chExt cx="268224" cy="268224"/>
          </a:xfrm>
        </p:grpSpPr>
        <p:sp>
          <p:nvSpPr>
            <p:cNvPr name="Freeform 222" id="222"/>
            <p:cNvSpPr/>
            <p:nvPr/>
          </p:nvSpPr>
          <p:spPr>
            <a:xfrm flipH="false" flipV="false" rot="0">
              <a:off x="0" y="0"/>
              <a:ext cx="268224" cy="268224"/>
            </a:xfrm>
            <a:custGeom>
              <a:avLst/>
              <a:gdLst/>
              <a:ahLst/>
              <a:cxnLst/>
              <a:rect r="r" b="b" t="t" l="l"/>
              <a:pathLst>
                <a:path h="268224" w="268224">
                  <a:moveTo>
                    <a:pt x="0" y="134112"/>
                  </a:moveTo>
                  <a:cubicBezTo>
                    <a:pt x="0" y="60071"/>
                    <a:pt x="60071" y="0"/>
                    <a:pt x="134112" y="0"/>
                  </a:cubicBezTo>
                  <a:cubicBezTo>
                    <a:pt x="208153" y="0"/>
                    <a:pt x="268224" y="60071"/>
                    <a:pt x="268224" y="134112"/>
                  </a:cubicBezTo>
                  <a:cubicBezTo>
                    <a:pt x="268224" y="208153"/>
                    <a:pt x="208153" y="268224"/>
                    <a:pt x="134112" y="268224"/>
                  </a:cubicBezTo>
                  <a:cubicBezTo>
                    <a:pt x="60071" y="268224"/>
                    <a:pt x="0" y="208153"/>
                    <a:pt x="0" y="134112"/>
                  </a:cubicBezTo>
                  <a:close/>
                </a:path>
              </a:pathLst>
            </a:custGeom>
            <a:solidFill>
              <a:srgbClr val="FFF9E5"/>
            </a:solidFill>
          </p:spPr>
        </p:sp>
      </p:grpSp>
      <p:grpSp>
        <p:nvGrpSpPr>
          <p:cNvPr name="Group 223" id="223"/>
          <p:cNvGrpSpPr/>
          <p:nvPr/>
        </p:nvGrpSpPr>
        <p:grpSpPr>
          <a:xfrm rot="0">
            <a:off x="6605626" y="7547458"/>
            <a:ext cx="100584" cy="100584"/>
            <a:chOff x="0" y="0"/>
            <a:chExt cx="134112" cy="134112"/>
          </a:xfrm>
        </p:grpSpPr>
        <p:sp>
          <p:nvSpPr>
            <p:cNvPr name="Freeform 224" id="224"/>
            <p:cNvSpPr/>
            <p:nvPr/>
          </p:nvSpPr>
          <p:spPr>
            <a:xfrm flipH="false" flipV="false" rot="0">
              <a:off x="0" y="0"/>
              <a:ext cx="134112" cy="134112"/>
            </a:xfrm>
            <a:custGeom>
              <a:avLst/>
              <a:gdLst/>
              <a:ahLst/>
              <a:cxnLst/>
              <a:rect r="r" b="b" t="t" l="l"/>
              <a:pathLst>
                <a:path h="134112" w="134112">
                  <a:moveTo>
                    <a:pt x="0" y="67056"/>
                  </a:moveTo>
                  <a:cubicBezTo>
                    <a:pt x="0" y="29972"/>
                    <a:pt x="29972" y="0"/>
                    <a:pt x="67056" y="0"/>
                  </a:cubicBezTo>
                  <a:cubicBezTo>
                    <a:pt x="104140" y="0"/>
                    <a:pt x="134112" y="29972"/>
                    <a:pt x="134112" y="67056"/>
                  </a:cubicBezTo>
                  <a:cubicBezTo>
                    <a:pt x="134112" y="104140"/>
                    <a:pt x="104140" y="134112"/>
                    <a:pt x="67056" y="134112"/>
                  </a:cubicBezTo>
                  <a:cubicBezTo>
                    <a:pt x="29972" y="134112"/>
                    <a:pt x="0" y="104140"/>
                    <a:pt x="0" y="67056"/>
                  </a:cubicBezTo>
                  <a:close/>
                </a:path>
              </a:pathLst>
            </a:custGeom>
            <a:solidFill>
              <a:srgbClr val="D89B1A"/>
            </a:solidFill>
          </p:spPr>
        </p:sp>
      </p:grpSp>
      <p:grpSp>
        <p:nvGrpSpPr>
          <p:cNvPr name="Group 225" id="225"/>
          <p:cNvGrpSpPr/>
          <p:nvPr/>
        </p:nvGrpSpPr>
        <p:grpSpPr>
          <a:xfrm rot="0">
            <a:off x="6922008" y="7467905"/>
            <a:ext cx="2011680" cy="301752"/>
            <a:chOff x="0" y="0"/>
            <a:chExt cx="2682240" cy="402336"/>
          </a:xfrm>
        </p:grpSpPr>
        <p:sp>
          <p:nvSpPr>
            <p:cNvPr name="Freeform 226" id="226"/>
            <p:cNvSpPr/>
            <p:nvPr/>
          </p:nvSpPr>
          <p:spPr>
            <a:xfrm flipH="false" flipV="false" rot="0">
              <a:off x="0" y="0"/>
              <a:ext cx="2682240" cy="402336"/>
            </a:xfrm>
            <a:custGeom>
              <a:avLst/>
              <a:gdLst/>
              <a:ahLst/>
              <a:cxnLst/>
              <a:rect r="r" b="b" t="t" l="l"/>
              <a:pathLst>
                <a:path h="402336" w="2682240">
                  <a:moveTo>
                    <a:pt x="0" y="0"/>
                  </a:moveTo>
                  <a:lnTo>
                    <a:pt x="2682240" y="0"/>
                  </a:lnTo>
                  <a:lnTo>
                    <a:pt x="2682240" y="402336"/>
                  </a:lnTo>
                  <a:lnTo>
                    <a:pt x="0" y="402336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79900" r="0" b="-79900"/>
              </a:stretch>
            </a:blipFill>
          </p:spPr>
        </p:sp>
        <p:sp>
          <p:nvSpPr>
            <p:cNvPr name="TextBox 227" id="227"/>
            <p:cNvSpPr txBox="true"/>
            <p:nvPr/>
          </p:nvSpPr>
          <p:spPr>
            <a:xfrm>
              <a:off x="0" y="-9525"/>
              <a:ext cx="2682240" cy="41186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39"/>
                </a:lnSpc>
              </a:pPr>
              <a:r>
                <a:rPr lang="en-US" sz="1200" b="true">
                  <a:solidFill>
                    <a:srgbClr val="93610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Improving</a:t>
              </a:r>
            </a:p>
          </p:txBody>
        </p:sp>
      </p:grpSp>
      <p:grpSp>
        <p:nvGrpSpPr>
          <p:cNvPr name="Group 228" id="228"/>
          <p:cNvGrpSpPr/>
          <p:nvPr/>
        </p:nvGrpSpPr>
        <p:grpSpPr>
          <a:xfrm rot="0">
            <a:off x="9345168" y="7557516"/>
            <a:ext cx="521208" cy="155448"/>
            <a:chOff x="0" y="0"/>
            <a:chExt cx="694944" cy="207264"/>
          </a:xfrm>
        </p:grpSpPr>
        <p:sp>
          <p:nvSpPr>
            <p:cNvPr name="Freeform 229" id="229"/>
            <p:cNvSpPr/>
            <p:nvPr/>
          </p:nvSpPr>
          <p:spPr>
            <a:xfrm flipH="false" flipV="false" rot="0">
              <a:off x="0" y="0"/>
              <a:ext cx="694944" cy="207264"/>
            </a:xfrm>
            <a:custGeom>
              <a:avLst/>
              <a:gdLst/>
              <a:ahLst/>
              <a:cxnLst/>
              <a:rect r="r" b="b" t="t" l="l"/>
              <a:pathLst>
                <a:path h="207264" w="694944">
                  <a:moveTo>
                    <a:pt x="0" y="70485"/>
                  </a:moveTo>
                  <a:lnTo>
                    <a:pt x="636905" y="70485"/>
                  </a:lnTo>
                  <a:lnTo>
                    <a:pt x="636905" y="0"/>
                  </a:lnTo>
                  <a:lnTo>
                    <a:pt x="694944" y="103632"/>
                  </a:lnTo>
                  <a:lnTo>
                    <a:pt x="636905" y="207264"/>
                  </a:lnTo>
                  <a:lnTo>
                    <a:pt x="636905" y="136779"/>
                  </a:lnTo>
                  <a:lnTo>
                    <a:pt x="0" y="136779"/>
                  </a:lnTo>
                  <a:close/>
                </a:path>
              </a:pathLst>
            </a:custGeom>
            <a:solidFill>
              <a:srgbClr val="8DA2A4"/>
            </a:solidFill>
          </p:spPr>
        </p:sp>
      </p:grpSp>
      <p:grpSp>
        <p:nvGrpSpPr>
          <p:cNvPr name="Group 230" id="230"/>
          <p:cNvGrpSpPr/>
          <p:nvPr/>
        </p:nvGrpSpPr>
        <p:grpSpPr>
          <a:xfrm rot="0">
            <a:off x="10067544" y="7406640"/>
            <a:ext cx="3575304" cy="438912"/>
            <a:chOff x="0" y="0"/>
            <a:chExt cx="4767072" cy="585216"/>
          </a:xfrm>
        </p:grpSpPr>
        <p:sp>
          <p:nvSpPr>
            <p:cNvPr name="Freeform 231" id="231"/>
            <p:cNvSpPr/>
            <p:nvPr/>
          </p:nvSpPr>
          <p:spPr>
            <a:xfrm flipH="false" flipV="false" rot="0">
              <a:off x="0" y="0"/>
              <a:ext cx="4767072" cy="585216"/>
            </a:xfrm>
            <a:custGeom>
              <a:avLst/>
              <a:gdLst/>
              <a:ahLst/>
              <a:cxnLst/>
              <a:rect r="r" b="b" t="t" l="l"/>
              <a:pathLst>
                <a:path h="585216" w="4767072">
                  <a:moveTo>
                    <a:pt x="0" y="70231"/>
                  </a:moveTo>
                  <a:cubicBezTo>
                    <a:pt x="0" y="31496"/>
                    <a:pt x="31496" y="0"/>
                    <a:pt x="70231" y="0"/>
                  </a:cubicBezTo>
                  <a:lnTo>
                    <a:pt x="4696841" y="0"/>
                  </a:lnTo>
                  <a:cubicBezTo>
                    <a:pt x="4735576" y="0"/>
                    <a:pt x="4767072" y="31496"/>
                    <a:pt x="4767072" y="70231"/>
                  </a:cubicBezTo>
                  <a:lnTo>
                    <a:pt x="4767072" y="514985"/>
                  </a:lnTo>
                  <a:cubicBezTo>
                    <a:pt x="4767072" y="553720"/>
                    <a:pt x="4735576" y="585216"/>
                    <a:pt x="4696841" y="585216"/>
                  </a:cubicBezTo>
                  <a:lnTo>
                    <a:pt x="70231" y="585216"/>
                  </a:lnTo>
                  <a:cubicBezTo>
                    <a:pt x="31496" y="585216"/>
                    <a:pt x="0" y="553720"/>
                    <a:pt x="0" y="514985"/>
                  </a:cubicBezTo>
                  <a:close/>
                </a:path>
              </a:pathLst>
            </a:custGeom>
            <a:solidFill>
              <a:srgbClr val="E5F3EB"/>
            </a:solidFill>
          </p:spPr>
        </p:sp>
      </p:grpSp>
      <p:grpSp>
        <p:nvGrpSpPr>
          <p:cNvPr name="Group 232" id="232"/>
          <p:cNvGrpSpPr/>
          <p:nvPr/>
        </p:nvGrpSpPr>
        <p:grpSpPr>
          <a:xfrm rot="0">
            <a:off x="10149840" y="7479792"/>
            <a:ext cx="539496" cy="274320"/>
            <a:chOff x="0" y="0"/>
            <a:chExt cx="719328" cy="365760"/>
          </a:xfrm>
        </p:grpSpPr>
        <p:sp>
          <p:nvSpPr>
            <p:cNvPr name="Freeform 233" id="233"/>
            <p:cNvSpPr/>
            <p:nvPr/>
          </p:nvSpPr>
          <p:spPr>
            <a:xfrm flipH="false" flipV="false" rot="0">
              <a:off x="0" y="0"/>
              <a:ext cx="719328" cy="365760"/>
            </a:xfrm>
            <a:custGeom>
              <a:avLst/>
              <a:gdLst/>
              <a:ahLst/>
              <a:cxnLst/>
              <a:rect r="r" b="b" t="t" l="l"/>
              <a:pathLst>
                <a:path h="365760" w="719328">
                  <a:moveTo>
                    <a:pt x="0" y="43942"/>
                  </a:moveTo>
                  <a:cubicBezTo>
                    <a:pt x="0" y="19685"/>
                    <a:pt x="19685" y="0"/>
                    <a:pt x="43942" y="0"/>
                  </a:cubicBezTo>
                  <a:lnTo>
                    <a:pt x="675386" y="0"/>
                  </a:lnTo>
                  <a:cubicBezTo>
                    <a:pt x="699643" y="0"/>
                    <a:pt x="719328" y="19685"/>
                    <a:pt x="719328" y="43942"/>
                  </a:cubicBezTo>
                  <a:lnTo>
                    <a:pt x="719328" y="321818"/>
                  </a:lnTo>
                  <a:cubicBezTo>
                    <a:pt x="719328" y="346075"/>
                    <a:pt x="699643" y="365760"/>
                    <a:pt x="675386" y="365760"/>
                  </a:cubicBezTo>
                  <a:lnTo>
                    <a:pt x="43942" y="365760"/>
                  </a:lnTo>
                  <a:cubicBezTo>
                    <a:pt x="19685" y="365760"/>
                    <a:pt x="0" y="346075"/>
                    <a:pt x="0" y="321818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234" id="234"/>
          <p:cNvGrpSpPr/>
          <p:nvPr/>
        </p:nvGrpSpPr>
        <p:grpSpPr>
          <a:xfrm rot="0">
            <a:off x="10195560" y="7479792"/>
            <a:ext cx="448056" cy="274320"/>
            <a:chOff x="0" y="0"/>
            <a:chExt cx="597408" cy="365760"/>
          </a:xfrm>
        </p:grpSpPr>
        <p:sp>
          <p:nvSpPr>
            <p:cNvPr name="Freeform 235" id="235"/>
            <p:cNvSpPr/>
            <p:nvPr/>
          </p:nvSpPr>
          <p:spPr>
            <a:xfrm flipH="false" flipV="false" rot="0">
              <a:off x="0" y="0"/>
              <a:ext cx="597408" cy="365760"/>
            </a:xfrm>
            <a:custGeom>
              <a:avLst/>
              <a:gdLst/>
              <a:ahLst/>
              <a:cxnLst/>
              <a:rect r="r" b="b" t="t" l="l"/>
              <a:pathLst>
                <a:path h="365760" w="597408">
                  <a:moveTo>
                    <a:pt x="0" y="0"/>
                  </a:moveTo>
                  <a:lnTo>
                    <a:pt x="597408" y="0"/>
                  </a:lnTo>
                  <a:lnTo>
                    <a:pt x="597408" y="365760"/>
                  </a:lnTo>
                  <a:lnTo>
                    <a:pt x="0" y="36576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-28553" t="0" r="-28553" b="0"/>
              </a:stretch>
            </a:blipFill>
          </p:spPr>
        </p:sp>
        <p:sp>
          <p:nvSpPr>
            <p:cNvPr name="TextBox 236" id="236"/>
            <p:cNvSpPr txBox="true"/>
            <p:nvPr/>
          </p:nvSpPr>
          <p:spPr>
            <a:xfrm>
              <a:off x="0" y="-19050"/>
              <a:ext cx="597408" cy="3848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320"/>
                </a:lnSpc>
              </a:pPr>
              <a:r>
                <a:rPr lang="en-US" sz="1100" b="true">
                  <a:solidFill>
                    <a:srgbClr val="347C69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v3</a:t>
              </a:r>
            </a:p>
          </p:txBody>
        </p:sp>
      </p:grpSp>
      <p:grpSp>
        <p:nvGrpSpPr>
          <p:cNvPr name="Group 237" id="237"/>
          <p:cNvGrpSpPr/>
          <p:nvPr/>
        </p:nvGrpSpPr>
        <p:grpSpPr>
          <a:xfrm rot="0">
            <a:off x="10835640" y="7498080"/>
            <a:ext cx="210312" cy="210312"/>
            <a:chOff x="0" y="0"/>
            <a:chExt cx="280416" cy="280416"/>
          </a:xfrm>
        </p:grpSpPr>
        <p:sp>
          <p:nvSpPr>
            <p:cNvPr name="Freeform 238" id="238"/>
            <p:cNvSpPr/>
            <p:nvPr/>
          </p:nvSpPr>
          <p:spPr>
            <a:xfrm flipH="false" flipV="false" rot="0">
              <a:off x="0" y="0"/>
              <a:ext cx="280416" cy="280416"/>
            </a:xfrm>
            <a:custGeom>
              <a:avLst/>
              <a:gdLst/>
              <a:ahLst/>
              <a:cxnLst/>
              <a:rect r="r" b="b" t="t" l="l"/>
              <a:pathLst>
                <a:path h="280416" w="280416">
                  <a:moveTo>
                    <a:pt x="0" y="140208"/>
                  </a:moveTo>
                  <a:cubicBezTo>
                    <a:pt x="0" y="62738"/>
                    <a:pt x="62738" y="0"/>
                    <a:pt x="140208" y="0"/>
                  </a:cubicBezTo>
                  <a:cubicBezTo>
                    <a:pt x="217678" y="0"/>
                    <a:pt x="280416" y="62738"/>
                    <a:pt x="280416" y="140208"/>
                  </a:cubicBezTo>
                  <a:cubicBezTo>
                    <a:pt x="280416" y="217678"/>
                    <a:pt x="217678" y="280416"/>
                    <a:pt x="140208" y="280416"/>
                  </a:cubicBezTo>
                  <a:cubicBezTo>
                    <a:pt x="62738" y="280416"/>
                    <a:pt x="0" y="217678"/>
                    <a:pt x="0" y="140208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AutoShape 239" id="239"/>
          <p:cNvSpPr/>
          <p:nvPr/>
        </p:nvSpPr>
        <p:spPr>
          <a:xfrm rot="3002100">
            <a:off x="10854461" y="7597826"/>
            <a:ext cx="74695" cy="0"/>
          </a:xfrm>
          <a:prstGeom prst="line">
            <a:avLst/>
          </a:prstGeom>
          <a:ln cap="rnd" w="19050">
            <a:solidFill>
              <a:srgbClr val="347C69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40" id="240"/>
          <p:cNvSpPr/>
          <p:nvPr/>
        </p:nvSpPr>
        <p:spPr>
          <a:xfrm rot="-2812140">
            <a:off x="10869749" y="7570013"/>
            <a:ext cx="154676" cy="0"/>
          </a:xfrm>
          <a:prstGeom prst="line">
            <a:avLst/>
          </a:prstGeom>
          <a:ln cap="rnd" w="19050">
            <a:solidFill>
              <a:srgbClr val="347C69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41" id="241"/>
          <p:cNvGrpSpPr/>
          <p:nvPr/>
        </p:nvGrpSpPr>
        <p:grpSpPr>
          <a:xfrm rot="0">
            <a:off x="11228832" y="7467905"/>
            <a:ext cx="2286000" cy="301752"/>
            <a:chOff x="0" y="0"/>
            <a:chExt cx="3048000" cy="402336"/>
          </a:xfrm>
        </p:grpSpPr>
        <p:sp>
          <p:nvSpPr>
            <p:cNvPr name="Freeform 242" id="242"/>
            <p:cNvSpPr/>
            <p:nvPr/>
          </p:nvSpPr>
          <p:spPr>
            <a:xfrm flipH="false" flipV="false" rot="0">
              <a:off x="0" y="0"/>
              <a:ext cx="3048000" cy="402336"/>
            </a:xfrm>
            <a:custGeom>
              <a:avLst/>
              <a:gdLst/>
              <a:ahLst/>
              <a:cxnLst/>
              <a:rect r="r" b="b" t="t" l="l"/>
              <a:pathLst>
                <a:path h="402336" w="3048000">
                  <a:moveTo>
                    <a:pt x="0" y="0"/>
                  </a:moveTo>
                  <a:lnTo>
                    <a:pt x="3048000" y="0"/>
                  </a:lnTo>
                  <a:lnTo>
                    <a:pt x="3048000" y="402336"/>
                  </a:lnTo>
                  <a:lnTo>
                    <a:pt x="0" y="402336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97613" r="0" b="-97613"/>
              </a:stretch>
            </a:blipFill>
          </p:spPr>
        </p:sp>
        <p:sp>
          <p:nvSpPr>
            <p:cNvPr name="TextBox 243" id="243"/>
            <p:cNvSpPr txBox="true"/>
            <p:nvPr/>
          </p:nvSpPr>
          <p:spPr>
            <a:xfrm>
              <a:off x="0" y="-9525"/>
              <a:ext cx="3048000" cy="41186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28"/>
                </a:lnSpc>
              </a:pPr>
              <a:r>
                <a:rPr lang="en-US" sz="1190" b="true">
                  <a:solidFill>
                    <a:srgbClr val="347C69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No open gaps</a:t>
              </a:r>
            </a:p>
          </p:txBody>
        </p:sp>
      </p:grpSp>
      <p:sp>
        <p:nvSpPr>
          <p:cNvPr name="AutoShape 244" id="244"/>
          <p:cNvSpPr/>
          <p:nvPr/>
        </p:nvSpPr>
        <p:spPr>
          <a:xfrm>
            <a:off x="13642848" y="7626096"/>
            <a:ext cx="380354" cy="0"/>
          </a:xfrm>
          <a:prstGeom prst="line">
            <a:avLst/>
          </a:prstGeom>
          <a:ln cap="rnd" w="57150">
            <a:solidFill>
              <a:srgbClr val="315D6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45" id="245"/>
          <p:cNvSpPr/>
          <p:nvPr/>
        </p:nvSpPr>
        <p:spPr>
          <a:xfrm rot="-5344620">
            <a:off x="13102342" y="6715125"/>
            <a:ext cx="1812522" cy="0"/>
          </a:xfrm>
          <a:prstGeom prst="line">
            <a:avLst/>
          </a:prstGeom>
          <a:ln cap="rnd" w="57150">
            <a:solidFill>
              <a:srgbClr val="315D66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46" id="246"/>
          <p:cNvGrpSpPr/>
          <p:nvPr/>
        </p:nvGrpSpPr>
        <p:grpSpPr>
          <a:xfrm rot="0">
            <a:off x="13871448" y="5618988"/>
            <a:ext cx="841248" cy="466344"/>
            <a:chOff x="0" y="0"/>
            <a:chExt cx="1121664" cy="621792"/>
          </a:xfrm>
        </p:grpSpPr>
        <p:sp>
          <p:nvSpPr>
            <p:cNvPr name="Freeform 247" id="247"/>
            <p:cNvSpPr/>
            <p:nvPr/>
          </p:nvSpPr>
          <p:spPr>
            <a:xfrm flipH="false" flipV="false" rot="0">
              <a:off x="0" y="0"/>
              <a:ext cx="1121664" cy="621792"/>
            </a:xfrm>
            <a:custGeom>
              <a:avLst/>
              <a:gdLst/>
              <a:ahLst/>
              <a:cxnLst/>
              <a:rect r="r" b="b" t="t" l="l"/>
              <a:pathLst>
                <a:path h="621792" w="1121664">
                  <a:moveTo>
                    <a:pt x="0" y="199009"/>
                  </a:moveTo>
                  <a:lnTo>
                    <a:pt x="928878" y="199009"/>
                  </a:lnTo>
                  <a:lnTo>
                    <a:pt x="928878" y="0"/>
                  </a:lnTo>
                  <a:lnTo>
                    <a:pt x="1121664" y="310896"/>
                  </a:lnTo>
                  <a:lnTo>
                    <a:pt x="928878" y="621792"/>
                  </a:lnTo>
                  <a:lnTo>
                    <a:pt x="928878" y="422783"/>
                  </a:lnTo>
                  <a:lnTo>
                    <a:pt x="0" y="422783"/>
                  </a:lnTo>
                  <a:close/>
                </a:path>
              </a:pathLst>
            </a:custGeom>
            <a:solidFill>
              <a:srgbClr val="315D66"/>
            </a:solidFill>
          </p:spPr>
        </p:sp>
      </p:grpSp>
      <p:grpSp>
        <p:nvGrpSpPr>
          <p:cNvPr name="Group 248" id="248"/>
          <p:cNvGrpSpPr/>
          <p:nvPr/>
        </p:nvGrpSpPr>
        <p:grpSpPr>
          <a:xfrm rot="0">
            <a:off x="13359384" y="5431536"/>
            <a:ext cx="1271016" cy="256032"/>
            <a:chOff x="0" y="0"/>
            <a:chExt cx="1694688" cy="341376"/>
          </a:xfrm>
        </p:grpSpPr>
        <p:sp>
          <p:nvSpPr>
            <p:cNvPr name="Freeform 249" id="249"/>
            <p:cNvSpPr/>
            <p:nvPr/>
          </p:nvSpPr>
          <p:spPr>
            <a:xfrm flipH="false" flipV="false" rot="0">
              <a:off x="0" y="0"/>
              <a:ext cx="1694688" cy="341376"/>
            </a:xfrm>
            <a:custGeom>
              <a:avLst/>
              <a:gdLst/>
              <a:ahLst/>
              <a:cxnLst/>
              <a:rect r="r" b="b" t="t" l="l"/>
              <a:pathLst>
                <a:path h="341376" w="1694688">
                  <a:moveTo>
                    <a:pt x="0" y="0"/>
                  </a:moveTo>
                  <a:lnTo>
                    <a:pt x="1694688" y="0"/>
                  </a:lnTo>
                  <a:lnTo>
                    <a:pt x="1694688" y="341376"/>
                  </a:lnTo>
                  <a:lnTo>
                    <a:pt x="0" y="341376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46729" r="0" b="-46729"/>
              </a:stretch>
            </a:blipFill>
          </p:spPr>
        </p:sp>
        <p:sp>
          <p:nvSpPr>
            <p:cNvPr name="TextBox 250" id="250"/>
            <p:cNvSpPr txBox="true"/>
            <p:nvPr/>
          </p:nvSpPr>
          <p:spPr>
            <a:xfrm>
              <a:off x="0" y="0"/>
              <a:ext cx="1694688" cy="3413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152"/>
                </a:lnSpc>
              </a:pPr>
              <a:r>
                <a:rPr lang="en-US" sz="960" b="true">
                  <a:solidFill>
                    <a:srgbClr val="347C69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WHEN CLEAR</a:t>
              </a:r>
            </a:p>
          </p:txBody>
        </p:sp>
      </p:grpSp>
      <p:sp>
        <p:nvSpPr>
          <p:cNvPr name="AutoShape 251" id="251"/>
          <p:cNvSpPr/>
          <p:nvPr/>
        </p:nvSpPr>
        <p:spPr>
          <a:xfrm rot="2700">
            <a:off x="1109215" y="8416862"/>
            <a:ext cx="16106146" cy="0"/>
          </a:xfrm>
          <a:prstGeom prst="line">
            <a:avLst/>
          </a:prstGeom>
          <a:ln cap="rnd" w="9525">
            <a:solidFill>
              <a:srgbClr val="D1DDD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52" id="252"/>
          <p:cNvGrpSpPr/>
          <p:nvPr/>
        </p:nvGrpSpPr>
        <p:grpSpPr>
          <a:xfrm rot="0">
            <a:off x="1152144" y="8705088"/>
            <a:ext cx="265176" cy="265176"/>
            <a:chOff x="0" y="0"/>
            <a:chExt cx="353568" cy="353568"/>
          </a:xfrm>
        </p:grpSpPr>
        <p:sp>
          <p:nvSpPr>
            <p:cNvPr name="Freeform 253" id="253"/>
            <p:cNvSpPr/>
            <p:nvPr/>
          </p:nvSpPr>
          <p:spPr>
            <a:xfrm flipH="false" flipV="false" rot="0">
              <a:off x="0" y="0"/>
              <a:ext cx="353568" cy="353568"/>
            </a:xfrm>
            <a:custGeom>
              <a:avLst/>
              <a:gdLst/>
              <a:ahLst/>
              <a:cxnLst/>
              <a:rect r="r" b="b" t="t" l="l"/>
              <a:pathLst>
                <a:path h="353568" w="353568">
                  <a:moveTo>
                    <a:pt x="0" y="176784"/>
                  </a:moveTo>
                  <a:cubicBezTo>
                    <a:pt x="0" y="79121"/>
                    <a:pt x="79121" y="0"/>
                    <a:pt x="176784" y="0"/>
                  </a:cubicBezTo>
                  <a:cubicBezTo>
                    <a:pt x="274447" y="0"/>
                    <a:pt x="353568" y="79121"/>
                    <a:pt x="353568" y="176784"/>
                  </a:cubicBezTo>
                  <a:cubicBezTo>
                    <a:pt x="353568" y="274447"/>
                    <a:pt x="274447" y="353568"/>
                    <a:pt x="176784" y="353568"/>
                  </a:cubicBezTo>
                  <a:cubicBezTo>
                    <a:pt x="79121" y="353568"/>
                    <a:pt x="0" y="274447"/>
                    <a:pt x="0" y="176784"/>
                  </a:cubicBezTo>
                  <a:close/>
                </a:path>
              </a:pathLst>
            </a:custGeom>
            <a:solidFill>
              <a:srgbClr val="E8F2F2"/>
            </a:solidFill>
          </p:spPr>
        </p:sp>
      </p:grpSp>
      <p:sp>
        <p:nvSpPr>
          <p:cNvPr name="AutoShape 254" id="254"/>
          <p:cNvSpPr/>
          <p:nvPr/>
        </p:nvSpPr>
        <p:spPr>
          <a:xfrm rot="3014040">
            <a:off x="1189253" y="8832266"/>
            <a:ext cx="79238" cy="0"/>
          </a:xfrm>
          <a:prstGeom prst="line">
            <a:avLst/>
          </a:prstGeom>
          <a:ln cap="rnd" w="19050">
            <a:solidFill>
              <a:srgbClr val="315D6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55" id="255"/>
          <p:cNvSpPr/>
          <p:nvPr/>
        </p:nvSpPr>
        <p:spPr>
          <a:xfrm rot="-2814180">
            <a:off x="1206113" y="8801595"/>
            <a:ext cx="167411" cy="0"/>
          </a:xfrm>
          <a:prstGeom prst="line">
            <a:avLst/>
          </a:prstGeom>
          <a:ln cap="rnd" w="19050">
            <a:solidFill>
              <a:srgbClr val="315D66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56" id="256"/>
          <p:cNvGrpSpPr/>
          <p:nvPr/>
        </p:nvGrpSpPr>
        <p:grpSpPr>
          <a:xfrm rot="0">
            <a:off x="1545336" y="8641080"/>
            <a:ext cx="4023360" cy="384048"/>
            <a:chOff x="0" y="0"/>
            <a:chExt cx="5364480" cy="512064"/>
          </a:xfrm>
        </p:grpSpPr>
        <p:sp>
          <p:nvSpPr>
            <p:cNvPr name="Freeform 257" id="257"/>
            <p:cNvSpPr/>
            <p:nvPr/>
          </p:nvSpPr>
          <p:spPr>
            <a:xfrm flipH="false" flipV="false" rot="0">
              <a:off x="0" y="0"/>
              <a:ext cx="5364480" cy="512064"/>
            </a:xfrm>
            <a:custGeom>
              <a:avLst/>
              <a:gdLst/>
              <a:ahLst/>
              <a:cxnLst/>
              <a:rect r="r" b="b" t="t" l="l"/>
              <a:pathLst>
                <a:path h="512064" w="5364480">
                  <a:moveTo>
                    <a:pt x="0" y="0"/>
                  </a:moveTo>
                  <a:lnTo>
                    <a:pt x="5364480" y="0"/>
                  </a:lnTo>
                  <a:lnTo>
                    <a:pt x="536448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54128" r="0" b="-154128"/>
              </a:stretch>
            </a:blipFill>
          </p:spPr>
        </p:sp>
        <p:sp>
          <p:nvSpPr>
            <p:cNvPr name="TextBox 258" id="258"/>
            <p:cNvSpPr txBox="true"/>
            <p:nvPr/>
          </p:nvSpPr>
          <p:spPr>
            <a:xfrm>
              <a:off x="0" y="-9525"/>
              <a:ext cx="5364480" cy="5215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00"/>
                </a:lnSpc>
              </a:pPr>
              <a:r>
                <a:rPr lang="en-US" sz="1250" b="true">
                  <a:solidFill>
                    <a:srgbClr val="315D6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REAL CONTEXT</a:t>
              </a:r>
            </a:p>
          </p:txBody>
        </p:sp>
      </p:grpSp>
      <p:grpSp>
        <p:nvGrpSpPr>
          <p:cNvPr name="Group 259" id="259"/>
          <p:cNvGrpSpPr/>
          <p:nvPr/>
        </p:nvGrpSpPr>
        <p:grpSpPr>
          <a:xfrm rot="0">
            <a:off x="6885432" y="8705088"/>
            <a:ext cx="265176" cy="265176"/>
            <a:chOff x="0" y="0"/>
            <a:chExt cx="353568" cy="353568"/>
          </a:xfrm>
        </p:grpSpPr>
        <p:sp>
          <p:nvSpPr>
            <p:cNvPr name="Freeform 260" id="260"/>
            <p:cNvSpPr/>
            <p:nvPr/>
          </p:nvSpPr>
          <p:spPr>
            <a:xfrm flipH="false" flipV="false" rot="0">
              <a:off x="0" y="0"/>
              <a:ext cx="353568" cy="353568"/>
            </a:xfrm>
            <a:custGeom>
              <a:avLst/>
              <a:gdLst/>
              <a:ahLst/>
              <a:cxnLst/>
              <a:rect r="r" b="b" t="t" l="l"/>
              <a:pathLst>
                <a:path h="353568" w="353568">
                  <a:moveTo>
                    <a:pt x="0" y="176784"/>
                  </a:moveTo>
                  <a:cubicBezTo>
                    <a:pt x="0" y="79121"/>
                    <a:pt x="79121" y="0"/>
                    <a:pt x="176784" y="0"/>
                  </a:cubicBezTo>
                  <a:cubicBezTo>
                    <a:pt x="274447" y="0"/>
                    <a:pt x="353568" y="79121"/>
                    <a:pt x="353568" y="176784"/>
                  </a:cubicBezTo>
                  <a:cubicBezTo>
                    <a:pt x="353568" y="274447"/>
                    <a:pt x="274447" y="353568"/>
                    <a:pt x="176784" y="353568"/>
                  </a:cubicBezTo>
                  <a:cubicBezTo>
                    <a:pt x="79121" y="353568"/>
                    <a:pt x="0" y="274447"/>
                    <a:pt x="0" y="176784"/>
                  </a:cubicBezTo>
                  <a:close/>
                </a:path>
              </a:pathLst>
            </a:custGeom>
            <a:solidFill>
              <a:srgbClr val="E8F2F2"/>
            </a:solidFill>
          </p:spPr>
        </p:sp>
      </p:grpSp>
      <p:sp>
        <p:nvSpPr>
          <p:cNvPr name="AutoShape 261" id="261"/>
          <p:cNvSpPr/>
          <p:nvPr/>
        </p:nvSpPr>
        <p:spPr>
          <a:xfrm rot="3014040">
            <a:off x="6922541" y="8832266"/>
            <a:ext cx="79238" cy="0"/>
          </a:xfrm>
          <a:prstGeom prst="line">
            <a:avLst/>
          </a:prstGeom>
          <a:ln cap="rnd" w="19050">
            <a:solidFill>
              <a:srgbClr val="315D6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62" id="262"/>
          <p:cNvSpPr/>
          <p:nvPr/>
        </p:nvSpPr>
        <p:spPr>
          <a:xfrm rot="-2814180">
            <a:off x="6939401" y="8801595"/>
            <a:ext cx="167411" cy="0"/>
          </a:xfrm>
          <a:prstGeom prst="line">
            <a:avLst/>
          </a:prstGeom>
          <a:ln cap="rnd" w="19050">
            <a:solidFill>
              <a:srgbClr val="315D66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63" id="263"/>
          <p:cNvGrpSpPr/>
          <p:nvPr/>
        </p:nvGrpSpPr>
        <p:grpSpPr>
          <a:xfrm rot="0">
            <a:off x="7278624" y="8641080"/>
            <a:ext cx="4023360" cy="384048"/>
            <a:chOff x="0" y="0"/>
            <a:chExt cx="5364480" cy="512064"/>
          </a:xfrm>
        </p:grpSpPr>
        <p:sp>
          <p:nvSpPr>
            <p:cNvPr name="Freeform 264" id="264"/>
            <p:cNvSpPr/>
            <p:nvPr/>
          </p:nvSpPr>
          <p:spPr>
            <a:xfrm flipH="false" flipV="false" rot="0">
              <a:off x="0" y="0"/>
              <a:ext cx="5364480" cy="512064"/>
            </a:xfrm>
            <a:custGeom>
              <a:avLst/>
              <a:gdLst/>
              <a:ahLst/>
              <a:cxnLst/>
              <a:rect r="r" b="b" t="t" l="l"/>
              <a:pathLst>
                <a:path h="512064" w="5364480">
                  <a:moveTo>
                    <a:pt x="0" y="0"/>
                  </a:moveTo>
                  <a:lnTo>
                    <a:pt x="5364480" y="0"/>
                  </a:lnTo>
                  <a:lnTo>
                    <a:pt x="536448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54128" r="0" b="-154128"/>
              </a:stretch>
            </a:blipFill>
          </p:spPr>
        </p:sp>
        <p:sp>
          <p:nvSpPr>
            <p:cNvPr name="TextBox 265" id="265"/>
            <p:cNvSpPr txBox="true"/>
            <p:nvPr/>
          </p:nvSpPr>
          <p:spPr>
            <a:xfrm>
              <a:off x="0" y="-9525"/>
              <a:ext cx="5364480" cy="5215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00"/>
                </a:lnSpc>
              </a:pPr>
              <a:r>
                <a:rPr lang="en-US" sz="1250" b="true">
                  <a:solidFill>
                    <a:srgbClr val="315D6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ONGOING CHECKS</a:t>
              </a:r>
            </a:p>
          </p:txBody>
        </p:sp>
      </p:grpSp>
      <p:grpSp>
        <p:nvGrpSpPr>
          <p:cNvPr name="Group 266" id="266"/>
          <p:cNvGrpSpPr/>
          <p:nvPr/>
        </p:nvGrpSpPr>
        <p:grpSpPr>
          <a:xfrm rot="0">
            <a:off x="12527280" y="8705088"/>
            <a:ext cx="265176" cy="265176"/>
            <a:chOff x="0" y="0"/>
            <a:chExt cx="353568" cy="353568"/>
          </a:xfrm>
        </p:grpSpPr>
        <p:sp>
          <p:nvSpPr>
            <p:cNvPr name="Freeform 267" id="267"/>
            <p:cNvSpPr/>
            <p:nvPr/>
          </p:nvSpPr>
          <p:spPr>
            <a:xfrm flipH="false" flipV="false" rot="0">
              <a:off x="0" y="0"/>
              <a:ext cx="353568" cy="353568"/>
            </a:xfrm>
            <a:custGeom>
              <a:avLst/>
              <a:gdLst/>
              <a:ahLst/>
              <a:cxnLst/>
              <a:rect r="r" b="b" t="t" l="l"/>
              <a:pathLst>
                <a:path h="353568" w="353568">
                  <a:moveTo>
                    <a:pt x="0" y="176784"/>
                  </a:moveTo>
                  <a:cubicBezTo>
                    <a:pt x="0" y="79121"/>
                    <a:pt x="79121" y="0"/>
                    <a:pt x="176784" y="0"/>
                  </a:cubicBezTo>
                  <a:cubicBezTo>
                    <a:pt x="274447" y="0"/>
                    <a:pt x="353568" y="79121"/>
                    <a:pt x="353568" y="176784"/>
                  </a:cubicBezTo>
                  <a:cubicBezTo>
                    <a:pt x="353568" y="274447"/>
                    <a:pt x="274447" y="353568"/>
                    <a:pt x="176784" y="353568"/>
                  </a:cubicBezTo>
                  <a:cubicBezTo>
                    <a:pt x="79121" y="353568"/>
                    <a:pt x="0" y="274447"/>
                    <a:pt x="0" y="176784"/>
                  </a:cubicBezTo>
                  <a:close/>
                </a:path>
              </a:pathLst>
            </a:custGeom>
            <a:solidFill>
              <a:srgbClr val="E8F2F2"/>
            </a:solidFill>
          </p:spPr>
        </p:sp>
      </p:grpSp>
      <p:sp>
        <p:nvSpPr>
          <p:cNvPr name="AutoShape 268" id="268"/>
          <p:cNvSpPr/>
          <p:nvPr/>
        </p:nvSpPr>
        <p:spPr>
          <a:xfrm rot="3014040">
            <a:off x="12564389" y="8832266"/>
            <a:ext cx="79238" cy="0"/>
          </a:xfrm>
          <a:prstGeom prst="line">
            <a:avLst/>
          </a:prstGeom>
          <a:ln cap="rnd" w="19050">
            <a:solidFill>
              <a:srgbClr val="315D6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69" id="269"/>
          <p:cNvSpPr/>
          <p:nvPr/>
        </p:nvSpPr>
        <p:spPr>
          <a:xfrm rot="-2814180">
            <a:off x="12581249" y="8801595"/>
            <a:ext cx="167411" cy="0"/>
          </a:xfrm>
          <a:prstGeom prst="line">
            <a:avLst/>
          </a:prstGeom>
          <a:ln cap="rnd" w="19050">
            <a:solidFill>
              <a:srgbClr val="315D66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70" id="270"/>
          <p:cNvGrpSpPr/>
          <p:nvPr/>
        </p:nvGrpSpPr>
        <p:grpSpPr>
          <a:xfrm rot="0">
            <a:off x="12920472" y="8641080"/>
            <a:ext cx="4023360" cy="384048"/>
            <a:chOff x="0" y="0"/>
            <a:chExt cx="5364480" cy="512064"/>
          </a:xfrm>
        </p:grpSpPr>
        <p:sp>
          <p:nvSpPr>
            <p:cNvPr name="Freeform 271" id="271"/>
            <p:cNvSpPr/>
            <p:nvPr/>
          </p:nvSpPr>
          <p:spPr>
            <a:xfrm flipH="false" flipV="false" rot="0">
              <a:off x="0" y="0"/>
              <a:ext cx="5364480" cy="512064"/>
            </a:xfrm>
            <a:custGeom>
              <a:avLst/>
              <a:gdLst/>
              <a:ahLst/>
              <a:cxnLst/>
              <a:rect r="r" b="b" t="t" l="l"/>
              <a:pathLst>
                <a:path h="512064" w="5364480">
                  <a:moveTo>
                    <a:pt x="0" y="0"/>
                  </a:moveTo>
                  <a:lnTo>
                    <a:pt x="5364480" y="0"/>
                  </a:lnTo>
                  <a:lnTo>
                    <a:pt x="536448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l="0" t="-154128" r="0" b="-154128"/>
              </a:stretch>
            </a:blipFill>
          </p:spPr>
        </p:sp>
        <p:sp>
          <p:nvSpPr>
            <p:cNvPr name="TextBox 272" id="272"/>
            <p:cNvSpPr txBox="true"/>
            <p:nvPr/>
          </p:nvSpPr>
          <p:spPr>
            <a:xfrm>
              <a:off x="0" y="-9525"/>
              <a:ext cx="5364480" cy="5215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00"/>
                </a:lnSpc>
              </a:pPr>
              <a:r>
                <a:rPr lang="en-US" sz="1250" b="true">
                  <a:solidFill>
                    <a:srgbClr val="315D6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LAWYER-READY</a:t>
              </a:r>
            </a:p>
          </p:txBody>
        </p:sp>
      </p:grpSp>
      <p:grpSp>
        <p:nvGrpSpPr>
          <p:cNvPr name="Group 273" id="273"/>
          <p:cNvGrpSpPr/>
          <p:nvPr/>
        </p:nvGrpSpPr>
        <p:grpSpPr>
          <a:xfrm rot="0">
            <a:off x="4158586" y="1272016"/>
            <a:ext cx="269215" cy="222028"/>
            <a:chOff x="0" y="0"/>
            <a:chExt cx="358953" cy="296037"/>
          </a:xfrm>
        </p:grpSpPr>
        <p:sp>
          <p:nvSpPr>
            <p:cNvPr name="Freeform 274" id="274" descr="image.png"/>
            <p:cNvSpPr/>
            <p:nvPr/>
          </p:nvSpPr>
          <p:spPr>
            <a:xfrm flipH="false" flipV="false" rot="0">
              <a:off x="0" y="0"/>
              <a:ext cx="358902" cy="296037"/>
            </a:xfrm>
            <a:custGeom>
              <a:avLst/>
              <a:gdLst/>
              <a:ahLst/>
              <a:cxnLst/>
              <a:rect r="r" b="b" t="t" l="l"/>
              <a:pathLst>
                <a:path h="296037" w="358902">
                  <a:moveTo>
                    <a:pt x="0" y="0"/>
                  </a:moveTo>
                  <a:lnTo>
                    <a:pt x="358902" y="0"/>
                  </a:lnTo>
                  <a:lnTo>
                    <a:pt x="358902" y="296037"/>
                  </a:lnTo>
                  <a:lnTo>
                    <a:pt x="0" y="2960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-14" b="0"/>
              </a:stretch>
            </a:blipFill>
          </p:spPr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FF4F3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286893" y="2371725"/>
            <a:ext cx="4427982" cy="6485382"/>
            <a:chOff x="0" y="0"/>
            <a:chExt cx="5903976" cy="864717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903976" cy="8647176"/>
            </a:xfrm>
            <a:custGeom>
              <a:avLst/>
              <a:gdLst/>
              <a:ahLst/>
              <a:cxnLst/>
              <a:rect r="r" b="b" t="t" l="l"/>
              <a:pathLst>
                <a:path h="8647176" w="5903976">
                  <a:moveTo>
                    <a:pt x="0" y="590423"/>
                  </a:moveTo>
                  <a:cubicBezTo>
                    <a:pt x="0" y="264287"/>
                    <a:pt x="264287" y="0"/>
                    <a:pt x="590423" y="0"/>
                  </a:cubicBezTo>
                  <a:lnTo>
                    <a:pt x="5313553" y="0"/>
                  </a:lnTo>
                  <a:cubicBezTo>
                    <a:pt x="5639562" y="0"/>
                    <a:pt x="5903976" y="264287"/>
                    <a:pt x="5903976" y="590423"/>
                  </a:cubicBezTo>
                  <a:lnTo>
                    <a:pt x="5903976" y="8056753"/>
                  </a:lnTo>
                  <a:cubicBezTo>
                    <a:pt x="5903976" y="8382762"/>
                    <a:pt x="5639689" y="8647176"/>
                    <a:pt x="5313553" y="8647176"/>
                  </a:cubicBezTo>
                  <a:lnTo>
                    <a:pt x="590423" y="8647176"/>
                  </a:lnTo>
                  <a:cubicBezTo>
                    <a:pt x="264287" y="8647176"/>
                    <a:pt x="0" y="8382889"/>
                    <a:pt x="0" y="8056753"/>
                  </a:cubicBezTo>
                  <a:close/>
                </a:path>
              </a:pathLst>
            </a:custGeom>
            <a:solidFill>
              <a:srgbClr val="FFFFFF"/>
            </a:solidFill>
            <a:ln w="11430" cap="sq">
              <a:solidFill>
                <a:srgbClr val="D2DFE0"/>
              </a:solidFill>
              <a:prstDash val="solid"/>
              <a:miter/>
            </a:ln>
          </p:spPr>
        </p:sp>
      </p:grpSp>
      <p:grpSp>
        <p:nvGrpSpPr>
          <p:cNvPr name="Group 6" id="6"/>
          <p:cNvGrpSpPr/>
          <p:nvPr/>
        </p:nvGrpSpPr>
        <p:grpSpPr>
          <a:xfrm rot="0">
            <a:off x="539496" y="2606040"/>
            <a:ext cx="3913632" cy="5257800"/>
            <a:chOff x="0" y="0"/>
            <a:chExt cx="5218176" cy="7010400"/>
          </a:xfrm>
        </p:grpSpPr>
        <p:sp>
          <p:nvSpPr>
            <p:cNvPr name="Freeform 7" id="7" descr="image.png"/>
            <p:cNvSpPr/>
            <p:nvPr/>
          </p:nvSpPr>
          <p:spPr>
            <a:xfrm flipH="false" flipV="false" rot="0">
              <a:off x="0" y="0"/>
              <a:ext cx="5218176" cy="7010400"/>
            </a:xfrm>
            <a:custGeom>
              <a:avLst/>
              <a:gdLst/>
              <a:ahLst/>
              <a:cxnLst/>
              <a:rect r="r" b="b" t="t" l="l"/>
              <a:pathLst>
                <a:path h="7010400" w="5218176">
                  <a:moveTo>
                    <a:pt x="0" y="0"/>
                  </a:moveTo>
                  <a:lnTo>
                    <a:pt x="5218176" y="0"/>
                  </a:lnTo>
                  <a:lnTo>
                    <a:pt x="5218176" y="7010400"/>
                  </a:lnTo>
                  <a:lnTo>
                    <a:pt x="0" y="7010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66" r="0" b="-66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539496" y="8101584"/>
            <a:ext cx="64008" cy="457200"/>
            <a:chOff x="0" y="0"/>
            <a:chExt cx="85344" cy="6096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5344" cy="609600"/>
            </a:xfrm>
            <a:custGeom>
              <a:avLst/>
              <a:gdLst/>
              <a:ahLst/>
              <a:cxnLst/>
              <a:rect r="r" b="b" t="t" l="l"/>
              <a:pathLst>
                <a:path h="609600" w="85344">
                  <a:moveTo>
                    <a:pt x="0" y="0"/>
                  </a:moveTo>
                  <a:lnTo>
                    <a:pt x="85344" y="0"/>
                  </a:lnTo>
                  <a:lnTo>
                    <a:pt x="85344" y="609600"/>
                  </a:lnTo>
                  <a:lnTo>
                    <a:pt x="0" y="609600"/>
                  </a:lnTo>
                  <a:close/>
                </a:path>
              </a:pathLst>
            </a:custGeom>
            <a:solidFill>
              <a:srgbClr val="48757B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740664" y="8019288"/>
            <a:ext cx="3730752" cy="338328"/>
            <a:chOff x="0" y="0"/>
            <a:chExt cx="4974336" cy="451104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974336" cy="451104"/>
            </a:xfrm>
            <a:custGeom>
              <a:avLst/>
              <a:gdLst/>
              <a:ahLst/>
              <a:cxnLst/>
              <a:rect r="r" b="b" t="t" l="l"/>
              <a:pathLst>
                <a:path h="451104" w="4974336">
                  <a:moveTo>
                    <a:pt x="0" y="0"/>
                  </a:moveTo>
                  <a:lnTo>
                    <a:pt x="4974336" y="0"/>
                  </a:lnTo>
                  <a:lnTo>
                    <a:pt x="4974336" y="451104"/>
                  </a:lnTo>
                  <a:lnTo>
                    <a:pt x="0" y="4511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4862" r="0" b="-16486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4974336" cy="46062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99"/>
                </a:lnSpc>
              </a:pPr>
              <a:r>
                <a:rPr lang="en-US" sz="1749" b="true">
                  <a:solidFill>
                    <a:srgbClr val="1E242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SIMONE MATTIOLI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740664" y="8385048"/>
            <a:ext cx="3730752" cy="237744"/>
            <a:chOff x="0" y="0"/>
            <a:chExt cx="4974336" cy="316992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974336" cy="316992"/>
            </a:xfrm>
            <a:custGeom>
              <a:avLst/>
              <a:gdLst/>
              <a:ahLst/>
              <a:cxnLst/>
              <a:rect r="r" b="b" t="t" l="l"/>
              <a:pathLst>
                <a:path h="316992" w="4974336">
                  <a:moveTo>
                    <a:pt x="0" y="0"/>
                  </a:moveTo>
                  <a:lnTo>
                    <a:pt x="4974336" y="0"/>
                  </a:lnTo>
                  <a:lnTo>
                    <a:pt x="4974336" y="316992"/>
                  </a:lnTo>
                  <a:lnTo>
                    <a:pt x="0" y="3169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55765" r="0" b="-255765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19050"/>
              <a:ext cx="4974336" cy="3360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32"/>
                </a:lnSpc>
              </a:pPr>
              <a:r>
                <a:rPr lang="en-US" sz="1110">
                  <a:solidFill>
                    <a:srgbClr val="365F65"/>
                  </a:solidFill>
                  <a:latin typeface="Poppins"/>
                  <a:ea typeface="Poppins"/>
                  <a:cs typeface="Poppins"/>
                  <a:sym typeface="Poppins"/>
                </a:rPr>
                <a:t>AI &amp; product development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3286232" y="0"/>
            <a:ext cx="5001768" cy="10287000"/>
            <a:chOff x="0" y="0"/>
            <a:chExt cx="6669024" cy="13716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666902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6669024">
                  <a:moveTo>
                    <a:pt x="0" y="0"/>
                  </a:moveTo>
                  <a:lnTo>
                    <a:pt x="6669024" y="0"/>
                  </a:lnTo>
                  <a:lnTo>
                    <a:pt x="666902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FF4F3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4977765" y="2371725"/>
            <a:ext cx="8332470" cy="6485382"/>
            <a:chOff x="0" y="0"/>
            <a:chExt cx="11109960" cy="864717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1109961" cy="8647176"/>
            </a:xfrm>
            <a:custGeom>
              <a:avLst/>
              <a:gdLst/>
              <a:ahLst/>
              <a:cxnLst/>
              <a:rect r="r" b="b" t="t" l="l"/>
              <a:pathLst>
                <a:path h="8647176" w="11109961">
                  <a:moveTo>
                    <a:pt x="0" y="864743"/>
                  </a:moveTo>
                  <a:cubicBezTo>
                    <a:pt x="0" y="387096"/>
                    <a:pt x="387096" y="0"/>
                    <a:pt x="864743" y="0"/>
                  </a:cubicBezTo>
                  <a:lnTo>
                    <a:pt x="10245217" y="0"/>
                  </a:lnTo>
                  <a:cubicBezTo>
                    <a:pt x="10722737" y="0"/>
                    <a:pt x="11109961" y="387096"/>
                    <a:pt x="11109961" y="864743"/>
                  </a:cubicBezTo>
                  <a:lnTo>
                    <a:pt x="11109961" y="7782433"/>
                  </a:lnTo>
                  <a:cubicBezTo>
                    <a:pt x="11109961" y="8259953"/>
                    <a:pt x="10722864" y="8647176"/>
                    <a:pt x="10245217" y="8647176"/>
                  </a:cubicBezTo>
                  <a:lnTo>
                    <a:pt x="864743" y="8647176"/>
                  </a:lnTo>
                  <a:cubicBezTo>
                    <a:pt x="387096" y="8647176"/>
                    <a:pt x="0" y="8260080"/>
                    <a:pt x="0" y="7782433"/>
                  </a:cubicBezTo>
                  <a:close/>
                </a:path>
              </a:pathLst>
            </a:custGeom>
            <a:solidFill>
              <a:srgbClr val="FFFFFF"/>
            </a:solidFill>
            <a:ln w="11430" cap="sq">
              <a:solidFill>
                <a:srgbClr val="D2DFE0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13573125" y="2371725"/>
            <a:ext cx="4427982" cy="6485382"/>
            <a:chOff x="0" y="0"/>
            <a:chExt cx="5903976" cy="864717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903976" cy="8647176"/>
            </a:xfrm>
            <a:custGeom>
              <a:avLst/>
              <a:gdLst/>
              <a:ahLst/>
              <a:cxnLst/>
              <a:rect r="r" b="b" t="t" l="l"/>
              <a:pathLst>
                <a:path h="8647176" w="5903976">
                  <a:moveTo>
                    <a:pt x="0" y="590423"/>
                  </a:moveTo>
                  <a:cubicBezTo>
                    <a:pt x="0" y="264287"/>
                    <a:pt x="264287" y="0"/>
                    <a:pt x="590423" y="0"/>
                  </a:cubicBezTo>
                  <a:lnTo>
                    <a:pt x="5313553" y="0"/>
                  </a:lnTo>
                  <a:cubicBezTo>
                    <a:pt x="5639562" y="0"/>
                    <a:pt x="5903976" y="264287"/>
                    <a:pt x="5903976" y="590423"/>
                  </a:cubicBezTo>
                  <a:lnTo>
                    <a:pt x="5903976" y="8056753"/>
                  </a:lnTo>
                  <a:cubicBezTo>
                    <a:pt x="5903976" y="8382762"/>
                    <a:pt x="5639689" y="8647176"/>
                    <a:pt x="5313553" y="8647176"/>
                  </a:cubicBezTo>
                  <a:lnTo>
                    <a:pt x="590423" y="8647176"/>
                  </a:lnTo>
                  <a:cubicBezTo>
                    <a:pt x="264287" y="8647176"/>
                    <a:pt x="0" y="8382889"/>
                    <a:pt x="0" y="8056753"/>
                  </a:cubicBezTo>
                  <a:close/>
                </a:path>
              </a:pathLst>
            </a:custGeom>
            <a:solidFill>
              <a:srgbClr val="FFFFFF"/>
            </a:solidFill>
            <a:ln w="11430" cap="sq">
              <a:solidFill>
                <a:srgbClr val="D2DFE0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13825728" y="2606040"/>
            <a:ext cx="3913632" cy="5257800"/>
            <a:chOff x="0" y="0"/>
            <a:chExt cx="5218176" cy="7010400"/>
          </a:xfrm>
        </p:grpSpPr>
        <p:sp>
          <p:nvSpPr>
            <p:cNvPr name="Freeform 23" id="23" descr="image.png"/>
            <p:cNvSpPr/>
            <p:nvPr/>
          </p:nvSpPr>
          <p:spPr>
            <a:xfrm flipH="false" flipV="false" rot="0">
              <a:off x="0" y="0"/>
              <a:ext cx="5218176" cy="7010400"/>
            </a:xfrm>
            <a:custGeom>
              <a:avLst/>
              <a:gdLst/>
              <a:ahLst/>
              <a:cxnLst/>
              <a:rect r="r" b="b" t="t" l="l"/>
              <a:pathLst>
                <a:path h="7010400" w="5218176">
                  <a:moveTo>
                    <a:pt x="0" y="0"/>
                  </a:moveTo>
                  <a:lnTo>
                    <a:pt x="5218176" y="0"/>
                  </a:lnTo>
                  <a:lnTo>
                    <a:pt x="5218176" y="7010400"/>
                  </a:lnTo>
                  <a:lnTo>
                    <a:pt x="0" y="7010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66" r="0" b="-66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3825728" y="8101584"/>
            <a:ext cx="64008" cy="457200"/>
            <a:chOff x="0" y="0"/>
            <a:chExt cx="85344" cy="6096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85344" cy="609600"/>
            </a:xfrm>
            <a:custGeom>
              <a:avLst/>
              <a:gdLst/>
              <a:ahLst/>
              <a:cxnLst/>
              <a:rect r="r" b="b" t="t" l="l"/>
              <a:pathLst>
                <a:path h="609600" w="85344">
                  <a:moveTo>
                    <a:pt x="0" y="0"/>
                  </a:moveTo>
                  <a:lnTo>
                    <a:pt x="85344" y="0"/>
                  </a:lnTo>
                  <a:lnTo>
                    <a:pt x="85344" y="609600"/>
                  </a:lnTo>
                  <a:lnTo>
                    <a:pt x="0" y="609600"/>
                  </a:lnTo>
                  <a:close/>
                </a:path>
              </a:pathLst>
            </a:custGeom>
            <a:solidFill>
              <a:srgbClr val="48757B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14026896" y="8019288"/>
            <a:ext cx="3730752" cy="338328"/>
            <a:chOff x="0" y="0"/>
            <a:chExt cx="4974336" cy="451104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4974336" cy="451104"/>
            </a:xfrm>
            <a:custGeom>
              <a:avLst/>
              <a:gdLst/>
              <a:ahLst/>
              <a:cxnLst/>
              <a:rect r="r" b="b" t="t" l="l"/>
              <a:pathLst>
                <a:path h="451104" w="4974336">
                  <a:moveTo>
                    <a:pt x="0" y="0"/>
                  </a:moveTo>
                  <a:lnTo>
                    <a:pt x="4974336" y="0"/>
                  </a:lnTo>
                  <a:lnTo>
                    <a:pt x="4974336" y="451104"/>
                  </a:lnTo>
                  <a:lnTo>
                    <a:pt x="0" y="4511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4862" r="0" b="-164862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9525"/>
              <a:ext cx="4974336" cy="46062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99"/>
                </a:lnSpc>
              </a:pPr>
              <a:r>
                <a:rPr lang="en-US" sz="1749" b="true">
                  <a:solidFill>
                    <a:srgbClr val="1E242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ANDREAS HERZINGER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4026896" y="8385048"/>
            <a:ext cx="3730752" cy="237744"/>
            <a:chOff x="0" y="0"/>
            <a:chExt cx="4974336" cy="316992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4974336" cy="316992"/>
            </a:xfrm>
            <a:custGeom>
              <a:avLst/>
              <a:gdLst/>
              <a:ahLst/>
              <a:cxnLst/>
              <a:rect r="r" b="b" t="t" l="l"/>
              <a:pathLst>
                <a:path h="316992" w="4974336">
                  <a:moveTo>
                    <a:pt x="0" y="0"/>
                  </a:moveTo>
                  <a:lnTo>
                    <a:pt x="4974336" y="0"/>
                  </a:lnTo>
                  <a:lnTo>
                    <a:pt x="4974336" y="316992"/>
                  </a:lnTo>
                  <a:lnTo>
                    <a:pt x="0" y="3169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55765" r="0" b="-255765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19050"/>
              <a:ext cx="4974336" cy="3360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32"/>
                </a:lnSpc>
              </a:pPr>
              <a:r>
                <a:rPr lang="en-US" sz="1110">
                  <a:solidFill>
                    <a:srgbClr val="365F65"/>
                  </a:solidFill>
                  <a:latin typeface="Poppins"/>
                  <a:ea typeface="Poppins"/>
                  <a:cs typeface="Poppins"/>
                  <a:sym typeface="Poppins"/>
                </a:rPr>
                <a:t>Product &amp; engineering</a:t>
              </a:r>
            </a:p>
          </p:txBody>
        </p:sp>
      </p:grpSp>
      <p:sp>
        <p:nvSpPr>
          <p:cNvPr name="Freeform 32" id="32"/>
          <p:cNvSpPr/>
          <p:nvPr/>
        </p:nvSpPr>
        <p:spPr>
          <a:xfrm flipH="false" flipV="false" rot="0">
            <a:off x="4027427" y="954576"/>
            <a:ext cx="10233146" cy="693858"/>
          </a:xfrm>
          <a:custGeom>
            <a:avLst/>
            <a:gdLst/>
            <a:ahLst/>
            <a:cxnLst/>
            <a:rect r="r" b="b" t="t" l="l"/>
            <a:pathLst>
              <a:path h="693858" w="10233146">
                <a:moveTo>
                  <a:pt x="0" y="0"/>
                </a:moveTo>
                <a:lnTo>
                  <a:pt x="10233146" y="0"/>
                </a:lnTo>
                <a:lnTo>
                  <a:pt x="10233146" y="693859"/>
                </a:lnTo>
                <a:lnTo>
                  <a:pt x="0" y="69385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3" id="33"/>
          <p:cNvSpPr/>
          <p:nvPr/>
        </p:nvSpPr>
        <p:spPr>
          <a:xfrm flipH="false" flipV="false" rot="0">
            <a:off x="4100894" y="1190730"/>
            <a:ext cx="384600" cy="384600"/>
          </a:xfrm>
          <a:custGeom>
            <a:avLst/>
            <a:gdLst/>
            <a:ahLst/>
            <a:cxnLst/>
            <a:rect r="r" b="b" t="t" l="l"/>
            <a:pathLst>
              <a:path h="384600" w="384600">
                <a:moveTo>
                  <a:pt x="0" y="0"/>
                </a:moveTo>
                <a:lnTo>
                  <a:pt x="384600" y="0"/>
                </a:lnTo>
                <a:lnTo>
                  <a:pt x="384600" y="384600"/>
                </a:lnTo>
                <a:lnTo>
                  <a:pt x="0" y="3846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4" id="34"/>
          <p:cNvSpPr txBox="true"/>
          <p:nvPr/>
        </p:nvSpPr>
        <p:spPr>
          <a:xfrm rot="0">
            <a:off x="4545644" y="1148715"/>
            <a:ext cx="2067239" cy="3686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7"/>
              </a:lnSpc>
            </a:pPr>
            <a:r>
              <a:rPr lang="en-US" sz="1797" b="true">
                <a:solidFill>
                  <a:srgbClr val="171717"/>
                </a:solidFill>
                <a:latin typeface="Poppins Bold"/>
                <a:ea typeface="Poppins Bold"/>
                <a:cs typeface="Poppins Bold"/>
                <a:sym typeface="Poppins Bold"/>
              </a:rPr>
              <a:t>Regulift</a:t>
            </a:r>
          </a:p>
        </p:txBody>
      </p:sp>
      <p:grpSp>
        <p:nvGrpSpPr>
          <p:cNvPr name="Group 35" id="35"/>
          <p:cNvGrpSpPr/>
          <p:nvPr/>
        </p:nvGrpSpPr>
        <p:grpSpPr>
          <a:xfrm rot="0">
            <a:off x="7589520" y="1190730"/>
            <a:ext cx="1513332" cy="384962"/>
            <a:chOff x="0" y="0"/>
            <a:chExt cx="2017776" cy="513283"/>
          </a:xfrm>
        </p:grpSpPr>
        <p:sp>
          <p:nvSpPr>
            <p:cNvPr name="Freeform 36" id="36">
              <a:hlinkClick r:id="rId9" action="ppaction://hlinksldjump"/>
            </p:cNvPr>
            <p:cNvSpPr/>
            <p:nvPr/>
          </p:nvSpPr>
          <p:spPr>
            <a:xfrm flipH="false" flipV="false" rot="0">
              <a:off x="0" y="0"/>
              <a:ext cx="2017776" cy="513334"/>
            </a:xfrm>
            <a:custGeom>
              <a:avLst/>
              <a:gdLst/>
              <a:ahLst/>
              <a:cxnLst/>
              <a:rect r="r" b="b" t="t" l="l"/>
              <a:pathLst>
                <a:path h="513334" w="2017776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761109" y="0"/>
                  </a:lnTo>
                  <a:cubicBezTo>
                    <a:pt x="1902841" y="0"/>
                    <a:pt x="2017776" y="114935"/>
                    <a:pt x="2017776" y="256667"/>
                  </a:cubicBezTo>
                  <a:cubicBezTo>
                    <a:pt x="2017776" y="398399"/>
                    <a:pt x="1902841" y="513334"/>
                    <a:pt x="1761109" y="513334"/>
                  </a:cubicBezTo>
                  <a:lnTo>
                    <a:pt x="256667" y="513334"/>
                  </a:lnTo>
                  <a:cubicBezTo>
                    <a:pt x="114935" y="513334"/>
                    <a:pt x="0" y="398399"/>
                    <a:pt x="0" y="256667"/>
                  </a:cubicBezTo>
                  <a:close/>
                </a:path>
              </a:pathLst>
            </a:custGeom>
            <a:solidFill>
              <a:srgbClr val="CCCCCC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9525"/>
              <a:ext cx="2017776" cy="5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>
                  <a:solidFill>
                    <a:srgbClr val="171717"/>
                  </a:solidFill>
                  <a:latin typeface="Poppins"/>
                  <a:ea typeface="Poppins"/>
                  <a:cs typeface="Poppins"/>
                  <a:sym typeface="Poppins"/>
                </a:rPr>
                <a:t>About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9212580" y="1190730"/>
            <a:ext cx="1513332" cy="384962"/>
            <a:chOff x="0" y="0"/>
            <a:chExt cx="2017776" cy="513283"/>
          </a:xfrm>
        </p:grpSpPr>
        <p:sp>
          <p:nvSpPr>
            <p:cNvPr name="Freeform 39" id="39">
              <a:hlinkClick r:id="rId10" action="ppaction://hlinksldjump"/>
            </p:cNvPr>
            <p:cNvSpPr/>
            <p:nvPr/>
          </p:nvSpPr>
          <p:spPr>
            <a:xfrm flipH="false" flipV="false" rot="0">
              <a:off x="0" y="0"/>
              <a:ext cx="2017776" cy="513334"/>
            </a:xfrm>
            <a:custGeom>
              <a:avLst/>
              <a:gdLst/>
              <a:ahLst/>
              <a:cxnLst/>
              <a:rect r="r" b="b" t="t" l="l"/>
              <a:pathLst>
                <a:path h="513334" w="2017776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761109" y="0"/>
                  </a:lnTo>
                  <a:cubicBezTo>
                    <a:pt x="1902841" y="0"/>
                    <a:pt x="2017776" y="114935"/>
                    <a:pt x="2017776" y="256667"/>
                  </a:cubicBezTo>
                  <a:cubicBezTo>
                    <a:pt x="2017776" y="398399"/>
                    <a:pt x="1902841" y="513334"/>
                    <a:pt x="1761109" y="513334"/>
                  </a:cubicBezTo>
                  <a:lnTo>
                    <a:pt x="256667" y="513334"/>
                  </a:lnTo>
                  <a:cubicBezTo>
                    <a:pt x="114935" y="513334"/>
                    <a:pt x="0" y="398399"/>
                    <a:pt x="0" y="256667"/>
                  </a:cubicBezTo>
                  <a:close/>
                </a:path>
              </a:pathLst>
            </a:custGeom>
            <a:solidFill>
              <a:srgbClr val="CCCCCC"/>
            </a:solid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9525"/>
              <a:ext cx="2017776" cy="5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>
                  <a:solidFill>
                    <a:srgbClr val="171717"/>
                  </a:solidFill>
                  <a:latin typeface="Poppins"/>
                  <a:ea typeface="Poppins"/>
                  <a:cs typeface="Poppins"/>
                  <a:sym typeface="Poppins"/>
                </a:rPr>
                <a:t>Service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10835640" y="1190730"/>
            <a:ext cx="1513332" cy="384962"/>
            <a:chOff x="0" y="0"/>
            <a:chExt cx="2017776" cy="513283"/>
          </a:xfrm>
        </p:grpSpPr>
        <p:sp>
          <p:nvSpPr>
            <p:cNvPr name="Freeform 42" id="42">
              <a:hlinkClick r:id="rId11" action="ppaction://hlinksldjump"/>
            </p:cNvPr>
            <p:cNvSpPr/>
            <p:nvPr/>
          </p:nvSpPr>
          <p:spPr>
            <a:xfrm flipH="false" flipV="false" rot="0">
              <a:off x="0" y="0"/>
              <a:ext cx="2017776" cy="513334"/>
            </a:xfrm>
            <a:custGeom>
              <a:avLst/>
              <a:gdLst/>
              <a:ahLst/>
              <a:cxnLst/>
              <a:rect r="r" b="b" t="t" l="l"/>
              <a:pathLst>
                <a:path h="513334" w="2017776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761109" y="0"/>
                  </a:lnTo>
                  <a:cubicBezTo>
                    <a:pt x="1902841" y="0"/>
                    <a:pt x="2017776" y="114935"/>
                    <a:pt x="2017776" y="256667"/>
                  </a:cubicBezTo>
                  <a:cubicBezTo>
                    <a:pt x="2017776" y="398399"/>
                    <a:pt x="1902841" y="513334"/>
                    <a:pt x="1761109" y="513334"/>
                  </a:cubicBezTo>
                  <a:lnTo>
                    <a:pt x="256667" y="513334"/>
                  </a:lnTo>
                  <a:cubicBezTo>
                    <a:pt x="114935" y="513334"/>
                    <a:pt x="0" y="398399"/>
                    <a:pt x="0" y="256667"/>
                  </a:cubicBezTo>
                  <a:close/>
                </a:path>
              </a:pathLst>
            </a:custGeom>
            <a:solidFill>
              <a:srgbClr val="CCCCCC"/>
            </a:solid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9525"/>
              <a:ext cx="2017776" cy="5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>
                  <a:solidFill>
                    <a:srgbClr val="171717"/>
                  </a:solidFill>
                  <a:latin typeface="Poppins"/>
                  <a:ea typeface="Poppins"/>
                  <a:cs typeface="Poppins"/>
                  <a:sym typeface="Poppins"/>
                </a:rPr>
                <a:t>Team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12458700" y="1190730"/>
            <a:ext cx="1513332" cy="384962"/>
            <a:chOff x="0" y="0"/>
            <a:chExt cx="2017776" cy="513283"/>
          </a:xfrm>
        </p:grpSpPr>
        <p:sp>
          <p:nvSpPr>
            <p:cNvPr name="Freeform 45" id="45">
              <a:hlinkClick r:id="rId12" action="ppaction://hlinksldjump"/>
            </p:cNvPr>
            <p:cNvSpPr/>
            <p:nvPr/>
          </p:nvSpPr>
          <p:spPr>
            <a:xfrm flipH="false" flipV="false" rot="0">
              <a:off x="0" y="0"/>
              <a:ext cx="2017776" cy="513334"/>
            </a:xfrm>
            <a:custGeom>
              <a:avLst/>
              <a:gdLst/>
              <a:ahLst/>
              <a:cxnLst/>
              <a:rect r="r" b="b" t="t" l="l"/>
              <a:pathLst>
                <a:path h="513334" w="2017776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761109" y="0"/>
                  </a:lnTo>
                  <a:cubicBezTo>
                    <a:pt x="1902841" y="0"/>
                    <a:pt x="2017776" y="114935"/>
                    <a:pt x="2017776" y="256667"/>
                  </a:cubicBezTo>
                  <a:cubicBezTo>
                    <a:pt x="2017776" y="398399"/>
                    <a:pt x="1902841" y="513334"/>
                    <a:pt x="1761109" y="513334"/>
                  </a:cubicBezTo>
                  <a:lnTo>
                    <a:pt x="256667" y="513334"/>
                  </a:lnTo>
                  <a:cubicBezTo>
                    <a:pt x="114935" y="513334"/>
                    <a:pt x="0" y="398399"/>
                    <a:pt x="0" y="256667"/>
                  </a:cubicBezTo>
                  <a:close/>
                </a:path>
              </a:pathLst>
            </a:custGeom>
            <a:solidFill>
              <a:srgbClr val="171717"/>
            </a:solid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9525"/>
              <a:ext cx="2017776" cy="5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>
                  <a:solidFill>
                    <a:srgbClr val="FAFAFA"/>
                  </a:solidFill>
                  <a:latin typeface="Poppins"/>
                  <a:ea typeface="Poppins"/>
                  <a:cs typeface="Poppins"/>
                  <a:sym typeface="Poppins"/>
                </a:rPr>
                <a:t>Conclusion</a:t>
              </a:r>
            </a:p>
          </p:txBody>
        </p:sp>
      </p:grpSp>
      <p:sp>
        <p:nvSpPr>
          <p:cNvPr name="TextBox 47" id="47"/>
          <p:cNvSpPr txBox="true"/>
          <p:nvPr/>
        </p:nvSpPr>
        <p:spPr>
          <a:xfrm rot="0">
            <a:off x="5715000" y="2687193"/>
            <a:ext cx="10972800" cy="3303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99" b="true">
                <a:solidFill>
                  <a:srgbClr val="497078"/>
                </a:solidFill>
                <a:latin typeface="Poppins Bold"/>
                <a:ea typeface="Poppins Bold"/>
                <a:cs typeface="Poppins Bold"/>
                <a:sym typeface="Poppins Bold"/>
              </a:rPr>
              <a:t>GET INVOLVED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5367528" y="3333750"/>
            <a:ext cx="7571232" cy="2198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395"/>
              </a:lnSpc>
            </a:pPr>
            <a:r>
              <a:rPr lang="en-US" sz="6600" b="true">
                <a:solidFill>
                  <a:srgbClr val="171717"/>
                </a:solidFill>
                <a:latin typeface="Poppins Bold"/>
                <a:ea typeface="Poppins Bold"/>
                <a:cs typeface="Poppins Bold"/>
                <a:sym typeface="Poppins Bold"/>
              </a:rPr>
              <a:t>JOIN EARLY</a:t>
            </a:r>
          </a:p>
          <a:p>
            <a:pPr algn="ctr">
              <a:lnSpc>
                <a:spcPts val="8395"/>
              </a:lnSpc>
            </a:pPr>
            <a:r>
              <a:rPr lang="en-US" sz="6600" b="true">
                <a:solidFill>
                  <a:srgbClr val="171717"/>
                </a:solidFill>
                <a:latin typeface="Poppins Bold"/>
                <a:ea typeface="Poppins Bold"/>
                <a:cs typeface="Poppins Bold"/>
                <a:sym typeface="Poppins Bold"/>
              </a:rPr>
              <a:t>ACCESS.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5623560" y="6015609"/>
            <a:ext cx="4114800" cy="4126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99" b="true">
                <a:solidFill>
                  <a:srgbClr val="497078"/>
                </a:solidFill>
                <a:latin typeface="Poppins Bold"/>
                <a:ea typeface="Poppins Bold"/>
                <a:cs typeface="Poppins Bold"/>
                <a:sym typeface="Poppins Bold"/>
              </a:rPr>
              <a:t>MORE DETAILS ONLINE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5623560" y="6527292"/>
            <a:ext cx="4160520" cy="10073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52"/>
              </a:lnSpc>
            </a:pPr>
            <a:r>
              <a:rPr lang="en-US" sz="2400">
                <a:solidFill>
                  <a:srgbClr val="171717"/>
                </a:solidFill>
                <a:latin typeface="Poppins"/>
                <a:ea typeface="Poppins"/>
                <a:cs typeface="Poppins"/>
                <a:sym typeface="Poppins"/>
              </a:rPr>
              <a:t>See how it works.</a:t>
            </a:r>
          </a:p>
          <a:p>
            <a:pPr algn="l">
              <a:lnSpc>
                <a:spcPts val="3052"/>
              </a:lnSpc>
            </a:pPr>
            <a:r>
              <a:rPr lang="en-US" sz="2400">
                <a:solidFill>
                  <a:srgbClr val="171717"/>
                </a:solidFill>
                <a:latin typeface="Poppins"/>
                <a:ea typeface="Poppins"/>
                <a:cs typeface="Poppins"/>
                <a:sym typeface="Poppins"/>
              </a:rPr>
              <a:t>Explore early access.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5623560" y="7762113"/>
            <a:ext cx="4251960" cy="3577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08"/>
              </a:lnSpc>
            </a:pPr>
            <a:r>
              <a:rPr lang="en-US" sz="1500" b="true">
                <a:solidFill>
                  <a:srgbClr val="687075"/>
                </a:solidFill>
                <a:latin typeface="Poppins Bold"/>
                <a:ea typeface="Poppins Bold"/>
                <a:cs typeface="Poppins Bold"/>
                <a:sym typeface="Poppins Bold"/>
              </a:rPr>
              <a:t>SCAN OR VISIT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5623560" y="8109204"/>
            <a:ext cx="4572000" cy="449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16"/>
              </a:lnSpc>
            </a:pPr>
            <a:r>
              <a:rPr lang="en-US" b="true" sz="1899" u="sng">
                <a:solidFill>
                  <a:srgbClr val="497078"/>
                </a:solidFill>
                <a:latin typeface="Poppins Bold"/>
                <a:ea typeface="Poppins Bold"/>
                <a:cs typeface="Poppins Bold"/>
                <a:sym typeface="Poppins Bold"/>
              </a:rPr>
              <a:t>simo-hue.github.io/regulift/</a:t>
            </a:r>
          </a:p>
        </p:txBody>
      </p:sp>
      <p:grpSp>
        <p:nvGrpSpPr>
          <p:cNvPr name="Group 53" id="53"/>
          <p:cNvGrpSpPr/>
          <p:nvPr/>
        </p:nvGrpSpPr>
        <p:grpSpPr>
          <a:xfrm rot="0">
            <a:off x="10234927" y="6147559"/>
            <a:ext cx="2344417" cy="2344417"/>
            <a:chOff x="0" y="0"/>
            <a:chExt cx="3125889" cy="3125889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3125851" cy="3125851"/>
            </a:xfrm>
            <a:custGeom>
              <a:avLst/>
              <a:gdLst/>
              <a:ahLst/>
              <a:cxnLst/>
              <a:rect r="r" b="b" t="t" l="l"/>
              <a:pathLst>
                <a:path h="3125851" w="3125851">
                  <a:moveTo>
                    <a:pt x="0" y="250063"/>
                  </a:moveTo>
                  <a:cubicBezTo>
                    <a:pt x="0" y="112014"/>
                    <a:pt x="112014" y="0"/>
                    <a:pt x="250063" y="0"/>
                  </a:cubicBezTo>
                  <a:lnTo>
                    <a:pt x="2875788" y="0"/>
                  </a:lnTo>
                  <a:cubicBezTo>
                    <a:pt x="3013837" y="0"/>
                    <a:pt x="3125851" y="112014"/>
                    <a:pt x="3125851" y="250063"/>
                  </a:cubicBezTo>
                  <a:lnTo>
                    <a:pt x="3125851" y="2875788"/>
                  </a:lnTo>
                  <a:cubicBezTo>
                    <a:pt x="3125851" y="3013837"/>
                    <a:pt x="3013837" y="3125851"/>
                    <a:pt x="2875788" y="3125851"/>
                  </a:cubicBezTo>
                  <a:lnTo>
                    <a:pt x="250063" y="3125851"/>
                  </a:lnTo>
                  <a:cubicBezTo>
                    <a:pt x="112014" y="3125851"/>
                    <a:pt x="0" y="3013964"/>
                    <a:pt x="0" y="2875788"/>
                  </a:cubicBezTo>
                  <a:close/>
                </a:path>
              </a:pathLst>
            </a:custGeom>
            <a:solidFill>
              <a:srgbClr val="FFFFFF"/>
            </a:solidFill>
            <a:ln w="12700" cap="sq">
              <a:solidFill>
                <a:srgbClr val="E2E4E4"/>
              </a:solidFill>
              <a:prstDash val="solid"/>
              <a:miter/>
            </a:ln>
          </p:spPr>
        </p:sp>
      </p:grpSp>
      <p:grpSp>
        <p:nvGrpSpPr>
          <p:cNvPr name="Group 55" id="55"/>
          <p:cNvGrpSpPr/>
          <p:nvPr/>
        </p:nvGrpSpPr>
        <p:grpSpPr>
          <a:xfrm rot="0">
            <a:off x="10314432" y="6227064"/>
            <a:ext cx="2185416" cy="2185416"/>
            <a:chOff x="0" y="0"/>
            <a:chExt cx="2913888" cy="2913888"/>
          </a:xfrm>
        </p:grpSpPr>
        <p:sp>
          <p:nvSpPr>
            <p:cNvPr name="Freeform 56" id="56" descr="regulift_website_qr.png">
              <a:hlinkClick r:id="rId13" tooltip="https://simo-hue.github.io/regulift/"/>
            </p:cNvPr>
            <p:cNvSpPr/>
            <p:nvPr/>
          </p:nvSpPr>
          <p:spPr>
            <a:xfrm flipH="false" flipV="false" rot="0">
              <a:off x="0" y="0"/>
              <a:ext cx="2913888" cy="2913888"/>
            </a:xfrm>
            <a:custGeom>
              <a:avLst/>
              <a:gdLst/>
              <a:ahLst/>
              <a:cxnLst/>
              <a:rect r="r" b="b" t="t" l="l"/>
              <a:pathLst>
                <a:path h="2913888" w="2913888">
                  <a:moveTo>
                    <a:pt x="0" y="0"/>
                  </a:moveTo>
                  <a:lnTo>
                    <a:pt x="2913888" y="0"/>
                  </a:lnTo>
                  <a:lnTo>
                    <a:pt x="2913888" y="2913888"/>
                  </a:lnTo>
                  <a:lnTo>
                    <a:pt x="0" y="29138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l="0" t="0" r="0" b="0"/>
              </a:stretch>
            </a:blipFill>
          </p:spPr>
        </p:sp>
      </p:grpSp>
      <p:grpSp>
        <p:nvGrpSpPr>
          <p:cNvPr name="Group 57" id="57"/>
          <p:cNvGrpSpPr/>
          <p:nvPr/>
        </p:nvGrpSpPr>
        <p:grpSpPr>
          <a:xfrm rot="0">
            <a:off x="16879824" y="9619488"/>
            <a:ext cx="1042416" cy="347472"/>
            <a:chOff x="0" y="0"/>
            <a:chExt cx="1389888" cy="463296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1389888" cy="463296"/>
            </a:xfrm>
            <a:custGeom>
              <a:avLst/>
              <a:gdLst/>
              <a:ahLst/>
              <a:cxnLst/>
              <a:rect r="r" b="b" t="t" l="l"/>
              <a:pathLst>
                <a:path h="463296" w="1389888">
                  <a:moveTo>
                    <a:pt x="0" y="106553"/>
                  </a:moveTo>
                  <a:cubicBezTo>
                    <a:pt x="0" y="47752"/>
                    <a:pt x="47752" y="0"/>
                    <a:pt x="106553" y="0"/>
                  </a:cubicBezTo>
                  <a:lnTo>
                    <a:pt x="1283335" y="0"/>
                  </a:lnTo>
                  <a:cubicBezTo>
                    <a:pt x="1342136" y="0"/>
                    <a:pt x="1389888" y="47752"/>
                    <a:pt x="1389888" y="106553"/>
                  </a:cubicBezTo>
                  <a:lnTo>
                    <a:pt x="1389888" y="356743"/>
                  </a:lnTo>
                  <a:cubicBezTo>
                    <a:pt x="1389888" y="415544"/>
                    <a:pt x="1342136" y="463296"/>
                    <a:pt x="1283335" y="463296"/>
                  </a:cubicBezTo>
                  <a:lnTo>
                    <a:pt x="106553" y="463296"/>
                  </a:lnTo>
                  <a:cubicBezTo>
                    <a:pt x="47752" y="463296"/>
                    <a:pt x="0" y="415544"/>
                    <a:pt x="0" y="356743"/>
                  </a:cubicBezTo>
                  <a:close/>
                </a:path>
              </a:pathLst>
            </a:custGeom>
            <a:solidFill>
              <a:srgbClr val="1D2023"/>
            </a:solid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9525"/>
              <a:ext cx="1389888" cy="4728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439"/>
                </a:lnSpc>
              </a:pPr>
              <a:r>
                <a:rPr lang="en-US" sz="1200">
                  <a:solidFill>
                    <a:srgbClr val="FBFBFB"/>
                  </a:solidFill>
                  <a:latin typeface="Poppins"/>
                  <a:ea typeface="Poppins"/>
                  <a:cs typeface="Poppins"/>
                  <a:sym typeface="Poppins"/>
                </a:rPr>
                <a:t>Page 10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4158586" y="1272016"/>
            <a:ext cx="269215" cy="222028"/>
            <a:chOff x="0" y="0"/>
            <a:chExt cx="358953" cy="296037"/>
          </a:xfrm>
        </p:grpSpPr>
        <p:sp>
          <p:nvSpPr>
            <p:cNvPr name="Freeform 61" id="61" descr="image.png"/>
            <p:cNvSpPr/>
            <p:nvPr/>
          </p:nvSpPr>
          <p:spPr>
            <a:xfrm flipH="false" flipV="false" rot="0">
              <a:off x="0" y="0"/>
              <a:ext cx="358902" cy="296037"/>
            </a:xfrm>
            <a:custGeom>
              <a:avLst/>
              <a:gdLst/>
              <a:ahLst/>
              <a:cxnLst/>
              <a:rect r="r" b="b" t="t" l="l"/>
              <a:pathLst>
                <a:path h="296037" w="358902">
                  <a:moveTo>
                    <a:pt x="0" y="0"/>
                  </a:moveTo>
                  <a:lnTo>
                    <a:pt x="358902" y="0"/>
                  </a:lnTo>
                  <a:lnTo>
                    <a:pt x="358902" y="296037"/>
                  </a:lnTo>
                  <a:lnTo>
                    <a:pt x="0" y="2960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l="0" t="0" r="-14" b="0"/>
              </a:stretch>
            </a:blipFill>
          </p:spPr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-669390" y="1602276"/>
            <a:ext cx="19544485" cy="5101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706"/>
              </a:lnSpc>
            </a:pPr>
            <a:r>
              <a:rPr lang="en-US" b="true" sz="37724" spc="-2571">
                <a:solidFill>
                  <a:srgbClr val="171717"/>
                </a:solidFill>
                <a:latin typeface="Poppins Bold"/>
                <a:ea typeface="Poppins Bold"/>
                <a:cs typeface="Poppins Bold"/>
                <a:sym typeface="Poppins Bold"/>
              </a:rPr>
              <a:t>THANKS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3130807"/>
            <a:ext cx="18288000" cy="7156193"/>
            <a:chOff x="0" y="0"/>
            <a:chExt cx="24384000" cy="954159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4000" cy="9541591"/>
            </a:xfrm>
            <a:custGeom>
              <a:avLst/>
              <a:gdLst/>
              <a:ahLst/>
              <a:cxnLst/>
              <a:rect r="r" b="b" t="t" l="l"/>
              <a:pathLst>
                <a:path h="9541591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9541591"/>
                  </a:lnTo>
                  <a:lnTo>
                    <a:pt x="0" y="95415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40" r="0" b="-40"/>
              </a:stretch>
            </a:blipFill>
          </p:spPr>
        </p:sp>
      </p:grpSp>
      <p:sp>
        <p:nvSpPr>
          <p:cNvPr name="Freeform 5" id="5"/>
          <p:cNvSpPr/>
          <p:nvPr/>
        </p:nvSpPr>
        <p:spPr>
          <a:xfrm flipH="false" flipV="false" rot="0">
            <a:off x="4027427" y="954576"/>
            <a:ext cx="10233146" cy="693858"/>
          </a:xfrm>
          <a:custGeom>
            <a:avLst/>
            <a:gdLst/>
            <a:ahLst/>
            <a:cxnLst/>
            <a:rect r="r" b="b" t="t" l="l"/>
            <a:pathLst>
              <a:path h="693858" w="10233146">
                <a:moveTo>
                  <a:pt x="0" y="0"/>
                </a:moveTo>
                <a:lnTo>
                  <a:pt x="10233146" y="0"/>
                </a:lnTo>
                <a:lnTo>
                  <a:pt x="10233146" y="693859"/>
                </a:lnTo>
                <a:lnTo>
                  <a:pt x="0" y="69385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4100894" y="1190730"/>
            <a:ext cx="384600" cy="384600"/>
          </a:xfrm>
          <a:custGeom>
            <a:avLst/>
            <a:gdLst/>
            <a:ahLst/>
            <a:cxnLst/>
            <a:rect r="r" b="b" t="t" l="l"/>
            <a:pathLst>
              <a:path h="384600" w="384600">
                <a:moveTo>
                  <a:pt x="0" y="0"/>
                </a:moveTo>
                <a:lnTo>
                  <a:pt x="384600" y="0"/>
                </a:lnTo>
                <a:lnTo>
                  <a:pt x="384600" y="384600"/>
                </a:lnTo>
                <a:lnTo>
                  <a:pt x="0" y="3846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4545644" y="1148715"/>
            <a:ext cx="2067239" cy="3686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7"/>
              </a:lnSpc>
            </a:pPr>
            <a:r>
              <a:rPr lang="en-US" sz="1797" b="true">
                <a:solidFill>
                  <a:srgbClr val="171717"/>
                </a:solidFill>
                <a:latin typeface="Poppins Bold"/>
                <a:ea typeface="Poppins Bold"/>
                <a:cs typeface="Poppins Bold"/>
                <a:sym typeface="Poppins Bold"/>
              </a:rPr>
              <a:t>Regulift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7589520" y="1190730"/>
            <a:ext cx="1513332" cy="384962"/>
            <a:chOff x="0" y="0"/>
            <a:chExt cx="2017776" cy="513283"/>
          </a:xfrm>
        </p:grpSpPr>
        <p:sp>
          <p:nvSpPr>
            <p:cNvPr name="Freeform 9" id="9">
              <a:hlinkClick r:id="rId7" action="ppaction://hlinksldjump"/>
            </p:cNvPr>
            <p:cNvSpPr/>
            <p:nvPr/>
          </p:nvSpPr>
          <p:spPr>
            <a:xfrm flipH="false" flipV="false" rot="0">
              <a:off x="0" y="0"/>
              <a:ext cx="2017776" cy="513334"/>
            </a:xfrm>
            <a:custGeom>
              <a:avLst/>
              <a:gdLst/>
              <a:ahLst/>
              <a:cxnLst/>
              <a:rect r="r" b="b" t="t" l="l"/>
              <a:pathLst>
                <a:path h="513334" w="2017776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761109" y="0"/>
                  </a:lnTo>
                  <a:cubicBezTo>
                    <a:pt x="1902841" y="0"/>
                    <a:pt x="2017776" y="114935"/>
                    <a:pt x="2017776" y="256667"/>
                  </a:cubicBezTo>
                  <a:cubicBezTo>
                    <a:pt x="2017776" y="398399"/>
                    <a:pt x="1902841" y="513334"/>
                    <a:pt x="1761109" y="513334"/>
                  </a:cubicBezTo>
                  <a:lnTo>
                    <a:pt x="256667" y="513334"/>
                  </a:lnTo>
                  <a:cubicBezTo>
                    <a:pt x="114935" y="513334"/>
                    <a:pt x="0" y="398399"/>
                    <a:pt x="0" y="256667"/>
                  </a:cubicBezTo>
                  <a:close/>
                </a:path>
              </a:pathLst>
            </a:custGeom>
            <a:solidFill>
              <a:srgbClr val="CCCCCC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2017776" cy="5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>
                  <a:solidFill>
                    <a:srgbClr val="171717"/>
                  </a:solidFill>
                  <a:latin typeface="Poppins"/>
                  <a:ea typeface="Poppins"/>
                  <a:cs typeface="Poppins"/>
                  <a:sym typeface="Poppins"/>
                </a:rPr>
                <a:t>About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9212580" y="1190730"/>
            <a:ext cx="1513332" cy="384962"/>
            <a:chOff x="0" y="0"/>
            <a:chExt cx="2017776" cy="513283"/>
          </a:xfrm>
        </p:grpSpPr>
        <p:sp>
          <p:nvSpPr>
            <p:cNvPr name="Freeform 12" id="12">
              <a:hlinkClick r:id="rId8" action="ppaction://hlinksldjump"/>
            </p:cNvPr>
            <p:cNvSpPr/>
            <p:nvPr/>
          </p:nvSpPr>
          <p:spPr>
            <a:xfrm flipH="false" flipV="false" rot="0">
              <a:off x="0" y="0"/>
              <a:ext cx="2017776" cy="513334"/>
            </a:xfrm>
            <a:custGeom>
              <a:avLst/>
              <a:gdLst/>
              <a:ahLst/>
              <a:cxnLst/>
              <a:rect r="r" b="b" t="t" l="l"/>
              <a:pathLst>
                <a:path h="513334" w="2017776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761109" y="0"/>
                  </a:lnTo>
                  <a:cubicBezTo>
                    <a:pt x="1902841" y="0"/>
                    <a:pt x="2017776" y="114935"/>
                    <a:pt x="2017776" y="256667"/>
                  </a:cubicBezTo>
                  <a:cubicBezTo>
                    <a:pt x="2017776" y="398399"/>
                    <a:pt x="1902841" y="513334"/>
                    <a:pt x="1761109" y="513334"/>
                  </a:cubicBezTo>
                  <a:lnTo>
                    <a:pt x="256667" y="513334"/>
                  </a:lnTo>
                  <a:cubicBezTo>
                    <a:pt x="114935" y="513334"/>
                    <a:pt x="0" y="398399"/>
                    <a:pt x="0" y="256667"/>
                  </a:cubicBezTo>
                  <a:close/>
                </a:path>
              </a:pathLst>
            </a:custGeom>
            <a:solidFill>
              <a:srgbClr val="CCCCCC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9525"/>
              <a:ext cx="2017776" cy="5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>
                  <a:solidFill>
                    <a:srgbClr val="171717"/>
                  </a:solidFill>
                  <a:latin typeface="Poppins"/>
                  <a:ea typeface="Poppins"/>
                  <a:cs typeface="Poppins"/>
                  <a:sym typeface="Poppins"/>
                </a:rPr>
                <a:t>Service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0835640" y="1190730"/>
            <a:ext cx="1513332" cy="384962"/>
            <a:chOff x="0" y="0"/>
            <a:chExt cx="2017776" cy="513283"/>
          </a:xfrm>
        </p:grpSpPr>
        <p:sp>
          <p:nvSpPr>
            <p:cNvPr name="Freeform 15" id="15">
              <a:hlinkClick r:id="rId9" action="ppaction://hlinksldjump"/>
            </p:cNvPr>
            <p:cNvSpPr/>
            <p:nvPr/>
          </p:nvSpPr>
          <p:spPr>
            <a:xfrm flipH="false" flipV="false" rot="0">
              <a:off x="0" y="0"/>
              <a:ext cx="2017776" cy="513334"/>
            </a:xfrm>
            <a:custGeom>
              <a:avLst/>
              <a:gdLst/>
              <a:ahLst/>
              <a:cxnLst/>
              <a:rect r="r" b="b" t="t" l="l"/>
              <a:pathLst>
                <a:path h="513334" w="2017776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761109" y="0"/>
                  </a:lnTo>
                  <a:cubicBezTo>
                    <a:pt x="1902841" y="0"/>
                    <a:pt x="2017776" y="114935"/>
                    <a:pt x="2017776" y="256667"/>
                  </a:cubicBezTo>
                  <a:cubicBezTo>
                    <a:pt x="2017776" y="398399"/>
                    <a:pt x="1902841" y="513334"/>
                    <a:pt x="1761109" y="513334"/>
                  </a:cubicBezTo>
                  <a:lnTo>
                    <a:pt x="256667" y="513334"/>
                  </a:lnTo>
                  <a:cubicBezTo>
                    <a:pt x="114935" y="513334"/>
                    <a:pt x="0" y="398399"/>
                    <a:pt x="0" y="256667"/>
                  </a:cubicBezTo>
                  <a:close/>
                </a:path>
              </a:pathLst>
            </a:custGeom>
            <a:solidFill>
              <a:srgbClr val="CCCCCC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9525"/>
              <a:ext cx="2017776" cy="5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>
                  <a:solidFill>
                    <a:srgbClr val="171717"/>
                  </a:solidFill>
                  <a:latin typeface="Poppins"/>
                  <a:ea typeface="Poppins"/>
                  <a:cs typeface="Poppins"/>
                  <a:sym typeface="Poppins"/>
                </a:rPr>
                <a:t>Team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2458700" y="1190730"/>
            <a:ext cx="1513332" cy="384962"/>
            <a:chOff x="0" y="0"/>
            <a:chExt cx="2017776" cy="513283"/>
          </a:xfrm>
        </p:grpSpPr>
        <p:sp>
          <p:nvSpPr>
            <p:cNvPr name="Freeform 18" id="18">
              <a:hlinkClick r:id="rId10" action="ppaction://hlinksldjump"/>
            </p:cNvPr>
            <p:cNvSpPr/>
            <p:nvPr/>
          </p:nvSpPr>
          <p:spPr>
            <a:xfrm flipH="false" flipV="false" rot="0">
              <a:off x="0" y="0"/>
              <a:ext cx="2017776" cy="513334"/>
            </a:xfrm>
            <a:custGeom>
              <a:avLst/>
              <a:gdLst/>
              <a:ahLst/>
              <a:cxnLst/>
              <a:rect r="r" b="b" t="t" l="l"/>
              <a:pathLst>
                <a:path h="513334" w="2017776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761109" y="0"/>
                  </a:lnTo>
                  <a:cubicBezTo>
                    <a:pt x="1902841" y="0"/>
                    <a:pt x="2017776" y="114935"/>
                    <a:pt x="2017776" y="256667"/>
                  </a:cubicBezTo>
                  <a:cubicBezTo>
                    <a:pt x="2017776" y="398399"/>
                    <a:pt x="1902841" y="513334"/>
                    <a:pt x="1761109" y="513334"/>
                  </a:cubicBezTo>
                  <a:lnTo>
                    <a:pt x="256667" y="513334"/>
                  </a:lnTo>
                  <a:cubicBezTo>
                    <a:pt x="114935" y="513334"/>
                    <a:pt x="0" y="398399"/>
                    <a:pt x="0" y="256667"/>
                  </a:cubicBezTo>
                  <a:close/>
                </a:path>
              </a:pathLst>
            </a:custGeom>
            <a:solidFill>
              <a:srgbClr val="171717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2017776" cy="5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>
                  <a:solidFill>
                    <a:srgbClr val="FAFAFA"/>
                  </a:solidFill>
                  <a:latin typeface="Poppins"/>
                  <a:ea typeface="Poppins"/>
                  <a:cs typeface="Poppins"/>
                  <a:sym typeface="Poppins"/>
                </a:rPr>
                <a:t>Conclusion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6879824" y="9619488"/>
            <a:ext cx="1042416" cy="347472"/>
            <a:chOff x="0" y="0"/>
            <a:chExt cx="1389888" cy="46329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389888" cy="463296"/>
            </a:xfrm>
            <a:custGeom>
              <a:avLst/>
              <a:gdLst/>
              <a:ahLst/>
              <a:cxnLst/>
              <a:rect r="r" b="b" t="t" l="l"/>
              <a:pathLst>
                <a:path h="463296" w="1389888">
                  <a:moveTo>
                    <a:pt x="0" y="106553"/>
                  </a:moveTo>
                  <a:cubicBezTo>
                    <a:pt x="0" y="47752"/>
                    <a:pt x="47752" y="0"/>
                    <a:pt x="106553" y="0"/>
                  </a:cubicBezTo>
                  <a:lnTo>
                    <a:pt x="1283335" y="0"/>
                  </a:lnTo>
                  <a:cubicBezTo>
                    <a:pt x="1342136" y="0"/>
                    <a:pt x="1389888" y="47752"/>
                    <a:pt x="1389888" y="106553"/>
                  </a:cubicBezTo>
                  <a:lnTo>
                    <a:pt x="1389888" y="356743"/>
                  </a:lnTo>
                  <a:cubicBezTo>
                    <a:pt x="1389888" y="415544"/>
                    <a:pt x="1342136" y="463296"/>
                    <a:pt x="1283335" y="463296"/>
                  </a:cubicBezTo>
                  <a:lnTo>
                    <a:pt x="106553" y="463296"/>
                  </a:lnTo>
                  <a:cubicBezTo>
                    <a:pt x="47752" y="463296"/>
                    <a:pt x="0" y="415544"/>
                    <a:pt x="0" y="356743"/>
                  </a:cubicBezTo>
                  <a:close/>
                </a:path>
              </a:pathLst>
            </a:custGeom>
            <a:solidFill>
              <a:srgbClr val="1D2023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9525"/>
              <a:ext cx="1389888" cy="4728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439"/>
                </a:lnSpc>
              </a:pPr>
              <a:r>
                <a:rPr lang="en-US" sz="1200">
                  <a:solidFill>
                    <a:srgbClr val="FBFBFB"/>
                  </a:solidFill>
                  <a:latin typeface="Poppins"/>
                  <a:ea typeface="Poppins"/>
                  <a:cs typeface="Poppins"/>
                  <a:sym typeface="Poppins"/>
                </a:rPr>
                <a:t>Page 11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4158586" y="1272016"/>
            <a:ext cx="269215" cy="222028"/>
            <a:chOff x="0" y="0"/>
            <a:chExt cx="358953" cy="296037"/>
          </a:xfrm>
        </p:grpSpPr>
        <p:sp>
          <p:nvSpPr>
            <p:cNvPr name="Freeform 24" id="24" descr="image.png"/>
            <p:cNvSpPr/>
            <p:nvPr/>
          </p:nvSpPr>
          <p:spPr>
            <a:xfrm flipH="false" flipV="false" rot="0">
              <a:off x="0" y="0"/>
              <a:ext cx="358902" cy="296037"/>
            </a:xfrm>
            <a:custGeom>
              <a:avLst/>
              <a:gdLst/>
              <a:ahLst/>
              <a:cxnLst/>
              <a:rect r="r" b="b" t="t" l="l"/>
              <a:pathLst>
                <a:path h="296037" w="358902">
                  <a:moveTo>
                    <a:pt x="0" y="0"/>
                  </a:moveTo>
                  <a:lnTo>
                    <a:pt x="358902" y="0"/>
                  </a:lnTo>
                  <a:lnTo>
                    <a:pt x="358902" y="296037"/>
                  </a:lnTo>
                  <a:lnTo>
                    <a:pt x="0" y="2960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-14" b="0"/>
              </a:stretch>
            </a:blipFill>
          </p:spPr>
        </p:sp>
      </p:grpSp>
    </p:spTree>
  </p:cSld>
  <p:clrMapOvr>
    <a:masterClrMapping/>
  </p:clrMapOvr>
  <p:transition spd="fast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1069848" y="19933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4970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 ANALYSIS</a:t>
            </a:r>
            <a:endParaRPr lang="en-US" sz="1700" dirty="0"/>
          </a:p>
        </p:txBody>
      </p:sp>
      <p:sp>
        <p:nvSpPr>
          <p:cNvPr id="4" name="Text 1"/>
          <p:cNvSpPr txBox="1"/>
          <p:nvPr/>
        </p:nvSpPr>
        <p:spPr>
          <a:xfrm>
            <a:off x="1042416" y="2496312"/>
            <a:ext cx="162031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300" b="1" spc="-100" kern="0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FOUR CRITERIA. </a:t>
            </a:r>
            <a:pPr indent="0" marL="0">
              <a:buNone/>
            </a:pPr>
            <a:r>
              <a:rPr lang="en-US" sz="5300" b="1" spc="-100" kern="0" dirty="0">
                <a:solidFill>
                  <a:srgbClr val="4970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IS A GATE.</a:t>
            </a:r>
            <a:endParaRPr lang="en-US" sz="5300" dirty="0"/>
          </a:p>
        </p:txBody>
      </p:sp>
      <p:sp>
        <p:nvSpPr>
          <p:cNvPr id="5" name="Shape 2"/>
          <p:cNvSpPr/>
          <p:nvPr/>
        </p:nvSpPr>
        <p:spPr>
          <a:xfrm>
            <a:off x="11695176" y="2651760"/>
            <a:ext cx="50292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9525">
            <a:solidFill>
              <a:srgbClr val="DADBD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786616" y="2711196"/>
            <a:ext cx="100584" cy="100584"/>
          </a:xfrm>
          <a:prstGeom prst="ellipse">
            <a:avLst/>
          </a:prstGeom>
          <a:solidFill>
            <a:srgbClr val="687075"/>
          </a:solidFill>
          <a:ln w="12700">
            <a:solidFill>
              <a:srgbClr val="68707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914632" y="2711196"/>
            <a:ext cx="100584" cy="100584"/>
          </a:xfrm>
          <a:prstGeom prst="ellipse">
            <a:avLst/>
          </a:prstGeom>
          <a:solidFill>
            <a:srgbClr val="687075"/>
          </a:solidFill>
          <a:ln w="12700">
            <a:solidFill>
              <a:srgbClr val="68707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042648" y="2711196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2380976" y="26060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Grey rows </a:t>
            </a:r>
            <a:pPr indent="0" marL="0">
              <a:buNone/>
            </a:pPr>
            <a:r>
              <a:rPr lang="en-US" sz="1250" dirty="0">
                <a:solidFill>
                  <a:srgbClr val="3B3E3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fail the gate.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11695176" y="3108960"/>
            <a:ext cx="50292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9525">
            <a:solidFill>
              <a:srgbClr val="DADBD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786616" y="3168396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914632" y="3168396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2042648" y="3168396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2380976" y="3063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Black rows </a:t>
            </a:r>
            <a:pPr indent="0" marL="0">
              <a:buNone/>
            </a:pPr>
            <a:r>
              <a:rPr lang="en-US" sz="1250" dirty="0">
                <a:solidFill>
                  <a:srgbClr val="3B3E3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pass the gate.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4224528" y="3776472"/>
            <a:ext cx="2423160" cy="5280660"/>
          </a:xfrm>
          <a:prstGeom prst="roundRect">
            <a:avLst>
              <a:gd name="adj" fmla="val 3774"/>
            </a:avLst>
          </a:prstGeom>
          <a:solidFill>
            <a:srgbClr val="E8F2F2"/>
          </a:solidFill>
          <a:ln w="12700">
            <a:solidFill>
              <a:srgbClr val="E8F2F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720840" y="3776472"/>
            <a:ext cx="0" cy="5280660"/>
          </a:xfrm>
          <a:prstGeom prst="line">
            <a:avLst/>
          </a:prstGeom>
          <a:noFill/>
          <a:ln w="9525">
            <a:solidFill>
              <a:srgbClr val="DADBD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361688" y="383133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gate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013448" y="38313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Ranking criteria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344168" y="41605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Country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4361688" y="4160520"/>
            <a:ext cx="2606040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may advise </a:t>
            </a:r>
            <a:pPr indent="0" marL="0">
              <a:buNone/>
            </a:pPr>
            <a:r>
              <a:rPr lang="en-US" sz="1300" b="1" baseline="300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361688" y="446227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legal without a lawyer signing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013448" y="4160520"/>
            <a:ext cx="2606040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 size </a:t>
            </a:r>
            <a:pPr indent="0" marL="0">
              <a:buNone/>
            </a:pPr>
            <a:r>
              <a:rPr lang="en-US" sz="1300" b="1" baseline="300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7013448" y="446227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firms with 50 or more staff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665208" y="4160520"/>
            <a:ext cx="2606040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Savings potential </a:t>
            </a:r>
            <a:pPr indent="0" marL="0">
              <a:buNone/>
            </a:pPr>
            <a:r>
              <a:rPr lang="en-US" sz="1300" b="1" baseline="300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9665208" y="446227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lawyer cost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12316968" y="4160520"/>
            <a:ext cx="2606040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regulation enforcement </a:t>
            </a:r>
            <a:pPr indent="0" marL="0">
              <a:buNone/>
            </a:pPr>
            <a:r>
              <a:rPr lang="en-US" sz="1300" b="1" baseline="300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12316968" y="446227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deadline live, fines starting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5060168" y="41605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15060168" y="44622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20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1069848" y="4818888"/>
            <a:ext cx="16203168" cy="0"/>
          </a:xfrm>
          <a:prstGeom prst="line">
            <a:avLst/>
          </a:prstGeom>
          <a:noFill/>
          <a:ln w="9525">
            <a:solidFill>
              <a:srgbClr val="17171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69848" y="4937760"/>
            <a:ext cx="16203168" cy="365760"/>
          </a:xfrm>
          <a:prstGeom prst="roundRect">
            <a:avLst>
              <a:gd name="adj" fmla="val 25000"/>
            </a:avLst>
          </a:prstGeom>
          <a:solidFill>
            <a:srgbClr val="171717"/>
          </a:solidFill>
          <a:ln w="9525">
            <a:solidFill>
              <a:srgbClr val="171717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224528" y="4937760"/>
            <a:ext cx="2423160" cy="365760"/>
          </a:xfrm>
          <a:prstGeom prst="rect">
            <a:avLst/>
          </a:prstGeom>
          <a:solidFill>
            <a:srgbClr val="2E3F42"/>
          </a:solidFill>
          <a:ln w="12700">
            <a:solidFill>
              <a:srgbClr val="2E3F4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344168" y="50200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A3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</a:t>
            </a:r>
            <a:endParaRPr lang="en-US" sz="1350" dirty="0"/>
          </a:p>
        </p:txBody>
      </p:sp>
      <p:sp>
        <p:nvSpPr>
          <p:cNvPr id="34" name="Text 31"/>
          <p:cNvSpPr txBox="1"/>
          <p:nvPr/>
        </p:nvSpPr>
        <p:spPr>
          <a:xfrm>
            <a:off x="1755648" y="50017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BFBF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Netherlands</a:t>
            </a:r>
            <a:endParaRPr lang="en-US" sz="1550" dirty="0"/>
          </a:p>
        </p:txBody>
      </p:sp>
      <p:sp>
        <p:nvSpPr>
          <p:cNvPr id="35" name="Text 32"/>
          <p:cNvSpPr txBox="1"/>
          <p:nvPr/>
        </p:nvSpPr>
        <p:spPr>
          <a:xfrm>
            <a:off x="4361688" y="499262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FBFBF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650" dirty="0"/>
          </a:p>
        </p:txBody>
      </p:sp>
      <p:sp>
        <p:nvSpPr>
          <p:cNvPr id="36" name="Shape 33"/>
          <p:cNvSpPr/>
          <p:nvPr/>
        </p:nvSpPr>
        <p:spPr>
          <a:xfrm>
            <a:off x="4818888" y="5084064"/>
            <a:ext cx="100584" cy="100584"/>
          </a:xfrm>
          <a:prstGeom prst="ellipse">
            <a:avLst/>
          </a:prstGeom>
          <a:solidFill>
            <a:srgbClr val="FBFBFB"/>
          </a:solidFill>
          <a:ln w="12700">
            <a:solidFill>
              <a:srgbClr val="FBFBFB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001768" y="5084064"/>
            <a:ext cx="100584" cy="100584"/>
          </a:xfrm>
          <a:prstGeom prst="ellipse">
            <a:avLst/>
          </a:prstGeom>
          <a:solidFill>
            <a:srgbClr val="FBFBFB"/>
          </a:solidFill>
          <a:ln w="12700">
            <a:solidFill>
              <a:srgbClr val="FBFBFB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184648" y="5084064"/>
            <a:ext cx="100584" cy="100584"/>
          </a:xfrm>
          <a:prstGeom prst="ellipse">
            <a:avLst/>
          </a:prstGeom>
          <a:solidFill>
            <a:srgbClr val="FBFBFB"/>
          </a:solidFill>
          <a:ln w="12700">
            <a:solidFill>
              <a:srgbClr val="FBFBF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367528" y="5084064"/>
            <a:ext cx="100584" cy="100584"/>
          </a:xfrm>
          <a:prstGeom prst="ellipse">
            <a:avLst/>
          </a:prstGeom>
          <a:solidFill>
            <a:srgbClr val="FBFBFB"/>
          </a:solidFill>
          <a:ln w="12700">
            <a:solidFill>
              <a:srgbClr val="FBFBF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550408" y="5084064"/>
            <a:ext cx="100584" cy="100584"/>
          </a:xfrm>
          <a:prstGeom prst="ellipse">
            <a:avLst/>
          </a:prstGeom>
          <a:solidFill>
            <a:srgbClr val="FBFBFB"/>
          </a:solidFill>
          <a:ln w="12700">
            <a:solidFill>
              <a:srgbClr val="FBFBFB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013448" y="499262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FBFBF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650" dirty="0"/>
          </a:p>
        </p:txBody>
      </p:sp>
      <p:sp>
        <p:nvSpPr>
          <p:cNvPr id="42" name="Shape 39"/>
          <p:cNvSpPr/>
          <p:nvPr/>
        </p:nvSpPr>
        <p:spPr>
          <a:xfrm>
            <a:off x="7470648" y="5084064"/>
            <a:ext cx="100584" cy="100584"/>
          </a:xfrm>
          <a:prstGeom prst="ellipse">
            <a:avLst/>
          </a:prstGeom>
          <a:solidFill>
            <a:srgbClr val="FBFBFB"/>
          </a:solidFill>
          <a:ln w="12700">
            <a:solidFill>
              <a:srgbClr val="FBFBFB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53528" y="5084064"/>
            <a:ext cx="100584" cy="100584"/>
          </a:xfrm>
          <a:prstGeom prst="ellipse">
            <a:avLst/>
          </a:prstGeom>
          <a:solidFill>
            <a:srgbClr val="FBFBFB"/>
          </a:solidFill>
          <a:ln w="12700">
            <a:solidFill>
              <a:srgbClr val="FBFBFB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836408" y="5084064"/>
            <a:ext cx="100584" cy="100584"/>
          </a:xfrm>
          <a:prstGeom prst="ellipse">
            <a:avLst/>
          </a:prstGeom>
          <a:solidFill>
            <a:srgbClr val="FBFBFB"/>
          </a:solidFill>
          <a:ln w="12700">
            <a:solidFill>
              <a:srgbClr val="FBFBF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019288" y="5084064"/>
            <a:ext cx="100584" cy="100584"/>
          </a:xfrm>
          <a:prstGeom prst="ellipse">
            <a:avLst/>
          </a:prstGeom>
          <a:solidFill>
            <a:srgbClr val="FBFBFB"/>
          </a:solidFill>
          <a:ln w="12700">
            <a:solidFill>
              <a:srgbClr val="FBFBFB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8202168" y="5084064"/>
            <a:ext cx="100584" cy="100584"/>
          </a:xfrm>
          <a:prstGeom prst="ellipse">
            <a:avLst/>
          </a:prstGeom>
          <a:solidFill>
            <a:srgbClr val="3A4D53"/>
          </a:solidFill>
          <a:ln w="12700">
            <a:solidFill>
              <a:srgbClr val="3A4D53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9665208" y="499262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FBFBF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650" dirty="0"/>
          </a:p>
        </p:txBody>
      </p:sp>
      <p:sp>
        <p:nvSpPr>
          <p:cNvPr id="48" name="Shape 45"/>
          <p:cNvSpPr/>
          <p:nvPr/>
        </p:nvSpPr>
        <p:spPr>
          <a:xfrm>
            <a:off x="10122408" y="5084064"/>
            <a:ext cx="100584" cy="100584"/>
          </a:xfrm>
          <a:prstGeom prst="ellipse">
            <a:avLst/>
          </a:prstGeom>
          <a:solidFill>
            <a:srgbClr val="FBFBFB"/>
          </a:solidFill>
          <a:ln w="12700">
            <a:solidFill>
              <a:srgbClr val="FBFBFB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10305288" y="5084064"/>
            <a:ext cx="100584" cy="100584"/>
          </a:xfrm>
          <a:prstGeom prst="ellipse">
            <a:avLst/>
          </a:prstGeom>
          <a:solidFill>
            <a:srgbClr val="FBFBFB"/>
          </a:solidFill>
          <a:ln w="12700">
            <a:solidFill>
              <a:srgbClr val="FBFBFB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10488168" y="5084064"/>
            <a:ext cx="100584" cy="100584"/>
          </a:xfrm>
          <a:prstGeom prst="ellipse">
            <a:avLst/>
          </a:prstGeom>
          <a:solidFill>
            <a:srgbClr val="FBFBFB"/>
          </a:solidFill>
          <a:ln w="12700">
            <a:solidFill>
              <a:srgbClr val="FBFBFB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10671048" y="5084064"/>
            <a:ext cx="100584" cy="100584"/>
          </a:xfrm>
          <a:prstGeom prst="ellipse">
            <a:avLst/>
          </a:prstGeom>
          <a:solidFill>
            <a:srgbClr val="FBFBFB"/>
          </a:solidFill>
          <a:ln w="12700">
            <a:solidFill>
              <a:srgbClr val="FBFBFB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0853928" y="5084064"/>
            <a:ext cx="100584" cy="100584"/>
          </a:xfrm>
          <a:prstGeom prst="ellipse">
            <a:avLst/>
          </a:prstGeom>
          <a:solidFill>
            <a:srgbClr val="3A4D53"/>
          </a:solidFill>
          <a:ln w="12700">
            <a:solidFill>
              <a:srgbClr val="3A4D53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12316968" y="499262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FBFBF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650" dirty="0"/>
          </a:p>
        </p:txBody>
      </p:sp>
      <p:sp>
        <p:nvSpPr>
          <p:cNvPr id="54" name="Shape 51"/>
          <p:cNvSpPr/>
          <p:nvPr/>
        </p:nvSpPr>
        <p:spPr>
          <a:xfrm>
            <a:off x="12774168" y="5084064"/>
            <a:ext cx="100584" cy="100584"/>
          </a:xfrm>
          <a:prstGeom prst="ellipse">
            <a:avLst/>
          </a:prstGeom>
          <a:solidFill>
            <a:srgbClr val="FBFBFB"/>
          </a:solidFill>
          <a:ln w="12700">
            <a:solidFill>
              <a:srgbClr val="FBFBFB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2957048" y="5084064"/>
            <a:ext cx="100584" cy="100584"/>
          </a:xfrm>
          <a:prstGeom prst="ellipse">
            <a:avLst/>
          </a:prstGeom>
          <a:solidFill>
            <a:srgbClr val="FBFBFB"/>
          </a:solidFill>
          <a:ln w="12700">
            <a:solidFill>
              <a:srgbClr val="FBFBFB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3139928" y="5084064"/>
            <a:ext cx="100584" cy="100584"/>
          </a:xfrm>
          <a:prstGeom prst="ellipse">
            <a:avLst/>
          </a:prstGeom>
          <a:solidFill>
            <a:srgbClr val="FBFBFB"/>
          </a:solidFill>
          <a:ln w="12700">
            <a:solidFill>
              <a:srgbClr val="FBFBFB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13322808" y="5084064"/>
            <a:ext cx="100584" cy="100584"/>
          </a:xfrm>
          <a:prstGeom prst="ellipse">
            <a:avLst/>
          </a:prstGeom>
          <a:solidFill>
            <a:srgbClr val="FBFBFB"/>
          </a:solidFill>
          <a:ln w="12700">
            <a:solidFill>
              <a:srgbClr val="FBFBFB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13505688" y="5084064"/>
            <a:ext cx="100584" cy="100584"/>
          </a:xfrm>
          <a:prstGeom prst="ellipse">
            <a:avLst/>
          </a:prstGeom>
          <a:solidFill>
            <a:srgbClr val="FBFBFB"/>
          </a:solidFill>
          <a:ln w="12700">
            <a:solidFill>
              <a:srgbClr val="FBFBFB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15060168" y="49834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BFBF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1800" dirty="0"/>
          </a:p>
        </p:txBody>
      </p:sp>
      <p:sp>
        <p:nvSpPr>
          <p:cNvPr id="60" name="Shape 57"/>
          <p:cNvSpPr/>
          <p:nvPr/>
        </p:nvSpPr>
        <p:spPr>
          <a:xfrm>
            <a:off x="15745968" y="5093208"/>
            <a:ext cx="1371600" cy="82296"/>
          </a:xfrm>
          <a:prstGeom prst="roundRect">
            <a:avLst>
              <a:gd name="adj" fmla="val 44444"/>
            </a:avLst>
          </a:prstGeom>
          <a:solidFill>
            <a:srgbClr val="3A4D53"/>
          </a:solidFill>
          <a:ln w="12700">
            <a:solidFill>
              <a:srgbClr val="3A4D53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15745968" y="5093208"/>
            <a:ext cx="1234440" cy="82296"/>
          </a:xfrm>
          <a:prstGeom prst="roundRect">
            <a:avLst>
              <a:gd name="adj" fmla="val 44444"/>
            </a:avLst>
          </a:prstGeom>
          <a:solidFill>
            <a:srgbClr val="FBFBFB"/>
          </a:solidFill>
          <a:ln w="12700">
            <a:solidFill>
              <a:srgbClr val="FBFBFB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069848" y="5344668"/>
            <a:ext cx="16203168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ADBD6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4224528" y="5344668"/>
            <a:ext cx="2423160" cy="365760"/>
          </a:xfrm>
          <a:prstGeom prst="rect">
            <a:avLst/>
          </a:prstGeom>
          <a:solidFill>
            <a:srgbClr val="E8F2F2"/>
          </a:solidFill>
          <a:ln w="12700">
            <a:solidFill>
              <a:srgbClr val="E8F2F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1344168" y="54269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</a:t>
            </a:r>
            <a:endParaRPr lang="en-US" sz="1350" dirty="0"/>
          </a:p>
        </p:txBody>
      </p:sp>
      <p:sp>
        <p:nvSpPr>
          <p:cNvPr id="65" name="Text 62"/>
          <p:cNvSpPr txBox="1"/>
          <p:nvPr/>
        </p:nvSpPr>
        <p:spPr>
          <a:xfrm>
            <a:off x="1755648" y="540867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Sweden</a:t>
            </a:r>
            <a:endParaRPr lang="en-US" sz="1550" dirty="0"/>
          </a:p>
        </p:txBody>
      </p:sp>
      <p:sp>
        <p:nvSpPr>
          <p:cNvPr id="66" name="Text 63"/>
          <p:cNvSpPr txBox="1"/>
          <p:nvPr/>
        </p:nvSpPr>
        <p:spPr>
          <a:xfrm>
            <a:off x="4361688" y="539953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650" dirty="0"/>
          </a:p>
        </p:txBody>
      </p:sp>
      <p:sp>
        <p:nvSpPr>
          <p:cNvPr id="67" name="Shape 64"/>
          <p:cNvSpPr/>
          <p:nvPr/>
        </p:nvSpPr>
        <p:spPr>
          <a:xfrm>
            <a:off x="4818888" y="5490972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5001768" y="5490972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5184648" y="5490972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5367528" y="5490972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5550408" y="5490972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7013448" y="539953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650" dirty="0"/>
          </a:p>
        </p:txBody>
      </p:sp>
      <p:sp>
        <p:nvSpPr>
          <p:cNvPr id="73" name="Shape 70"/>
          <p:cNvSpPr/>
          <p:nvPr/>
        </p:nvSpPr>
        <p:spPr>
          <a:xfrm>
            <a:off x="7470648" y="5490972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7653528" y="5490972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7836408" y="5490972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8019288" y="5490972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8202168" y="5490972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9665208" y="539953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650" dirty="0"/>
          </a:p>
        </p:txBody>
      </p:sp>
      <p:sp>
        <p:nvSpPr>
          <p:cNvPr id="79" name="Shape 76"/>
          <p:cNvSpPr/>
          <p:nvPr/>
        </p:nvSpPr>
        <p:spPr>
          <a:xfrm>
            <a:off x="10122408" y="5490972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10305288" y="5490972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10488168" y="5490972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10671048" y="5490972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10853928" y="5490972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12316968" y="539953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650" dirty="0"/>
          </a:p>
        </p:txBody>
      </p:sp>
      <p:sp>
        <p:nvSpPr>
          <p:cNvPr id="85" name="Shape 82"/>
          <p:cNvSpPr/>
          <p:nvPr/>
        </p:nvSpPr>
        <p:spPr>
          <a:xfrm>
            <a:off x="12774168" y="5490972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12957048" y="5490972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13139928" y="5490972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13322808" y="5490972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13505688" y="5490972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15060168" y="539038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1800" dirty="0"/>
          </a:p>
        </p:txBody>
      </p:sp>
      <p:sp>
        <p:nvSpPr>
          <p:cNvPr id="91" name="Shape 88"/>
          <p:cNvSpPr/>
          <p:nvPr/>
        </p:nvSpPr>
        <p:spPr>
          <a:xfrm>
            <a:off x="15745968" y="5500116"/>
            <a:ext cx="1371600" cy="82296"/>
          </a:xfrm>
          <a:prstGeom prst="roundRect">
            <a:avLst>
              <a:gd name="adj" fmla="val 44444"/>
            </a:avLst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15745968" y="5500116"/>
            <a:ext cx="1165860" cy="82296"/>
          </a:xfrm>
          <a:prstGeom prst="roundRect">
            <a:avLst>
              <a:gd name="adj" fmla="val 44444"/>
            </a:avLst>
          </a:prstGeom>
          <a:solidFill>
            <a:srgbClr val="497078"/>
          </a:solidFill>
          <a:ln w="12700">
            <a:solidFill>
              <a:srgbClr val="497078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>
            <a:off x="1069848" y="5751576"/>
            <a:ext cx="16203168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ADBD6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4224528" y="5751576"/>
            <a:ext cx="2423160" cy="365760"/>
          </a:xfrm>
          <a:prstGeom prst="rect">
            <a:avLst/>
          </a:prstGeom>
          <a:solidFill>
            <a:srgbClr val="E8F2F2"/>
          </a:solidFill>
          <a:ln w="12700">
            <a:solidFill>
              <a:srgbClr val="E8F2F2"/>
            </a:solidFill>
            <a:prstDash val="solid"/>
          </a:ln>
        </p:spPr>
      </p:sp>
      <p:sp>
        <p:nvSpPr>
          <p:cNvPr id="95" name="Text 92"/>
          <p:cNvSpPr txBox="1"/>
          <p:nvPr/>
        </p:nvSpPr>
        <p:spPr>
          <a:xfrm>
            <a:off x="1344168" y="5833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</a:t>
            </a:r>
            <a:endParaRPr lang="en-US" sz="1350" dirty="0"/>
          </a:p>
        </p:txBody>
      </p:sp>
      <p:sp>
        <p:nvSpPr>
          <p:cNvPr id="96" name="Text 93"/>
          <p:cNvSpPr txBox="1"/>
          <p:nvPr/>
        </p:nvSpPr>
        <p:spPr>
          <a:xfrm>
            <a:off x="1755648" y="581558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Germany</a:t>
            </a:r>
            <a:endParaRPr lang="en-US" sz="1550" dirty="0"/>
          </a:p>
        </p:txBody>
      </p:sp>
      <p:sp>
        <p:nvSpPr>
          <p:cNvPr id="97" name="Text 94"/>
          <p:cNvSpPr txBox="1"/>
          <p:nvPr/>
        </p:nvSpPr>
        <p:spPr>
          <a:xfrm>
            <a:off x="4361688" y="5806440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650" dirty="0"/>
          </a:p>
        </p:txBody>
      </p:sp>
      <p:sp>
        <p:nvSpPr>
          <p:cNvPr id="98" name="Shape 95"/>
          <p:cNvSpPr/>
          <p:nvPr/>
        </p:nvSpPr>
        <p:spPr>
          <a:xfrm>
            <a:off x="4818888" y="5897880"/>
            <a:ext cx="100584" cy="100584"/>
          </a:xfrm>
          <a:prstGeom prst="ellipse">
            <a:avLst/>
          </a:prstGeom>
          <a:solidFill>
            <a:srgbClr val="687075"/>
          </a:solidFill>
          <a:ln w="12700">
            <a:solidFill>
              <a:srgbClr val="687075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>
            <a:off x="5001768" y="5897880"/>
            <a:ext cx="100584" cy="100584"/>
          </a:xfrm>
          <a:prstGeom prst="ellipse">
            <a:avLst/>
          </a:prstGeom>
          <a:solidFill>
            <a:srgbClr val="687075"/>
          </a:solidFill>
          <a:ln w="12700">
            <a:solidFill>
              <a:srgbClr val="687075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>
            <a:off x="5184648" y="5897880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367528" y="5897880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>
            <a:off x="5550408" y="5897880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7013448" y="5806440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650" dirty="0"/>
          </a:p>
        </p:txBody>
      </p:sp>
      <p:sp>
        <p:nvSpPr>
          <p:cNvPr id="104" name="Shape 101"/>
          <p:cNvSpPr/>
          <p:nvPr/>
        </p:nvSpPr>
        <p:spPr>
          <a:xfrm>
            <a:off x="7470648" y="5897880"/>
            <a:ext cx="100584" cy="100584"/>
          </a:xfrm>
          <a:prstGeom prst="ellipse">
            <a:avLst/>
          </a:prstGeom>
          <a:solidFill>
            <a:srgbClr val="687075"/>
          </a:solidFill>
          <a:ln w="12700">
            <a:solidFill>
              <a:srgbClr val="687075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7653528" y="5897880"/>
            <a:ext cx="100584" cy="100584"/>
          </a:xfrm>
          <a:prstGeom prst="ellipse">
            <a:avLst/>
          </a:prstGeom>
          <a:solidFill>
            <a:srgbClr val="687075"/>
          </a:solidFill>
          <a:ln w="12700">
            <a:solidFill>
              <a:srgbClr val="687075"/>
            </a:solidFill>
            <a:prstDash val="solid"/>
          </a:ln>
        </p:spPr>
      </p:sp>
      <p:sp>
        <p:nvSpPr>
          <p:cNvPr id="106" name="Shape 103"/>
          <p:cNvSpPr/>
          <p:nvPr/>
        </p:nvSpPr>
        <p:spPr>
          <a:xfrm>
            <a:off x="7836408" y="5897880"/>
            <a:ext cx="100584" cy="100584"/>
          </a:xfrm>
          <a:prstGeom prst="ellipse">
            <a:avLst/>
          </a:prstGeom>
          <a:solidFill>
            <a:srgbClr val="687075"/>
          </a:solidFill>
          <a:ln w="12700">
            <a:solidFill>
              <a:srgbClr val="687075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>
            <a:off x="8019288" y="5897880"/>
            <a:ext cx="100584" cy="100584"/>
          </a:xfrm>
          <a:prstGeom prst="ellipse">
            <a:avLst/>
          </a:prstGeom>
          <a:solidFill>
            <a:srgbClr val="687075"/>
          </a:solidFill>
          <a:ln w="12700">
            <a:solidFill>
              <a:srgbClr val="687075"/>
            </a:solidFill>
            <a:prstDash val="solid"/>
          </a:ln>
        </p:spPr>
      </p:sp>
      <p:sp>
        <p:nvSpPr>
          <p:cNvPr id="108" name="Shape 105"/>
          <p:cNvSpPr/>
          <p:nvPr/>
        </p:nvSpPr>
        <p:spPr>
          <a:xfrm>
            <a:off x="8202168" y="5897880"/>
            <a:ext cx="100584" cy="100584"/>
          </a:xfrm>
          <a:prstGeom prst="ellipse">
            <a:avLst/>
          </a:prstGeom>
          <a:solidFill>
            <a:srgbClr val="687075"/>
          </a:solidFill>
          <a:ln w="12700">
            <a:solidFill>
              <a:srgbClr val="687075"/>
            </a:solidFill>
            <a:prstDash val="solid"/>
          </a:ln>
        </p:spPr>
      </p:sp>
      <p:sp>
        <p:nvSpPr>
          <p:cNvPr id="109" name="Text 106"/>
          <p:cNvSpPr txBox="1"/>
          <p:nvPr/>
        </p:nvSpPr>
        <p:spPr>
          <a:xfrm>
            <a:off x="9665208" y="5806440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650" dirty="0"/>
          </a:p>
        </p:txBody>
      </p:sp>
      <p:sp>
        <p:nvSpPr>
          <p:cNvPr id="110" name="Shape 107"/>
          <p:cNvSpPr/>
          <p:nvPr/>
        </p:nvSpPr>
        <p:spPr>
          <a:xfrm>
            <a:off x="10122408" y="5897880"/>
            <a:ext cx="100584" cy="100584"/>
          </a:xfrm>
          <a:prstGeom prst="ellipse">
            <a:avLst/>
          </a:prstGeom>
          <a:solidFill>
            <a:srgbClr val="687075"/>
          </a:solidFill>
          <a:ln w="12700">
            <a:solidFill>
              <a:srgbClr val="687075"/>
            </a:solidFill>
            <a:prstDash val="solid"/>
          </a:ln>
        </p:spPr>
      </p:sp>
      <p:sp>
        <p:nvSpPr>
          <p:cNvPr id="111" name="Shape 108"/>
          <p:cNvSpPr/>
          <p:nvPr/>
        </p:nvSpPr>
        <p:spPr>
          <a:xfrm>
            <a:off x="10305288" y="5897880"/>
            <a:ext cx="100584" cy="100584"/>
          </a:xfrm>
          <a:prstGeom prst="ellipse">
            <a:avLst/>
          </a:prstGeom>
          <a:solidFill>
            <a:srgbClr val="687075"/>
          </a:solidFill>
          <a:ln w="12700">
            <a:solidFill>
              <a:srgbClr val="687075"/>
            </a:solidFill>
            <a:prstDash val="solid"/>
          </a:ln>
        </p:spPr>
      </p:sp>
      <p:sp>
        <p:nvSpPr>
          <p:cNvPr id="112" name="Shape 109"/>
          <p:cNvSpPr/>
          <p:nvPr/>
        </p:nvSpPr>
        <p:spPr>
          <a:xfrm>
            <a:off x="10488168" y="5897880"/>
            <a:ext cx="100584" cy="100584"/>
          </a:xfrm>
          <a:prstGeom prst="ellipse">
            <a:avLst/>
          </a:prstGeom>
          <a:solidFill>
            <a:srgbClr val="687075"/>
          </a:solidFill>
          <a:ln w="12700">
            <a:solidFill>
              <a:srgbClr val="687075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10671048" y="5897880"/>
            <a:ext cx="100584" cy="100584"/>
          </a:xfrm>
          <a:prstGeom prst="ellipse">
            <a:avLst/>
          </a:prstGeom>
          <a:solidFill>
            <a:srgbClr val="687075"/>
          </a:solidFill>
          <a:ln w="12700">
            <a:solidFill>
              <a:srgbClr val="687075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10853928" y="5897880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115" name="Text 112"/>
          <p:cNvSpPr txBox="1"/>
          <p:nvPr/>
        </p:nvSpPr>
        <p:spPr>
          <a:xfrm>
            <a:off x="12316968" y="5806440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650" dirty="0"/>
          </a:p>
        </p:txBody>
      </p:sp>
      <p:sp>
        <p:nvSpPr>
          <p:cNvPr id="116" name="Shape 113"/>
          <p:cNvSpPr/>
          <p:nvPr/>
        </p:nvSpPr>
        <p:spPr>
          <a:xfrm>
            <a:off x="12774168" y="5897880"/>
            <a:ext cx="100584" cy="100584"/>
          </a:xfrm>
          <a:prstGeom prst="ellipse">
            <a:avLst/>
          </a:prstGeom>
          <a:solidFill>
            <a:srgbClr val="687075"/>
          </a:solidFill>
          <a:ln w="12700">
            <a:solidFill>
              <a:srgbClr val="687075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12957048" y="5897880"/>
            <a:ext cx="100584" cy="100584"/>
          </a:xfrm>
          <a:prstGeom prst="ellipse">
            <a:avLst/>
          </a:prstGeom>
          <a:solidFill>
            <a:srgbClr val="687075"/>
          </a:solidFill>
          <a:ln w="12700">
            <a:solidFill>
              <a:srgbClr val="687075"/>
            </a:solidFill>
            <a:prstDash val="solid"/>
          </a:ln>
        </p:spPr>
      </p:sp>
      <p:sp>
        <p:nvSpPr>
          <p:cNvPr id="118" name="Shape 115"/>
          <p:cNvSpPr/>
          <p:nvPr/>
        </p:nvSpPr>
        <p:spPr>
          <a:xfrm>
            <a:off x="13139928" y="5897880"/>
            <a:ext cx="100584" cy="100584"/>
          </a:xfrm>
          <a:prstGeom prst="ellipse">
            <a:avLst/>
          </a:prstGeom>
          <a:solidFill>
            <a:srgbClr val="687075"/>
          </a:solidFill>
          <a:ln w="12700">
            <a:solidFill>
              <a:srgbClr val="687075"/>
            </a:solidFill>
            <a:prstDash val="solid"/>
          </a:ln>
        </p:spPr>
      </p:sp>
      <p:sp>
        <p:nvSpPr>
          <p:cNvPr id="119" name="Shape 116"/>
          <p:cNvSpPr/>
          <p:nvPr/>
        </p:nvSpPr>
        <p:spPr>
          <a:xfrm>
            <a:off x="13322808" y="5897880"/>
            <a:ext cx="100584" cy="100584"/>
          </a:xfrm>
          <a:prstGeom prst="ellipse">
            <a:avLst/>
          </a:prstGeom>
          <a:solidFill>
            <a:srgbClr val="687075"/>
          </a:solidFill>
          <a:ln w="12700">
            <a:solidFill>
              <a:srgbClr val="687075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13505688" y="5897880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121" name="Text 118"/>
          <p:cNvSpPr txBox="1"/>
          <p:nvPr/>
        </p:nvSpPr>
        <p:spPr>
          <a:xfrm>
            <a:off x="15060168" y="579729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1800" dirty="0"/>
          </a:p>
        </p:txBody>
      </p:sp>
      <p:sp>
        <p:nvSpPr>
          <p:cNvPr id="122" name="Shape 119"/>
          <p:cNvSpPr/>
          <p:nvPr/>
        </p:nvSpPr>
        <p:spPr>
          <a:xfrm>
            <a:off x="15745968" y="5907024"/>
            <a:ext cx="1371600" cy="82296"/>
          </a:xfrm>
          <a:prstGeom prst="roundRect">
            <a:avLst>
              <a:gd name="adj" fmla="val 44444"/>
            </a:avLst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15745968" y="5907024"/>
            <a:ext cx="1028700" cy="82296"/>
          </a:xfrm>
          <a:prstGeom prst="roundRect">
            <a:avLst>
              <a:gd name="adj" fmla="val 44444"/>
            </a:avLst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124" name="Shape 121"/>
          <p:cNvSpPr/>
          <p:nvPr/>
        </p:nvSpPr>
        <p:spPr>
          <a:xfrm>
            <a:off x="1069848" y="6158484"/>
            <a:ext cx="16203168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ADBD6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>
            <a:off x="4224528" y="6158484"/>
            <a:ext cx="2423160" cy="365760"/>
          </a:xfrm>
          <a:prstGeom prst="rect">
            <a:avLst/>
          </a:prstGeom>
          <a:solidFill>
            <a:srgbClr val="E8F2F2"/>
          </a:solidFill>
          <a:ln w="12700">
            <a:solidFill>
              <a:srgbClr val="E8F2F2"/>
            </a:solidFill>
            <a:prstDash val="solid"/>
          </a:ln>
        </p:spPr>
      </p:sp>
      <p:sp>
        <p:nvSpPr>
          <p:cNvPr id="126" name="Text 123"/>
          <p:cNvSpPr txBox="1"/>
          <p:nvPr/>
        </p:nvSpPr>
        <p:spPr>
          <a:xfrm>
            <a:off x="1344168" y="62407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</a:t>
            </a:r>
            <a:endParaRPr lang="en-US" sz="1350" dirty="0"/>
          </a:p>
        </p:txBody>
      </p:sp>
      <p:sp>
        <p:nvSpPr>
          <p:cNvPr id="127" name="Text 124"/>
          <p:cNvSpPr txBox="1"/>
          <p:nvPr/>
        </p:nvSpPr>
        <p:spPr>
          <a:xfrm>
            <a:off x="1755648" y="62224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Belgium</a:t>
            </a:r>
            <a:endParaRPr lang="en-US" sz="1550" dirty="0"/>
          </a:p>
        </p:txBody>
      </p:sp>
      <p:sp>
        <p:nvSpPr>
          <p:cNvPr id="128" name="Text 125"/>
          <p:cNvSpPr txBox="1"/>
          <p:nvPr/>
        </p:nvSpPr>
        <p:spPr>
          <a:xfrm>
            <a:off x="4361688" y="621334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650" dirty="0"/>
          </a:p>
        </p:txBody>
      </p:sp>
      <p:sp>
        <p:nvSpPr>
          <p:cNvPr id="129" name="Shape 126"/>
          <p:cNvSpPr/>
          <p:nvPr/>
        </p:nvSpPr>
        <p:spPr>
          <a:xfrm>
            <a:off x="4818888" y="6304788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30" name="Shape 127"/>
          <p:cNvSpPr/>
          <p:nvPr/>
        </p:nvSpPr>
        <p:spPr>
          <a:xfrm>
            <a:off x="5001768" y="6304788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31" name="Shape 128"/>
          <p:cNvSpPr/>
          <p:nvPr/>
        </p:nvSpPr>
        <p:spPr>
          <a:xfrm>
            <a:off x="5184648" y="6304788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32" name="Shape 129"/>
          <p:cNvSpPr/>
          <p:nvPr/>
        </p:nvSpPr>
        <p:spPr>
          <a:xfrm>
            <a:off x="5367528" y="6304788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33" name="Shape 130"/>
          <p:cNvSpPr/>
          <p:nvPr/>
        </p:nvSpPr>
        <p:spPr>
          <a:xfrm>
            <a:off x="5550408" y="6304788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34" name="Text 131"/>
          <p:cNvSpPr txBox="1"/>
          <p:nvPr/>
        </p:nvSpPr>
        <p:spPr>
          <a:xfrm>
            <a:off x="7013448" y="621334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650" dirty="0"/>
          </a:p>
        </p:txBody>
      </p:sp>
      <p:sp>
        <p:nvSpPr>
          <p:cNvPr id="135" name="Shape 132"/>
          <p:cNvSpPr/>
          <p:nvPr/>
        </p:nvSpPr>
        <p:spPr>
          <a:xfrm>
            <a:off x="7470648" y="6304788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36" name="Shape 133"/>
          <p:cNvSpPr/>
          <p:nvPr/>
        </p:nvSpPr>
        <p:spPr>
          <a:xfrm>
            <a:off x="7653528" y="6304788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37" name="Shape 134"/>
          <p:cNvSpPr/>
          <p:nvPr/>
        </p:nvSpPr>
        <p:spPr>
          <a:xfrm>
            <a:off x="7836408" y="6304788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38" name="Shape 135"/>
          <p:cNvSpPr/>
          <p:nvPr/>
        </p:nvSpPr>
        <p:spPr>
          <a:xfrm>
            <a:off x="8019288" y="6304788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139" name="Shape 136"/>
          <p:cNvSpPr/>
          <p:nvPr/>
        </p:nvSpPr>
        <p:spPr>
          <a:xfrm>
            <a:off x="8202168" y="6304788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140" name="Text 137"/>
          <p:cNvSpPr txBox="1"/>
          <p:nvPr/>
        </p:nvSpPr>
        <p:spPr>
          <a:xfrm>
            <a:off x="9665208" y="621334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650" dirty="0"/>
          </a:p>
        </p:txBody>
      </p:sp>
      <p:sp>
        <p:nvSpPr>
          <p:cNvPr id="141" name="Shape 138"/>
          <p:cNvSpPr/>
          <p:nvPr/>
        </p:nvSpPr>
        <p:spPr>
          <a:xfrm>
            <a:off x="10122408" y="6304788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42" name="Shape 139"/>
          <p:cNvSpPr/>
          <p:nvPr/>
        </p:nvSpPr>
        <p:spPr>
          <a:xfrm>
            <a:off x="10305288" y="6304788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43" name="Shape 140"/>
          <p:cNvSpPr/>
          <p:nvPr/>
        </p:nvSpPr>
        <p:spPr>
          <a:xfrm>
            <a:off x="10488168" y="6304788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44" name="Shape 141"/>
          <p:cNvSpPr/>
          <p:nvPr/>
        </p:nvSpPr>
        <p:spPr>
          <a:xfrm>
            <a:off x="10671048" y="6304788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145" name="Shape 142"/>
          <p:cNvSpPr/>
          <p:nvPr/>
        </p:nvSpPr>
        <p:spPr>
          <a:xfrm>
            <a:off x="10853928" y="6304788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146" name="Text 143"/>
          <p:cNvSpPr txBox="1"/>
          <p:nvPr/>
        </p:nvSpPr>
        <p:spPr>
          <a:xfrm>
            <a:off x="12316968" y="621334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650" dirty="0"/>
          </a:p>
        </p:txBody>
      </p:sp>
      <p:sp>
        <p:nvSpPr>
          <p:cNvPr id="147" name="Shape 144"/>
          <p:cNvSpPr/>
          <p:nvPr/>
        </p:nvSpPr>
        <p:spPr>
          <a:xfrm>
            <a:off x="12774168" y="6304788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48" name="Shape 145"/>
          <p:cNvSpPr/>
          <p:nvPr/>
        </p:nvSpPr>
        <p:spPr>
          <a:xfrm>
            <a:off x="12957048" y="6304788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49" name="Shape 146"/>
          <p:cNvSpPr/>
          <p:nvPr/>
        </p:nvSpPr>
        <p:spPr>
          <a:xfrm>
            <a:off x="13139928" y="6304788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50" name="Shape 147"/>
          <p:cNvSpPr/>
          <p:nvPr/>
        </p:nvSpPr>
        <p:spPr>
          <a:xfrm>
            <a:off x="13322808" y="6304788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151" name="Shape 148"/>
          <p:cNvSpPr/>
          <p:nvPr/>
        </p:nvSpPr>
        <p:spPr>
          <a:xfrm>
            <a:off x="13505688" y="6304788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15060168" y="620420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1800" dirty="0"/>
          </a:p>
        </p:txBody>
      </p:sp>
      <p:sp>
        <p:nvSpPr>
          <p:cNvPr id="153" name="Shape 150"/>
          <p:cNvSpPr/>
          <p:nvPr/>
        </p:nvSpPr>
        <p:spPr>
          <a:xfrm>
            <a:off x="15745968" y="6313932"/>
            <a:ext cx="1371600" cy="82296"/>
          </a:xfrm>
          <a:prstGeom prst="roundRect">
            <a:avLst>
              <a:gd name="adj" fmla="val 44444"/>
            </a:avLst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154" name="Shape 151"/>
          <p:cNvSpPr/>
          <p:nvPr/>
        </p:nvSpPr>
        <p:spPr>
          <a:xfrm>
            <a:off x="15745968" y="6313932"/>
            <a:ext cx="960120" cy="82296"/>
          </a:xfrm>
          <a:prstGeom prst="roundRect">
            <a:avLst>
              <a:gd name="adj" fmla="val 44444"/>
            </a:avLst>
          </a:prstGeom>
          <a:solidFill>
            <a:srgbClr val="497078"/>
          </a:solidFill>
          <a:ln w="12700">
            <a:solidFill>
              <a:srgbClr val="497078"/>
            </a:solidFill>
            <a:prstDash val="solid"/>
          </a:ln>
        </p:spPr>
      </p:sp>
      <p:sp>
        <p:nvSpPr>
          <p:cNvPr id="155" name="Shape 152"/>
          <p:cNvSpPr/>
          <p:nvPr/>
        </p:nvSpPr>
        <p:spPr>
          <a:xfrm>
            <a:off x="1069848" y="6565392"/>
            <a:ext cx="16203168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ADBD6"/>
            </a:solidFill>
            <a:prstDash val="solid"/>
          </a:ln>
        </p:spPr>
      </p:sp>
      <p:sp>
        <p:nvSpPr>
          <p:cNvPr id="156" name="Shape 153"/>
          <p:cNvSpPr/>
          <p:nvPr/>
        </p:nvSpPr>
        <p:spPr>
          <a:xfrm>
            <a:off x="4224528" y="6565392"/>
            <a:ext cx="2423160" cy="365760"/>
          </a:xfrm>
          <a:prstGeom prst="rect">
            <a:avLst/>
          </a:prstGeom>
          <a:solidFill>
            <a:srgbClr val="E8F2F2"/>
          </a:solidFill>
          <a:ln w="12700">
            <a:solidFill>
              <a:srgbClr val="E8F2F2"/>
            </a:solidFill>
            <a:prstDash val="solid"/>
          </a:ln>
        </p:spPr>
      </p:sp>
      <p:sp>
        <p:nvSpPr>
          <p:cNvPr id="157" name="Text 154"/>
          <p:cNvSpPr txBox="1"/>
          <p:nvPr/>
        </p:nvSpPr>
        <p:spPr>
          <a:xfrm>
            <a:off x="1344168" y="66476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5.</a:t>
            </a:r>
            <a:endParaRPr lang="en-US" sz="1350" dirty="0"/>
          </a:p>
        </p:txBody>
      </p:sp>
      <p:sp>
        <p:nvSpPr>
          <p:cNvPr id="158" name="Text 155"/>
          <p:cNvSpPr txBox="1"/>
          <p:nvPr/>
        </p:nvSpPr>
        <p:spPr>
          <a:xfrm>
            <a:off x="1755648" y="66294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Italy</a:t>
            </a:r>
            <a:endParaRPr lang="en-US" sz="1550" dirty="0"/>
          </a:p>
        </p:txBody>
      </p:sp>
      <p:sp>
        <p:nvSpPr>
          <p:cNvPr id="159" name="Text 156"/>
          <p:cNvSpPr txBox="1"/>
          <p:nvPr/>
        </p:nvSpPr>
        <p:spPr>
          <a:xfrm>
            <a:off x="4361688" y="6620256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650" dirty="0"/>
          </a:p>
        </p:txBody>
      </p:sp>
      <p:sp>
        <p:nvSpPr>
          <p:cNvPr id="160" name="Shape 157"/>
          <p:cNvSpPr/>
          <p:nvPr/>
        </p:nvSpPr>
        <p:spPr>
          <a:xfrm>
            <a:off x="4818888" y="6711696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61" name="Shape 158"/>
          <p:cNvSpPr/>
          <p:nvPr/>
        </p:nvSpPr>
        <p:spPr>
          <a:xfrm>
            <a:off x="5001768" y="6711696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62" name="Shape 159"/>
          <p:cNvSpPr/>
          <p:nvPr/>
        </p:nvSpPr>
        <p:spPr>
          <a:xfrm>
            <a:off x="5184648" y="6711696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63" name="Shape 160"/>
          <p:cNvSpPr/>
          <p:nvPr/>
        </p:nvSpPr>
        <p:spPr>
          <a:xfrm>
            <a:off x="5367528" y="6711696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164" name="Shape 161"/>
          <p:cNvSpPr/>
          <p:nvPr/>
        </p:nvSpPr>
        <p:spPr>
          <a:xfrm>
            <a:off x="5550408" y="6711696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165" name="Text 162"/>
          <p:cNvSpPr txBox="1"/>
          <p:nvPr/>
        </p:nvSpPr>
        <p:spPr>
          <a:xfrm>
            <a:off x="7013448" y="6620256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650" dirty="0"/>
          </a:p>
        </p:txBody>
      </p:sp>
      <p:sp>
        <p:nvSpPr>
          <p:cNvPr id="166" name="Shape 163"/>
          <p:cNvSpPr/>
          <p:nvPr/>
        </p:nvSpPr>
        <p:spPr>
          <a:xfrm>
            <a:off x="7470648" y="6711696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67" name="Shape 164"/>
          <p:cNvSpPr/>
          <p:nvPr/>
        </p:nvSpPr>
        <p:spPr>
          <a:xfrm>
            <a:off x="7653528" y="6711696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68" name="Shape 165"/>
          <p:cNvSpPr/>
          <p:nvPr/>
        </p:nvSpPr>
        <p:spPr>
          <a:xfrm>
            <a:off x="7836408" y="6711696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69" name="Shape 166"/>
          <p:cNvSpPr/>
          <p:nvPr/>
        </p:nvSpPr>
        <p:spPr>
          <a:xfrm>
            <a:off x="8019288" y="6711696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70" name="Shape 167"/>
          <p:cNvSpPr/>
          <p:nvPr/>
        </p:nvSpPr>
        <p:spPr>
          <a:xfrm>
            <a:off x="8202168" y="6711696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71" name="Text 168"/>
          <p:cNvSpPr txBox="1"/>
          <p:nvPr/>
        </p:nvSpPr>
        <p:spPr>
          <a:xfrm>
            <a:off x="9665208" y="6620256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650" dirty="0"/>
          </a:p>
        </p:txBody>
      </p:sp>
      <p:sp>
        <p:nvSpPr>
          <p:cNvPr id="172" name="Shape 169"/>
          <p:cNvSpPr/>
          <p:nvPr/>
        </p:nvSpPr>
        <p:spPr>
          <a:xfrm>
            <a:off x="10122408" y="6711696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73" name="Shape 170"/>
          <p:cNvSpPr/>
          <p:nvPr/>
        </p:nvSpPr>
        <p:spPr>
          <a:xfrm>
            <a:off x="10305288" y="6711696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74" name="Shape 171"/>
          <p:cNvSpPr/>
          <p:nvPr/>
        </p:nvSpPr>
        <p:spPr>
          <a:xfrm>
            <a:off x="10488168" y="6711696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175" name="Shape 172"/>
          <p:cNvSpPr/>
          <p:nvPr/>
        </p:nvSpPr>
        <p:spPr>
          <a:xfrm>
            <a:off x="10671048" y="6711696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176" name="Shape 173"/>
          <p:cNvSpPr/>
          <p:nvPr/>
        </p:nvSpPr>
        <p:spPr>
          <a:xfrm>
            <a:off x="10853928" y="6711696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177" name="Text 174"/>
          <p:cNvSpPr txBox="1"/>
          <p:nvPr/>
        </p:nvSpPr>
        <p:spPr>
          <a:xfrm>
            <a:off x="12316968" y="6620256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650" dirty="0"/>
          </a:p>
        </p:txBody>
      </p:sp>
      <p:sp>
        <p:nvSpPr>
          <p:cNvPr id="178" name="Shape 175"/>
          <p:cNvSpPr/>
          <p:nvPr/>
        </p:nvSpPr>
        <p:spPr>
          <a:xfrm>
            <a:off x="12774168" y="6711696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79" name="Shape 176"/>
          <p:cNvSpPr/>
          <p:nvPr/>
        </p:nvSpPr>
        <p:spPr>
          <a:xfrm>
            <a:off x="12957048" y="6711696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80" name="Shape 177"/>
          <p:cNvSpPr/>
          <p:nvPr/>
        </p:nvSpPr>
        <p:spPr>
          <a:xfrm>
            <a:off x="13139928" y="6711696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81" name="Shape 178"/>
          <p:cNvSpPr/>
          <p:nvPr/>
        </p:nvSpPr>
        <p:spPr>
          <a:xfrm>
            <a:off x="13322808" y="6711696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82" name="Shape 179"/>
          <p:cNvSpPr/>
          <p:nvPr/>
        </p:nvSpPr>
        <p:spPr>
          <a:xfrm>
            <a:off x="13505688" y="6711696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183" name="Text 180"/>
          <p:cNvSpPr txBox="1"/>
          <p:nvPr/>
        </p:nvSpPr>
        <p:spPr>
          <a:xfrm>
            <a:off x="15060168" y="661111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1800" dirty="0"/>
          </a:p>
        </p:txBody>
      </p:sp>
      <p:sp>
        <p:nvSpPr>
          <p:cNvPr id="184" name="Shape 181"/>
          <p:cNvSpPr/>
          <p:nvPr/>
        </p:nvSpPr>
        <p:spPr>
          <a:xfrm>
            <a:off x="15745968" y="6720840"/>
            <a:ext cx="1371600" cy="82296"/>
          </a:xfrm>
          <a:prstGeom prst="roundRect">
            <a:avLst>
              <a:gd name="adj" fmla="val 44444"/>
            </a:avLst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185" name="Shape 182"/>
          <p:cNvSpPr/>
          <p:nvPr/>
        </p:nvSpPr>
        <p:spPr>
          <a:xfrm>
            <a:off x="15745968" y="6720840"/>
            <a:ext cx="960120" cy="82296"/>
          </a:xfrm>
          <a:prstGeom prst="roundRect">
            <a:avLst>
              <a:gd name="adj" fmla="val 44444"/>
            </a:avLst>
          </a:prstGeom>
          <a:solidFill>
            <a:srgbClr val="497078"/>
          </a:solidFill>
          <a:ln w="12700">
            <a:solidFill>
              <a:srgbClr val="497078"/>
            </a:solidFill>
            <a:prstDash val="solid"/>
          </a:ln>
        </p:spPr>
      </p:sp>
      <p:sp>
        <p:nvSpPr>
          <p:cNvPr id="186" name="Shape 183"/>
          <p:cNvSpPr/>
          <p:nvPr/>
        </p:nvSpPr>
        <p:spPr>
          <a:xfrm>
            <a:off x="1069848" y="6972300"/>
            <a:ext cx="16203168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ADBD6"/>
            </a:solidFill>
            <a:prstDash val="solid"/>
          </a:ln>
        </p:spPr>
      </p:sp>
      <p:sp>
        <p:nvSpPr>
          <p:cNvPr id="187" name="Shape 184"/>
          <p:cNvSpPr/>
          <p:nvPr/>
        </p:nvSpPr>
        <p:spPr>
          <a:xfrm>
            <a:off x="4224528" y="6972300"/>
            <a:ext cx="2423160" cy="365760"/>
          </a:xfrm>
          <a:prstGeom prst="rect">
            <a:avLst/>
          </a:prstGeom>
          <a:solidFill>
            <a:srgbClr val="E8F2F2"/>
          </a:solidFill>
          <a:ln w="12700">
            <a:solidFill>
              <a:srgbClr val="E8F2F2"/>
            </a:solidFill>
            <a:prstDash val="solid"/>
          </a:ln>
        </p:spPr>
      </p:sp>
      <p:sp>
        <p:nvSpPr>
          <p:cNvPr id="188" name="Text 185"/>
          <p:cNvSpPr txBox="1"/>
          <p:nvPr/>
        </p:nvSpPr>
        <p:spPr>
          <a:xfrm>
            <a:off x="1344168" y="70545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6.</a:t>
            </a:r>
            <a:endParaRPr lang="en-US" sz="1350" dirty="0"/>
          </a:p>
        </p:txBody>
      </p:sp>
      <p:sp>
        <p:nvSpPr>
          <p:cNvPr id="189" name="Text 186"/>
          <p:cNvSpPr txBox="1"/>
          <p:nvPr/>
        </p:nvSpPr>
        <p:spPr>
          <a:xfrm>
            <a:off x="1755648" y="70363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Austria</a:t>
            </a:r>
            <a:endParaRPr lang="en-US" sz="1550" dirty="0"/>
          </a:p>
        </p:txBody>
      </p:sp>
      <p:sp>
        <p:nvSpPr>
          <p:cNvPr id="190" name="Text 187"/>
          <p:cNvSpPr txBox="1"/>
          <p:nvPr/>
        </p:nvSpPr>
        <p:spPr>
          <a:xfrm>
            <a:off x="4361688" y="702716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650" dirty="0"/>
          </a:p>
        </p:txBody>
      </p:sp>
      <p:sp>
        <p:nvSpPr>
          <p:cNvPr id="191" name="Shape 188"/>
          <p:cNvSpPr/>
          <p:nvPr/>
        </p:nvSpPr>
        <p:spPr>
          <a:xfrm>
            <a:off x="4818888" y="7118604"/>
            <a:ext cx="100584" cy="100584"/>
          </a:xfrm>
          <a:prstGeom prst="ellipse">
            <a:avLst/>
          </a:prstGeom>
          <a:solidFill>
            <a:srgbClr val="687075"/>
          </a:solidFill>
          <a:ln w="12700">
            <a:solidFill>
              <a:srgbClr val="687075"/>
            </a:solidFill>
            <a:prstDash val="solid"/>
          </a:ln>
        </p:spPr>
      </p:sp>
      <p:sp>
        <p:nvSpPr>
          <p:cNvPr id="192" name="Shape 189"/>
          <p:cNvSpPr/>
          <p:nvPr/>
        </p:nvSpPr>
        <p:spPr>
          <a:xfrm>
            <a:off x="5001768" y="7118604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193" name="Shape 190"/>
          <p:cNvSpPr/>
          <p:nvPr/>
        </p:nvSpPr>
        <p:spPr>
          <a:xfrm>
            <a:off x="5184648" y="7118604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194" name="Shape 191"/>
          <p:cNvSpPr/>
          <p:nvPr/>
        </p:nvSpPr>
        <p:spPr>
          <a:xfrm>
            <a:off x="5367528" y="7118604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195" name="Shape 192"/>
          <p:cNvSpPr/>
          <p:nvPr/>
        </p:nvSpPr>
        <p:spPr>
          <a:xfrm>
            <a:off x="5550408" y="7118604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196" name="Text 193"/>
          <p:cNvSpPr txBox="1"/>
          <p:nvPr/>
        </p:nvSpPr>
        <p:spPr>
          <a:xfrm>
            <a:off x="7013448" y="702716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650" dirty="0"/>
          </a:p>
        </p:txBody>
      </p:sp>
      <p:sp>
        <p:nvSpPr>
          <p:cNvPr id="197" name="Shape 194"/>
          <p:cNvSpPr/>
          <p:nvPr/>
        </p:nvSpPr>
        <p:spPr>
          <a:xfrm>
            <a:off x="7470648" y="7118604"/>
            <a:ext cx="100584" cy="100584"/>
          </a:xfrm>
          <a:prstGeom prst="ellipse">
            <a:avLst/>
          </a:prstGeom>
          <a:solidFill>
            <a:srgbClr val="687075"/>
          </a:solidFill>
          <a:ln w="12700">
            <a:solidFill>
              <a:srgbClr val="687075"/>
            </a:solidFill>
            <a:prstDash val="solid"/>
          </a:ln>
        </p:spPr>
      </p:sp>
      <p:sp>
        <p:nvSpPr>
          <p:cNvPr id="198" name="Shape 195"/>
          <p:cNvSpPr/>
          <p:nvPr/>
        </p:nvSpPr>
        <p:spPr>
          <a:xfrm>
            <a:off x="7653528" y="7118604"/>
            <a:ext cx="100584" cy="100584"/>
          </a:xfrm>
          <a:prstGeom prst="ellipse">
            <a:avLst/>
          </a:prstGeom>
          <a:solidFill>
            <a:srgbClr val="687075"/>
          </a:solidFill>
          <a:ln w="12700">
            <a:solidFill>
              <a:srgbClr val="687075"/>
            </a:solidFill>
            <a:prstDash val="solid"/>
          </a:ln>
        </p:spPr>
      </p:sp>
      <p:sp>
        <p:nvSpPr>
          <p:cNvPr id="199" name="Shape 196"/>
          <p:cNvSpPr/>
          <p:nvPr/>
        </p:nvSpPr>
        <p:spPr>
          <a:xfrm>
            <a:off x="7836408" y="7118604"/>
            <a:ext cx="100584" cy="100584"/>
          </a:xfrm>
          <a:prstGeom prst="ellipse">
            <a:avLst/>
          </a:prstGeom>
          <a:solidFill>
            <a:srgbClr val="687075"/>
          </a:solidFill>
          <a:ln w="12700">
            <a:solidFill>
              <a:srgbClr val="687075"/>
            </a:solidFill>
            <a:prstDash val="solid"/>
          </a:ln>
        </p:spPr>
      </p:sp>
      <p:sp>
        <p:nvSpPr>
          <p:cNvPr id="200" name="Shape 197"/>
          <p:cNvSpPr/>
          <p:nvPr/>
        </p:nvSpPr>
        <p:spPr>
          <a:xfrm>
            <a:off x="8019288" y="7118604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201" name="Shape 198"/>
          <p:cNvSpPr/>
          <p:nvPr/>
        </p:nvSpPr>
        <p:spPr>
          <a:xfrm>
            <a:off x="8202168" y="7118604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9665208" y="702716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650" dirty="0"/>
          </a:p>
        </p:txBody>
      </p:sp>
      <p:sp>
        <p:nvSpPr>
          <p:cNvPr id="203" name="Shape 200"/>
          <p:cNvSpPr/>
          <p:nvPr/>
        </p:nvSpPr>
        <p:spPr>
          <a:xfrm>
            <a:off x="10122408" y="7118604"/>
            <a:ext cx="100584" cy="100584"/>
          </a:xfrm>
          <a:prstGeom prst="ellipse">
            <a:avLst/>
          </a:prstGeom>
          <a:solidFill>
            <a:srgbClr val="687075"/>
          </a:solidFill>
          <a:ln w="12700">
            <a:solidFill>
              <a:srgbClr val="687075"/>
            </a:solidFill>
            <a:prstDash val="solid"/>
          </a:ln>
        </p:spPr>
      </p:sp>
      <p:sp>
        <p:nvSpPr>
          <p:cNvPr id="204" name="Shape 201"/>
          <p:cNvSpPr/>
          <p:nvPr/>
        </p:nvSpPr>
        <p:spPr>
          <a:xfrm>
            <a:off x="10305288" y="7118604"/>
            <a:ext cx="100584" cy="100584"/>
          </a:xfrm>
          <a:prstGeom prst="ellipse">
            <a:avLst/>
          </a:prstGeom>
          <a:solidFill>
            <a:srgbClr val="687075"/>
          </a:solidFill>
          <a:ln w="12700">
            <a:solidFill>
              <a:srgbClr val="687075"/>
            </a:solidFill>
            <a:prstDash val="solid"/>
          </a:ln>
        </p:spPr>
      </p:sp>
      <p:sp>
        <p:nvSpPr>
          <p:cNvPr id="205" name="Shape 202"/>
          <p:cNvSpPr/>
          <p:nvPr/>
        </p:nvSpPr>
        <p:spPr>
          <a:xfrm>
            <a:off x="10488168" y="7118604"/>
            <a:ext cx="100584" cy="100584"/>
          </a:xfrm>
          <a:prstGeom prst="ellipse">
            <a:avLst/>
          </a:prstGeom>
          <a:solidFill>
            <a:srgbClr val="687075"/>
          </a:solidFill>
          <a:ln w="12700">
            <a:solidFill>
              <a:srgbClr val="687075"/>
            </a:solidFill>
            <a:prstDash val="solid"/>
          </a:ln>
        </p:spPr>
      </p:sp>
      <p:sp>
        <p:nvSpPr>
          <p:cNvPr id="206" name="Shape 203"/>
          <p:cNvSpPr/>
          <p:nvPr/>
        </p:nvSpPr>
        <p:spPr>
          <a:xfrm>
            <a:off x="10671048" y="7118604"/>
            <a:ext cx="100584" cy="100584"/>
          </a:xfrm>
          <a:prstGeom prst="ellipse">
            <a:avLst/>
          </a:prstGeom>
          <a:solidFill>
            <a:srgbClr val="687075"/>
          </a:solidFill>
          <a:ln w="12700">
            <a:solidFill>
              <a:srgbClr val="687075"/>
            </a:solidFill>
            <a:prstDash val="solid"/>
          </a:ln>
        </p:spPr>
      </p:sp>
      <p:sp>
        <p:nvSpPr>
          <p:cNvPr id="207" name="Shape 204"/>
          <p:cNvSpPr/>
          <p:nvPr/>
        </p:nvSpPr>
        <p:spPr>
          <a:xfrm>
            <a:off x="10853928" y="7118604"/>
            <a:ext cx="100584" cy="100584"/>
          </a:xfrm>
          <a:prstGeom prst="ellipse">
            <a:avLst/>
          </a:prstGeom>
          <a:solidFill>
            <a:srgbClr val="687075"/>
          </a:solidFill>
          <a:ln w="12700">
            <a:solidFill>
              <a:srgbClr val="687075"/>
            </a:solidFill>
            <a:prstDash val="solid"/>
          </a:ln>
        </p:spPr>
      </p:sp>
      <p:sp>
        <p:nvSpPr>
          <p:cNvPr id="208" name="Text 205"/>
          <p:cNvSpPr txBox="1"/>
          <p:nvPr/>
        </p:nvSpPr>
        <p:spPr>
          <a:xfrm>
            <a:off x="12316968" y="702716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650" dirty="0"/>
          </a:p>
        </p:txBody>
      </p:sp>
      <p:sp>
        <p:nvSpPr>
          <p:cNvPr id="209" name="Shape 206"/>
          <p:cNvSpPr/>
          <p:nvPr/>
        </p:nvSpPr>
        <p:spPr>
          <a:xfrm>
            <a:off x="12774168" y="7118604"/>
            <a:ext cx="100584" cy="100584"/>
          </a:xfrm>
          <a:prstGeom prst="ellipse">
            <a:avLst/>
          </a:prstGeom>
          <a:solidFill>
            <a:srgbClr val="687075"/>
          </a:solidFill>
          <a:ln w="12700">
            <a:solidFill>
              <a:srgbClr val="687075"/>
            </a:solidFill>
            <a:prstDash val="solid"/>
          </a:ln>
        </p:spPr>
      </p:sp>
      <p:sp>
        <p:nvSpPr>
          <p:cNvPr id="210" name="Shape 207"/>
          <p:cNvSpPr/>
          <p:nvPr/>
        </p:nvSpPr>
        <p:spPr>
          <a:xfrm>
            <a:off x="12957048" y="7118604"/>
            <a:ext cx="100584" cy="100584"/>
          </a:xfrm>
          <a:prstGeom prst="ellipse">
            <a:avLst/>
          </a:prstGeom>
          <a:solidFill>
            <a:srgbClr val="687075"/>
          </a:solidFill>
          <a:ln w="12700">
            <a:solidFill>
              <a:srgbClr val="687075"/>
            </a:solidFill>
            <a:prstDash val="solid"/>
          </a:ln>
        </p:spPr>
      </p:sp>
      <p:sp>
        <p:nvSpPr>
          <p:cNvPr id="211" name="Shape 208"/>
          <p:cNvSpPr/>
          <p:nvPr/>
        </p:nvSpPr>
        <p:spPr>
          <a:xfrm>
            <a:off x="13139928" y="7118604"/>
            <a:ext cx="100584" cy="100584"/>
          </a:xfrm>
          <a:prstGeom prst="ellipse">
            <a:avLst/>
          </a:prstGeom>
          <a:solidFill>
            <a:srgbClr val="687075"/>
          </a:solidFill>
          <a:ln w="12700">
            <a:solidFill>
              <a:srgbClr val="687075"/>
            </a:solidFill>
            <a:prstDash val="solid"/>
          </a:ln>
        </p:spPr>
      </p:sp>
      <p:sp>
        <p:nvSpPr>
          <p:cNvPr id="212" name="Shape 209"/>
          <p:cNvSpPr/>
          <p:nvPr/>
        </p:nvSpPr>
        <p:spPr>
          <a:xfrm>
            <a:off x="13322808" y="7118604"/>
            <a:ext cx="100584" cy="100584"/>
          </a:xfrm>
          <a:prstGeom prst="ellipse">
            <a:avLst/>
          </a:prstGeom>
          <a:solidFill>
            <a:srgbClr val="687075"/>
          </a:solidFill>
          <a:ln w="12700">
            <a:solidFill>
              <a:srgbClr val="687075"/>
            </a:solidFill>
            <a:prstDash val="solid"/>
          </a:ln>
        </p:spPr>
      </p:sp>
      <p:sp>
        <p:nvSpPr>
          <p:cNvPr id="213" name="Shape 210"/>
          <p:cNvSpPr/>
          <p:nvPr/>
        </p:nvSpPr>
        <p:spPr>
          <a:xfrm>
            <a:off x="13505688" y="7118604"/>
            <a:ext cx="100584" cy="100584"/>
          </a:xfrm>
          <a:prstGeom prst="ellipse">
            <a:avLst/>
          </a:prstGeom>
          <a:solidFill>
            <a:srgbClr val="687075"/>
          </a:solidFill>
          <a:ln w="12700">
            <a:solidFill>
              <a:srgbClr val="687075"/>
            </a:solidFill>
            <a:prstDash val="solid"/>
          </a:ln>
        </p:spPr>
      </p:sp>
      <p:sp>
        <p:nvSpPr>
          <p:cNvPr id="214" name="Text 211"/>
          <p:cNvSpPr txBox="1"/>
          <p:nvPr/>
        </p:nvSpPr>
        <p:spPr>
          <a:xfrm>
            <a:off x="15060168" y="701802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1800" dirty="0"/>
          </a:p>
        </p:txBody>
      </p:sp>
      <p:sp>
        <p:nvSpPr>
          <p:cNvPr id="215" name="Shape 212"/>
          <p:cNvSpPr/>
          <p:nvPr/>
        </p:nvSpPr>
        <p:spPr>
          <a:xfrm>
            <a:off x="15745968" y="7127748"/>
            <a:ext cx="1371600" cy="82296"/>
          </a:xfrm>
          <a:prstGeom prst="roundRect">
            <a:avLst>
              <a:gd name="adj" fmla="val 44444"/>
            </a:avLst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216" name="Shape 213"/>
          <p:cNvSpPr/>
          <p:nvPr/>
        </p:nvSpPr>
        <p:spPr>
          <a:xfrm>
            <a:off x="15745968" y="7127748"/>
            <a:ext cx="960120" cy="82296"/>
          </a:xfrm>
          <a:prstGeom prst="roundRect">
            <a:avLst>
              <a:gd name="adj" fmla="val 44444"/>
            </a:avLst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217" name="Shape 214"/>
          <p:cNvSpPr/>
          <p:nvPr/>
        </p:nvSpPr>
        <p:spPr>
          <a:xfrm>
            <a:off x="1069848" y="7379208"/>
            <a:ext cx="16203168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ADBD6"/>
            </a:solidFill>
            <a:prstDash val="solid"/>
          </a:ln>
        </p:spPr>
      </p:sp>
      <p:sp>
        <p:nvSpPr>
          <p:cNvPr id="218" name="Shape 215"/>
          <p:cNvSpPr/>
          <p:nvPr/>
        </p:nvSpPr>
        <p:spPr>
          <a:xfrm>
            <a:off x="4224528" y="7379208"/>
            <a:ext cx="2423160" cy="365760"/>
          </a:xfrm>
          <a:prstGeom prst="rect">
            <a:avLst/>
          </a:prstGeom>
          <a:solidFill>
            <a:srgbClr val="E8F2F2"/>
          </a:solidFill>
          <a:ln w="12700">
            <a:solidFill>
              <a:srgbClr val="E8F2F2"/>
            </a:solidFill>
            <a:prstDash val="solid"/>
          </a:ln>
        </p:spPr>
      </p:sp>
      <p:sp>
        <p:nvSpPr>
          <p:cNvPr id="219" name="Text 216"/>
          <p:cNvSpPr txBox="1"/>
          <p:nvPr/>
        </p:nvSpPr>
        <p:spPr>
          <a:xfrm>
            <a:off x="1344168" y="74615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7.</a:t>
            </a:r>
            <a:endParaRPr lang="en-US" sz="1350" dirty="0"/>
          </a:p>
        </p:txBody>
      </p:sp>
      <p:sp>
        <p:nvSpPr>
          <p:cNvPr id="220" name="Text 217"/>
          <p:cNvSpPr txBox="1"/>
          <p:nvPr/>
        </p:nvSpPr>
        <p:spPr>
          <a:xfrm>
            <a:off x="1755648" y="744321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Denmark</a:t>
            </a:r>
            <a:endParaRPr lang="en-US" sz="1550" dirty="0"/>
          </a:p>
        </p:txBody>
      </p:sp>
      <p:sp>
        <p:nvSpPr>
          <p:cNvPr id="221" name="Text 218"/>
          <p:cNvSpPr txBox="1"/>
          <p:nvPr/>
        </p:nvSpPr>
        <p:spPr>
          <a:xfrm>
            <a:off x="4361688" y="743407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650" dirty="0"/>
          </a:p>
        </p:txBody>
      </p:sp>
      <p:sp>
        <p:nvSpPr>
          <p:cNvPr id="222" name="Shape 219"/>
          <p:cNvSpPr/>
          <p:nvPr/>
        </p:nvSpPr>
        <p:spPr>
          <a:xfrm>
            <a:off x="4818888" y="7525512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223" name="Shape 220"/>
          <p:cNvSpPr/>
          <p:nvPr/>
        </p:nvSpPr>
        <p:spPr>
          <a:xfrm>
            <a:off x="5001768" y="7525512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224" name="Shape 221"/>
          <p:cNvSpPr/>
          <p:nvPr/>
        </p:nvSpPr>
        <p:spPr>
          <a:xfrm>
            <a:off x="5184648" y="7525512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225" name="Shape 222"/>
          <p:cNvSpPr/>
          <p:nvPr/>
        </p:nvSpPr>
        <p:spPr>
          <a:xfrm>
            <a:off x="5367528" y="7525512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226" name="Shape 223"/>
          <p:cNvSpPr/>
          <p:nvPr/>
        </p:nvSpPr>
        <p:spPr>
          <a:xfrm>
            <a:off x="5550408" y="7525512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227" name="Text 224"/>
          <p:cNvSpPr txBox="1"/>
          <p:nvPr/>
        </p:nvSpPr>
        <p:spPr>
          <a:xfrm>
            <a:off x="7013448" y="743407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650" dirty="0"/>
          </a:p>
        </p:txBody>
      </p:sp>
      <p:sp>
        <p:nvSpPr>
          <p:cNvPr id="228" name="Shape 225"/>
          <p:cNvSpPr/>
          <p:nvPr/>
        </p:nvSpPr>
        <p:spPr>
          <a:xfrm>
            <a:off x="7470648" y="7525512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229" name="Shape 226"/>
          <p:cNvSpPr/>
          <p:nvPr/>
        </p:nvSpPr>
        <p:spPr>
          <a:xfrm>
            <a:off x="7653528" y="7525512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230" name="Shape 227"/>
          <p:cNvSpPr/>
          <p:nvPr/>
        </p:nvSpPr>
        <p:spPr>
          <a:xfrm>
            <a:off x="7836408" y="7525512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231" name="Shape 228"/>
          <p:cNvSpPr/>
          <p:nvPr/>
        </p:nvSpPr>
        <p:spPr>
          <a:xfrm>
            <a:off x="8019288" y="7525512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232" name="Shape 229"/>
          <p:cNvSpPr/>
          <p:nvPr/>
        </p:nvSpPr>
        <p:spPr>
          <a:xfrm>
            <a:off x="8202168" y="7525512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233" name="Text 230"/>
          <p:cNvSpPr txBox="1"/>
          <p:nvPr/>
        </p:nvSpPr>
        <p:spPr>
          <a:xfrm>
            <a:off x="9665208" y="743407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650" dirty="0"/>
          </a:p>
        </p:txBody>
      </p:sp>
      <p:sp>
        <p:nvSpPr>
          <p:cNvPr id="234" name="Shape 231"/>
          <p:cNvSpPr/>
          <p:nvPr/>
        </p:nvSpPr>
        <p:spPr>
          <a:xfrm>
            <a:off x="10122408" y="7525512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235" name="Shape 232"/>
          <p:cNvSpPr/>
          <p:nvPr/>
        </p:nvSpPr>
        <p:spPr>
          <a:xfrm>
            <a:off x="10305288" y="7525512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236" name="Shape 233"/>
          <p:cNvSpPr/>
          <p:nvPr/>
        </p:nvSpPr>
        <p:spPr>
          <a:xfrm>
            <a:off x="10488168" y="7525512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237" name="Shape 234"/>
          <p:cNvSpPr/>
          <p:nvPr/>
        </p:nvSpPr>
        <p:spPr>
          <a:xfrm>
            <a:off x="10671048" y="7525512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238" name="Shape 235"/>
          <p:cNvSpPr/>
          <p:nvPr/>
        </p:nvSpPr>
        <p:spPr>
          <a:xfrm>
            <a:off x="10853928" y="7525512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239" name="Text 236"/>
          <p:cNvSpPr txBox="1"/>
          <p:nvPr/>
        </p:nvSpPr>
        <p:spPr>
          <a:xfrm>
            <a:off x="12316968" y="743407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650" dirty="0"/>
          </a:p>
        </p:txBody>
      </p:sp>
      <p:sp>
        <p:nvSpPr>
          <p:cNvPr id="240" name="Shape 237"/>
          <p:cNvSpPr/>
          <p:nvPr/>
        </p:nvSpPr>
        <p:spPr>
          <a:xfrm>
            <a:off x="12774168" y="7525512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241" name="Shape 238"/>
          <p:cNvSpPr/>
          <p:nvPr/>
        </p:nvSpPr>
        <p:spPr>
          <a:xfrm>
            <a:off x="12957048" y="7525512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242" name="Shape 239"/>
          <p:cNvSpPr/>
          <p:nvPr/>
        </p:nvSpPr>
        <p:spPr>
          <a:xfrm>
            <a:off x="13139928" y="7525512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243" name="Shape 240"/>
          <p:cNvSpPr/>
          <p:nvPr/>
        </p:nvSpPr>
        <p:spPr>
          <a:xfrm>
            <a:off x="13322808" y="7525512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244" name="Shape 241"/>
          <p:cNvSpPr/>
          <p:nvPr/>
        </p:nvSpPr>
        <p:spPr>
          <a:xfrm>
            <a:off x="13505688" y="7525512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15060168" y="742492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1800" dirty="0"/>
          </a:p>
        </p:txBody>
      </p:sp>
      <p:sp>
        <p:nvSpPr>
          <p:cNvPr id="246" name="Shape 243"/>
          <p:cNvSpPr/>
          <p:nvPr/>
        </p:nvSpPr>
        <p:spPr>
          <a:xfrm>
            <a:off x="15745968" y="7534656"/>
            <a:ext cx="1371600" cy="82296"/>
          </a:xfrm>
          <a:prstGeom prst="roundRect">
            <a:avLst>
              <a:gd name="adj" fmla="val 44444"/>
            </a:avLst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247" name="Shape 244"/>
          <p:cNvSpPr/>
          <p:nvPr/>
        </p:nvSpPr>
        <p:spPr>
          <a:xfrm>
            <a:off x="15745968" y="7534656"/>
            <a:ext cx="891540" cy="82296"/>
          </a:xfrm>
          <a:prstGeom prst="roundRect">
            <a:avLst>
              <a:gd name="adj" fmla="val 44444"/>
            </a:avLst>
          </a:prstGeom>
          <a:solidFill>
            <a:srgbClr val="497078"/>
          </a:solidFill>
          <a:ln w="12700">
            <a:solidFill>
              <a:srgbClr val="497078"/>
            </a:solidFill>
            <a:prstDash val="solid"/>
          </a:ln>
        </p:spPr>
      </p:sp>
      <p:sp>
        <p:nvSpPr>
          <p:cNvPr id="248" name="Shape 245"/>
          <p:cNvSpPr/>
          <p:nvPr/>
        </p:nvSpPr>
        <p:spPr>
          <a:xfrm>
            <a:off x="1069848" y="7786116"/>
            <a:ext cx="16203168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ADBD6"/>
            </a:solidFill>
            <a:prstDash val="solid"/>
          </a:ln>
        </p:spPr>
      </p:sp>
      <p:sp>
        <p:nvSpPr>
          <p:cNvPr id="249" name="Shape 246"/>
          <p:cNvSpPr/>
          <p:nvPr/>
        </p:nvSpPr>
        <p:spPr>
          <a:xfrm>
            <a:off x="4224528" y="7786116"/>
            <a:ext cx="2423160" cy="365760"/>
          </a:xfrm>
          <a:prstGeom prst="rect">
            <a:avLst/>
          </a:prstGeom>
          <a:solidFill>
            <a:srgbClr val="E8F2F2"/>
          </a:solidFill>
          <a:ln w="12700">
            <a:solidFill>
              <a:srgbClr val="E8F2F2"/>
            </a:solidFill>
            <a:prstDash val="solid"/>
          </a:ln>
        </p:spPr>
      </p:sp>
      <p:sp>
        <p:nvSpPr>
          <p:cNvPr id="250" name="Text 247"/>
          <p:cNvSpPr txBox="1"/>
          <p:nvPr/>
        </p:nvSpPr>
        <p:spPr>
          <a:xfrm>
            <a:off x="1344168" y="78684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8.</a:t>
            </a:r>
            <a:endParaRPr lang="en-US" sz="1350" dirty="0"/>
          </a:p>
        </p:txBody>
      </p:sp>
      <p:sp>
        <p:nvSpPr>
          <p:cNvPr id="251" name="Text 248"/>
          <p:cNvSpPr txBox="1"/>
          <p:nvPr/>
        </p:nvSpPr>
        <p:spPr>
          <a:xfrm>
            <a:off x="1755648" y="785012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Finland</a:t>
            </a:r>
            <a:endParaRPr lang="en-US" sz="1550" dirty="0"/>
          </a:p>
        </p:txBody>
      </p:sp>
      <p:sp>
        <p:nvSpPr>
          <p:cNvPr id="252" name="Text 249"/>
          <p:cNvSpPr txBox="1"/>
          <p:nvPr/>
        </p:nvSpPr>
        <p:spPr>
          <a:xfrm>
            <a:off x="4361688" y="7840980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650" dirty="0"/>
          </a:p>
        </p:txBody>
      </p:sp>
      <p:sp>
        <p:nvSpPr>
          <p:cNvPr id="253" name="Shape 250"/>
          <p:cNvSpPr/>
          <p:nvPr/>
        </p:nvSpPr>
        <p:spPr>
          <a:xfrm>
            <a:off x="4818888" y="7932420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254" name="Shape 251"/>
          <p:cNvSpPr/>
          <p:nvPr/>
        </p:nvSpPr>
        <p:spPr>
          <a:xfrm>
            <a:off x="5001768" y="7932420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255" name="Shape 252"/>
          <p:cNvSpPr/>
          <p:nvPr/>
        </p:nvSpPr>
        <p:spPr>
          <a:xfrm>
            <a:off x="5184648" y="7932420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256" name="Shape 253"/>
          <p:cNvSpPr/>
          <p:nvPr/>
        </p:nvSpPr>
        <p:spPr>
          <a:xfrm>
            <a:off x="5367528" y="7932420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257" name="Shape 254"/>
          <p:cNvSpPr/>
          <p:nvPr/>
        </p:nvSpPr>
        <p:spPr>
          <a:xfrm>
            <a:off x="5550408" y="7932420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258" name="Text 255"/>
          <p:cNvSpPr txBox="1"/>
          <p:nvPr/>
        </p:nvSpPr>
        <p:spPr>
          <a:xfrm>
            <a:off x="7013448" y="7840980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650" dirty="0"/>
          </a:p>
        </p:txBody>
      </p:sp>
      <p:sp>
        <p:nvSpPr>
          <p:cNvPr id="259" name="Shape 256"/>
          <p:cNvSpPr/>
          <p:nvPr/>
        </p:nvSpPr>
        <p:spPr>
          <a:xfrm>
            <a:off x="7470648" y="7932420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260" name="Shape 257"/>
          <p:cNvSpPr/>
          <p:nvPr/>
        </p:nvSpPr>
        <p:spPr>
          <a:xfrm>
            <a:off x="7653528" y="7932420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261" name="Shape 258"/>
          <p:cNvSpPr/>
          <p:nvPr/>
        </p:nvSpPr>
        <p:spPr>
          <a:xfrm>
            <a:off x="7836408" y="7932420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262" name="Shape 259"/>
          <p:cNvSpPr/>
          <p:nvPr/>
        </p:nvSpPr>
        <p:spPr>
          <a:xfrm>
            <a:off x="8019288" y="7932420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263" name="Shape 260"/>
          <p:cNvSpPr/>
          <p:nvPr/>
        </p:nvSpPr>
        <p:spPr>
          <a:xfrm>
            <a:off x="8202168" y="7932420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264" name="Text 261"/>
          <p:cNvSpPr txBox="1"/>
          <p:nvPr/>
        </p:nvSpPr>
        <p:spPr>
          <a:xfrm>
            <a:off x="9665208" y="7840980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650" dirty="0"/>
          </a:p>
        </p:txBody>
      </p:sp>
      <p:sp>
        <p:nvSpPr>
          <p:cNvPr id="265" name="Shape 262"/>
          <p:cNvSpPr/>
          <p:nvPr/>
        </p:nvSpPr>
        <p:spPr>
          <a:xfrm>
            <a:off x="10122408" y="7932420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266" name="Shape 263"/>
          <p:cNvSpPr/>
          <p:nvPr/>
        </p:nvSpPr>
        <p:spPr>
          <a:xfrm>
            <a:off x="10305288" y="7932420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267" name="Shape 264"/>
          <p:cNvSpPr/>
          <p:nvPr/>
        </p:nvSpPr>
        <p:spPr>
          <a:xfrm>
            <a:off x="10488168" y="7932420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268" name="Shape 265"/>
          <p:cNvSpPr/>
          <p:nvPr/>
        </p:nvSpPr>
        <p:spPr>
          <a:xfrm>
            <a:off x="10671048" y="7932420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269" name="Shape 266"/>
          <p:cNvSpPr/>
          <p:nvPr/>
        </p:nvSpPr>
        <p:spPr>
          <a:xfrm>
            <a:off x="10853928" y="7932420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270" name="Text 267"/>
          <p:cNvSpPr txBox="1"/>
          <p:nvPr/>
        </p:nvSpPr>
        <p:spPr>
          <a:xfrm>
            <a:off x="12316968" y="7840980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650" dirty="0"/>
          </a:p>
        </p:txBody>
      </p:sp>
      <p:sp>
        <p:nvSpPr>
          <p:cNvPr id="271" name="Shape 268"/>
          <p:cNvSpPr/>
          <p:nvPr/>
        </p:nvSpPr>
        <p:spPr>
          <a:xfrm>
            <a:off x="12774168" y="7932420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272" name="Shape 269"/>
          <p:cNvSpPr/>
          <p:nvPr/>
        </p:nvSpPr>
        <p:spPr>
          <a:xfrm>
            <a:off x="12957048" y="7932420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273" name="Shape 270"/>
          <p:cNvSpPr/>
          <p:nvPr/>
        </p:nvSpPr>
        <p:spPr>
          <a:xfrm>
            <a:off x="13139928" y="7932420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274" name="Shape 271"/>
          <p:cNvSpPr/>
          <p:nvPr/>
        </p:nvSpPr>
        <p:spPr>
          <a:xfrm>
            <a:off x="13322808" y="7932420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275" name="Shape 272"/>
          <p:cNvSpPr/>
          <p:nvPr/>
        </p:nvSpPr>
        <p:spPr>
          <a:xfrm>
            <a:off x="13505688" y="7932420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276" name="Text 273"/>
          <p:cNvSpPr txBox="1"/>
          <p:nvPr/>
        </p:nvSpPr>
        <p:spPr>
          <a:xfrm>
            <a:off x="15060168" y="783183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1800" dirty="0"/>
          </a:p>
        </p:txBody>
      </p:sp>
      <p:sp>
        <p:nvSpPr>
          <p:cNvPr id="277" name="Shape 274"/>
          <p:cNvSpPr/>
          <p:nvPr/>
        </p:nvSpPr>
        <p:spPr>
          <a:xfrm>
            <a:off x="15745968" y="7941564"/>
            <a:ext cx="1371600" cy="82296"/>
          </a:xfrm>
          <a:prstGeom prst="roundRect">
            <a:avLst>
              <a:gd name="adj" fmla="val 44444"/>
            </a:avLst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278" name="Shape 275"/>
          <p:cNvSpPr/>
          <p:nvPr/>
        </p:nvSpPr>
        <p:spPr>
          <a:xfrm>
            <a:off x="15745968" y="7941564"/>
            <a:ext cx="822960" cy="82296"/>
          </a:xfrm>
          <a:prstGeom prst="roundRect">
            <a:avLst>
              <a:gd name="adj" fmla="val 44444"/>
            </a:avLst>
          </a:prstGeom>
          <a:solidFill>
            <a:srgbClr val="497078"/>
          </a:solidFill>
          <a:ln w="12700">
            <a:solidFill>
              <a:srgbClr val="497078"/>
            </a:solidFill>
            <a:prstDash val="solid"/>
          </a:ln>
        </p:spPr>
      </p:sp>
      <p:sp>
        <p:nvSpPr>
          <p:cNvPr id="279" name="Shape 276"/>
          <p:cNvSpPr/>
          <p:nvPr/>
        </p:nvSpPr>
        <p:spPr>
          <a:xfrm>
            <a:off x="1069848" y="8193024"/>
            <a:ext cx="16203168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ADBD6"/>
            </a:solidFill>
            <a:prstDash val="solid"/>
          </a:ln>
        </p:spPr>
      </p:sp>
      <p:sp>
        <p:nvSpPr>
          <p:cNvPr id="280" name="Shape 277"/>
          <p:cNvSpPr/>
          <p:nvPr/>
        </p:nvSpPr>
        <p:spPr>
          <a:xfrm>
            <a:off x="4224528" y="8193024"/>
            <a:ext cx="2423160" cy="365760"/>
          </a:xfrm>
          <a:prstGeom prst="rect">
            <a:avLst/>
          </a:prstGeom>
          <a:solidFill>
            <a:srgbClr val="E8F2F2"/>
          </a:solidFill>
          <a:ln w="12700">
            <a:solidFill>
              <a:srgbClr val="E8F2F2"/>
            </a:solidFill>
            <a:prstDash val="solid"/>
          </a:ln>
        </p:spPr>
      </p:sp>
      <p:sp>
        <p:nvSpPr>
          <p:cNvPr id="281" name="Text 278"/>
          <p:cNvSpPr txBox="1"/>
          <p:nvPr/>
        </p:nvSpPr>
        <p:spPr>
          <a:xfrm>
            <a:off x="1344168" y="8275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9.</a:t>
            </a:r>
            <a:endParaRPr lang="en-US" sz="1350" dirty="0"/>
          </a:p>
        </p:txBody>
      </p:sp>
      <p:sp>
        <p:nvSpPr>
          <p:cNvPr id="282" name="Text 279"/>
          <p:cNvSpPr txBox="1"/>
          <p:nvPr/>
        </p:nvSpPr>
        <p:spPr>
          <a:xfrm>
            <a:off x="1755648" y="82570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Poland</a:t>
            </a:r>
            <a:endParaRPr lang="en-US" sz="1550" dirty="0"/>
          </a:p>
        </p:txBody>
      </p:sp>
      <p:sp>
        <p:nvSpPr>
          <p:cNvPr id="283" name="Text 280"/>
          <p:cNvSpPr txBox="1"/>
          <p:nvPr/>
        </p:nvSpPr>
        <p:spPr>
          <a:xfrm>
            <a:off x="4361688" y="824788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650" dirty="0"/>
          </a:p>
        </p:txBody>
      </p:sp>
      <p:sp>
        <p:nvSpPr>
          <p:cNvPr id="284" name="Shape 281"/>
          <p:cNvSpPr/>
          <p:nvPr/>
        </p:nvSpPr>
        <p:spPr>
          <a:xfrm>
            <a:off x="4818888" y="8339328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285" name="Shape 282"/>
          <p:cNvSpPr/>
          <p:nvPr/>
        </p:nvSpPr>
        <p:spPr>
          <a:xfrm>
            <a:off x="5001768" y="8339328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286" name="Shape 283"/>
          <p:cNvSpPr/>
          <p:nvPr/>
        </p:nvSpPr>
        <p:spPr>
          <a:xfrm>
            <a:off x="5184648" y="8339328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287" name="Shape 284"/>
          <p:cNvSpPr/>
          <p:nvPr/>
        </p:nvSpPr>
        <p:spPr>
          <a:xfrm>
            <a:off x="5367528" y="8339328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288" name="Shape 285"/>
          <p:cNvSpPr/>
          <p:nvPr/>
        </p:nvSpPr>
        <p:spPr>
          <a:xfrm>
            <a:off x="5550408" y="8339328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289" name="Text 286"/>
          <p:cNvSpPr txBox="1"/>
          <p:nvPr/>
        </p:nvSpPr>
        <p:spPr>
          <a:xfrm>
            <a:off x="7013448" y="824788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650" dirty="0"/>
          </a:p>
        </p:txBody>
      </p:sp>
      <p:sp>
        <p:nvSpPr>
          <p:cNvPr id="290" name="Shape 287"/>
          <p:cNvSpPr/>
          <p:nvPr/>
        </p:nvSpPr>
        <p:spPr>
          <a:xfrm>
            <a:off x="7470648" y="8339328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291" name="Shape 288"/>
          <p:cNvSpPr/>
          <p:nvPr/>
        </p:nvSpPr>
        <p:spPr>
          <a:xfrm>
            <a:off x="7653528" y="8339328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292" name="Shape 289"/>
          <p:cNvSpPr/>
          <p:nvPr/>
        </p:nvSpPr>
        <p:spPr>
          <a:xfrm>
            <a:off x="7836408" y="8339328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293" name="Shape 290"/>
          <p:cNvSpPr/>
          <p:nvPr/>
        </p:nvSpPr>
        <p:spPr>
          <a:xfrm>
            <a:off x="8019288" y="8339328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294" name="Shape 291"/>
          <p:cNvSpPr/>
          <p:nvPr/>
        </p:nvSpPr>
        <p:spPr>
          <a:xfrm>
            <a:off x="8202168" y="8339328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9665208" y="824788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650" dirty="0"/>
          </a:p>
        </p:txBody>
      </p:sp>
      <p:sp>
        <p:nvSpPr>
          <p:cNvPr id="296" name="Shape 293"/>
          <p:cNvSpPr/>
          <p:nvPr/>
        </p:nvSpPr>
        <p:spPr>
          <a:xfrm>
            <a:off x="10122408" y="8339328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297" name="Shape 294"/>
          <p:cNvSpPr/>
          <p:nvPr/>
        </p:nvSpPr>
        <p:spPr>
          <a:xfrm>
            <a:off x="10305288" y="8339328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298" name="Shape 295"/>
          <p:cNvSpPr/>
          <p:nvPr/>
        </p:nvSpPr>
        <p:spPr>
          <a:xfrm>
            <a:off x="10488168" y="8339328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299" name="Shape 296"/>
          <p:cNvSpPr/>
          <p:nvPr/>
        </p:nvSpPr>
        <p:spPr>
          <a:xfrm>
            <a:off x="10671048" y="8339328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300" name="Shape 297"/>
          <p:cNvSpPr/>
          <p:nvPr/>
        </p:nvSpPr>
        <p:spPr>
          <a:xfrm>
            <a:off x="10853928" y="8339328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301" name="Text 298"/>
          <p:cNvSpPr txBox="1"/>
          <p:nvPr/>
        </p:nvSpPr>
        <p:spPr>
          <a:xfrm>
            <a:off x="12316968" y="824788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650" dirty="0"/>
          </a:p>
        </p:txBody>
      </p:sp>
      <p:sp>
        <p:nvSpPr>
          <p:cNvPr id="302" name="Shape 299"/>
          <p:cNvSpPr/>
          <p:nvPr/>
        </p:nvSpPr>
        <p:spPr>
          <a:xfrm>
            <a:off x="12774168" y="8339328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303" name="Shape 300"/>
          <p:cNvSpPr/>
          <p:nvPr/>
        </p:nvSpPr>
        <p:spPr>
          <a:xfrm>
            <a:off x="12957048" y="8339328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304" name="Shape 301"/>
          <p:cNvSpPr/>
          <p:nvPr/>
        </p:nvSpPr>
        <p:spPr>
          <a:xfrm>
            <a:off x="13139928" y="8339328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305" name="Shape 302"/>
          <p:cNvSpPr/>
          <p:nvPr/>
        </p:nvSpPr>
        <p:spPr>
          <a:xfrm>
            <a:off x="13322808" y="8339328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306" name="Shape 303"/>
          <p:cNvSpPr/>
          <p:nvPr/>
        </p:nvSpPr>
        <p:spPr>
          <a:xfrm>
            <a:off x="13505688" y="8339328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15060168" y="823874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1800" dirty="0"/>
          </a:p>
        </p:txBody>
      </p:sp>
      <p:sp>
        <p:nvSpPr>
          <p:cNvPr id="308" name="Shape 305"/>
          <p:cNvSpPr/>
          <p:nvPr/>
        </p:nvSpPr>
        <p:spPr>
          <a:xfrm>
            <a:off x="15745968" y="8348472"/>
            <a:ext cx="1371600" cy="82296"/>
          </a:xfrm>
          <a:prstGeom prst="roundRect">
            <a:avLst>
              <a:gd name="adj" fmla="val 44444"/>
            </a:avLst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309" name="Shape 306"/>
          <p:cNvSpPr/>
          <p:nvPr/>
        </p:nvSpPr>
        <p:spPr>
          <a:xfrm>
            <a:off x="15745968" y="8348472"/>
            <a:ext cx="822960" cy="82296"/>
          </a:xfrm>
          <a:prstGeom prst="roundRect">
            <a:avLst>
              <a:gd name="adj" fmla="val 44444"/>
            </a:avLst>
          </a:prstGeom>
          <a:solidFill>
            <a:srgbClr val="497078"/>
          </a:solidFill>
          <a:ln w="12700">
            <a:solidFill>
              <a:srgbClr val="497078"/>
            </a:solidFill>
            <a:prstDash val="solid"/>
          </a:ln>
        </p:spPr>
      </p:sp>
      <p:sp>
        <p:nvSpPr>
          <p:cNvPr id="310" name="Shape 307"/>
          <p:cNvSpPr/>
          <p:nvPr/>
        </p:nvSpPr>
        <p:spPr>
          <a:xfrm>
            <a:off x="1069848" y="8599932"/>
            <a:ext cx="16203168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ADBD6"/>
            </a:solidFill>
            <a:prstDash val="solid"/>
          </a:ln>
        </p:spPr>
      </p:sp>
      <p:sp>
        <p:nvSpPr>
          <p:cNvPr id="311" name="Shape 308"/>
          <p:cNvSpPr/>
          <p:nvPr/>
        </p:nvSpPr>
        <p:spPr>
          <a:xfrm>
            <a:off x="4224528" y="8599932"/>
            <a:ext cx="2423160" cy="365760"/>
          </a:xfrm>
          <a:prstGeom prst="rect">
            <a:avLst/>
          </a:prstGeom>
          <a:solidFill>
            <a:srgbClr val="E8F2F2"/>
          </a:solidFill>
          <a:ln w="12700">
            <a:solidFill>
              <a:srgbClr val="E8F2F2"/>
            </a:solidFill>
            <a:prstDash val="solid"/>
          </a:ln>
        </p:spPr>
      </p:sp>
      <p:sp>
        <p:nvSpPr>
          <p:cNvPr id="312" name="Text 309"/>
          <p:cNvSpPr txBox="1"/>
          <p:nvPr/>
        </p:nvSpPr>
        <p:spPr>
          <a:xfrm>
            <a:off x="1344168" y="86822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350" dirty="0"/>
          </a:p>
        </p:txBody>
      </p:sp>
      <p:sp>
        <p:nvSpPr>
          <p:cNvPr id="313" name="Text 310"/>
          <p:cNvSpPr txBox="1"/>
          <p:nvPr/>
        </p:nvSpPr>
        <p:spPr>
          <a:xfrm>
            <a:off x="1755648" y="86639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Switzerland</a:t>
            </a:r>
            <a:endParaRPr lang="en-US" sz="1550" dirty="0"/>
          </a:p>
        </p:txBody>
      </p:sp>
      <p:sp>
        <p:nvSpPr>
          <p:cNvPr id="314" name="Text 311"/>
          <p:cNvSpPr txBox="1"/>
          <p:nvPr/>
        </p:nvSpPr>
        <p:spPr>
          <a:xfrm>
            <a:off x="3172968" y="87096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outside EU</a:t>
            </a:r>
            <a:endParaRPr lang="en-US" sz="1100" dirty="0"/>
          </a:p>
        </p:txBody>
      </p:sp>
      <p:sp>
        <p:nvSpPr>
          <p:cNvPr id="315" name="Text 312"/>
          <p:cNvSpPr txBox="1"/>
          <p:nvPr/>
        </p:nvSpPr>
        <p:spPr>
          <a:xfrm>
            <a:off x="4361688" y="8654796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650" dirty="0"/>
          </a:p>
        </p:txBody>
      </p:sp>
      <p:sp>
        <p:nvSpPr>
          <p:cNvPr id="316" name="Shape 313"/>
          <p:cNvSpPr/>
          <p:nvPr/>
        </p:nvSpPr>
        <p:spPr>
          <a:xfrm>
            <a:off x="4818888" y="8746236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317" name="Shape 314"/>
          <p:cNvSpPr/>
          <p:nvPr/>
        </p:nvSpPr>
        <p:spPr>
          <a:xfrm>
            <a:off x="5001768" y="8746236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318" name="Shape 315"/>
          <p:cNvSpPr/>
          <p:nvPr/>
        </p:nvSpPr>
        <p:spPr>
          <a:xfrm>
            <a:off x="5184648" y="8746236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319" name="Shape 316"/>
          <p:cNvSpPr/>
          <p:nvPr/>
        </p:nvSpPr>
        <p:spPr>
          <a:xfrm>
            <a:off x="5367528" y="8746236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320" name="Shape 317"/>
          <p:cNvSpPr/>
          <p:nvPr/>
        </p:nvSpPr>
        <p:spPr>
          <a:xfrm>
            <a:off x="5550408" y="8746236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321" name="Text 318"/>
          <p:cNvSpPr txBox="1"/>
          <p:nvPr/>
        </p:nvSpPr>
        <p:spPr>
          <a:xfrm>
            <a:off x="7013448" y="8654796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650" dirty="0"/>
          </a:p>
        </p:txBody>
      </p:sp>
      <p:sp>
        <p:nvSpPr>
          <p:cNvPr id="322" name="Shape 319"/>
          <p:cNvSpPr/>
          <p:nvPr/>
        </p:nvSpPr>
        <p:spPr>
          <a:xfrm>
            <a:off x="7470648" y="8746236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323" name="Shape 320"/>
          <p:cNvSpPr/>
          <p:nvPr/>
        </p:nvSpPr>
        <p:spPr>
          <a:xfrm>
            <a:off x="7653528" y="8746236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324" name="Shape 321"/>
          <p:cNvSpPr/>
          <p:nvPr/>
        </p:nvSpPr>
        <p:spPr>
          <a:xfrm>
            <a:off x="7836408" y="8746236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325" name="Shape 322"/>
          <p:cNvSpPr/>
          <p:nvPr/>
        </p:nvSpPr>
        <p:spPr>
          <a:xfrm>
            <a:off x="8019288" y="8746236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326" name="Shape 323"/>
          <p:cNvSpPr/>
          <p:nvPr/>
        </p:nvSpPr>
        <p:spPr>
          <a:xfrm>
            <a:off x="8202168" y="8746236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327" name="Text 324"/>
          <p:cNvSpPr txBox="1"/>
          <p:nvPr/>
        </p:nvSpPr>
        <p:spPr>
          <a:xfrm>
            <a:off x="9665208" y="8654796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650" dirty="0"/>
          </a:p>
        </p:txBody>
      </p:sp>
      <p:sp>
        <p:nvSpPr>
          <p:cNvPr id="328" name="Shape 325"/>
          <p:cNvSpPr/>
          <p:nvPr/>
        </p:nvSpPr>
        <p:spPr>
          <a:xfrm>
            <a:off x="10122408" y="8746236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329" name="Shape 326"/>
          <p:cNvSpPr/>
          <p:nvPr/>
        </p:nvSpPr>
        <p:spPr>
          <a:xfrm>
            <a:off x="10305288" y="8746236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330" name="Shape 327"/>
          <p:cNvSpPr/>
          <p:nvPr/>
        </p:nvSpPr>
        <p:spPr>
          <a:xfrm>
            <a:off x="10488168" y="8746236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331" name="Shape 328"/>
          <p:cNvSpPr/>
          <p:nvPr/>
        </p:nvSpPr>
        <p:spPr>
          <a:xfrm>
            <a:off x="10671048" y="8746236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332" name="Shape 329"/>
          <p:cNvSpPr/>
          <p:nvPr/>
        </p:nvSpPr>
        <p:spPr>
          <a:xfrm>
            <a:off x="10853928" y="8746236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333" name="Text 330"/>
          <p:cNvSpPr txBox="1"/>
          <p:nvPr/>
        </p:nvSpPr>
        <p:spPr>
          <a:xfrm>
            <a:off x="12316968" y="8654796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650" dirty="0"/>
          </a:p>
        </p:txBody>
      </p:sp>
      <p:sp>
        <p:nvSpPr>
          <p:cNvPr id="334" name="Shape 331"/>
          <p:cNvSpPr/>
          <p:nvPr/>
        </p:nvSpPr>
        <p:spPr>
          <a:xfrm>
            <a:off x="12774168" y="8746236"/>
            <a:ext cx="100584" cy="100584"/>
          </a:xfrm>
          <a:prstGeom prst="ellipse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335" name="Shape 332"/>
          <p:cNvSpPr/>
          <p:nvPr/>
        </p:nvSpPr>
        <p:spPr>
          <a:xfrm>
            <a:off x="12957048" y="8746236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336" name="Shape 333"/>
          <p:cNvSpPr/>
          <p:nvPr/>
        </p:nvSpPr>
        <p:spPr>
          <a:xfrm>
            <a:off x="13139928" y="8746236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337" name="Shape 334"/>
          <p:cNvSpPr/>
          <p:nvPr/>
        </p:nvSpPr>
        <p:spPr>
          <a:xfrm>
            <a:off x="13322808" y="8746236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338" name="Shape 335"/>
          <p:cNvSpPr/>
          <p:nvPr/>
        </p:nvSpPr>
        <p:spPr>
          <a:xfrm>
            <a:off x="13505688" y="8746236"/>
            <a:ext cx="100584" cy="100584"/>
          </a:xfrm>
          <a:prstGeom prst="ellipse">
            <a:avLst/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339" name="Text 336"/>
          <p:cNvSpPr txBox="1"/>
          <p:nvPr/>
        </p:nvSpPr>
        <p:spPr>
          <a:xfrm>
            <a:off x="15060168" y="864565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1800" dirty="0"/>
          </a:p>
        </p:txBody>
      </p:sp>
      <p:sp>
        <p:nvSpPr>
          <p:cNvPr id="340" name="Shape 337"/>
          <p:cNvSpPr/>
          <p:nvPr/>
        </p:nvSpPr>
        <p:spPr>
          <a:xfrm>
            <a:off x="15745968" y="8755380"/>
            <a:ext cx="1371600" cy="82296"/>
          </a:xfrm>
          <a:prstGeom prst="roundRect">
            <a:avLst>
              <a:gd name="adj" fmla="val 44444"/>
            </a:avLst>
          </a:prstGeom>
          <a:solidFill>
            <a:srgbClr val="DADBD6"/>
          </a:solidFill>
          <a:ln w="12700">
            <a:solidFill>
              <a:srgbClr val="DADBD6"/>
            </a:solidFill>
            <a:prstDash val="solid"/>
          </a:ln>
        </p:spPr>
      </p:sp>
      <p:sp>
        <p:nvSpPr>
          <p:cNvPr id="341" name="Shape 338"/>
          <p:cNvSpPr/>
          <p:nvPr/>
        </p:nvSpPr>
        <p:spPr>
          <a:xfrm>
            <a:off x="15745968" y="8755380"/>
            <a:ext cx="960120" cy="82296"/>
          </a:xfrm>
          <a:prstGeom prst="roundRect">
            <a:avLst>
              <a:gd name="adj" fmla="val 44444"/>
            </a:avLst>
          </a:prstGeom>
          <a:solidFill>
            <a:srgbClr val="497078"/>
          </a:solidFill>
          <a:ln w="12700">
            <a:solidFill>
              <a:srgbClr val="497078"/>
            </a:solidFill>
            <a:prstDash val="solid"/>
          </a:ln>
        </p:spPr>
      </p:sp>
      <p:sp>
        <p:nvSpPr>
          <p:cNvPr id="342" name="Text 339"/>
          <p:cNvSpPr txBox="1"/>
          <p:nvPr/>
        </p:nvSpPr>
        <p:spPr>
          <a:xfrm>
            <a:off x="1069848" y="9070848"/>
            <a:ext cx="1437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AI may advise  </a:t>
            </a:r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NL </a:t>
            </a:r>
            <a:pPr indent="0" marL="0">
              <a:spcAft>
                <a:spcPts val="100"/>
              </a:spcAft>
              <a:buNone/>
            </a:pPr>
            <a:r>
              <a:rPr lang="en-US" sz="800" u="sng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wetten.overheid.nl</a:t>
            </a:r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SE </a:t>
            </a:r>
            <a:pPr indent="0" marL="0">
              <a:spcAft>
                <a:spcPts val="100"/>
              </a:spcAft>
              <a:buNone/>
            </a:pPr>
            <a:r>
              <a:rPr lang="en-US" sz="800" u="sng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riksdagen.se</a:t>
            </a:r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DK </a:t>
            </a:r>
            <a:pPr indent="0" marL="0">
              <a:spcAft>
                <a:spcPts val="100"/>
              </a:spcAft>
              <a:buNone/>
            </a:pPr>
            <a:r>
              <a:rPr lang="en-US" sz="800" u="sng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retsinformation.dk</a:t>
            </a:r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FI </a:t>
            </a:r>
            <a:pPr indent="0" marL="0">
              <a:spcAft>
                <a:spcPts val="100"/>
              </a:spcAft>
              <a:buNone/>
            </a:pPr>
            <a:r>
              <a:rPr lang="en-US" sz="800" u="sng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finlex.fi</a:t>
            </a:r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PL </a:t>
            </a:r>
            <a:pPr indent="0" marL="0">
              <a:spcAft>
                <a:spcPts val="100"/>
              </a:spcAft>
              <a:buNone/>
            </a:pPr>
            <a:r>
              <a:rPr lang="en-US" sz="800" u="sng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sejm.gov.pl</a:t>
            </a:r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BE </a:t>
            </a:r>
            <a:pPr indent="0" marL="0">
              <a:spcAft>
                <a:spcPts val="100"/>
              </a:spcAft>
              <a:buNone/>
            </a:pPr>
            <a:r>
              <a:rPr lang="en-US" sz="800" u="sng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ejustice.just.fgov.be</a:t>
            </a:r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CH </a:t>
            </a:r>
            <a:pPr indent="0" marL="0">
              <a:spcAft>
                <a:spcPts val="100"/>
              </a:spcAft>
              <a:buNone/>
            </a:pPr>
            <a:r>
              <a:rPr lang="en-US" sz="800" u="sng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fedlex.admin.ch</a:t>
            </a:r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DE </a:t>
            </a:r>
            <a:pPr indent="0" marL="0">
              <a:spcAft>
                <a:spcPts val="100"/>
              </a:spcAft>
              <a:buNone/>
            </a:pPr>
            <a:r>
              <a:rPr lang="en-US" sz="800" u="sng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gesetze-im-internet.de</a:t>
            </a:r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spcAft>
                <a:spcPts val="100"/>
              </a:spcAft>
              <a:buNone/>
            </a:pPr>
            <a:r>
              <a:rPr lang="en-US" sz="800" u="sng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bundesgerichtshof.de</a:t>
            </a:r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IT </a:t>
            </a:r>
            <a:pPr indent="0" marL="0">
              <a:spcAft>
                <a:spcPts val="100"/>
              </a:spcAft>
              <a:buNone/>
            </a:pPr>
            <a:r>
              <a:rPr lang="en-US" sz="800" u="sng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normattiva.it</a:t>
            </a:r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AT </a:t>
            </a:r>
            <a:pPr indent="0" marL="0">
              <a:spcAft>
                <a:spcPts val="100"/>
              </a:spcAft>
              <a:buNone/>
            </a:pPr>
            <a:r>
              <a:rPr lang="en-US" sz="800" u="sng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ris.bka.gv.at</a:t>
            </a:r>
            <a:pPr indent="0" marL="0">
              <a:spcAft>
                <a:spcPts val="100"/>
              </a:spcAft>
              <a:buNone/>
            </a:pP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Market size  </a:t>
            </a:r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Eurostat sbs_sc_ovw 2024 </a:t>
            </a:r>
            <a:pPr indent="0" marL="0">
              <a:spcAft>
                <a:spcPts val="100"/>
              </a:spcAft>
              <a:buNone/>
            </a:pPr>
            <a:r>
              <a:rPr lang="en-US" sz="800" u="sng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ec.europa.eu/eurostat</a:t>
            </a:r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CH </a:t>
            </a:r>
            <a:pPr indent="0" marL="0">
              <a:spcAft>
                <a:spcPts val="100"/>
              </a:spcAft>
              <a:buNone/>
            </a:pPr>
            <a:r>
              <a:rPr lang="en-US" sz="800" u="sng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bfs.admin.ch</a:t>
            </a:r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  </a:t>
            </a:r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 Savings potential  </a:t>
            </a:r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Eurostat sbs_ovw_act, tps00001 </a:t>
            </a:r>
            <a:pPr indent="0" marL="0">
              <a:spcAft>
                <a:spcPts val="100"/>
              </a:spcAft>
              <a:buNone/>
            </a:pPr>
            <a:r>
              <a:rPr lang="en-US" sz="800" u="sng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ec.europa.eu/eurostat</a:t>
            </a:r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BE, IT, PL </a:t>
            </a:r>
            <a:pPr indent="0" marL="0">
              <a:spcAft>
                <a:spcPts val="100"/>
              </a:spcAft>
              <a:buNone/>
            </a:pPr>
            <a:r>
              <a:rPr lang="en-US" sz="800" u="sng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e-justice.europa.eu</a:t>
            </a:r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(2007)</a:t>
            </a:r>
            <a:pPr indent="0" marL="0">
              <a:spcAft>
                <a:spcPts val="100"/>
              </a:spcAft>
              <a:buNone/>
            </a:pP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New regulation enforcement  </a:t>
            </a:r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NL </a:t>
            </a:r>
            <a:pPr indent="0" marL="0">
              <a:spcAft>
                <a:spcPts val="100"/>
              </a:spcAft>
              <a:buNone/>
            </a:pPr>
            <a:r>
              <a:rPr lang="en-US" sz="800" u="sng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rdi.nl</a:t>
            </a:r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SE </a:t>
            </a:r>
            <a:pPr indent="0" marL="0">
              <a:spcAft>
                <a:spcPts val="100"/>
              </a:spcAft>
              <a:buNone/>
            </a:pPr>
            <a:r>
              <a:rPr lang="en-US" sz="800" u="sng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riksdagen.se</a:t>
            </a:r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DK </a:t>
            </a:r>
            <a:pPr indent="0" marL="0">
              <a:spcAft>
                <a:spcPts val="100"/>
              </a:spcAft>
              <a:buNone/>
            </a:pPr>
            <a:r>
              <a:rPr lang="en-US" sz="800" u="sng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retsinformation.dk</a:t>
            </a:r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FI </a:t>
            </a:r>
            <a:pPr indent="0" marL="0">
              <a:spcAft>
                <a:spcPts val="100"/>
              </a:spcAft>
              <a:buNone/>
            </a:pPr>
            <a:r>
              <a:rPr lang="en-US" sz="800" u="sng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finlex.fi</a:t>
            </a:r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PL </a:t>
            </a:r>
            <a:pPr indent="0" marL="0">
              <a:spcAft>
                <a:spcPts val="100"/>
              </a:spcAft>
              <a:buNone/>
            </a:pPr>
            <a:r>
              <a:rPr lang="en-US" sz="800" u="sng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sejm.gov.pl</a:t>
            </a:r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DE </a:t>
            </a:r>
            <a:pPr indent="0" marL="0">
              <a:spcAft>
                <a:spcPts val="100"/>
              </a:spcAft>
              <a:buNone/>
            </a:pPr>
            <a:r>
              <a:rPr lang="en-US" sz="800" u="sng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2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bsi.bund.de</a:t>
            </a:r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IT </a:t>
            </a:r>
            <a:pPr indent="0" marL="0">
              <a:spcAft>
                <a:spcPts val="100"/>
              </a:spcAft>
              <a:buNone/>
            </a:pPr>
            <a:r>
              <a:rPr lang="en-US" sz="800" u="sng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2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gazzettaufficiale.it</a:t>
            </a:r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AT </a:t>
            </a:r>
            <a:pPr indent="0" marL="0">
              <a:spcAft>
                <a:spcPts val="100"/>
              </a:spcAft>
              <a:buNone/>
            </a:pPr>
            <a:r>
              <a:rPr lang="en-US" sz="800" u="sng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2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ris.bka.gv.at</a:t>
            </a:r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EU </a:t>
            </a:r>
            <a:pPr indent="0" marL="0">
              <a:spcAft>
                <a:spcPts val="100"/>
              </a:spcAft>
              <a:buNone/>
            </a:pPr>
            <a:r>
              <a:rPr lang="en-US" sz="800" u="sng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2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digital-strategy.ec.europa.eu</a:t>
            </a:r>
            <a:endParaRPr lang="en-US" sz="800" dirty="0"/>
          </a:p>
        </p:txBody>
      </p:sp>
      <p:sp>
        <p:nvSpPr>
          <p:cNvPr name="Freeform 2" id="343"/>
          <p:cNvSpPr/>
          <p:nvPr/>
        </p:nvSpPr>
        <p:spPr>
          <a:xfrm flipH="false" flipV="false" rot="0">
            <a:off x="4027427" y="954576"/>
            <a:ext cx="10233146" cy="693858"/>
          </a:xfrm>
          <a:custGeom>
            <a:avLst/>
            <a:gdLst/>
            <a:ahLst/>
            <a:cxnLst/>
            <a:rect r="r" b="b" t="t" l="l"/>
            <a:pathLst>
              <a:path h="693858" w="10233146">
                <a:moveTo>
                  <a:pt x="0" y="0"/>
                </a:moveTo>
                <a:lnTo>
                  <a:pt x="10233146" y="0"/>
                </a:lnTo>
                <a:lnTo>
                  <a:pt x="10233146" y="693859"/>
                </a:lnTo>
                <a:lnTo>
                  <a:pt x="0" y="693859"/>
                </a:lnTo>
                <a:lnTo>
                  <a:pt x="0" y="0"/>
                </a:lnTo>
                <a:close/>
              </a:path>
            </a:pathLst>
          </a:custGeom>
          <a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44"/>
          <p:cNvSpPr/>
          <p:nvPr/>
        </p:nvSpPr>
        <p:spPr>
          <a:xfrm flipH="false" flipV="false" rot="0">
            <a:off x="4100894" y="1190730"/>
            <a:ext cx="384600" cy="384600"/>
          </a:xfrm>
          <a:custGeom>
            <a:avLst/>
            <a:gdLst/>
            <a:ahLst/>
            <a:cxnLst/>
            <a:rect r="r" b="b" t="t" l="l"/>
            <a:pathLst>
              <a:path h="384600" w="384600">
                <a:moveTo>
                  <a:pt x="0" y="0"/>
                </a:moveTo>
                <a:lnTo>
                  <a:pt x="384600" y="0"/>
                </a:lnTo>
                <a:lnTo>
                  <a:pt x="384600" y="384600"/>
                </a:lnTo>
                <a:lnTo>
                  <a:pt x="0" y="384600"/>
                </a:lnTo>
                <a:lnTo>
                  <a:pt x="0" y="0"/>
                </a:lnTo>
                <a:close/>
              </a:path>
            </a:pathLst>
          </a:custGeom>
          <a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345"/>
          <p:cNvSpPr txBox="true"/>
          <p:nvPr/>
        </p:nvSpPr>
        <p:spPr>
          <a:xfrm rot="0">
            <a:off x="4545644" y="1148715"/>
            <a:ext cx="2067239" cy="3686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7"/>
              </a:lnSpc>
            </a:pPr>
            <a:r>
              <a:rPr lang="en-US" sz="1797" b="true">
                <a:solidFill>
                  <a:srgbClr val="171717"/>
                </a:solidFill>
                <a:latin typeface="Poppins Bold"/>
                <a:ea typeface="Poppins Bold"/>
                <a:cs typeface="Poppins Bold"/>
                <a:sym typeface="Poppins Bold"/>
              </a:rPr>
              <a:t>Regulift</a:t>
            </a:r>
          </a:p>
        </p:txBody>
      </p:sp>
      <p:grpSp>
        <p:nvGrpSpPr>
          <p:cNvPr name="Group 5" id="346"/>
          <p:cNvGrpSpPr/>
          <p:nvPr/>
        </p:nvGrpSpPr>
        <p:grpSpPr>
          <a:xfrm rot="0">
            <a:off x="7589520" y="1190730"/>
            <a:ext cx="1513332" cy="384962"/>
            <a:chOff x="0" y="0"/>
            <a:chExt cx="2017776" cy="513283"/>
          </a:xfrm>
        </p:grpSpPr>
        <p:sp>
          <p:nvSpPr>
            <p:cNvPr name="Freeform 6" id="347">
              <a:hlinkClick r:id="rId30" action="ppaction://hlinksldjump"/>
            </p:cNvPr>
            <p:cNvSpPr/>
            <p:nvPr/>
          </p:nvSpPr>
          <p:spPr>
            <a:xfrm flipH="false" flipV="false" rot="0">
              <a:off x="0" y="0"/>
              <a:ext cx="2017776" cy="513334"/>
            </a:xfrm>
            <a:custGeom>
              <a:avLst/>
              <a:gdLst/>
              <a:ahLst/>
              <a:cxnLst/>
              <a:rect r="r" b="b" t="t" l="l"/>
              <a:pathLst>
                <a:path h="513334" w="2017776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761109" y="0"/>
                  </a:lnTo>
                  <a:cubicBezTo>
                    <a:pt x="1902841" y="0"/>
                    <a:pt x="2017776" y="114935"/>
                    <a:pt x="2017776" y="256667"/>
                  </a:cubicBezTo>
                  <a:cubicBezTo>
                    <a:pt x="2017776" y="398399"/>
                    <a:pt x="1902841" y="513334"/>
                    <a:pt x="1761109" y="513334"/>
                  </a:cubicBezTo>
                  <a:lnTo>
                    <a:pt x="256667" y="513334"/>
                  </a:lnTo>
                  <a:cubicBezTo>
                    <a:pt x="114935" y="513334"/>
                    <a:pt x="0" y="398399"/>
                    <a:pt x="0" y="256667"/>
                  </a:cubicBezTo>
                  <a:close/>
                </a:path>
              </a:pathLst>
            </a:custGeom>
            <a:solidFill>
              <a:srgbClr val="CCCCCC"/>
            </a:solidFill>
          </p:spPr>
        </p:sp>
        <p:sp>
          <p:nvSpPr>
            <p:cNvPr name="TextBox 7" id="348"/>
            <p:cNvSpPr txBox="true"/>
            <p:nvPr/>
          </p:nvSpPr>
          <p:spPr>
            <a:xfrm>
              <a:off x="0" y="-9525"/>
              <a:ext cx="2017776" cy="5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>
                  <a:solidFill>
                    <a:srgbClr val="171717"/>
                  </a:solidFill>
                  <a:latin typeface="Poppins"/>
                  <a:ea typeface="Poppins"/>
                  <a:cs typeface="Poppins"/>
                  <a:sym typeface="Poppins"/>
                </a:rPr>
                <a:t>About</a:t>
              </a:r>
            </a:p>
          </p:txBody>
        </p:sp>
      </p:grpSp>
      <p:grpSp>
        <p:nvGrpSpPr>
          <p:cNvPr name="Group 8" id="349"/>
          <p:cNvGrpSpPr/>
          <p:nvPr/>
        </p:nvGrpSpPr>
        <p:grpSpPr>
          <a:xfrm rot="0">
            <a:off x="9212580" y="1190730"/>
            <a:ext cx="1513332" cy="384962"/>
            <a:chOff x="0" y="0"/>
            <a:chExt cx="2017776" cy="513283"/>
          </a:xfrm>
        </p:grpSpPr>
        <p:sp>
          <p:nvSpPr>
            <p:cNvPr name="Freeform 9" id="350">
              <a:hlinkClick r:id="rId31" action="ppaction://hlinksldjump"/>
            </p:cNvPr>
            <p:cNvSpPr/>
            <p:nvPr/>
          </p:nvSpPr>
          <p:spPr>
            <a:xfrm flipH="false" flipV="false" rot="0">
              <a:off x="0" y="0"/>
              <a:ext cx="2017776" cy="513334"/>
            </a:xfrm>
            <a:custGeom>
              <a:avLst/>
              <a:gdLst/>
              <a:ahLst/>
              <a:cxnLst/>
              <a:rect r="r" b="b" t="t" l="l"/>
              <a:pathLst>
                <a:path h="513334" w="2017776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761109" y="0"/>
                  </a:lnTo>
                  <a:cubicBezTo>
                    <a:pt x="1902841" y="0"/>
                    <a:pt x="2017776" y="114935"/>
                    <a:pt x="2017776" y="256667"/>
                  </a:cubicBezTo>
                  <a:cubicBezTo>
                    <a:pt x="2017776" y="398399"/>
                    <a:pt x="1902841" y="513334"/>
                    <a:pt x="1761109" y="513334"/>
                  </a:cubicBezTo>
                  <a:lnTo>
                    <a:pt x="256667" y="513334"/>
                  </a:lnTo>
                  <a:cubicBezTo>
                    <a:pt x="114935" y="513334"/>
                    <a:pt x="0" y="398399"/>
                    <a:pt x="0" y="256667"/>
                  </a:cubicBezTo>
                  <a:close/>
                </a:path>
              </a:pathLst>
            </a:custGeom>
            <a:solidFill>
              <a:srgbClr val="171717"/>
            </a:solidFill>
          </p:spPr>
        </p:sp>
        <p:sp>
          <p:nvSpPr>
            <p:cNvPr name="TextBox 10" id="351"/>
            <p:cNvSpPr txBox="true"/>
            <p:nvPr/>
          </p:nvSpPr>
          <p:spPr>
            <a:xfrm>
              <a:off x="0" y="-9525"/>
              <a:ext cx="2017776" cy="5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>
                  <a:solidFill>
                    <a:srgbClr val="FAFAFA"/>
                  </a:solidFill>
                  <a:latin typeface="Poppins"/>
                  <a:ea typeface="Poppins"/>
                  <a:cs typeface="Poppins"/>
                  <a:sym typeface="Poppins"/>
                </a:rPr>
                <a:t>Service</a:t>
              </a:r>
            </a:p>
          </p:txBody>
        </p:sp>
      </p:grpSp>
      <p:grpSp>
        <p:nvGrpSpPr>
          <p:cNvPr name="Group 11" id="352"/>
          <p:cNvGrpSpPr/>
          <p:nvPr/>
        </p:nvGrpSpPr>
        <p:grpSpPr>
          <a:xfrm rot="0">
            <a:off x="10835640" y="1190730"/>
            <a:ext cx="1513332" cy="384962"/>
            <a:chOff x="0" y="0"/>
            <a:chExt cx="2017776" cy="513283"/>
          </a:xfrm>
        </p:grpSpPr>
        <p:sp>
          <p:nvSpPr>
            <p:cNvPr name="Freeform 12" id="353">
              <a:hlinkClick r:id="rId32" action="ppaction://hlinksldjump"/>
            </p:cNvPr>
            <p:cNvSpPr/>
            <p:nvPr/>
          </p:nvSpPr>
          <p:spPr>
            <a:xfrm flipH="false" flipV="false" rot="0">
              <a:off x="0" y="0"/>
              <a:ext cx="2017776" cy="513334"/>
            </a:xfrm>
            <a:custGeom>
              <a:avLst/>
              <a:gdLst/>
              <a:ahLst/>
              <a:cxnLst/>
              <a:rect r="r" b="b" t="t" l="l"/>
              <a:pathLst>
                <a:path h="513334" w="2017776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761109" y="0"/>
                  </a:lnTo>
                  <a:cubicBezTo>
                    <a:pt x="1902841" y="0"/>
                    <a:pt x="2017776" y="114935"/>
                    <a:pt x="2017776" y="256667"/>
                  </a:cubicBezTo>
                  <a:cubicBezTo>
                    <a:pt x="2017776" y="398399"/>
                    <a:pt x="1902841" y="513334"/>
                    <a:pt x="1761109" y="513334"/>
                  </a:cubicBezTo>
                  <a:lnTo>
                    <a:pt x="256667" y="513334"/>
                  </a:lnTo>
                  <a:cubicBezTo>
                    <a:pt x="114935" y="513334"/>
                    <a:pt x="0" y="398399"/>
                    <a:pt x="0" y="256667"/>
                  </a:cubicBezTo>
                  <a:close/>
                </a:path>
              </a:pathLst>
            </a:custGeom>
            <a:solidFill>
              <a:srgbClr val="CCCCCC"/>
            </a:solidFill>
          </p:spPr>
        </p:sp>
        <p:sp>
          <p:nvSpPr>
            <p:cNvPr name="TextBox 13" id="354"/>
            <p:cNvSpPr txBox="true"/>
            <p:nvPr/>
          </p:nvSpPr>
          <p:spPr>
            <a:xfrm>
              <a:off x="0" y="-9525"/>
              <a:ext cx="2017776" cy="5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>
                  <a:solidFill>
                    <a:srgbClr val="171717"/>
                  </a:solidFill>
                  <a:latin typeface="Poppins"/>
                  <a:ea typeface="Poppins"/>
                  <a:cs typeface="Poppins"/>
                  <a:sym typeface="Poppins"/>
                </a:rPr>
                <a:t>Team</a:t>
              </a:r>
            </a:p>
          </p:txBody>
        </p:sp>
      </p:grpSp>
      <p:grpSp>
        <p:nvGrpSpPr>
          <p:cNvPr name="Group 14" id="355"/>
          <p:cNvGrpSpPr/>
          <p:nvPr/>
        </p:nvGrpSpPr>
        <p:grpSpPr>
          <a:xfrm rot="0">
            <a:off x="12458700" y="1190730"/>
            <a:ext cx="1513332" cy="384962"/>
            <a:chOff x="0" y="0"/>
            <a:chExt cx="2017776" cy="513283"/>
          </a:xfrm>
        </p:grpSpPr>
        <p:sp>
          <p:nvSpPr>
            <p:cNvPr name="Freeform 15" id="356">
              <a:hlinkClick r:id="rId33" action="ppaction://hlinksldjump"/>
            </p:cNvPr>
            <p:cNvSpPr/>
            <p:nvPr/>
          </p:nvSpPr>
          <p:spPr>
            <a:xfrm flipH="false" flipV="false" rot="0">
              <a:off x="0" y="0"/>
              <a:ext cx="2017776" cy="513334"/>
            </a:xfrm>
            <a:custGeom>
              <a:avLst/>
              <a:gdLst/>
              <a:ahLst/>
              <a:cxnLst/>
              <a:rect r="r" b="b" t="t" l="l"/>
              <a:pathLst>
                <a:path h="513334" w="2017776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761109" y="0"/>
                  </a:lnTo>
                  <a:cubicBezTo>
                    <a:pt x="1902841" y="0"/>
                    <a:pt x="2017776" y="114935"/>
                    <a:pt x="2017776" y="256667"/>
                  </a:cubicBezTo>
                  <a:cubicBezTo>
                    <a:pt x="2017776" y="398399"/>
                    <a:pt x="1902841" y="513334"/>
                    <a:pt x="1761109" y="513334"/>
                  </a:cubicBezTo>
                  <a:lnTo>
                    <a:pt x="256667" y="513334"/>
                  </a:lnTo>
                  <a:cubicBezTo>
                    <a:pt x="114935" y="513334"/>
                    <a:pt x="0" y="398399"/>
                    <a:pt x="0" y="256667"/>
                  </a:cubicBezTo>
                  <a:close/>
                </a:path>
              </a:pathLst>
            </a:custGeom>
            <a:solidFill>
              <a:srgbClr val="CCCCCC"/>
            </a:solidFill>
          </p:spPr>
        </p:sp>
        <p:sp>
          <p:nvSpPr>
            <p:cNvPr name="TextBox 16" id="357"/>
            <p:cNvSpPr txBox="true"/>
            <p:nvPr/>
          </p:nvSpPr>
          <p:spPr>
            <a:xfrm>
              <a:off x="0" y="-9525"/>
              <a:ext cx="2017776" cy="5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>
                  <a:solidFill>
                    <a:srgbClr val="171717"/>
                  </a:solidFill>
                  <a:latin typeface="Poppins"/>
                  <a:ea typeface="Poppins"/>
                  <a:cs typeface="Poppins"/>
                  <a:sym typeface="Poppins"/>
                </a:rPr>
                <a:t>Conclusion</a:t>
              </a:r>
            </a:p>
          </p:txBody>
        </p:sp>
      </p:grpSp>
      <p:grpSp>
        <p:nvGrpSpPr>
          <p:cNvPr name="Group 52" id="358"/>
          <p:cNvGrpSpPr/>
          <p:nvPr/>
        </p:nvGrpSpPr>
        <p:grpSpPr>
          <a:xfrm rot="0">
            <a:off x="4158586" y="1272016"/>
            <a:ext cx="269215" cy="222028"/>
            <a:chOff x="0" y="0"/>
            <a:chExt cx="358953" cy="296037"/>
          </a:xfrm>
        </p:grpSpPr>
        <p:sp>
          <p:nvSpPr>
            <p:cNvPr name="Freeform 53" id="359" descr="image.png"/>
            <p:cNvSpPr/>
            <p:nvPr/>
          </p:nvSpPr>
          <p:spPr>
            <a:xfrm flipH="false" flipV="false" rot="0">
              <a:off x="0" y="0"/>
              <a:ext cx="358902" cy="296037"/>
            </a:xfrm>
            <a:custGeom>
              <a:avLst/>
              <a:gdLst/>
              <a:ahLst/>
              <a:cxnLst/>
              <a:rect r="r" b="b" t="t" l="l"/>
              <a:pathLst>
                <a:path h="296037" w="358902">
                  <a:moveTo>
                    <a:pt x="0" y="0"/>
                  </a:moveTo>
                  <a:lnTo>
                    <a:pt x="358902" y="0"/>
                  </a:lnTo>
                  <a:lnTo>
                    <a:pt x="358902" y="296037"/>
                  </a:lnTo>
                  <a:lnTo>
                    <a:pt x="0" y="2960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>
                <a:fillRect l="0" t="0" r="-14" b="0"/>
              </a:stretch>
            </a:blipFill>
          </p:spPr>
        </p:sp>
      </p:grpSp>
      <p:grpSp>
        <p:nvGrpSpPr>
          <p:cNvPr name="Group 17" id="360"/>
          <p:cNvGrpSpPr/>
          <p:nvPr/>
        </p:nvGrpSpPr>
        <p:grpSpPr>
          <a:xfrm rot="0">
            <a:off x="16879824" y="9619488"/>
            <a:ext cx="1042416" cy="347472"/>
            <a:chOff x="0" y="0"/>
            <a:chExt cx="1389888" cy="463296"/>
          </a:xfrm>
        </p:grpSpPr>
        <p:sp>
          <p:nvSpPr>
            <p:cNvPr name="Freeform 18" id="361"/>
            <p:cNvSpPr/>
            <p:nvPr/>
          </p:nvSpPr>
          <p:spPr>
            <a:xfrm flipH="false" flipV="false" rot="0">
              <a:off x="0" y="0"/>
              <a:ext cx="1389888" cy="463296"/>
            </a:xfrm>
            <a:custGeom>
              <a:avLst/>
              <a:gdLst/>
              <a:ahLst/>
              <a:cxnLst/>
              <a:rect r="r" b="b" t="t" l="l"/>
              <a:pathLst>
                <a:path h="463296" w="1389888">
                  <a:moveTo>
                    <a:pt x="0" y="106553"/>
                  </a:moveTo>
                  <a:cubicBezTo>
                    <a:pt x="0" y="47752"/>
                    <a:pt x="47752" y="0"/>
                    <a:pt x="106553" y="0"/>
                  </a:cubicBezTo>
                  <a:lnTo>
                    <a:pt x="1283335" y="0"/>
                  </a:lnTo>
                  <a:cubicBezTo>
                    <a:pt x="1342136" y="0"/>
                    <a:pt x="1389888" y="47752"/>
                    <a:pt x="1389888" y="106553"/>
                  </a:cubicBezTo>
                  <a:lnTo>
                    <a:pt x="1389888" y="356743"/>
                  </a:lnTo>
                  <a:cubicBezTo>
                    <a:pt x="1389888" y="415544"/>
                    <a:pt x="1342136" y="463296"/>
                    <a:pt x="1283335" y="463296"/>
                  </a:cubicBezTo>
                  <a:lnTo>
                    <a:pt x="106553" y="463296"/>
                  </a:lnTo>
                  <a:cubicBezTo>
                    <a:pt x="47752" y="463296"/>
                    <a:pt x="0" y="415544"/>
                    <a:pt x="0" y="356743"/>
                  </a:cubicBezTo>
                  <a:close/>
                </a:path>
              </a:pathLst>
            </a:custGeom>
            <a:solidFill>
              <a:srgbClr val="1D2023"/>
            </a:solidFill>
          </p:spPr>
        </p:sp>
        <p:sp>
          <p:nvSpPr>
            <p:cNvPr name="TextBox 19" id="362"/>
            <p:cNvSpPr txBox="true"/>
            <p:nvPr/>
          </p:nvSpPr>
          <p:spPr>
            <a:xfrm>
              <a:off x="0" y="-9525"/>
              <a:ext cx="1389888" cy="4728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439"/>
                </a:lnSpc>
              </a:pPr>
              <a:r>
                <a:rPr lang="en-US" sz="1200">
                  <a:solidFill>
                    <a:srgbClr val="FBFBFB"/>
                  </a:solidFill>
                  <a:latin typeface="Poppins"/>
                  <a:ea typeface="Poppins"/>
                  <a:cs typeface="Poppins"/>
                  <a:sym typeface="Poppins"/>
                </a:rPr>
                <a:t>Page 05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1069848" y="19933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4970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 ENTRY</a:t>
            </a:r>
            <a:endParaRPr lang="en-US" sz="1700" dirty="0"/>
          </a:p>
        </p:txBody>
      </p:sp>
      <p:sp>
        <p:nvSpPr>
          <p:cNvPr id="4" name="Text 1"/>
          <p:cNvSpPr txBox="1"/>
          <p:nvPr/>
        </p:nvSpPr>
        <p:spPr>
          <a:xfrm>
            <a:off x="1042416" y="2496312"/>
            <a:ext cx="162031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300" b="1" spc="-100" kern="0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GERMANY IS THE GOAL. </a:t>
            </a:r>
            <a:pPr indent="0" marL="0">
              <a:buNone/>
            </a:pPr>
            <a:r>
              <a:rPr lang="en-US" sz="5300" b="1" spc="-100" kern="0" dirty="0">
                <a:solidFill>
                  <a:srgbClr val="4970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WHY NOT START THERE?</a:t>
            </a:r>
            <a:endParaRPr lang="en-US" sz="5300" dirty="0"/>
          </a:p>
        </p:txBody>
      </p:sp>
      <p:sp>
        <p:nvSpPr>
          <p:cNvPr id="5" name="Text 2"/>
          <p:cNvSpPr txBox="1"/>
          <p:nvPr/>
        </p:nvSpPr>
        <p:spPr>
          <a:xfrm>
            <a:off x="1069848" y="3557016"/>
            <a:ext cx="16203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Germany an AI adviser may not advise. Start there, and we build a product we can never test.</a:t>
            </a:r>
            <a:endParaRPr lang="en-US" sz="1950" dirty="0"/>
          </a:p>
        </p:txBody>
      </p:sp>
      <p:sp>
        <p:nvSpPr>
          <p:cNvPr id="6" name="Shape 3"/>
          <p:cNvSpPr/>
          <p:nvPr/>
        </p:nvSpPr>
        <p:spPr>
          <a:xfrm>
            <a:off x="1069848" y="4050792"/>
            <a:ext cx="16203168" cy="0"/>
          </a:xfrm>
          <a:prstGeom prst="line">
            <a:avLst/>
          </a:prstGeom>
          <a:noFill/>
          <a:ln w="9525">
            <a:solidFill>
              <a:srgbClr val="DADBD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407408" y="4315968"/>
            <a:ext cx="303352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7623810" y="4315968"/>
            <a:ext cx="303352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LEARN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10840212" y="4315968"/>
            <a:ext cx="303352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EXPAND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14056614" y="4315968"/>
            <a:ext cx="303352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ARRIVE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1069848" y="4663440"/>
            <a:ext cx="16203168" cy="1920240"/>
          </a:xfrm>
          <a:prstGeom prst="roundRect">
            <a:avLst>
              <a:gd name="adj" fmla="val 9524"/>
            </a:avLst>
          </a:prstGeom>
          <a:solidFill>
            <a:srgbClr val="E9E9E6"/>
          </a:solidFill>
          <a:ln w="9525">
            <a:solidFill>
              <a:srgbClr val="E9E9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389888" y="50749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A95E5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IF WE STARTED IN GERMANY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1389888" y="5376672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strike="sngStrike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GERMANY FIRST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4315968" y="4937760"/>
            <a:ext cx="3033522" cy="1371600"/>
          </a:xfrm>
          <a:prstGeom prst="roundRect">
            <a:avLst>
              <a:gd name="adj" fmla="val 9333"/>
            </a:avLst>
          </a:prstGeom>
          <a:solidFill>
            <a:srgbClr val="DEDEDA"/>
          </a:solidFill>
          <a:ln w="9525">
            <a:solidFill>
              <a:srgbClr val="DEDED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90288" y="4937760"/>
            <a:ext cx="248488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50" b="1" dirty="0">
                <a:solidFill>
                  <a:srgbClr val="5A5D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GATED ADVISER</a:t>
            </a:r>
            <a:endParaRPr lang="en-US" sz="14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A5D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lawyer signs every answer.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7532370" y="4937760"/>
            <a:ext cx="3033522" cy="1371600"/>
          </a:xfrm>
          <a:prstGeom prst="roundRect">
            <a:avLst>
              <a:gd name="adj" fmla="val 9333"/>
            </a:avLst>
          </a:prstGeom>
          <a:solidFill>
            <a:srgbClr val="DEDEDA"/>
          </a:solidFill>
          <a:ln w="9525">
            <a:solidFill>
              <a:srgbClr val="DEDED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806690" y="4937760"/>
            <a:ext cx="248488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50" b="1" dirty="0">
                <a:solidFill>
                  <a:srgbClr val="5A5D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PROOF</a:t>
            </a:r>
            <a:endParaRPr lang="en-US" sz="14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A5D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 never learn if the adviser sells.</a:t>
            </a:r>
            <a:endParaRPr lang="en-US" sz="1450" dirty="0"/>
          </a:p>
        </p:txBody>
      </p:sp>
      <p:sp>
        <p:nvSpPr>
          <p:cNvPr id="18" name="Text 15"/>
          <p:cNvSpPr txBox="1"/>
          <p:nvPr/>
        </p:nvSpPr>
        <p:spPr>
          <a:xfrm>
            <a:off x="7303770" y="4937760"/>
            <a:ext cx="274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0748772" y="4937760"/>
            <a:ext cx="3033522" cy="1371600"/>
          </a:xfrm>
          <a:prstGeom prst="roundRect">
            <a:avLst>
              <a:gd name="adj" fmla="val 9333"/>
            </a:avLst>
          </a:prstGeom>
          <a:solidFill>
            <a:srgbClr val="DEDEDA"/>
          </a:solidFill>
          <a:ln w="9525">
            <a:solidFill>
              <a:srgbClr val="DEDED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1023092" y="4937760"/>
            <a:ext cx="248488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50" b="1" dirty="0">
                <a:solidFill>
                  <a:srgbClr val="5A5D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STUCK</a:t>
            </a:r>
            <a:endParaRPr lang="en-US" sz="14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A5D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Built for the strictest market. Travels badly.</a:t>
            </a:r>
            <a:endParaRPr lang="en-US" sz="1450" dirty="0"/>
          </a:p>
        </p:txBody>
      </p:sp>
      <p:sp>
        <p:nvSpPr>
          <p:cNvPr id="21" name="Text 18"/>
          <p:cNvSpPr txBox="1"/>
          <p:nvPr/>
        </p:nvSpPr>
        <p:spPr>
          <a:xfrm>
            <a:off x="10520172" y="4937760"/>
            <a:ext cx="274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3965174" y="4937760"/>
            <a:ext cx="3033522" cy="1371600"/>
          </a:xfrm>
          <a:prstGeom prst="roundRect">
            <a:avLst>
              <a:gd name="adj" fmla="val 9333"/>
            </a:avLst>
          </a:prstGeom>
          <a:solidFill>
            <a:srgbClr val="CFCFCB"/>
          </a:solidFill>
          <a:ln w="9525">
            <a:solidFill>
              <a:srgbClr val="CFCFC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4239494" y="4937760"/>
            <a:ext cx="248488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50" b="1" dirty="0">
                <a:solidFill>
                  <a:srgbClr val="3A3A3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COLD START</a:t>
            </a:r>
            <a:endParaRPr lang="en-US" sz="14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3A3A3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customers, no firm, no references.</a:t>
            </a:r>
            <a:endParaRPr lang="en-US" sz="1450" dirty="0"/>
          </a:p>
        </p:txBody>
      </p:sp>
      <p:sp>
        <p:nvSpPr>
          <p:cNvPr id="24" name="Text 21"/>
          <p:cNvSpPr txBox="1"/>
          <p:nvPr/>
        </p:nvSpPr>
        <p:spPr>
          <a:xfrm>
            <a:off x="13736574" y="4937760"/>
            <a:ext cx="274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1069848" y="6766560"/>
            <a:ext cx="16203168" cy="192024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DADBD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389888" y="71780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4970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WE DO INSTEAD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389888" y="7479792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FIRST</a:t>
            </a:r>
            <a:endParaRPr lang="en-US" sz="1900" dirty="0"/>
          </a:p>
        </p:txBody>
      </p:sp>
      <p:sp>
        <p:nvSpPr>
          <p:cNvPr id="28" name="Shape 25"/>
          <p:cNvSpPr/>
          <p:nvPr/>
        </p:nvSpPr>
        <p:spPr>
          <a:xfrm>
            <a:off x="4315968" y="7040880"/>
            <a:ext cx="3033522" cy="1371600"/>
          </a:xfrm>
          <a:prstGeom prst="roundRect">
            <a:avLst>
              <a:gd name="adj" fmla="val 9333"/>
            </a:avLst>
          </a:prstGeom>
          <a:solidFill>
            <a:srgbClr val="171717"/>
          </a:solidFill>
          <a:ln w="9525">
            <a:solidFill>
              <a:srgbClr val="17171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590288" y="7040880"/>
            <a:ext cx="248488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ADVISER</a:t>
            </a:r>
            <a:endParaRPr lang="en-US" sz="14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D7DE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Sold in the Netherlands, where it may speak.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7532370" y="7040880"/>
            <a:ext cx="3033522" cy="1371600"/>
          </a:xfrm>
          <a:prstGeom prst="roundRect">
            <a:avLst>
              <a:gd name="adj" fmla="val 9333"/>
            </a:avLst>
          </a:prstGeom>
          <a:solidFill>
            <a:srgbClr val="171717"/>
          </a:solidFill>
          <a:ln w="9525">
            <a:solidFill>
              <a:srgbClr val="17171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806690" y="7040880"/>
            <a:ext cx="248488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PROOF</a:t>
            </a:r>
            <a:endParaRPr lang="en-US" sz="14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D7DE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Companies pay for the software itself.</a:t>
            </a:r>
            <a:endParaRPr lang="en-US" sz="1450" dirty="0"/>
          </a:p>
        </p:txBody>
      </p:sp>
      <p:sp>
        <p:nvSpPr>
          <p:cNvPr id="32" name="Text 29"/>
          <p:cNvSpPr txBox="1"/>
          <p:nvPr/>
        </p:nvSpPr>
        <p:spPr>
          <a:xfrm>
            <a:off x="7303770" y="7040880"/>
            <a:ext cx="274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10748772" y="7040880"/>
            <a:ext cx="3033522" cy="1371600"/>
          </a:xfrm>
          <a:prstGeom prst="roundRect">
            <a:avLst>
              <a:gd name="adj" fmla="val 9333"/>
            </a:avLst>
          </a:prstGeom>
          <a:solidFill>
            <a:srgbClr val="E8F2F2"/>
          </a:solidFill>
          <a:ln w="9525">
            <a:solidFill>
              <a:srgbClr val="E8F2F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1023092" y="7040880"/>
            <a:ext cx="248488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50" b="1" dirty="0">
                <a:solidFill>
                  <a:srgbClr val="2A3A3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REPEAT</a:t>
            </a:r>
            <a:endParaRPr lang="en-US" sz="14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A3A3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market, same product. Add a firm and a country pack.</a:t>
            </a:r>
            <a:endParaRPr lang="en-US" sz="1450" dirty="0"/>
          </a:p>
        </p:txBody>
      </p:sp>
      <p:sp>
        <p:nvSpPr>
          <p:cNvPr id="35" name="Text 32"/>
          <p:cNvSpPr txBox="1"/>
          <p:nvPr/>
        </p:nvSpPr>
        <p:spPr>
          <a:xfrm>
            <a:off x="10520172" y="7040880"/>
            <a:ext cx="274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3965174" y="7040880"/>
            <a:ext cx="3033522" cy="1371600"/>
          </a:xfrm>
          <a:prstGeom prst="roundRect">
            <a:avLst>
              <a:gd name="adj" fmla="val 9333"/>
            </a:avLst>
          </a:prstGeom>
          <a:solidFill>
            <a:srgbClr val="497078"/>
          </a:solidFill>
          <a:ln w="9525">
            <a:solidFill>
              <a:srgbClr val="497078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4239494" y="7040880"/>
            <a:ext cx="248488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GERMANY, AS AN UPGRADE</a:t>
            </a:r>
            <a:endParaRPr lang="en-US" sz="14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E6EF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Dutch customers buy the Germany pack. Same product, German rules, a German firm signs.</a:t>
            </a:r>
            <a:endParaRPr lang="en-US" sz="1450" dirty="0"/>
          </a:p>
        </p:txBody>
      </p:sp>
      <p:sp>
        <p:nvSpPr>
          <p:cNvPr id="38" name="Text 35"/>
          <p:cNvSpPr txBox="1"/>
          <p:nvPr/>
        </p:nvSpPr>
        <p:spPr>
          <a:xfrm>
            <a:off x="13736574" y="7040880"/>
            <a:ext cx="274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1069848" y="9006840"/>
            <a:ext cx="14100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Germany's rule  </a:t>
            </a:r>
            <a:pPr indent="0" marL="0">
              <a:buNone/>
            </a:pPr>
            <a:r>
              <a:rPr lang="en-US" sz="11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generic, rule-based tools are allowed (BGH Smartlaw, 2021). Case-specific advice stays with lawyers. </a:t>
            </a:r>
            <a:pPr indent="0" marL="0">
              <a:buNone/>
            </a:pPr>
            <a:r>
              <a:rPr lang="en-US" sz="1100" u="sng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bundesgerichtshof.de</a:t>
            </a:r>
            <a:endParaRPr lang="en-US" sz="1100" dirty="0"/>
          </a:p>
        </p:txBody>
      </p:sp>
      <p:sp>
        <p:nvSpPr>
          <p:cNvPr name="Freeform 2" id="40"/>
          <p:cNvSpPr/>
          <p:nvPr/>
        </p:nvSpPr>
        <p:spPr>
          <a:xfrm flipH="false" flipV="false" rot="0">
            <a:off x="4027427" y="954576"/>
            <a:ext cx="10233146" cy="693858"/>
          </a:xfrm>
          <a:custGeom>
            <a:avLst/>
            <a:gdLst/>
            <a:ahLst/>
            <a:cxnLst/>
            <a:rect r="r" b="b" t="t" l="l"/>
            <a:pathLst>
              <a:path h="693858" w="10233146">
                <a:moveTo>
                  <a:pt x="0" y="0"/>
                </a:moveTo>
                <a:lnTo>
                  <a:pt x="10233146" y="0"/>
                </a:lnTo>
                <a:lnTo>
                  <a:pt x="10233146" y="693859"/>
                </a:lnTo>
                <a:lnTo>
                  <a:pt x="0" y="69385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41"/>
          <p:cNvSpPr/>
          <p:nvPr/>
        </p:nvSpPr>
        <p:spPr>
          <a:xfrm flipH="false" flipV="false" rot="0">
            <a:off x="4100894" y="1190730"/>
            <a:ext cx="384600" cy="384600"/>
          </a:xfrm>
          <a:custGeom>
            <a:avLst/>
            <a:gdLst/>
            <a:ahLst/>
            <a:cxnLst/>
            <a:rect r="r" b="b" t="t" l="l"/>
            <a:pathLst>
              <a:path h="384600" w="384600">
                <a:moveTo>
                  <a:pt x="0" y="0"/>
                </a:moveTo>
                <a:lnTo>
                  <a:pt x="384600" y="0"/>
                </a:lnTo>
                <a:lnTo>
                  <a:pt x="384600" y="384600"/>
                </a:lnTo>
                <a:lnTo>
                  <a:pt x="0" y="3846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2"/>
          <p:cNvSpPr txBox="true"/>
          <p:nvPr/>
        </p:nvSpPr>
        <p:spPr>
          <a:xfrm rot="0">
            <a:off x="4545644" y="1148715"/>
            <a:ext cx="2067239" cy="3686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7"/>
              </a:lnSpc>
            </a:pPr>
            <a:r>
              <a:rPr lang="en-US" sz="1797" b="true">
                <a:solidFill>
                  <a:srgbClr val="171717"/>
                </a:solidFill>
                <a:latin typeface="Poppins Bold"/>
                <a:ea typeface="Poppins Bold"/>
                <a:cs typeface="Poppins Bold"/>
                <a:sym typeface="Poppins Bold"/>
              </a:rPr>
              <a:t>Regulift</a:t>
            </a:r>
          </a:p>
        </p:txBody>
      </p:sp>
      <p:grpSp>
        <p:nvGrpSpPr>
          <p:cNvPr name="Group 5" id="43"/>
          <p:cNvGrpSpPr/>
          <p:nvPr/>
        </p:nvGrpSpPr>
        <p:grpSpPr>
          <a:xfrm rot="0">
            <a:off x="7589520" y="1190730"/>
            <a:ext cx="1513332" cy="384962"/>
            <a:chOff x="0" y="0"/>
            <a:chExt cx="2017776" cy="513283"/>
          </a:xfrm>
        </p:grpSpPr>
        <p:sp>
          <p:nvSpPr>
            <p:cNvPr name="Freeform 6" id="44">
              <a:hlinkClick r:id="rId7" action="ppaction://hlinksldjump"/>
            </p:cNvPr>
            <p:cNvSpPr/>
            <p:nvPr/>
          </p:nvSpPr>
          <p:spPr>
            <a:xfrm flipH="false" flipV="false" rot="0">
              <a:off x="0" y="0"/>
              <a:ext cx="2017776" cy="513334"/>
            </a:xfrm>
            <a:custGeom>
              <a:avLst/>
              <a:gdLst/>
              <a:ahLst/>
              <a:cxnLst/>
              <a:rect r="r" b="b" t="t" l="l"/>
              <a:pathLst>
                <a:path h="513334" w="2017776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761109" y="0"/>
                  </a:lnTo>
                  <a:cubicBezTo>
                    <a:pt x="1902841" y="0"/>
                    <a:pt x="2017776" y="114935"/>
                    <a:pt x="2017776" y="256667"/>
                  </a:cubicBezTo>
                  <a:cubicBezTo>
                    <a:pt x="2017776" y="398399"/>
                    <a:pt x="1902841" y="513334"/>
                    <a:pt x="1761109" y="513334"/>
                  </a:cubicBezTo>
                  <a:lnTo>
                    <a:pt x="256667" y="513334"/>
                  </a:lnTo>
                  <a:cubicBezTo>
                    <a:pt x="114935" y="513334"/>
                    <a:pt x="0" y="398399"/>
                    <a:pt x="0" y="256667"/>
                  </a:cubicBezTo>
                  <a:close/>
                </a:path>
              </a:pathLst>
            </a:custGeom>
            <a:solidFill>
              <a:srgbClr val="CCCCCC"/>
            </a:solidFill>
          </p:spPr>
        </p:sp>
        <p:sp>
          <p:nvSpPr>
            <p:cNvPr name="TextBox 7" id="45"/>
            <p:cNvSpPr txBox="true"/>
            <p:nvPr/>
          </p:nvSpPr>
          <p:spPr>
            <a:xfrm>
              <a:off x="0" y="-9525"/>
              <a:ext cx="2017776" cy="5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>
                  <a:solidFill>
                    <a:srgbClr val="171717"/>
                  </a:solidFill>
                  <a:latin typeface="Poppins"/>
                  <a:ea typeface="Poppins"/>
                  <a:cs typeface="Poppins"/>
                  <a:sym typeface="Poppins"/>
                </a:rPr>
                <a:t>About</a:t>
              </a:r>
            </a:p>
          </p:txBody>
        </p:sp>
      </p:grpSp>
      <p:grpSp>
        <p:nvGrpSpPr>
          <p:cNvPr name="Group 8" id="46"/>
          <p:cNvGrpSpPr/>
          <p:nvPr/>
        </p:nvGrpSpPr>
        <p:grpSpPr>
          <a:xfrm rot="0">
            <a:off x="9212580" y="1190730"/>
            <a:ext cx="1513332" cy="384962"/>
            <a:chOff x="0" y="0"/>
            <a:chExt cx="2017776" cy="513283"/>
          </a:xfrm>
        </p:grpSpPr>
        <p:sp>
          <p:nvSpPr>
            <p:cNvPr name="Freeform 9" id="47">
              <a:hlinkClick r:id="rId8" action="ppaction://hlinksldjump"/>
            </p:cNvPr>
            <p:cNvSpPr/>
            <p:nvPr/>
          </p:nvSpPr>
          <p:spPr>
            <a:xfrm flipH="false" flipV="false" rot="0">
              <a:off x="0" y="0"/>
              <a:ext cx="2017776" cy="513334"/>
            </a:xfrm>
            <a:custGeom>
              <a:avLst/>
              <a:gdLst/>
              <a:ahLst/>
              <a:cxnLst/>
              <a:rect r="r" b="b" t="t" l="l"/>
              <a:pathLst>
                <a:path h="513334" w="2017776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761109" y="0"/>
                  </a:lnTo>
                  <a:cubicBezTo>
                    <a:pt x="1902841" y="0"/>
                    <a:pt x="2017776" y="114935"/>
                    <a:pt x="2017776" y="256667"/>
                  </a:cubicBezTo>
                  <a:cubicBezTo>
                    <a:pt x="2017776" y="398399"/>
                    <a:pt x="1902841" y="513334"/>
                    <a:pt x="1761109" y="513334"/>
                  </a:cubicBezTo>
                  <a:lnTo>
                    <a:pt x="256667" y="513334"/>
                  </a:lnTo>
                  <a:cubicBezTo>
                    <a:pt x="114935" y="513334"/>
                    <a:pt x="0" y="398399"/>
                    <a:pt x="0" y="256667"/>
                  </a:cubicBezTo>
                  <a:close/>
                </a:path>
              </a:pathLst>
            </a:custGeom>
            <a:solidFill>
              <a:srgbClr val="171717"/>
            </a:solidFill>
          </p:spPr>
        </p:sp>
        <p:sp>
          <p:nvSpPr>
            <p:cNvPr name="TextBox 10" id="48"/>
            <p:cNvSpPr txBox="true"/>
            <p:nvPr/>
          </p:nvSpPr>
          <p:spPr>
            <a:xfrm>
              <a:off x="0" y="-9525"/>
              <a:ext cx="2017776" cy="5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>
                  <a:solidFill>
                    <a:srgbClr val="FAFAFA"/>
                  </a:solidFill>
                  <a:latin typeface="Poppins"/>
                  <a:ea typeface="Poppins"/>
                  <a:cs typeface="Poppins"/>
                  <a:sym typeface="Poppins"/>
                </a:rPr>
                <a:t>Service</a:t>
              </a:r>
            </a:p>
          </p:txBody>
        </p:sp>
      </p:grpSp>
      <p:grpSp>
        <p:nvGrpSpPr>
          <p:cNvPr name="Group 11" id="49"/>
          <p:cNvGrpSpPr/>
          <p:nvPr/>
        </p:nvGrpSpPr>
        <p:grpSpPr>
          <a:xfrm rot="0">
            <a:off x="10835640" y="1190730"/>
            <a:ext cx="1513332" cy="384962"/>
            <a:chOff x="0" y="0"/>
            <a:chExt cx="2017776" cy="513283"/>
          </a:xfrm>
        </p:grpSpPr>
        <p:sp>
          <p:nvSpPr>
            <p:cNvPr name="Freeform 12" id="50">
              <a:hlinkClick r:id="rId9" action="ppaction://hlinksldjump"/>
            </p:cNvPr>
            <p:cNvSpPr/>
            <p:nvPr/>
          </p:nvSpPr>
          <p:spPr>
            <a:xfrm flipH="false" flipV="false" rot="0">
              <a:off x="0" y="0"/>
              <a:ext cx="2017776" cy="513334"/>
            </a:xfrm>
            <a:custGeom>
              <a:avLst/>
              <a:gdLst/>
              <a:ahLst/>
              <a:cxnLst/>
              <a:rect r="r" b="b" t="t" l="l"/>
              <a:pathLst>
                <a:path h="513334" w="2017776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761109" y="0"/>
                  </a:lnTo>
                  <a:cubicBezTo>
                    <a:pt x="1902841" y="0"/>
                    <a:pt x="2017776" y="114935"/>
                    <a:pt x="2017776" y="256667"/>
                  </a:cubicBezTo>
                  <a:cubicBezTo>
                    <a:pt x="2017776" y="398399"/>
                    <a:pt x="1902841" y="513334"/>
                    <a:pt x="1761109" y="513334"/>
                  </a:cubicBezTo>
                  <a:lnTo>
                    <a:pt x="256667" y="513334"/>
                  </a:lnTo>
                  <a:cubicBezTo>
                    <a:pt x="114935" y="513334"/>
                    <a:pt x="0" y="398399"/>
                    <a:pt x="0" y="256667"/>
                  </a:cubicBezTo>
                  <a:close/>
                </a:path>
              </a:pathLst>
            </a:custGeom>
            <a:solidFill>
              <a:srgbClr val="CCCCCC"/>
            </a:solidFill>
          </p:spPr>
        </p:sp>
        <p:sp>
          <p:nvSpPr>
            <p:cNvPr name="TextBox 13" id="51"/>
            <p:cNvSpPr txBox="true"/>
            <p:nvPr/>
          </p:nvSpPr>
          <p:spPr>
            <a:xfrm>
              <a:off x="0" y="-9525"/>
              <a:ext cx="2017776" cy="5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>
                  <a:solidFill>
                    <a:srgbClr val="171717"/>
                  </a:solidFill>
                  <a:latin typeface="Poppins"/>
                  <a:ea typeface="Poppins"/>
                  <a:cs typeface="Poppins"/>
                  <a:sym typeface="Poppins"/>
                </a:rPr>
                <a:t>Team</a:t>
              </a:r>
            </a:p>
          </p:txBody>
        </p:sp>
      </p:grpSp>
      <p:grpSp>
        <p:nvGrpSpPr>
          <p:cNvPr name="Group 14" id="52"/>
          <p:cNvGrpSpPr/>
          <p:nvPr/>
        </p:nvGrpSpPr>
        <p:grpSpPr>
          <a:xfrm rot="0">
            <a:off x="12458700" y="1190730"/>
            <a:ext cx="1513332" cy="384962"/>
            <a:chOff x="0" y="0"/>
            <a:chExt cx="2017776" cy="513283"/>
          </a:xfrm>
        </p:grpSpPr>
        <p:sp>
          <p:nvSpPr>
            <p:cNvPr name="Freeform 15" id="53">
              <a:hlinkClick r:id="rId10" action="ppaction://hlinksldjump"/>
            </p:cNvPr>
            <p:cNvSpPr/>
            <p:nvPr/>
          </p:nvSpPr>
          <p:spPr>
            <a:xfrm flipH="false" flipV="false" rot="0">
              <a:off x="0" y="0"/>
              <a:ext cx="2017776" cy="513334"/>
            </a:xfrm>
            <a:custGeom>
              <a:avLst/>
              <a:gdLst/>
              <a:ahLst/>
              <a:cxnLst/>
              <a:rect r="r" b="b" t="t" l="l"/>
              <a:pathLst>
                <a:path h="513334" w="2017776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761109" y="0"/>
                  </a:lnTo>
                  <a:cubicBezTo>
                    <a:pt x="1902841" y="0"/>
                    <a:pt x="2017776" y="114935"/>
                    <a:pt x="2017776" y="256667"/>
                  </a:cubicBezTo>
                  <a:cubicBezTo>
                    <a:pt x="2017776" y="398399"/>
                    <a:pt x="1902841" y="513334"/>
                    <a:pt x="1761109" y="513334"/>
                  </a:cubicBezTo>
                  <a:lnTo>
                    <a:pt x="256667" y="513334"/>
                  </a:lnTo>
                  <a:cubicBezTo>
                    <a:pt x="114935" y="513334"/>
                    <a:pt x="0" y="398399"/>
                    <a:pt x="0" y="256667"/>
                  </a:cubicBezTo>
                  <a:close/>
                </a:path>
              </a:pathLst>
            </a:custGeom>
            <a:solidFill>
              <a:srgbClr val="CCCCCC"/>
            </a:solidFill>
          </p:spPr>
        </p:sp>
        <p:sp>
          <p:nvSpPr>
            <p:cNvPr name="TextBox 16" id="54"/>
            <p:cNvSpPr txBox="true"/>
            <p:nvPr/>
          </p:nvSpPr>
          <p:spPr>
            <a:xfrm>
              <a:off x="0" y="-9525"/>
              <a:ext cx="2017776" cy="5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>
                  <a:solidFill>
                    <a:srgbClr val="171717"/>
                  </a:solidFill>
                  <a:latin typeface="Poppins"/>
                  <a:ea typeface="Poppins"/>
                  <a:cs typeface="Poppins"/>
                  <a:sym typeface="Poppins"/>
                </a:rPr>
                <a:t>Conclusion</a:t>
              </a:r>
            </a:p>
          </p:txBody>
        </p:sp>
      </p:grpSp>
      <p:grpSp>
        <p:nvGrpSpPr>
          <p:cNvPr name="Group 52" id="55"/>
          <p:cNvGrpSpPr/>
          <p:nvPr/>
        </p:nvGrpSpPr>
        <p:grpSpPr>
          <a:xfrm rot="0">
            <a:off x="4158586" y="1272016"/>
            <a:ext cx="269215" cy="222028"/>
            <a:chOff x="0" y="0"/>
            <a:chExt cx="358953" cy="296037"/>
          </a:xfrm>
        </p:grpSpPr>
        <p:sp>
          <p:nvSpPr>
            <p:cNvPr name="Freeform 53" id="56" descr="image.png"/>
            <p:cNvSpPr/>
            <p:nvPr/>
          </p:nvSpPr>
          <p:spPr>
            <a:xfrm flipH="false" flipV="false" rot="0">
              <a:off x="0" y="0"/>
              <a:ext cx="358902" cy="296037"/>
            </a:xfrm>
            <a:custGeom>
              <a:avLst/>
              <a:gdLst/>
              <a:ahLst/>
              <a:cxnLst/>
              <a:rect r="r" b="b" t="t" l="l"/>
              <a:pathLst>
                <a:path h="296037" w="358902">
                  <a:moveTo>
                    <a:pt x="0" y="0"/>
                  </a:moveTo>
                  <a:lnTo>
                    <a:pt x="358902" y="0"/>
                  </a:lnTo>
                  <a:lnTo>
                    <a:pt x="358902" y="296037"/>
                  </a:lnTo>
                  <a:lnTo>
                    <a:pt x="0" y="2960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-14" b="0"/>
              </a:stretch>
            </a:blipFill>
          </p:spPr>
        </p:sp>
      </p:grpSp>
      <p:grpSp>
        <p:nvGrpSpPr>
          <p:cNvPr name="Group 17" id="57"/>
          <p:cNvGrpSpPr/>
          <p:nvPr/>
        </p:nvGrpSpPr>
        <p:grpSpPr>
          <a:xfrm rot="0">
            <a:off x="16879824" y="9619488"/>
            <a:ext cx="1042416" cy="347472"/>
            <a:chOff x="0" y="0"/>
            <a:chExt cx="1389888" cy="463296"/>
          </a:xfrm>
        </p:grpSpPr>
        <p:sp>
          <p:nvSpPr>
            <p:cNvPr name="Freeform 18" id="58"/>
            <p:cNvSpPr/>
            <p:nvPr/>
          </p:nvSpPr>
          <p:spPr>
            <a:xfrm flipH="false" flipV="false" rot="0">
              <a:off x="0" y="0"/>
              <a:ext cx="1389888" cy="463296"/>
            </a:xfrm>
            <a:custGeom>
              <a:avLst/>
              <a:gdLst/>
              <a:ahLst/>
              <a:cxnLst/>
              <a:rect r="r" b="b" t="t" l="l"/>
              <a:pathLst>
                <a:path h="463296" w="1389888">
                  <a:moveTo>
                    <a:pt x="0" y="106553"/>
                  </a:moveTo>
                  <a:cubicBezTo>
                    <a:pt x="0" y="47752"/>
                    <a:pt x="47752" y="0"/>
                    <a:pt x="106553" y="0"/>
                  </a:cubicBezTo>
                  <a:lnTo>
                    <a:pt x="1283335" y="0"/>
                  </a:lnTo>
                  <a:cubicBezTo>
                    <a:pt x="1342136" y="0"/>
                    <a:pt x="1389888" y="47752"/>
                    <a:pt x="1389888" y="106553"/>
                  </a:cubicBezTo>
                  <a:lnTo>
                    <a:pt x="1389888" y="356743"/>
                  </a:lnTo>
                  <a:cubicBezTo>
                    <a:pt x="1389888" y="415544"/>
                    <a:pt x="1342136" y="463296"/>
                    <a:pt x="1283335" y="463296"/>
                  </a:cubicBezTo>
                  <a:lnTo>
                    <a:pt x="106553" y="463296"/>
                  </a:lnTo>
                  <a:cubicBezTo>
                    <a:pt x="47752" y="463296"/>
                    <a:pt x="0" y="415544"/>
                    <a:pt x="0" y="356743"/>
                  </a:cubicBezTo>
                  <a:close/>
                </a:path>
              </a:pathLst>
            </a:custGeom>
            <a:solidFill>
              <a:srgbClr val="1D2023"/>
            </a:solidFill>
          </p:spPr>
        </p:sp>
        <p:sp>
          <p:nvSpPr>
            <p:cNvPr name="TextBox 19" id="59"/>
            <p:cNvSpPr txBox="true"/>
            <p:nvPr/>
          </p:nvSpPr>
          <p:spPr>
            <a:xfrm>
              <a:off x="0" y="-9525"/>
              <a:ext cx="1389888" cy="4728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439"/>
                </a:lnSpc>
              </a:pPr>
              <a:r>
                <a:rPr lang="en-US" sz="1200">
                  <a:solidFill>
                    <a:srgbClr val="FBFBFB"/>
                  </a:solidFill>
                  <a:latin typeface="Poppins"/>
                  <a:ea typeface="Poppins"/>
                  <a:cs typeface="Poppins"/>
                  <a:sym typeface="Poppins"/>
                </a:rPr>
                <a:t>Page 06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1069848" y="19933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4970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 ENTRY</a:t>
            </a:r>
            <a:endParaRPr lang="en-US" sz="1700" dirty="0"/>
          </a:p>
        </p:txBody>
      </p:sp>
      <p:sp>
        <p:nvSpPr>
          <p:cNvPr id="4" name="Text 1"/>
          <p:cNvSpPr txBox="1"/>
          <p:nvPr/>
        </p:nvSpPr>
        <p:spPr>
          <a:xfrm>
            <a:off x="1042416" y="2496312"/>
            <a:ext cx="162031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300" b="1" spc="-100" kern="0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WE START IN </a:t>
            </a:r>
            <a:pPr indent="0" marL="0">
              <a:buNone/>
            </a:pPr>
            <a:r>
              <a:rPr lang="en-US" sz="5300" b="1" spc="-100" kern="0" dirty="0">
                <a:solidFill>
                  <a:srgbClr val="4970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NETHERLANDS.</a:t>
            </a:r>
            <a:endParaRPr lang="en-US" sz="5300" dirty="0"/>
          </a:p>
        </p:txBody>
      </p:sp>
      <p:sp>
        <p:nvSpPr>
          <p:cNvPr id="5" name="Text 2"/>
          <p:cNvSpPr txBox="1"/>
          <p:nvPr/>
        </p:nvSpPr>
        <p:spPr>
          <a:xfrm>
            <a:off x="1069848" y="3557016"/>
            <a:ext cx="16203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the adviser may speak, the deadline is live, and the proof is clean.</a:t>
            </a:r>
            <a:endParaRPr lang="en-US" sz="1950" dirty="0"/>
          </a:p>
        </p:txBody>
      </p:sp>
      <p:sp>
        <p:nvSpPr>
          <p:cNvPr id="6" name="Shape 3"/>
          <p:cNvSpPr/>
          <p:nvPr/>
        </p:nvSpPr>
        <p:spPr>
          <a:xfrm>
            <a:off x="1069848" y="4050792"/>
            <a:ext cx="16203168" cy="0"/>
          </a:xfrm>
          <a:prstGeom prst="line">
            <a:avLst/>
          </a:prstGeom>
          <a:noFill/>
          <a:ln w="9525">
            <a:solidFill>
              <a:srgbClr val="DADBD6"/>
            </a:solidFill>
            <a:prstDash val="solid"/>
          </a:ln>
        </p:spPr>
      </p:sp>
      <p:pic>
        <p:nvPicPr>
          <p:cNvPr id="7" name="Image 0" descr="/home/andi/Dokumente/Business/Simone Business/Business/fable-andi/pitch/src/assets/map-n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4297680"/>
            <a:ext cx="6583680" cy="449822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115568" y="8942209"/>
            <a:ext cx="173736" cy="173736"/>
          </a:xfrm>
          <a:prstGeom prst="roundRect">
            <a:avLst>
              <a:gd name="adj" fmla="val 21053"/>
            </a:avLst>
          </a:prstGeom>
          <a:solidFill>
            <a:srgbClr val="171717"/>
          </a:solidFill>
          <a:ln w="9525">
            <a:solidFill>
              <a:srgbClr val="17171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362456" y="8905633"/>
            <a:ext cx="1906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B3E3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Software may advise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113532" y="8942209"/>
            <a:ext cx="173736" cy="173736"/>
          </a:xfrm>
          <a:prstGeom prst="roundRect">
            <a:avLst>
              <a:gd name="adj" fmla="val 21053"/>
            </a:avLst>
          </a:prstGeom>
          <a:solidFill>
            <a:srgbClr val="497078"/>
          </a:solidFill>
          <a:ln w="9525">
            <a:solidFill>
              <a:srgbClr val="49707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360420" y="8905633"/>
            <a:ext cx="1673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B3E3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Lawyer must sign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878324" y="8942209"/>
            <a:ext cx="173736" cy="173736"/>
          </a:xfrm>
          <a:prstGeom prst="roundRect">
            <a:avLst>
              <a:gd name="adj" fmla="val 21053"/>
            </a:avLst>
          </a:prstGeom>
          <a:solidFill>
            <a:srgbClr val="D3D4D0"/>
          </a:solidFill>
          <a:ln w="9525">
            <a:solidFill>
              <a:srgbClr val="D3D4D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125212" y="8905633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B3E3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Firm-led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21324" y="8942209"/>
            <a:ext cx="173736" cy="173736"/>
          </a:xfrm>
          <a:prstGeom prst="roundRect">
            <a:avLst>
              <a:gd name="adj" fmla="val 21053"/>
            </a:avLst>
          </a:prstGeom>
          <a:solidFill>
            <a:srgbClr val="F1F2EF"/>
          </a:solidFill>
          <a:ln w="9525">
            <a:solidFill>
              <a:srgbClr val="DADBD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268212" y="8905633"/>
            <a:ext cx="1906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B3E3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in the analysis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019288" y="8951353"/>
            <a:ext cx="155448" cy="155448"/>
          </a:xfrm>
          <a:prstGeom prst="ellipse">
            <a:avLst/>
          </a:prstGeom>
          <a:solidFill>
            <a:srgbClr val="C9654A"/>
          </a:solidFill>
          <a:ln w="12700">
            <a:solidFill>
              <a:srgbClr val="C9654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66176" y="8905633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B3E3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Our path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 rot="16200000">
            <a:off x="8476488" y="48463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spc="150" kern="0" dirty="0">
                <a:solidFill>
                  <a:srgbClr val="4970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LEGAL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9162288" y="4599432"/>
            <a:ext cx="811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ADVISER MAY SPEAK</a:t>
            </a:r>
            <a:endParaRPr lang="en-US" sz="2500" dirty="0"/>
          </a:p>
        </p:txBody>
      </p:sp>
      <p:sp>
        <p:nvSpPr>
          <p:cNvPr id="20" name="Text 16"/>
          <p:cNvSpPr txBox="1"/>
          <p:nvPr/>
        </p:nvSpPr>
        <p:spPr>
          <a:xfrm>
            <a:off x="9162288" y="5093208"/>
            <a:ext cx="79735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3B3E3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Dutch law reserves only the lawyer's title. Software may give a company its answer. In Germany and Austria it may not.</a:t>
            </a:r>
            <a:endParaRPr lang="en-US" sz="1450" dirty="0"/>
          </a:p>
        </p:txBody>
      </p:sp>
      <p:sp>
        <p:nvSpPr>
          <p:cNvPr id="21" name="Shape 17"/>
          <p:cNvSpPr/>
          <p:nvPr/>
        </p:nvSpPr>
        <p:spPr>
          <a:xfrm>
            <a:off x="8476488" y="5934456"/>
            <a:ext cx="8796528" cy="0"/>
          </a:xfrm>
          <a:prstGeom prst="line">
            <a:avLst/>
          </a:prstGeom>
          <a:noFill/>
          <a:ln w="9525">
            <a:solidFill>
              <a:srgbClr val="DADBD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 rot="16200000">
            <a:off x="8476488" y="64922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spc="150" kern="0" dirty="0">
                <a:solidFill>
                  <a:srgbClr val="4970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TIMING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9162288" y="6245352"/>
            <a:ext cx="811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DEADLINE IS LIVE</a:t>
            </a:r>
            <a:endParaRPr lang="en-US" sz="2500" dirty="0"/>
          </a:p>
        </p:txBody>
      </p:sp>
      <p:sp>
        <p:nvSpPr>
          <p:cNvPr id="24" name="Text 20"/>
          <p:cNvSpPr txBox="1"/>
          <p:nvPr/>
        </p:nvSpPr>
        <p:spPr>
          <a:xfrm>
            <a:off x="9162288" y="6739128"/>
            <a:ext cx="79735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3B3E3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NIS2 in force since August 2026. About 8,000 companies in scope, more than half not registered.</a:t>
            </a:r>
            <a:endParaRPr lang="en-US" sz="1450" dirty="0"/>
          </a:p>
        </p:txBody>
      </p:sp>
      <p:sp>
        <p:nvSpPr>
          <p:cNvPr id="25" name="Shape 21"/>
          <p:cNvSpPr/>
          <p:nvPr/>
        </p:nvSpPr>
        <p:spPr>
          <a:xfrm>
            <a:off x="8476488" y="7580376"/>
            <a:ext cx="8796528" cy="0"/>
          </a:xfrm>
          <a:prstGeom prst="line">
            <a:avLst/>
          </a:prstGeom>
          <a:noFill/>
          <a:ln w="9525">
            <a:solidFill>
              <a:srgbClr val="DADBD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 rot="16200000">
            <a:off x="8476488" y="81381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spc="150" kern="0" dirty="0">
                <a:solidFill>
                  <a:srgbClr val="4970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PROOF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9162288" y="7891272"/>
            <a:ext cx="811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COMPANIES PAY FOR SOFTWARE</a:t>
            </a:r>
            <a:endParaRPr lang="en-US" sz="2500" dirty="0"/>
          </a:p>
        </p:txBody>
      </p:sp>
      <p:sp>
        <p:nvSpPr>
          <p:cNvPr id="28" name="Text 24"/>
          <p:cNvSpPr txBox="1"/>
          <p:nvPr/>
        </p:nvSpPr>
        <p:spPr>
          <a:xfrm>
            <a:off x="9162288" y="8385048"/>
            <a:ext cx="79735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3B3E3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lawyer is needed to make the sale. So we learn the one thing that matters: does the adviser sell on its own.</a:t>
            </a:r>
            <a:endParaRPr lang="en-US" sz="1450" dirty="0"/>
          </a:p>
        </p:txBody>
      </p:sp>
      <p:sp>
        <p:nvSpPr>
          <p:cNvPr id="29" name="Text 25"/>
          <p:cNvSpPr txBox="1"/>
          <p:nvPr/>
        </p:nvSpPr>
        <p:spPr>
          <a:xfrm>
            <a:off x="1069848" y="9253728"/>
            <a:ext cx="1410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Sources  </a:t>
            </a:r>
            <a:pPr indent="0" marL="0">
              <a:buNone/>
            </a:pPr>
            <a:r>
              <a:rPr lang="en-US" sz="1100" u="sng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wetten.overheid.nl</a:t>
            </a:r>
            <a:pPr indent="0" marL="0">
              <a:buNone/>
            </a:pPr>
            <a:r>
              <a:rPr lang="en-US" sz="11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·  </a:t>
            </a:r>
            <a:pPr indent="0" marL="0">
              <a:buNone/>
            </a:pPr>
            <a:r>
              <a:rPr lang="en-US" sz="1100" u="sng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gesetze-im-internet.de</a:t>
            </a:r>
            <a:pPr indent="0" marL="0">
              <a:buNone/>
            </a:pPr>
            <a:r>
              <a:rPr lang="en-US" sz="11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·  </a:t>
            </a:r>
            <a:pPr indent="0" marL="0">
              <a:buNone/>
            </a:pPr>
            <a:r>
              <a:rPr lang="en-US" sz="1100" u="sng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ris.bka.gv.at</a:t>
            </a:r>
            <a:pPr indent="0" marL="0">
              <a:buNone/>
            </a:pPr>
            <a:r>
              <a:rPr lang="en-US" sz="11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·  </a:t>
            </a:r>
            <a:pPr indent="0" marL="0">
              <a:buNone/>
            </a:pPr>
            <a:r>
              <a:rPr lang="en-US" sz="1100" u="sng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rdi.nl</a:t>
            </a:r>
            <a:pPr indent="0" marL="0">
              <a:buNone/>
            </a:pPr>
            <a:r>
              <a:rPr lang="en-US" sz="11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·  </a:t>
            </a:r>
            <a:pPr indent="0" marL="0">
              <a:buNone/>
            </a:pPr>
            <a:r>
              <a:rPr lang="en-US" sz="1100" u="sng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nctv.nl</a:t>
            </a:r>
            <a:endParaRPr lang="en-US" sz="1100" dirty="0"/>
          </a:p>
        </p:txBody>
      </p:sp>
      <p:sp>
        <p:nvSpPr>
          <p:cNvPr name="Freeform 2" id="30"/>
          <p:cNvSpPr/>
          <p:nvPr/>
        </p:nvSpPr>
        <p:spPr>
          <a:xfrm flipH="false" flipV="false" rot="0">
            <a:off x="4027427" y="954576"/>
            <a:ext cx="10233146" cy="693858"/>
          </a:xfrm>
          <a:custGeom>
            <a:avLst/>
            <a:gdLst/>
            <a:ahLst/>
            <a:cxnLst/>
            <a:rect r="r" b="b" t="t" l="l"/>
            <a:pathLst>
              <a:path h="693858" w="10233146">
                <a:moveTo>
                  <a:pt x="0" y="0"/>
                </a:moveTo>
                <a:lnTo>
                  <a:pt x="10233146" y="0"/>
                </a:lnTo>
                <a:lnTo>
                  <a:pt x="10233146" y="693859"/>
                </a:lnTo>
                <a:lnTo>
                  <a:pt x="0" y="69385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1"/>
          <p:cNvSpPr/>
          <p:nvPr/>
        </p:nvSpPr>
        <p:spPr>
          <a:xfrm flipH="false" flipV="false" rot="0">
            <a:off x="4100894" y="1190730"/>
            <a:ext cx="384600" cy="384600"/>
          </a:xfrm>
          <a:custGeom>
            <a:avLst/>
            <a:gdLst/>
            <a:ahLst/>
            <a:cxnLst/>
            <a:rect r="r" b="b" t="t" l="l"/>
            <a:pathLst>
              <a:path h="384600" w="384600">
                <a:moveTo>
                  <a:pt x="0" y="0"/>
                </a:moveTo>
                <a:lnTo>
                  <a:pt x="384600" y="0"/>
                </a:lnTo>
                <a:lnTo>
                  <a:pt x="384600" y="384600"/>
                </a:lnTo>
                <a:lnTo>
                  <a:pt x="0" y="38460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32"/>
          <p:cNvSpPr txBox="true"/>
          <p:nvPr/>
        </p:nvSpPr>
        <p:spPr>
          <a:xfrm rot="0">
            <a:off x="4545644" y="1148715"/>
            <a:ext cx="2067239" cy="3686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7"/>
              </a:lnSpc>
            </a:pPr>
            <a:r>
              <a:rPr lang="en-US" sz="1797" b="true">
                <a:solidFill>
                  <a:srgbClr val="171717"/>
                </a:solidFill>
                <a:latin typeface="Poppins Bold"/>
                <a:ea typeface="Poppins Bold"/>
                <a:cs typeface="Poppins Bold"/>
                <a:sym typeface="Poppins Bold"/>
              </a:rPr>
              <a:t>Regulift</a:t>
            </a:r>
          </a:p>
        </p:txBody>
      </p:sp>
      <p:grpSp>
        <p:nvGrpSpPr>
          <p:cNvPr name="Group 5" id="33"/>
          <p:cNvGrpSpPr/>
          <p:nvPr/>
        </p:nvGrpSpPr>
        <p:grpSpPr>
          <a:xfrm rot="0">
            <a:off x="7589520" y="1190730"/>
            <a:ext cx="1513332" cy="384962"/>
            <a:chOff x="0" y="0"/>
            <a:chExt cx="2017776" cy="513283"/>
          </a:xfrm>
        </p:grpSpPr>
        <p:sp>
          <p:nvSpPr>
            <p:cNvPr name="Freeform 6" id="34">
              <a:hlinkClick r:id="rId12" action="ppaction://hlinksldjump"/>
            </p:cNvPr>
            <p:cNvSpPr/>
            <p:nvPr/>
          </p:nvSpPr>
          <p:spPr>
            <a:xfrm flipH="false" flipV="false" rot="0">
              <a:off x="0" y="0"/>
              <a:ext cx="2017776" cy="513334"/>
            </a:xfrm>
            <a:custGeom>
              <a:avLst/>
              <a:gdLst/>
              <a:ahLst/>
              <a:cxnLst/>
              <a:rect r="r" b="b" t="t" l="l"/>
              <a:pathLst>
                <a:path h="513334" w="2017776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761109" y="0"/>
                  </a:lnTo>
                  <a:cubicBezTo>
                    <a:pt x="1902841" y="0"/>
                    <a:pt x="2017776" y="114935"/>
                    <a:pt x="2017776" y="256667"/>
                  </a:cubicBezTo>
                  <a:cubicBezTo>
                    <a:pt x="2017776" y="398399"/>
                    <a:pt x="1902841" y="513334"/>
                    <a:pt x="1761109" y="513334"/>
                  </a:cubicBezTo>
                  <a:lnTo>
                    <a:pt x="256667" y="513334"/>
                  </a:lnTo>
                  <a:cubicBezTo>
                    <a:pt x="114935" y="513334"/>
                    <a:pt x="0" y="398399"/>
                    <a:pt x="0" y="256667"/>
                  </a:cubicBezTo>
                  <a:close/>
                </a:path>
              </a:pathLst>
            </a:custGeom>
            <a:solidFill>
              <a:srgbClr val="CCCCCC"/>
            </a:solidFill>
          </p:spPr>
        </p:sp>
        <p:sp>
          <p:nvSpPr>
            <p:cNvPr name="TextBox 7" id="35"/>
            <p:cNvSpPr txBox="true"/>
            <p:nvPr/>
          </p:nvSpPr>
          <p:spPr>
            <a:xfrm>
              <a:off x="0" y="-9525"/>
              <a:ext cx="2017776" cy="5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>
                  <a:solidFill>
                    <a:srgbClr val="171717"/>
                  </a:solidFill>
                  <a:latin typeface="Poppins"/>
                  <a:ea typeface="Poppins"/>
                  <a:cs typeface="Poppins"/>
                  <a:sym typeface="Poppins"/>
                </a:rPr>
                <a:t>About</a:t>
              </a:r>
            </a:p>
          </p:txBody>
        </p:sp>
      </p:grpSp>
      <p:grpSp>
        <p:nvGrpSpPr>
          <p:cNvPr name="Group 8" id="36"/>
          <p:cNvGrpSpPr/>
          <p:nvPr/>
        </p:nvGrpSpPr>
        <p:grpSpPr>
          <a:xfrm rot="0">
            <a:off x="9212580" y="1190730"/>
            <a:ext cx="1513332" cy="384962"/>
            <a:chOff x="0" y="0"/>
            <a:chExt cx="2017776" cy="513283"/>
          </a:xfrm>
        </p:grpSpPr>
        <p:sp>
          <p:nvSpPr>
            <p:cNvPr name="Freeform 9" id="37">
              <a:hlinkClick r:id="rId13" action="ppaction://hlinksldjump"/>
            </p:cNvPr>
            <p:cNvSpPr/>
            <p:nvPr/>
          </p:nvSpPr>
          <p:spPr>
            <a:xfrm flipH="false" flipV="false" rot="0">
              <a:off x="0" y="0"/>
              <a:ext cx="2017776" cy="513334"/>
            </a:xfrm>
            <a:custGeom>
              <a:avLst/>
              <a:gdLst/>
              <a:ahLst/>
              <a:cxnLst/>
              <a:rect r="r" b="b" t="t" l="l"/>
              <a:pathLst>
                <a:path h="513334" w="2017776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761109" y="0"/>
                  </a:lnTo>
                  <a:cubicBezTo>
                    <a:pt x="1902841" y="0"/>
                    <a:pt x="2017776" y="114935"/>
                    <a:pt x="2017776" y="256667"/>
                  </a:cubicBezTo>
                  <a:cubicBezTo>
                    <a:pt x="2017776" y="398399"/>
                    <a:pt x="1902841" y="513334"/>
                    <a:pt x="1761109" y="513334"/>
                  </a:cubicBezTo>
                  <a:lnTo>
                    <a:pt x="256667" y="513334"/>
                  </a:lnTo>
                  <a:cubicBezTo>
                    <a:pt x="114935" y="513334"/>
                    <a:pt x="0" y="398399"/>
                    <a:pt x="0" y="256667"/>
                  </a:cubicBezTo>
                  <a:close/>
                </a:path>
              </a:pathLst>
            </a:custGeom>
            <a:solidFill>
              <a:srgbClr val="171717"/>
            </a:solidFill>
          </p:spPr>
        </p:sp>
        <p:sp>
          <p:nvSpPr>
            <p:cNvPr name="TextBox 10" id="38"/>
            <p:cNvSpPr txBox="true"/>
            <p:nvPr/>
          </p:nvSpPr>
          <p:spPr>
            <a:xfrm>
              <a:off x="0" y="-9525"/>
              <a:ext cx="2017776" cy="5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>
                  <a:solidFill>
                    <a:srgbClr val="FAFAFA"/>
                  </a:solidFill>
                  <a:latin typeface="Poppins"/>
                  <a:ea typeface="Poppins"/>
                  <a:cs typeface="Poppins"/>
                  <a:sym typeface="Poppins"/>
                </a:rPr>
                <a:t>Service</a:t>
              </a:r>
            </a:p>
          </p:txBody>
        </p:sp>
      </p:grpSp>
      <p:grpSp>
        <p:nvGrpSpPr>
          <p:cNvPr name="Group 11" id="39"/>
          <p:cNvGrpSpPr/>
          <p:nvPr/>
        </p:nvGrpSpPr>
        <p:grpSpPr>
          <a:xfrm rot="0">
            <a:off x="10835640" y="1190730"/>
            <a:ext cx="1513332" cy="384962"/>
            <a:chOff x="0" y="0"/>
            <a:chExt cx="2017776" cy="513283"/>
          </a:xfrm>
        </p:grpSpPr>
        <p:sp>
          <p:nvSpPr>
            <p:cNvPr name="Freeform 12" id="40">
              <a:hlinkClick r:id="rId14" action="ppaction://hlinksldjump"/>
            </p:cNvPr>
            <p:cNvSpPr/>
            <p:nvPr/>
          </p:nvSpPr>
          <p:spPr>
            <a:xfrm flipH="false" flipV="false" rot="0">
              <a:off x="0" y="0"/>
              <a:ext cx="2017776" cy="513334"/>
            </a:xfrm>
            <a:custGeom>
              <a:avLst/>
              <a:gdLst/>
              <a:ahLst/>
              <a:cxnLst/>
              <a:rect r="r" b="b" t="t" l="l"/>
              <a:pathLst>
                <a:path h="513334" w="2017776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761109" y="0"/>
                  </a:lnTo>
                  <a:cubicBezTo>
                    <a:pt x="1902841" y="0"/>
                    <a:pt x="2017776" y="114935"/>
                    <a:pt x="2017776" y="256667"/>
                  </a:cubicBezTo>
                  <a:cubicBezTo>
                    <a:pt x="2017776" y="398399"/>
                    <a:pt x="1902841" y="513334"/>
                    <a:pt x="1761109" y="513334"/>
                  </a:cubicBezTo>
                  <a:lnTo>
                    <a:pt x="256667" y="513334"/>
                  </a:lnTo>
                  <a:cubicBezTo>
                    <a:pt x="114935" y="513334"/>
                    <a:pt x="0" y="398399"/>
                    <a:pt x="0" y="256667"/>
                  </a:cubicBezTo>
                  <a:close/>
                </a:path>
              </a:pathLst>
            </a:custGeom>
            <a:solidFill>
              <a:srgbClr val="CCCCCC"/>
            </a:solidFill>
          </p:spPr>
        </p:sp>
        <p:sp>
          <p:nvSpPr>
            <p:cNvPr name="TextBox 13" id="41"/>
            <p:cNvSpPr txBox="true"/>
            <p:nvPr/>
          </p:nvSpPr>
          <p:spPr>
            <a:xfrm>
              <a:off x="0" y="-9525"/>
              <a:ext cx="2017776" cy="5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>
                  <a:solidFill>
                    <a:srgbClr val="171717"/>
                  </a:solidFill>
                  <a:latin typeface="Poppins"/>
                  <a:ea typeface="Poppins"/>
                  <a:cs typeface="Poppins"/>
                  <a:sym typeface="Poppins"/>
                </a:rPr>
                <a:t>Team</a:t>
              </a:r>
            </a:p>
          </p:txBody>
        </p:sp>
      </p:grpSp>
      <p:grpSp>
        <p:nvGrpSpPr>
          <p:cNvPr name="Group 14" id="42"/>
          <p:cNvGrpSpPr/>
          <p:nvPr/>
        </p:nvGrpSpPr>
        <p:grpSpPr>
          <a:xfrm rot="0">
            <a:off x="12458700" y="1190730"/>
            <a:ext cx="1513332" cy="384962"/>
            <a:chOff x="0" y="0"/>
            <a:chExt cx="2017776" cy="513283"/>
          </a:xfrm>
        </p:grpSpPr>
        <p:sp>
          <p:nvSpPr>
            <p:cNvPr name="Freeform 15" id="43">
              <a:hlinkClick r:id="rId15" action="ppaction://hlinksldjump"/>
            </p:cNvPr>
            <p:cNvSpPr/>
            <p:nvPr/>
          </p:nvSpPr>
          <p:spPr>
            <a:xfrm flipH="false" flipV="false" rot="0">
              <a:off x="0" y="0"/>
              <a:ext cx="2017776" cy="513334"/>
            </a:xfrm>
            <a:custGeom>
              <a:avLst/>
              <a:gdLst/>
              <a:ahLst/>
              <a:cxnLst/>
              <a:rect r="r" b="b" t="t" l="l"/>
              <a:pathLst>
                <a:path h="513334" w="2017776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761109" y="0"/>
                  </a:lnTo>
                  <a:cubicBezTo>
                    <a:pt x="1902841" y="0"/>
                    <a:pt x="2017776" y="114935"/>
                    <a:pt x="2017776" y="256667"/>
                  </a:cubicBezTo>
                  <a:cubicBezTo>
                    <a:pt x="2017776" y="398399"/>
                    <a:pt x="1902841" y="513334"/>
                    <a:pt x="1761109" y="513334"/>
                  </a:cubicBezTo>
                  <a:lnTo>
                    <a:pt x="256667" y="513334"/>
                  </a:lnTo>
                  <a:cubicBezTo>
                    <a:pt x="114935" y="513334"/>
                    <a:pt x="0" y="398399"/>
                    <a:pt x="0" y="256667"/>
                  </a:cubicBezTo>
                  <a:close/>
                </a:path>
              </a:pathLst>
            </a:custGeom>
            <a:solidFill>
              <a:srgbClr val="CCCCCC"/>
            </a:solidFill>
          </p:spPr>
        </p:sp>
        <p:sp>
          <p:nvSpPr>
            <p:cNvPr name="TextBox 16" id="44"/>
            <p:cNvSpPr txBox="true"/>
            <p:nvPr/>
          </p:nvSpPr>
          <p:spPr>
            <a:xfrm>
              <a:off x="0" y="-9525"/>
              <a:ext cx="2017776" cy="5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>
                  <a:solidFill>
                    <a:srgbClr val="171717"/>
                  </a:solidFill>
                  <a:latin typeface="Poppins"/>
                  <a:ea typeface="Poppins"/>
                  <a:cs typeface="Poppins"/>
                  <a:sym typeface="Poppins"/>
                </a:rPr>
                <a:t>Conclusion</a:t>
              </a:r>
            </a:p>
          </p:txBody>
        </p:sp>
      </p:grpSp>
      <p:grpSp>
        <p:nvGrpSpPr>
          <p:cNvPr name="Group 52" id="45"/>
          <p:cNvGrpSpPr/>
          <p:nvPr/>
        </p:nvGrpSpPr>
        <p:grpSpPr>
          <a:xfrm rot="0">
            <a:off x="4158586" y="1272016"/>
            <a:ext cx="269215" cy="222028"/>
            <a:chOff x="0" y="0"/>
            <a:chExt cx="358953" cy="296037"/>
          </a:xfrm>
        </p:grpSpPr>
        <p:sp>
          <p:nvSpPr>
            <p:cNvPr name="Freeform 53" id="46" descr="image.png"/>
            <p:cNvSpPr/>
            <p:nvPr/>
          </p:nvSpPr>
          <p:spPr>
            <a:xfrm flipH="false" flipV="false" rot="0">
              <a:off x="0" y="0"/>
              <a:ext cx="358902" cy="296037"/>
            </a:xfrm>
            <a:custGeom>
              <a:avLst/>
              <a:gdLst/>
              <a:ahLst/>
              <a:cxnLst/>
              <a:rect r="r" b="b" t="t" l="l"/>
              <a:pathLst>
                <a:path h="296037" w="358902">
                  <a:moveTo>
                    <a:pt x="0" y="0"/>
                  </a:moveTo>
                  <a:lnTo>
                    <a:pt x="358902" y="0"/>
                  </a:lnTo>
                  <a:lnTo>
                    <a:pt x="358902" y="296037"/>
                  </a:lnTo>
                  <a:lnTo>
                    <a:pt x="0" y="2960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 l="0" t="0" r="-14" b="0"/>
              </a:stretch>
            </a:blipFill>
          </p:spPr>
        </p:sp>
      </p:grpSp>
      <p:grpSp>
        <p:nvGrpSpPr>
          <p:cNvPr name="Group 17" id="47"/>
          <p:cNvGrpSpPr/>
          <p:nvPr/>
        </p:nvGrpSpPr>
        <p:grpSpPr>
          <a:xfrm rot="0">
            <a:off x="16879824" y="9619488"/>
            <a:ext cx="1042416" cy="347472"/>
            <a:chOff x="0" y="0"/>
            <a:chExt cx="1389888" cy="463296"/>
          </a:xfrm>
        </p:grpSpPr>
        <p:sp>
          <p:nvSpPr>
            <p:cNvPr name="Freeform 18" id="48"/>
            <p:cNvSpPr/>
            <p:nvPr/>
          </p:nvSpPr>
          <p:spPr>
            <a:xfrm flipH="false" flipV="false" rot="0">
              <a:off x="0" y="0"/>
              <a:ext cx="1389888" cy="463296"/>
            </a:xfrm>
            <a:custGeom>
              <a:avLst/>
              <a:gdLst/>
              <a:ahLst/>
              <a:cxnLst/>
              <a:rect r="r" b="b" t="t" l="l"/>
              <a:pathLst>
                <a:path h="463296" w="1389888">
                  <a:moveTo>
                    <a:pt x="0" y="106553"/>
                  </a:moveTo>
                  <a:cubicBezTo>
                    <a:pt x="0" y="47752"/>
                    <a:pt x="47752" y="0"/>
                    <a:pt x="106553" y="0"/>
                  </a:cubicBezTo>
                  <a:lnTo>
                    <a:pt x="1283335" y="0"/>
                  </a:lnTo>
                  <a:cubicBezTo>
                    <a:pt x="1342136" y="0"/>
                    <a:pt x="1389888" y="47752"/>
                    <a:pt x="1389888" y="106553"/>
                  </a:cubicBezTo>
                  <a:lnTo>
                    <a:pt x="1389888" y="356743"/>
                  </a:lnTo>
                  <a:cubicBezTo>
                    <a:pt x="1389888" y="415544"/>
                    <a:pt x="1342136" y="463296"/>
                    <a:pt x="1283335" y="463296"/>
                  </a:cubicBezTo>
                  <a:lnTo>
                    <a:pt x="106553" y="463296"/>
                  </a:lnTo>
                  <a:cubicBezTo>
                    <a:pt x="47752" y="463296"/>
                    <a:pt x="0" y="415544"/>
                    <a:pt x="0" y="356743"/>
                  </a:cubicBezTo>
                  <a:close/>
                </a:path>
              </a:pathLst>
            </a:custGeom>
            <a:solidFill>
              <a:srgbClr val="1D2023"/>
            </a:solidFill>
          </p:spPr>
        </p:sp>
        <p:sp>
          <p:nvSpPr>
            <p:cNvPr name="TextBox 19" id="49"/>
            <p:cNvSpPr txBox="true"/>
            <p:nvPr/>
          </p:nvSpPr>
          <p:spPr>
            <a:xfrm>
              <a:off x="0" y="-9525"/>
              <a:ext cx="1389888" cy="4728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439"/>
                </a:lnSpc>
              </a:pPr>
              <a:r>
                <a:rPr lang="en-US" sz="1200">
                  <a:solidFill>
                    <a:srgbClr val="FBFBFB"/>
                  </a:solidFill>
                  <a:latin typeface="Poppins"/>
                  <a:ea typeface="Poppins"/>
                  <a:cs typeface="Poppins"/>
                  <a:sym typeface="Poppins"/>
                </a:rPr>
                <a:t>Page 07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1069848" y="19933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4970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BUSINESS MODEL</a:t>
            </a:r>
            <a:endParaRPr lang="en-US" sz="1700" dirty="0"/>
          </a:p>
        </p:txBody>
      </p:sp>
      <p:sp>
        <p:nvSpPr>
          <p:cNvPr id="4" name="Text 1"/>
          <p:cNvSpPr txBox="1"/>
          <p:nvPr/>
        </p:nvSpPr>
        <p:spPr>
          <a:xfrm>
            <a:off x="1042416" y="2496312"/>
            <a:ext cx="162031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300" b="1" spc="-100" kern="0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ENTER WITH NIS2. </a:t>
            </a:r>
            <a:pPr indent="0" marL="0">
              <a:buNone/>
            </a:pPr>
            <a:r>
              <a:rPr lang="en-US" sz="5300" b="1" spc="-100" kern="0" dirty="0">
                <a:solidFill>
                  <a:srgbClr val="4970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GROW WITH EVERY LAW.</a:t>
            </a:r>
            <a:endParaRPr lang="en-US" sz="5300" dirty="0"/>
          </a:p>
        </p:txBody>
      </p:sp>
      <p:sp>
        <p:nvSpPr>
          <p:cNvPr id="5" name="Text 2"/>
          <p:cNvSpPr txBox="1"/>
          <p:nvPr/>
        </p:nvSpPr>
        <p:spPr>
          <a:xfrm>
            <a:off x="1069848" y="3557016"/>
            <a:ext cx="16203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evidence graph. Every new regulation is a module, every new country a pack. The second sale costs almost nothing.</a:t>
            </a:r>
            <a:endParaRPr lang="en-US" sz="1950" dirty="0"/>
          </a:p>
        </p:txBody>
      </p:sp>
      <p:sp>
        <p:nvSpPr>
          <p:cNvPr id="6" name="Shape 3"/>
          <p:cNvSpPr/>
          <p:nvPr/>
        </p:nvSpPr>
        <p:spPr>
          <a:xfrm>
            <a:off x="1069848" y="4050792"/>
            <a:ext cx="16203168" cy="0"/>
          </a:xfrm>
          <a:prstGeom prst="line">
            <a:avLst/>
          </a:prstGeom>
          <a:noFill/>
          <a:ln w="9525">
            <a:solidFill>
              <a:srgbClr val="DADBD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892808" y="4434840"/>
            <a:ext cx="5943600" cy="868680"/>
          </a:xfrm>
          <a:prstGeom prst="roundRect">
            <a:avLst>
              <a:gd name="adj" fmla="val 16842"/>
            </a:avLst>
          </a:prstGeom>
          <a:solidFill>
            <a:srgbClr val="E8F2F2"/>
          </a:solidFill>
          <a:ln w="9525">
            <a:solidFill>
              <a:srgbClr val="E8F2F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212848" y="4544568"/>
            <a:ext cx="329184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800" b="1" dirty="0">
                <a:solidFill>
                  <a:srgbClr val="2A3A3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COUNTRY PACKS</a:t>
            </a:r>
            <a:endParaRPr lang="en-US" sz="1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rgbClr val="56636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Same evidence, another country's rules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5504688" y="4544568"/>
            <a:ext cx="210312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100"/>
              </a:spcAft>
              <a:buNone/>
            </a:pPr>
            <a:r>
              <a:rPr lang="en-US" sz="1800" b="1" dirty="0">
                <a:solidFill>
                  <a:srgbClr val="2A3A3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€600</a:t>
            </a:r>
            <a:endParaRPr lang="en-US" sz="1800" dirty="0"/>
          </a:p>
          <a:p>
            <a:pPr algn="r"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56636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year, per country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1481328" y="5394960"/>
            <a:ext cx="6766560" cy="1783080"/>
          </a:xfrm>
          <a:prstGeom prst="roundRect">
            <a:avLst>
              <a:gd name="adj" fmla="val 8205"/>
            </a:avLst>
          </a:prstGeom>
          <a:solidFill>
            <a:srgbClr val="497078"/>
          </a:solidFill>
          <a:ln w="9525">
            <a:solidFill>
              <a:srgbClr val="49707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801368" y="5504688"/>
            <a:ext cx="411480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MODULES</a:t>
            </a:r>
            <a:endParaRPr lang="en-US" sz="1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rgbClr val="E6EF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law at a time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5916168" y="5504688"/>
            <a:ext cx="210312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1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€1,800</a:t>
            </a:r>
            <a:endParaRPr lang="en-US" sz="1800" dirty="0"/>
          </a:p>
          <a:p>
            <a:pPr algn="r"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6EF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year, per regulation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1801368" y="6263640"/>
            <a:ext cx="1325880" cy="3017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801368" y="6263640"/>
            <a:ext cx="1325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15D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NIS2 · ENTRY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236976" y="6263640"/>
            <a:ext cx="868680" cy="301752"/>
          </a:xfrm>
          <a:prstGeom prst="roundRect">
            <a:avLst>
              <a:gd name="adj" fmla="val 50000"/>
            </a:avLst>
          </a:prstGeom>
          <a:solidFill>
            <a:srgbClr val="3A5C63"/>
          </a:solidFill>
          <a:ln w="9525">
            <a:solidFill>
              <a:srgbClr val="5A7C8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236976" y="6263640"/>
            <a:ext cx="868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6EF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Act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215384" y="6263640"/>
            <a:ext cx="1783080" cy="301752"/>
          </a:xfrm>
          <a:prstGeom prst="roundRect">
            <a:avLst>
              <a:gd name="adj" fmla="val 50000"/>
            </a:avLst>
          </a:prstGeom>
          <a:solidFill>
            <a:srgbClr val="3A5C63"/>
          </a:solidFill>
          <a:ln w="9525">
            <a:solidFill>
              <a:srgbClr val="5A7C8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215384" y="6263640"/>
            <a:ext cx="1783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6EF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Cyber Resilience Act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1801368" y="6647688"/>
            <a:ext cx="777240" cy="301752"/>
          </a:xfrm>
          <a:prstGeom prst="roundRect">
            <a:avLst>
              <a:gd name="adj" fmla="val 50000"/>
            </a:avLst>
          </a:prstGeom>
          <a:solidFill>
            <a:srgbClr val="3A5C63"/>
          </a:solidFill>
          <a:ln w="9525">
            <a:solidFill>
              <a:srgbClr val="5A7C8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801368" y="6647688"/>
            <a:ext cx="777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6EF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DORA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2688336" y="6647688"/>
            <a:ext cx="960120" cy="301752"/>
          </a:xfrm>
          <a:prstGeom prst="roundRect">
            <a:avLst>
              <a:gd name="adj" fmla="val 50000"/>
            </a:avLst>
          </a:prstGeom>
          <a:solidFill>
            <a:srgbClr val="3A5C63"/>
          </a:solidFill>
          <a:ln w="9525">
            <a:solidFill>
              <a:srgbClr val="5A7C8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688336" y="6647688"/>
            <a:ext cx="960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6EF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Act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3758184" y="6647688"/>
            <a:ext cx="731520" cy="301752"/>
          </a:xfrm>
          <a:prstGeom prst="roundRect">
            <a:avLst>
              <a:gd name="adj" fmla="val 50000"/>
            </a:avLst>
          </a:prstGeom>
          <a:solidFill>
            <a:srgbClr val="497078"/>
          </a:solidFill>
          <a:ln w="9525">
            <a:solidFill>
              <a:srgbClr val="C5D6D8"/>
            </a:solidFill>
            <a:prstDash val="dash"/>
          </a:ln>
        </p:spPr>
      </p:sp>
      <p:sp>
        <p:nvSpPr>
          <p:cNvPr id="24" name="Text 21"/>
          <p:cNvSpPr txBox="1"/>
          <p:nvPr/>
        </p:nvSpPr>
        <p:spPr>
          <a:xfrm>
            <a:off x="3758184" y="6647688"/>
            <a:ext cx="731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5D6D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more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1069848" y="7269480"/>
            <a:ext cx="7589520" cy="868680"/>
          </a:xfrm>
          <a:prstGeom prst="roundRect">
            <a:avLst>
              <a:gd name="adj" fmla="val 16842"/>
            </a:avLst>
          </a:prstGeom>
          <a:solidFill>
            <a:srgbClr val="171717"/>
          </a:solidFill>
          <a:ln w="9525">
            <a:solidFill>
              <a:srgbClr val="17171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389888" y="7379208"/>
            <a:ext cx="49377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PLATFORM</a:t>
            </a:r>
            <a:endParaRPr lang="en-US" sz="1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rgbClr val="B9C4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Evidence graph, adviser, GDPR included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6327648" y="7379208"/>
            <a:ext cx="210312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1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€1,800 to 7,200</a:t>
            </a:r>
            <a:endParaRPr lang="en-US" sz="1800" dirty="0"/>
          </a:p>
          <a:p>
            <a:pPr algn="r"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B9C4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year, by company size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1069848" y="8211312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Built once. Every layer above reuses it.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1722608" y="4343400"/>
            <a:ext cx="2798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TODAY, WITH LAWYER HOURS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4657832" y="4343400"/>
            <a:ext cx="2798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15D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WITH REGULIFT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9345168" y="4681728"/>
            <a:ext cx="2011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First law, first country</a:t>
            </a:r>
            <a:endParaRPr lang="en-US" sz="1450" dirty="0"/>
          </a:p>
        </p:txBody>
      </p:sp>
      <p:sp>
        <p:nvSpPr>
          <p:cNvPr id="32" name="Shape 29"/>
          <p:cNvSpPr/>
          <p:nvPr/>
        </p:nvSpPr>
        <p:spPr>
          <a:xfrm>
            <a:off x="11539728" y="4681728"/>
            <a:ext cx="2798064" cy="1078992"/>
          </a:xfrm>
          <a:prstGeom prst="roundRect">
            <a:avLst>
              <a:gd name="adj" fmla="val 11864"/>
            </a:avLst>
          </a:prstGeom>
          <a:solidFill>
            <a:srgbClr val="E9E9E6"/>
          </a:solidFill>
          <a:ln w="9525">
            <a:solidFill>
              <a:srgbClr val="E9E9E6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814048" y="4681728"/>
            <a:ext cx="234086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b="1" dirty="0">
                <a:solidFill>
                  <a:srgbClr val="4A4D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about €9,800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A5D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 lawyer hours, one-off.</a:t>
            </a:r>
            <a:endParaRPr lang="en-US" sz="2100" dirty="0"/>
          </a:p>
        </p:txBody>
      </p:sp>
      <p:sp>
        <p:nvSpPr>
          <p:cNvPr id="34" name="Shape 31"/>
          <p:cNvSpPr/>
          <p:nvPr/>
        </p:nvSpPr>
        <p:spPr>
          <a:xfrm>
            <a:off x="14474952" y="4681728"/>
            <a:ext cx="2798064" cy="1078992"/>
          </a:xfrm>
          <a:prstGeom prst="roundRect">
            <a:avLst>
              <a:gd name="adj" fmla="val 11864"/>
            </a:avLst>
          </a:prstGeom>
          <a:solidFill>
            <a:srgbClr val="171717"/>
          </a:solidFill>
          <a:ln w="9525">
            <a:solidFill>
              <a:srgbClr val="17171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4749272" y="4681728"/>
            <a:ext cx="234086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€5,400 a year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E6EF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Platform plus NIS2, mid-size company.</a:t>
            </a:r>
            <a:endParaRPr lang="en-US" sz="2100" dirty="0"/>
          </a:p>
        </p:txBody>
      </p:sp>
      <p:sp>
        <p:nvSpPr>
          <p:cNvPr id="36" name="Text 33"/>
          <p:cNvSpPr txBox="1"/>
          <p:nvPr/>
        </p:nvSpPr>
        <p:spPr>
          <a:xfrm>
            <a:off x="9345168" y="5897880"/>
            <a:ext cx="2011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new law</a:t>
            </a:r>
            <a:endParaRPr lang="en-US" sz="1450" dirty="0"/>
          </a:p>
        </p:txBody>
      </p:sp>
      <p:sp>
        <p:nvSpPr>
          <p:cNvPr id="37" name="Shape 34"/>
          <p:cNvSpPr/>
          <p:nvPr/>
        </p:nvSpPr>
        <p:spPr>
          <a:xfrm>
            <a:off x="11539728" y="5897880"/>
            <a:ext cx="2798064" cy="1078992"/>
          </a:xfrm>
          <a:prstGeom prst="roundRect">
            <a:avLst>
              <a:gd name="adj" fmla="val 11864"/>
            </a:avLst>
          </a:prstGeom>
          <a:solidFill>
            <a:srgbClr val="E9E9E6"/>
          </a:solidFill>
          <a:ln w="9525">
            <a:solidFill>
              <a:srgbClr val="E9E9E6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1814048" y="5897880"/>
            <a:ext cx="234086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b="1" dirty="0">
                <a:solidFill>
                  <a:srgbClr val="4A4D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again €9,800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A5D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Same fact-finding again.</a:t>
            </a:r>
            <a:endParaRPr lang="en-US" sz="2100" dirty="0"/>
          </a:p>
        </p:txBody>
      </p:sp>
      <p:sp>
        <p:nvSpPr>
          <p:cNvPr id="39" name="Shape 36"/>
          <p:cNvSpPr/>
          <p:nvPr/>
        </p:nvSpPr>
        <p:spPr>
          <a:xfrm>
            <a:off x="14474952" y="5897880"/>
            <a:ext cx="2798064" cy="1078992"/>
          </a:xfrm>
          <a:prstGeom prst="roundRect">
            <a:avLst>
              <a:gd name="adj" fmla="val 11864"/>
            </a:avLst>
          </a:prstGeom>
          <a:solidFill>
            <a:srgbClr val="497078"/>
          </a:solidFill>
          <a:ln w="9525">
            <a:solidFill>
              <a:srgbClr val="497078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4749272" y="5897880"/>
            <a:ext cx="234086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€1,800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E6EF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Same evidence, new rules.</a:t>
            </a:r>
            <a:endParaRPr lang="en-US" sz="2100" dirty="0"/>
          </a:p>
        </p:txBody>
      </p:sp>
      <p:sp>
        <p:nvSpPr>
          <p:cNvPr id="41" name="Text 38"/>
          <p:cNvSpPr txBox="1"/>
          <p:nvPr/>
        </p:nvSpPr>
        <p:spPr>
          <a:xfrm>
            <a:off x="9345168" y="7114032"/>
            <a:ext cx="2011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new country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11539728" y="7114032"/>
            <a:ext cx="2798064" cy="1078992"/>
          </a:xfrm>
          <a:prstGeom prst="roundRect">
            <a:avLst>
              <a:gd name="adj" fmla="val 11864"/>
            </a:avLst>
          </a:prstGeom>
          <a:solidFill>
            <a:srgbClr val="E9E9E6"/>
          </a:solidFill>
          <a:ln w="9525">
            <a:solidFill>
              <a:srgbClr val="E9E9E6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11814048" y="7114032"/>
            <a:ext cx="234086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b="1" dirty="0">
                <a:solidFill>
                  <a:srgbClr val="4A4D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again €9,800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A5D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firm, new review.</a:t>
            </a:r>
            <a:endParaRPr lang="en-US" sz="2100" dirty="0"/>
          </a:p>
        </p:txBody>
      </p:sp>
      <p:sp>
        <p:nvSpPr>
          <p:cNvPr id="44" name="Shape 41"/>
          <p:cNvSpPr/>
          <p:nvPr/>
        </p:nvSpPr>
        <p:spPr>
          <a:xfrm>
            <a:off x="14474952" y="7114032"/>
            <a:ext cx="2798064" cy="1078992"/>
          </a:xfrm>
          <a:prstGeom prst="roundRect">
            <a:avLst>
              <a:gd name="adj" fmla="val 11864"/>
            </a:avLst>
          </a:prstGeom>
          <a:solidFill>
            <a:srgbClr val="497078"/>
          </a:solidFill>
          <a:ln w="9525">
            <a:solidFill>
              <a:srgbClr val="497078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4749272" y="7114032"/>
            <a:ext cx="234086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€600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E6EF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Same evidence, new country.</a:t>
            </a:r>
            <a:endParaRPr lang="en-US" sz="2100" dirty="0"/>
          </a:p>
        </p:txBody>
      </p:sp>
      <p:sp>
        <p:nvSpPr>
          <p:cNvPr id="46" name="Shape 43"/>
          <p:cNvSpPr/>
          <p:nvPr/>
        </p:nvSpPr>
        <p:spPr>
          <a:xfrm>
            <a:off x="1069848" y="8522208"/>
            <a:ext cx="16203168" cy="658368"/>
          </a:xfrm>
          <a:prstGeom prst="roundRect">
            <a:avLst>
              <a:gd name="adj" fmla="val 22222"/>
            </a:avLst>
          </a:prstGeom>
          <a:solidFill>
            <a:srgbClr val="E8F2F2"/>
          </a:solidFill>
          <a:ln w="9525">
            <a:solidFill>
              <a:srgbClr val="E8F2F2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389888" y="8522208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15D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WHY IT MATTERS</a:t>
            </a:r>
            <a:endParaRPr 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3447288" y="8522208"/>
            <a:ext cx="1355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Compliance that gets cheaper with every law and every border makes European companies more competitive.</a:t>
            </a:r>
            <a:endParaRPr lang="en-US" sz="1500" dirty="0"/>
          </a:p>
        </p:txBody>
      </p:sp>
      <p:sp>
        <p:nvSpPr>
          <p:cNvPr id="49" name="Text 46"/>
          <p:cNvSpPr txBox="1"/>
          <p:nvPr/>
        </p:nvSpPr>
        <p:spPr>
          <a:xfrm>
            <a:off x="1069848" y="9235440"/>
            <a:ext cx="14100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Prices proposed.  </a:t>
            </a:r>
            <a:pPr indent="0" marL="0">
              <a:buNone/>
            </a:pPr>
            <a:r>
              <a:rPr lang="en-US" sz="85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Companies pay; law firms use the workspace free, sign where the law requires it, no fee per mandate or fee share. Lawyer column illustrative: 40 hours at the German standard rate of €244 (BRAK STAR 2024, </a:t>
            </a:r>
            <a:pPr indent="0" marL="0">
              <a:buNone/>
            </a:pPr>
            <a:r>
              <a:rPr lang="en-US" sz="850" u="sng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beck-aktuell.de</a:t>
            </a:r>
            <a:pPr indent="0" marL="0">
              <a:buNone/>
            </a:pPr>
            <a:r>
              <a:rPr lang="en-US" sz="85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); Dutch average €241 (Knab 2026). One NIS2 applicability opinion alone: €3,900 fixed (</a:t>
            </a:r>
            <a:pPr indent="0" marL="0">
              <a:buNone/>
            </a:pPr>
            <a:r>
              <a:rPr lang="en-US" sz="850" u="sng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srd-rechtsanwaelte.de</a:t>
            </a:r>
            <a:pPr indent="0" marL="0">
              <a:buNone/>
            </a:pPr>
            <a:r>
              <a:rPr lang="en-US" sz="85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).</a:t>
            </a:r>
            <a:endParaRPr lang="en-US" sz="850" dirty="0"/>
          </a:p>
        </p:txBody>
      </p:sp>
      <p:sp>
        <p:nvSpPr>
          <p:cNvPr name="Freeform 2" id="50"/>
          <p:cNvSpPr/>
          <p:nvPr/>
        </p:nvSpPr>
        <p:spPr>
          <a:xfrm flipH="false" flipV="false" rot="0">
            <a:off x="4027427" y="954576"/>
            <a:ext cx="10233146" cy="693858"/>
          </a:xfrm>
          <a:custGeom>
            <a:avLst/>
            <a:gdLst/>
            <a:ahLst/>
            <a:cxnLst/>
            <a:rect r="r" b="b" t="t" l="l"/>
            <a:pathLst>
              <a:path h="693858" w="10233146">
                <a:moveTo>
                  <a:pt x="0" y="0"/>
                </a:moveTo>
                <a:lnTo>
                  <a:pt x="10233146" y="0"/>
                </a:lnTo>
                <a:lnTo>
                  <a:pt x="10233146" y="693859"/>
                </a:lnTo>
                <a:lnTo>
                  <a:pt x="0" y="69385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51"/>
          <p:cNvSpPr/>
          <p:nvPr/>
        </p:nvSpPr>
        <p:spPr>
          <a:xfrm flipH="false" flipV="false" rot="0">
            <a:off x="4100894" y="1190730"/>
            <a:ext cx="384600" cy="384600"/>
          </a:xfrm>
          <a:custGeom>
            <a:avLst/>
            <a:gdLst/>
            <a:ahLst/>
            <a:cxnLst/>
            <a:rect r="r" b="b" t="t" l="l"/>
            <a:pathLst>
              <a:path h="384600" w="384600">
                <a:moveTo>
                  <a:pt x="0" y="0"/>
                </a:moveTo>
                <a:lnTo>
                  <a:pt x="384600" y="0"/>
                </a:lnTo>
                <a:lnTo>
                  <a:pt x="384600" y="384600"/>
                </a:lnTo>
                <a:lnTo>
                  <a:pt x="0" y="3846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52"/>
          <p:cNvSpPr txBox="true"/>
          <p:nvPr/>
        </p:nvSpPr>
        <p:spPr>
          <a:xfrm rot="0">
            <a:off x="4545644" y="1148715"/>
            <a:ext cx="2067239" cy="3686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7"/>
              </a:lnSpc>
            </a:pPr>
            <a:r>
              <a:rPr lang="en-US" sz="1797" b="true">
                <a:solidFill>
                  <a:srgbClr val="171717"/>
                </a:solidFill>
                <a:latin typeface="Poppins Bold"/>
                <a:ea typeface="Poppins Bold"/>
                <a:cs typeface="Poppins Bold"/>
                <a:sym typeface="Poppins Bold"/>
              </a:rPr>
              <a:t>Regulift</a:t>
            </a:r>
          </a:p>
        </p:txBody>
      </p:sp>
      <p:grpSp>
        <p:nvGrpSpPr>
          <p:cNvPr name="Group 5" id="53"/>
          <p:cNvGrpSpPr/>
          <p:nvPr/>
        </p:nvGrpSpPr>
        <p:grpSpPr>
          <a:xfrm rot="0">
            <a:off x="7589520" y="1190730"/>
            <a:ext cx="1513332" cy="384962"/>
            <a:chOff x="0" y="0"/>
            <a:chExt cx="2017776" cy="513283"/>
          </a:xfrm>
        </p:grpSpPr>
        <p:sp>
          <p:nvSpPr>
            <p:cNvPr name="Freeform 6" id="54">
              <a:hlinkClick r:id="rId8" action="ppaction://hlinksldjump"/>
            </p:cNvPr>
            <p:cNvSpPr/>
            <p:nvPr/>
          </p:nvSpPr>
          <p:spPr>
            <a:xfrm flipH="false" flipV="false" rot="0">
              <a:off x="0" y="0"/>
              <a:ext cx="2017776" cy="513334"/>
            </a:xfrm>
            <a:custGeom>
              <a:avLst/>
              <a:gdLst/>
              <a:ahLst/>
              <a:cxnLst/>
              <a:rect r="r" b="b" t="t" l="l"/>
              <a:pathLst>
                <a:path h="513334" w="2017776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761109" y="0"/>
                  </a:lnTo>
                  <a:cubicBezTo>
                    <a:pt x="1902841" y="0"/>
                    <a:pt x="2017776" y="114935"/>
                    <a:pt x="2017776" y="256667"/>
                  </a:cubicBezTo>
                  <a:cubicBezTo>
                    <a:pt x="2017776" y="398399"/>
                    <a:pt x="1902841" y="513334"/>
                    <a:pt x="1761109" y="513334"/>
                  </a:cubicBezTo>
                  <a:lnTo>
                    <a:pt x="256667" y="513334"/>
                  </a:lnTo>
                  <a:cubicBezTo>
                    <a:pt x="114935" y="513334"/>
                    <a:pt x="0" y="398399"/>
                    <a:pt x="0" y="256667"/>
                  </a:cubicBezTo>
                  <a:close/>
                </a:path>
              </a:pathLst>
            </a:custGeom>
            <a:solidFill>
              <a:srgbClr val="CCCCCC"/>
            </a:solidFill>
          </p:spPr>
        </p:sp>
        <p:sp>
          <p:nvSpPr>
            <p:cNvPr name="TextBox 7" id="55"/>
            <p:cNvSpPr txBox="true"/>
            <p:nvPr/>
          </p:nvSpPr>
          <p:spPr>
            <a:xfrm>
              <a:off x="0" y="-9525"/>
              <a:ext cx="2017776" cy="5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>
                  <a:solidFill>
                    <a:srgbClr val="171717"/>
                  </a:solidFill>
                  <a:latin typeface="Poppins"/>
                  <a:ea typeface="Poppins"/>
                  <a:cs typeface="Poppins"/>
                  <a:sym typeface="Poppins"/>
                </a:rPr>
                <a:t>About</a:t>
              </a:r>
            </a:p>
          </p:txBody>
        </p:sp>
      </p:grpSp>
      <p:grpSp>
        <p:nvGrpSpPr>
          <p:cNvPr name="Group 8" id="56"/>
          <p:cNvGrpSpPr/>
          <p:nvPr/>
        </p:nvGrpSpPr>
        <p:grpSpPr>
          <a:xfrm rot="0">
            <a:off x="9212580" y="1190730"/>
            <a:ext cx="1513332" cy="384962"/>
            <a:chOff x="0" y="0"/>
            <a:chExt cx="2017776" cy="513283"/>
          </a:xfrm>
        </p:grpSpPr>
        <p:sp>
          <p:nvSpPr>
            <p:cNvPr name="Freeform 9" id="57">
              <a:hlinkClick r:id="rId9" action="ppaction://hlinksldjump"/>
            </p:cNvPr>
            <p:cNvSpPr/>
            <p:nvPr/>
          </p:nvSpPr>
          <p:spPr>
            <a:xfrm flipH="false" flipV="false" rot="0">
              <a:off x="0" y="0"/>
              <a:ext cx="2017776" cy="513334"/>
            </a:xfrm>
            <a:custGeom>
              <a:avLst/>
              <a:gdLst/>
              <a:ahLst/>
              <a:cxnLst/>
              <a:rect r="r" b="b" t="t" l="l"/>
              <a:pathLst>
                <a:path h="513334" w="2017776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761109" y="0"/>
                  </a:lnTo>
                  <a:cubicBezTo>
                    <a:pt x="1902841" y="0"/>
                    <a:pt x="2017776" y="114935"/>
                    <a:pt x="2017776" y="256667"/>
                  </a:cubicBezTo>
                  <a:cubicBezTo>
                    <a:pt x="2017776" y="398399"/>
                    <a:pt x="1902841" y="513334"/>
                    <a:pt x="1761109" y="513334"/>
                  </a:cubicBezTo>
                  <a:lnTo>
                    <a:pt x="256667" y="513334"/>
                  </a:lnTo>
                  <a:cubicBezTo>
                    <a:pt x="114935" y="513334"/>
                    <a:pt x="0" y="398399"/>
                    <a:pt x="0" y="256667"/>
                  </a:cubicBezTo>
                  <a:close/>
                </a:path>
              </a:pathLst>
            </a:custGeom>
            <a:solidFill>
              <a:srgbClr val="171717"/>
            </a:solidFill>
          </p:spPr>
        </p:sp>
        <p:sp>
          <p:nvSpPr>
            <p:cNvPr name="TextBox 10" id="58"/>
            <p:cNvSpPr txBox="true"/>
            <p:nvPr/>
          </p:nvSpPr>
          <p:spPr>
            <a:xfrm>
              <a:off x="0" y="-9525"/>
              <a:ext cx="2017776" cy="5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>
                  <a:solidFill>
                    <a:srgbClr val="FAFAFA"/>
                  </a:solidFill>
                  <a:latin typeface="Poppins"/>
                  <a:ea typeface="Poppins"/>
                  <a:cs typeface="Poppins"/>
                  <a:sym typeface="Poppins"/>
                </a:rPr>
                <a:t>Service</a:t>
              </a:r>
            </a:p>
          </p:txBody>
        </p:sp>
      </p:grpSp>
      <p:grpSp>
        <p:nvGrpSpPr>
          <p:cNvPr name="Group 11" id="59"/>
          <p:cNvGrpSpPr/>
          <p:nvPr/>
        </p:nvGrpSpPr>
        <p:grpSpPr>
          <a:xfrm rot="0">
            <a:off x="10835640" y="1190730"/>
            <a:ext cx="1513332" cy="384962"/>
            <a:chOff x="0" y="0"/>
            <a:chExt cx="2017776" cy="513283"/>
          </a:xfrm>
        </p:grpSpPr>
        <p:sp>
          <p:nvSpPr>
            <p:cNvPr name="Freeform 12" id="60">
              <a:hlinkClick r:id="rId10" action="ppaction://hlinksldjump"/>
            </p:cNvPr>
            <p:cNvSpPr/>
            <p:nvPr/>
          </p:nvSpPr>
          <p:spPr>
            <a:xfrm flipH="false" flipV="false" rot="0">
              <a:off x="0" y="0"/>
              <a:ext cx="2017776" cy="513334"/>
            </a:xfrm>
            <a:custGeom>
              <a:avLst/>
              <a:gdLst/>
              <a:ahLst/>
              <a:cxnLst/>
              <a:rect r="r" b="b" t="t" l="l"/>
              <a:pathLst>
                <a:path h="513334" w="2017776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761109" y="0"/>
                  </a:lnTo>
                  <a:cubicBezTo>
                    <a:pt x="1902841" y="0"/>
                    <a:pt x="2017776" y="114935"/>
                    <a:pt x="2017776" y="256667"/>
                  </a:cubicBezTo>
                  <a:cubicBezTo>
                    <a:pt x="2017776" y="398399"/>
                    <a:pt x="1902841" y="513334"/>
                    <a:pt x="1761109" y="513334"/>
                  </a:cubicBezTo>
                  <a:lnTo>
                    <a:pt x="256667" y="513334"/>
                  </a:lnTo>
                  <a:cubicBezTo>
                    <a:pt x="114935" y="513334"/>
                    <a:pt x="0" y="398399"/>
                    <a:pt x="0" y="256667"/>
                  </a:cubicBezTo>
                  <a:close/>
                </a:path>
              </a:pathLst>
            </a:custGeom>
            <a:solidFill>
              <a:srgbClr val="CCCCCC"/>
            </a:solidFill>
          </p:spPr>
        </p:sp>
        <p:sp>
          <p:nvSpPr>
            <p:cNvPr name="TextBox 13" id="61"/>
            <p:cNvSpPr txBox="true"/>
            <p:nvPr/>
          </p:nvSpPr>
          <p:spPr>
            <a:xfrm>
              <a:off x="0" y="-9525"/>
              <a:ext cx="2017776" cy="5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>
                  <a:solidFill>
                    <a:srgbClr val="171717"/>
                  </a:solidFill>
                  <a:latin typeface="Poppins"/>
                  <a:ea typeface="Poppins"/>
                  <a:cs typeface="Poppins"/>
                  <a:sym typeface="Poppins"/>
                </a:rPr>
                <a:t>Team</a:t>
              </a:r>
            </a:p>
          </p:txBody>
        </p:sp>
      </p:grpSp>
      <p:grpSp>
        <p:nvGrpSpPr>
          <p:cNvPr name="Group 14" id="62"/>
          <p:cNvGrpSpPr/>
          <p:nvPr/>
        </p:nvGrpSpPr>
        <p:grpSpPr>
          <a:xfrm rot="0">
            <a:off x="12458700" y="1190730"/>
            <a:ext cx="1513332" cy="384962"/>
            <a:chOff x="0" y="0"/>
            <a:chExt cx="2017776" cy="513283"/>
          </a:xfrm>
        </p:grpSpPr>
        <p:sp>
          <p:nvSpPr>
            <p:cNvPr name="Freeform 15" id="63">
              <a:hlinkClick r:id="rId11" action="ppaction://hlinksldjump"/>
            </p:cNvPr>
            <p:cNvSpPr/>
            <p:nvPr/>
          </p:nvSpPr>
          <p:spPr>
            <a:xfrm flipH="false" flipV="false" rot="0">
              <a:off x="0" y="0"/>
              <a:ext cx="2017776" cy="513334"/>
            </a:xfrm>
            <a:custGeom>
              <a:avLst/>
              <a:gdLst/>
              <a:ahLst/>
              <a:cxnLst/>
              <a:rect r="r" b="b" t="t" l="l"/>
              <a:pathLst>
                <a:path h="513334" w="2017776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761109" y="0"/>
                  </a:lnTo>
                  <a:cubicBezTo>
                    <a:pt x="1902841" y="0"/>
                    <a:pt x="2017776" y="114935"/>
                    <a:pt x="2017776" y="256667"/>
                  </a:cubicBezTo>
                  <a:cubicBezTo>
                    <a:pt x="2017776" y="398399"/>
                    <a:pt x="1902841" y="513334"/>
                    <a:pt x="1761109" y="513334"/>
                  </a:cubicBezTo>
                  <a:lnTo>
                    <a:pt x="256667" y="513334"/>
                  </a:lnTo>
                  <a:cubicBezTo>
                    <a:pt x="114935" y="513334"/>
                    <a:pt x="0" y="398399"/>
                    <a:pt x="0" y="256667"/>
                  </a:cubicBezTo>
                  <a:close/>
                </a:path>
              </a:pathLst>
            </a:custGeom>
            <a:solidFill>
              <a:srgbClr val="CCCCCC"/>
            </a:solidFill>
          </p:spPr>
        </p:sp>
        <p:sp>
          <p:nvSpPr>
            <p:cNvPr name="TextBox 16" id="64"/>
            <p:cNvSpPr txBox="true"/>
            <p:nvPr/>
          </p:nvSpPr>
          <p:spPr>
            <a:xfrm>
              <a:off x="0" y="-9525"/>
              <a:ext cx="2017776" cy="5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>
                  <a:solidFill>
                    <a:srgbClr val="171717"/>
                  </a:solidFill>
                  <a:latin typeface="Poppins"/>
                  <a:ea typeface="Poppins"/>
                  <a:cs typeface="Poppins"/>
                  <a:sym typeface="Poppins"/>
                </a:rPr>
                <a:t>Conclusion</a:t>
              </a:r>
            </a:p>
          </p:txBody>
        </p:sp>
      </p:grpSp>
      <p:grpSp>
        <p:nvGrpSpPr>
          <p:cNvPr name="Group 52" id="65"/>
          <p:cNvGrpSpPr/>
          <p:nvPr/>
        </p:nvGrpSpPr>
        <p:grpSpPr>
          <a:xfrm rot="0">
            <a:off x="4158586" y="1272016"/>
            <a:ext cx="269215" cy="222028"/>
            <a:chOff x="0" y="0"/>
            <a:chExt cx="358953" cy="296037"/>
          </a:xfrm>
        </p:grpSpPr>
        <p:sp>
          <p:nvSpPr>
            <p:cNvPr name="Freeform 53" id="66" descr="image.png"/>
            <p:cNvSpPr/>
            <p:nvPr/>
          </p:nvSpPr>
          <p:spPr>
            <a:xfrm flipH="false" flipV="false" rot="0">
              <a:off x="0" y="0"/>
              <a:ext cx="358902" cy="296037"/>
            </a:xfrm>
            <a:custGeom>
              <a:avLst/>
              <a:gdLst/>
              <a:ahLst/>
              <a:cxnLst/>
              <a:rect r="r" b="b" t="t" l="l"/>
              <a:pathLst>
                <a:path h="296037" w="358902">
                  <a:moveTo>
                    <a:pt x="0" y="0"/>
                  </a:moveTo>
                  <a:lnTo>
                    <a:pt x="358902" y="0"/>
                  </a:lnTo>
                  <a:lnTo>
                    <a:pt x="358902" y="296037"/>
                  </a:lnTo>
                  <a:lnTo>
                    <a:pt x="0" y="2960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0" t="0" r="-14" b="0"/>
              </a:stretch>
            </a:blipFill>
          </p:spPr>
        </p:sp>
      </p:grpSp>
      <p:grpSp>
        <p:nvGrpSpPr>
          <p:cNvPr name="Group 17" id="67"/>
          <p:cNvGrpSpPr/>
          <p:nvPr/>
        </p:nvGrpSpPr>
        <p:grpSpPr>
          <a:xfrm rot="0">
            <a:off x="16879824" y="9619488"/>
            <a:ext cx="1042416" cy="347472"/>
            <a:chOff x="0" y="0"/>
            <a:chExt cx="1389888" cy="463296"/>
          </a:xfrm>
        </p:grpSpPr>
        <p:sp>
          <p:nvSpPr>
            <p:cNvPr name="Freeform 18" id="68"/>
            <p:cNvSpPr/>
            <p:nvPr/>
          </p:nvSpPr>
          <p:spPr>
            <a:xfrm flipH="false" flipV="false" rot="0">
              <a:off x="0" y="0"/>
              <a:ext cx="1389888" cy="463296"/>
            </a:xfrm>
            <a:custGeom>
              <a:avLst/>
              <a:gdLst/>
              <a:ahLst/>
              <a:cxnLst/>
              <a:rect r="r" b="b" t="t" l="l"/>
              <a:pathLst>
                <a:path h="463296" w="1389888">
                  <a:moveTo>
                    <a:pt x="0" y="106553"/>
                  </a:moveTo>
                  <a:cubicBezTo>
                    <a:pt x="0" y="47752"/>
                    <a:pt x="47752" y="0"/>
                    <a:pt x="106553" y="0"/>
                  </a:cubicBezTo>
                  <a:lnTo>
                    <a:pt x="1283335" y="0"/>
                  </a:lnTo>
                  <a:cubicBezTo>
                    <a:pt x="1342136" y="0"/>
                    <a:pt x="1389888" y="47752"/>
                    <a:pt x="1389888" y="106553"/>
                  </a:cubicBezTo>
                  <a:lnTo>
                    <a:pt x="1389888" y="356743"/>
                  </a:lnTo>
                  <a:cubicBezTo>
                    <a:pt x="1389888" y="415544"/>
                    <a:pt x="1342136" y="463296"/>
                    <a:pt x="1283335" y="463296"/>
                  </a:cubicBezTo>
                  <a:lnTo>
                    <a:pt x="106553" y="463296"/>
                  </a:lnTo>
                  <a:cubicBezTo>
                    <a:pt x="47752" y="463296"/>
                    <a:pt x="0" y="415544"/>
                    <a:pt x="0" y="356743"/>
                  </a:cubicBezTo>
                  <a:close/>
                </a:path>
              </a:pathLst>
            </a:custGeom>
            <a:solidFill>
              <a:srgbClr val="1D2023"/>
            </a:solidFill>
          </p:spPr>
        </p:sp>
        <p:sp>
          <p:nvSpPr>
            <p:cNvPr name="TextBox 19" id="69"/>
            <p:cNvSpPr txBox="true"/>
            <p:nvPr/>
          </p:nvSpPr>
          <p:spPr>
            <a:xfrm>
              <a:off x="0" y="-9525"/>
              <a:ext cx="1389888" cy="4728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439"/>
                </a:lnSpc>
              </a:pPr>
              <a:r>
                <a:rPr lang="en-US" sz="1200">
                  <a:solidFill>
                    <a:srgbClr val="FBFBFB"/>
                  </a:solidFill>
                  <a:latin typeface="Poppins"/>
                  <a:ea typeface="Poppins"/>
                  <a:cs typeface="Poppins"/>
                  <a:sym typeface="Poppins"/>
                </a:rPr>
                <a:t>Page 08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1069848" y="19933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4970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</a:t>
            </a:r>
            <a:endParaRPr lang="en-US" sz="1700" dirty="0"/>
          </a:p>
        </p:txBody>
      </p:sp>
      <p:sp>
        <p:nvSpPr>
          <p:cNvPr id="4" name="Text 1"/>
          <p:cNvSpPr txBox="1"/>
          <p:nvPr/>
        </p:nvSpPr>
        <p:spPr>
          <a:xfrm>
            <a:off x="1042416" y="2496312"/>
            <a:ext cx="162031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300" b="1" spc="-100" kern="0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WHY </a:t>
            </a:r>
            <a:pPr indent="0" marL="0">
              <a:buNone/>
            </a:pPr>
            <a:r>
              <a:rPr lang="en-US" sz="5300" b="1" spc="-100" kern="0" dirty="0">
                <a:solidFill>
                  <a:srgbClr val="4970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US.</a:t>
            </a:r>
            <a:endParaRPr lang="en-US" sz="5300" dirty="0"/>
          </a:p>
        </p:txBody>
      </p:sp>
      <p:sp>
        <p:nvSpPr>
          <p:cNvPr id="5" name="Text 2"/>
          <p:cNvSpPr txBox="1"/>
          <p:nvPr/>
        </p:nvSpPr>
        <p:spPr>
          <a:xfrm>
            <a:off x="1069848" y="3557016"/>
            <a:ext cx="16203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 have met this problem at work. Now we build the way out of it.</a:t>
            </a:r>
            <a:endParaRPr lang="en-US" sz="1950" dirty="0"/>
          </a:p>
        </p:txBody>
      </p:sp>
      <p:sp>
        <p:nvSpPr>
          <p:cNvPr id="6" name="Shape 3"/>
          <p:cNvSpPr/>
          <p:nvPr/>
        </p:nvSpPr>
        <p:spPr>
          <a:xfrm>
            <a:off x="1069848" y="4050792"/>
            <a:ext cx="16203168" cy="0"/>
          </a:xfrm>
          <a:prstGeom prst="line">
            <a:avLst/>
          </a:prstGeom>
          <a:noFill/>
          <a:ln w="9525">
            <a:solidFill>
              <a:srgbClr val="DADBD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69848" y="4343400"/>
            <a:ext cx="7918704" cy="388620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DADBD6"/>
            </a:solidFill>
            <a:prstDash val="solid"/>
          </a:ln>
        </p:spPr>
      </p:sp>
      <p:pic>
        <p:nvPicPr>
          <p:cNvPr id="8" name="Image 0" descr="/home/andi/Dokumente/Business/Simone Business/Business/fable-andi/pitch/src/assets/andre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9888" y="4663440"/>
            <a:ext cx="2413045" cy="32461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214413" y="5029200"/>
            <a:ext cx="44083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BUILDS THE PRODUCT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4214413" y="5303520"/>
            <a:ext cx="44083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ANDREAS HERZINGER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4214413" y="5760720"/>
            <a:ext cx="44083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315D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 &amp; engineering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4214413" y="6172200"/>
            <a:ext cx="4408379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B3E3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Builds AI integrations for companies: secure connectors, data to LLM, RAG in production. Has seen how compliance turns every integration into a legal question. The evidence graph is his craft.</a:t>
            </a:r>
            <a:endParaRPr lang="en-US" sz="1450" dirty="0"/>
          </a:p>
        </p:txBody>
      </p:sp>
      <p:sp>
        <p:nvSpPr>
          <p:cNvPr id="13" name="Shape 9"/>
          <p:cNvSpPr/>
          <p:nvPr/>
        </p:nvSpPr>
        <p:spPr>
          <a:xfrm>
            <a:off x="9354312" y="4343400"/>
            <a:ext cx="7918704" cy="388620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DADBD6"/>
            </a:solidFill>
            <a:prstDash val="solid"/>
          </a:ln>
        </p:spPr>
      </p:sp>
      <p:pic>
        <p:nvPicPr>
          <p:cNvPr id="14" name="Image 1" descr="/home/andi/Dokumente/Business/Simone Business/Business/fable-andi/pitch/src/assets/sim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352" y="4663440"/>
            <a:ext cx="2413045" cy="32461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498877" y="5029200"/>
            <a:ext cx="44083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68707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BUILDS THE MARKET</a:t>
            </a:r>
            <a:endParaRPr lang="en-US" sz="1050" dirty="0"/>
          </a:p>
        </p:txBody>
      </p:sp>
      <p:sp>
        <p:nvSpPr>
          <p:cNvPr id="16" name="Text 11"/>
          <p:cNvSpPr txBox="1"/>
          <p:nvPr/>
        </p:nvSpPr>
        <p:spPr>
          <a:xfrm>
            <a:off x="12498877" y="5303520"/>
            <a:ext cx="44083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7171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SIMONE MATTIOLI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12498877" y="5760720"/>
            <a:ext cx="44083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315D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&amp; product development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12498877" y="6172200"/>
            <a:ext cx="4408379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B3E3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Customers, partners and discovery. EIT Digital Master School. The first year is interviews, one Dutch firm and two design partners, which is his ground.</a:t>
            </a:r>
            <a:endParaRPr lang="en-US" sz="1450" dirty="0"/>
          </a:p>
        </p:txBody>
      </p:sp>
      <p:sp>
        <p:nvSpPr>
          <p:cNvPr id="19" name="Shape 14"/>
          <p:cNvSpPr/>
          <p:nvPr/>
        </p:nvSpPr>
        <p:spPr>
          <a:xfrm>
            <a:off x="1069848" y="8458200"/>
            <a:ext cx="16203168" cy="868680"/>
          </a:xfrm>
          <a:prstGeom prst="roundRect">
            <a:avLst>
              <a:gd name="adj" fmla="val 16842"/>
            </a:avLst>
          </a:prstGeom>
          <a:solidFill>
            <a:srgbClr val="171717"/>
          </a:solidFill>
          <a:ln w="9525">
            <a:solidFill>
              <a:srgbClr val="171717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1389888" y="84582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B9C4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WHY WE DO IT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3447288" y="8458200"/>
            <a:ext cx="1355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 are a European generation that wants to bring something forward. Cheaper compliance makes Europe's companies more competitive, and we bring the professional experience to make it happen.</a:t>
            </a:r>
            <a:endParaRPr lang="en-US" sz="1450" dirty="0"/>
          </a:p>
        </p:txBody>
      </p:sp>
      <p:sp>
        <p:nvSpPr>
          <p:cNvPr name="Freeform 2" id="22"/>
          <p:cNvSpPr/>
          <p:nvPr/>
        </p:nvSpPr>
        <p:spPr>
          <a:xfrm flipH="false" flipV="false" rot="0">
            <a:off x="4027427" y="954576"/>
            <a:ext cx="10233146" cy="693858"/>
          </a:xfrm>
          <a:custGeom>
            <a:avLst/>
            <a:gdLst/>
            <a:ahLst/>
            <a:cxnLst/>
            <a:rect r="r" b="b" t="t" l="l"/>
            <a:pathLst>
              <a:path h="693858" w="10233146">
                <a:moveTo>
                  <a:pt x="0" y="0"/>
                </a:moveTo>
                <a:lnTo>
                  <a:pt x="10233146" y="0"/>
                </a:lnTo>
                <a:lnTo>
                  <a:pt x="10233146" y="693859"/>
                </a:lnTo>
                <a:lnTo>
                  <a:pt x="0" y="69385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23"/>
          <p:cNvSpPr/>
          <p:nvPr/>
        </p:nvSpPr>
        <p:spPr>
          <a:xfrm flipH="false" flipV="false" rot="0">
            <a:off x="4100894" y="1190730"/>
            <a:ext cx="384600" cy="384600"/>
          </a:xfrm>
          <a:custGeom>
            <a:avLst/>
            <a:gdLst/>
            <a:ahLst/>
            <a:cxnLst/>
            <a:rect r="r" b="b" t="t" l="l"/>
            <a:pathLst>
              <a:path h="384600" w="384600">
                <a:moveTo>
                  <a:pt x="0" y="0"/>
                </a:moveTo>
                <a:lnTo>
                  <a:pt x="384600" y="0"/>
                </a:lnTo>
                <a:lnTo>
                  <a:pt x="384600" y="384600"/>
                </a:lnTo>
                <a:lnTo>
                  <a:pt x="0" y="3846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24"/>
          <p:cNvSpPr txBox="true"/>
          <p:nvPr/>
        </p:nvSpPr>
        <p:spPr>
          <a:xfrm rot="0">
            <a:off x="4545644" y="1148715"/>
            <a:ext cx="2067239" cy="3686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7"/>
              </a:lnSpc>
            </a:pPr>
            <a:r>
              <a:rPr lang="en-US" sz="1797" b="true">
                <a:solidFill>
                  <a:srgbClr val="171717"/>
                </a:solidFill>
                <a:latin typeface="Poppins Bold"/>
                <a:ea typeface="Poppins Bold"/>
                <a:cs typeface="Poppins Bold"/>
                <a:sym typeface="Poppins Bold"/>
              </a:rPr>
              <a:t>Regulift</a:t>
            </a:r>
          </a:p>
        </p:txBody>
      </p:sp>
      <p:grpSp>
        <p:nvGrpSpPr>
          <p:cNvPr name="Group 5" id="25"/>
          <p:cNvGrpSpPr/>
          <p:nvPr/>
        </p:nvGrpSpPr>
        <p:grpSpPr>
          <a:xfrm rot="0">
            <a:off x="7589520" y="1190730"/>
            <a:ext cx="1513332" cy="384962"/>
            <a:chOff x="0" y="0"/>
            <a:chExt cx="2017776" cy="513283"/>
          </a:xfrm>
        </p:grpSpPr>
        <p:sp>
          <p:nvSpPr>
            <p:cNvPr name="Freeform 6" id="26">
              <a:hlinkClick r:id="rId8" action="ppaction://hlinksldjump"/>
            </p:cNvPr>
            <p:cNvSpPr/>
            <p:nvPr/>
          </p:nvSpPr>
          <p:spPr>
            <a:xfrm flipH="false" flipV="false" rot="0">
              <a:off x="0" y="0"/>
              <a:ext cx="2017776" cy="513334"/>
            </a:xfrm>
            <a:custGeom>
              <a:avLst/>
              <a:gdLst/>
              <a:ahLst/>
              <a:cxnLst/>
              <a:rect r="r" b="b" t="t" l="l"/>
              <a:pathLst>
                <a:path h="513334" w="2017776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761109" y="0"/>
                  </a:lnTo>
                  <a:cubicBezTo>
                    <a:pt x="1902841" y="0"/>
                    <a:pt x="2017776" y="114935"/>
                    <a:pt x="2017776" y="256667"/>
                  </a:cubicBezTo>
                  <a:cubicBezTo>
                    <a:pt x="2017776" y="398399"/>
                    <a:pt x="1902841" y="513334"/>
                    <a:pt x="1761109" y="513334"/>
                  </a:cubicBezTo>
                  <a:lnTo>
                    <a:pt x="256667" y="513334"/>
                  </a:lnTo>
                  <a:cubicBezTo>
                    <a:pt x="114935" y="513334"/>
                    <a:pt x="0" y="398399"/>
                    <a:pt x="0" y="256667"/>
                  </a:cubicBezTo>
                  <a:close/>
                </a:path>
              </a:pathLst>
            </a:custGeom>
            <a:solidFill>
              <a:srgbClr val="CCCCCC"/>
            </a:solidFill>
          </p:spPr>
        </p:sp>
        <p:sp>
          <p:nvSpPr>
            <p:cNvPr name="TextBox 7" id="27"/>
            <p:cNvSpPr txBox="true"/>
            <p:nvPr/>
          </p:nvSpPr>
          <p:spPr>
            <a:xfrm>
              <a:off x="0" y="-9525"/>
              <a:ext cx="2017776" cy="5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>
                  <a:solidFill>
                    <a:srgbClr val="171717"/>
                  </a:solidFill>
                  <a:latin typeface="Poppins"/>
                  <a:ea typeface="Poppins"/>
                  <a:cs typeface="Poppins"/>
                  <a:sym typeface="Poppins"/>
                </a:rPr>
                <a:t>About</a:t>
              </a:r>
            </a:p>
          </p:txBody>
        </p:sp>
      </p:grpSp>
      <p:grpSp>
        <p:nvGrpSpPr>
          <p:cNvPr name="Group 8" id="28"/>
          <p:cNvGrpSpPr/>
          <p:nvPr/>
        </p:nvGrpSpPr>
        <p:grpSpPr>
          <a:xfrm rot="0">
            <a:off x="9212580" y="1190730"/>
            <a:ext cx="1513332" cy="384962"/>
            <a:chOff x="0" y="0"/>
            <a:chExt cx="2017776" cy="513283"/>
          </a:xfrm>
        </p:grpSpPr>
        <p:sp>
          <p:nvSpPr>
            <p:cNvPr name="Freeform 9" id="29">
              <a:hlinkClick r:id="rId9" action="ppaction://hlinksldjump"/>
            </p:cNvPr>
            <p:cNvSpPr/>
            <p:nvPr/>
          </p:nvSpPr>
          <p:spPr>
            <a:xfrm flipH="false" flipV="false" rot="0">
              <a:off x="0" y="0"/>
              <a:ext cx="2017776" cy="513334"/>
            </a:xfrm>
            <a:custGeom>
              <a:avLst/>
              <a:gdLst/>
              <a:ahLst/>
              <a:cxnLst/>
              <a:rect r="r" b="b" t="t" l="l"/>
              <a:pathLst>
                <a:path h="513334" w="2017776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761109" y="0"/>
                  </a:lnTo>
                  <a:cubicBezTo>
                    <a:pt x="1902841" y="0"/>
                    <a:pt x="2017776" y="114935"/>
                    <a:pt x="2017776" y="256667"/>
                  </a:cubicBezTo>
                  <a:cubicBezTo>
                    <a:pt x="2017776" y="398399"/>
                    <a:pt x="1902841" y="513334"/>
                    <a:pt x="1761109" y="513334"/>
                  </a:cubicBezTo>
                  <a:lnTo>
                    <a:pt x="256667" y="513334"/>
                  </a:lnTo>
                  <a:cubicBezTo>
                    <a:pt x="114935" y="513334"/>
                    <a:pt x="0" y="398399"/>
                    <a:pt x="0" y="256667"/>
                  </a:cubicBezTo>
                  <a:close/>
                </a:path>
              </a:pathLst>
            </a:custGeom>
            <a:solidFill>
              <a:srgbClr val="CCCCCC"/>
            </a:solidFill>
          </p:spPr>
        </p:sp>
        <p:sp>
          <p:nvSpPr>
            <p:cNvPr name="TextBox 10" id="30"/>
            <p:cNvSpPr txBox="true"/>
            <p:nvPr/>
          </p:nvSpPr>
          <p:spPr>
            <a:xfrm>
              <a:off x="0" y="-9525"/>
              <a:ext cx="2017776" cy="5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>
                  <a:solidFill>
                    <a:srgbClr val="171717"/>
                  </a:solidFill>
                  <a:latin typeface="Poppins"/>
                  <a:ea typeface="Poppins"/>
                  <a:cs typeface="Poppins"/>
                  <a:sym typeface="Poppins"/>
                </a:rPr>
                <a:t>Service</a:t>
              </a:r>
            </a:p>
          </p:txBody>
        </p:sp>
      </p:grpSp>
      <p:grpSp>
        <p:nvGrpSpPr>
          <p:cNvPr name="Group 11" id="31"/>
          <p:cNvGrpSpPr/>
          <p:nvPr/>
        </p:nvGrpSpPr>
        <p:grpSpPr>
          <a:xfrm rot="0">
            <a:off x="10835640" y="1190730"/>
            <a:ext cx="1513332" cy="384962"/>
            <a:chOff x="0" y="0"/>
            <a:chExt cx="2017776" cy="513283"/>
          </a:xfrm>
        </p:grpSpPr>
        <p:sp>
          <p:nvSpPr>
            <p:cNvPr name="Freeform 12" id="32">
              <a:hlinkClick r:id="rId10" action="ppaction://hlinksldjump"/>
            </p:cNvPr>
            <p:cNvSpPr/>
            <p:nvPr/>
          </p:nvSpPr>
          <p:spPr>
            <a:xfrm flipH="false" flipV="false" rot="0">
              <a:off x="0" y="0"/>
              <a:ext cx="2017776" cy="513334"/>
            </a:xfrm>
            <a:custGeom>
              <a:avLst/>
              <a:gdLst/>
              <a:ahLst/>
              <a:cxnLst/>
              <a:rect r="r" b="b" t="t" l="l"/>
              <a:pathLst>
                <a:path h="513334" w="2017776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761109" y="0"/>
                  </a:lnTo>
                  <a:cubicBezTo>
                    <a:pt x="1902841" y="0"/>
                    <a:pt x="2017776" y="114935"/>
                    <a:pt x="2017776" y="256667"/>
                  </a:cubicBezTo>
                  <a:cubicBezTo>
                    <a:pt x="2017776" y="398399"/>
                    <a:pt x="1902841" y="513334"/>
                    <a:pt x="1761109" y="513334"/>
                  </a:cubicBezTo>
                  <a:lnTo>
                    <a:pt x="256667" y="513334"/>
                  </a:lnTo>
                  <a:cubicBezTo>
                    <a:pt x="114935" y="513334"/>
                    <a:pt x="0" y="398399"/>
                    <a:pt x="0" y="256667"/>
                  </a:cubicBezTo>
                  <a:close/>
                </a:path>
              </a:pathLst>
            </a:custGeom>
            <a:solidFill>
              <a:srgbClr val="171717"/>
            </a:solidFill>
          </p:spPr>
        </p:sp>
        <p:sp>
          <p:nvSpPr>
            <p:cNvPr name="TextBox 13" id="33"/>
            <p:cNvSpPr txBox="true"/>
            <p:nvPr/>
          </p:nvSpPr>
          <p:spPr>
            <a:xfrm>
              <a:off x="0" y="-9525"/>
              <a:ext cx="2017776" cy="5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>
                  <a:solidFill>
                    <a:srgbClr val="FAFAFA"/>
                  </a:solidFill>
                  <a:latin typeface="Poppins"/>
                  <a:ea typeface="Poppins"/>
                  <a:cs typeface="Poppins"/>
                  <a:sym typeface="Poppins"/>
                </a:rPr>
                <a:t>Team</a:t>
              </a:r>
            </a:p>
          </p:txBody>
        </p:sp>
      </p:grpSp>
      <p:grpSp>
        <p:nvGrpSpPr>
          <p:cNvPr name="Group 14" id="34"/>
          <p:cNvGrpSpPr/>
          <p:nvPr/>
        </p:nvGrpSpPr>
        <p:grpSpPr>
          <a:xfrm rot="0">
            <a:off x="12458700" y="1190730"/>
            <a:ext cx="1513332" cy="384962"/>
            <a:chOff x="0" y="0"/>
            <a:chExt cx="2017776" cy="513283"/>
          </a:xfrm>
        </p:grpSpPr>
        <p:sp>
          <p:nvSpPr>
            <p:cNvPr name="Freeform 15" id="35">
              <a:hlinkClick r:id="rId11" action="ppaction://hlinksldjump"/>
            </p:cNvPr>
            <p:cNvSpPr/>
            <p:nvPr/>
          </p:nvSpPr>
          <p:spPr>
            <a:xfrm flipH="false" flipV="false" rot="0">
              <a:off x="0" y="0"/>
              <a:ext cx="2017776" cy="513334"/>
            </a:xfrm>
            <a:custGeom>
              <a:avLst/>
              <a:gdLst/>
              <a:ahLst/>
              <a:cxnLst/>
              <a:rect r="r" b="b" t="t" l="l"/>
              <a:pathLst>
                <a:path h="513334" w="2017776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761109" y="0"/>
                  </a:lnTo>
                  <a:cubicBezTo>
                    <a:pt x="1902841" y="0"/>
                    <a:pt x="2017776" y="114935"/>
                    <a:pt x="2017776" y="256667"/>
                  </a:cubicBezTo>
                  <a:cubicBezTo>
                    <a:pt x="2017776" y="398399"/>
                    <a:pt x="1902841" y="513334"/>
                    <a:pt x="1761109" y="513334"/>
                  </a:cubicBezTo>
                  <a:lnTo>
                    <a:pt x="256667" y="513334"/>
                  </a:lnTo>
                  <a:cubicBezTo>
                    <a:pt x="114935" y="513334"/>
                    <a:pt x="0" y="398399"/>
                    <a:pt x="0" y="256667"/>
                  </a:cubicBezTo>
                  <a:close/>
                </a:path>
              </a:pathLst>
            </a:custGeom>
            <a:solidFill>
              <a:srgbClr val="CCCCCC"/>
            </a:solidFill>
          </p:spPr>
        </p:sp>
        <p:sp>
          <p:nvSpPr>
            <p:cNvPr name="TextBox 16" id="36"/>
            <p:cNvSpPr txBox="true"/>
            <p:nvPr/>
          </p:nvSpPr>
          <p:spPr>
            <a:xfrm>
              <a:off x="0" y="-9525"/>
              <a:ext cx="2017776" cy="522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59"/>
                </a:lnSpc>
              </a:pPr>
              <a:r>
                <a:rPr lang="en-US" sz="1299">
                  <a:solidFill>
                    <a:srgbClr val="171717"/>
                  </a:solidFill>
                  <a:latin typeface="Poppins"/>
                  <a:ea typeface="Poppins"/>
                  <a:cs typeface="Poppins"/>
                  <a:sym typeface="Poppins"/>
                </a:rPr>
                <a:t>Conclusion</a:t>
              </a:r>
            </a:p>
          </p:txBody>
        </p:sp>
      </p:grpSp>
      <p:grpSp>
        <p:nvGrpSpPr>
          <p:cNvPr name="Group 52" id="37"/>
          <p:cNvGrpSpPr/>
          <p:nvPr/>
        </p:nvGrpSpPr>
        <p:grpSpPr>
          <a:xfrm rot="0">
            <a:off x="4158586" y="1272016"/>
            <a:ext cx="269215" cy="222028"/>
            <a:chOff x="0" y="0"/>
            <a:chExt cx="358953" cy="296037"/>
          </a:xfrm>
        </p:grpSpPr>
        <p:sp>
          <p:nvSpPr>
            <p:cNvPr name="Freeform 53" id="38" descr="image.png"/>
            <p:cNvSpPr/>
            <p:nvPr/>
          </p:nvSpPr>
          <p:spPr>
            <a:xfrm flipH="false" flipV="false" rot="0">
              <a:off x="0" y="0"/>
              <a:ext cx="358902" cy="296037"/>
            </a:xfrm>
            <a:custGeom>
              <a:avLst/>
              <a:gdLst/>
              <a:ahLst/>
              <a:cxnLst/>
              <a:rect r="r" b="b" t="t" l="l"/>
              <a:pathLst>
                <a:path h="296037" w="358902">
                  <a:moveTo>
                    <a:pt x="0" y="0"/>
                  </a:moveTo>
                  <a:lnTo>
                    <a:pt x="358902" y="0"/>
                  </a:lnTo>
                  <a:lnTo>
                    <a:pt x="358902" y="296037"/>
                  </a:lnTo>
                  <a:lnTo>
                    <a:pt x="0" y="2960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0" t="0" r="-14" b="0"/>
              </a:stretch>
            </a:blipFill>
          </p:spPr>
        </p:sp>
      </p:grpSp>
      <p:grpSp>
        <p:nvGrpSpPr>
          <p:cNvPr name="Group 17" id="39"/>
          <p:cNvGrpSpPr/>
          <p:nvPr/>
        </p:nvGrpSpPr>
        <p:grpSpPr>
          <a:xfrm rot="0">
            <a:off x="16879824" y="9619488"/>
            <a:ext cx="1042416" cy="347472"/>
            <a:chOff x="0" y="0"/>
            <a:chExt cx="1389888" cy="463296"/>
          </a:xfrm>
        </p:grpSpPr>
        <p:sp>
          <p:nvSpPr>
            <p:cNvPr name="Freeform 18" id="40"/>
            <p:cNvSpPr/>
            <p:nvPr/>
          </p:nvSpPr>
          <p:spPr>
            <a:xfrm flipH="false" flipV="false" rot="0">
              <a:off x="0" y="0"/>
              <a:ext cx="1389888" cy="463296"/>
            </a:xfrm>
            <a:custGeom>
              <a:avLst/>
              <a:gdLst/>
              <a:ahLst/>
              <a:cxnLst/>
              <a:rect r="r" b="b" t="t" l="l"/>
              <a:pathLst>
                <a:path h="463296" w="1389888">
                  <a:moveTo>
                    <a:pt x="0" y="106553"/>
                  </a:moveTo>
                  <a:cubicBezTo>
                    <a:pt x="0" y="47752"/>
                    <a:pt x="47752" y="0"/>
                    <a:pt x="106553" y="0"/>
                  </a:cubicBezTo>
                  <a:lnTo>
                    <a:pt x="1283335" y="0"/>
                  </a:lnTo>
                  <a:cubicBezTo>
                    <a:pt x="1342136" y="0"/>
                    <a:pt x="1389888" y="47752"/>
                    <a:pt x="1389888" y="106553"/>
                  </a:cubicBezTo>
                  <a:lnTo>
                    <a:pt x="1389888" y="356743"/>
                  </a:lnTo>
                  <a:cubicBezTo>
                    <a:pt x="1389888" y="415544"/>
                    <a:pt x="1342136" y="463296"/>
                    <a:pt x="1283335" y="463296"/>
                  </a:cubicBezTo>
                  <a:lnTo>
                    <a:pt x="106553" y="463296"/>
                  </a:lnTo>
                  <a:cubicBezTo>
                    <a:pt x="47752" y="463296"/>
                    <a:pt x="0" y="415544"/>
                    <a:pt x="0" y="356743"/>
                  </a:cubicBezTo>
                  <a:close/>
                </a:path>
              </a:pathLst>
            </a:custGeom>
            <a:solidFill>
              <a:srgbClr val="1D2023"/>
            </a:solidFill>
          </p:spPr>
        </p:sp>
        <p:sp>
          <p:nvSpPr>
            <p:cNvPr name="TextBox 19" id="41"/>
            <p:cNvSpPr txBox="true"/>
            <p:nvPr/>
          </p:nvSpPr>
          <p:spPr>
            <a:xfrm>
              <a:off x="0" y="-9525"/>
              <a:ext cx="1389888" cy="4728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439"/>
                </a:lnSpc>
              </a:pPr>
              <a:r>
                <a:rPr lang="en-US" sz="1200">
                  <a:solidFill>
                    <a:srgbClr val="FBFBFB"/>
                  </a:solidFill>
                  <a:latin typeface="Poppins"/>
                  <a:ea typeface="Poppins"/>
                  <a:cs typeface="Poppins"/>
                  <a:sym typeface="Poppins"/>
                </a:rPr>
                <a:t>Page 09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DAHYepigwf8</dc:identifier>
  <dcterms:modified xsi:type="dcterms:W3CDTF">2011-08-01T06:04:30Z</dcterms:modified>
  <cp:revision>1</cp:revision>
  <dc:title>slides.pptx</dc:title>
</cp:coreProperties>
</file>