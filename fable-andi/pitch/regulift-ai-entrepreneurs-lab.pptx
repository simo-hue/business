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8ca01d8-4ae5-b6d4-b66e-437914d3fe43}">
          <p14:sldIdLst>
            <p14:sldId id="256"/>
            <p14:sldId id="257"/>
          </p14:sldIdLst>
        </p14:section>
        <p14:section name="Analysis" id="{f9e5666d-5bef-9bf2-d344-5ab72e39ee71}">
          <p14:sldIdLst>
            <p14:sldId id="258"/>
            <p14:sldId id="259"/>
            <p14:sldId id="260"/>
            <p14:sldId id="261"/>
            <p14:sldId id="262"/>
          </p14:sldIdLst>
        </p14:section>
        <p14:section name="Solution" id="{a9eea8f9-de65-1ad2-2cf9-15549f767469}">
          <p14:sldIdLst>
            <p14:sldId id="263"/>
            <p14:sldId id="264"/>
            <p14:sldId id="265"/>
            <p14:sldId id="266"/>
            <p14:sldId id="267"/>
            <p14:sldId id="268"/>
          </p14:sldIdLst>
        </p14:section>
        <p14:section name="Strategy" id="{550dc22f-9a68-9bd8-bc08-31f1b1cc228f}">
          <p14:sldIdLst>
            <p14:sldId id="269"/>
            <p14:sldId id="270"/>
            <p14:sldId id="271"/>
            <p14:sldId id="272"/>
            <p14:sldId id="273"/>
          </p14:sldIdLst>
        </p14:section>
        <p14:section name="Commercial model" id="{39edab5f-c723-f37e-d8ba-10fd62817262}">
          <p14:sldIdLst>
            <p14:sldId id="274"/>
            <p14:sldId id="275"/>
            <p14:sldId id="276"/>
          </p14:sldIdLst>
        </p14:section>
        <p14:section name="Conclusion" id="{3a9cbee3-4ccb-a2a8-b065-4ae604c51311}">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invoiced hours</c:v>
                </c:pt>
              </c:strCache>
            </c:strRef>
          </c:tx>
          <c:spPr>
            <a:solidFill>
              <a:srgbClr val="3E6670"/>
            </a:solidFill>
            <a:effectLst/>
          </c:spPr>
          <c:invertIfNegative val="0"/>
          <c:dLbls>
            <c:numFmt formatCode="0.0&quot;%&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dPt>
            <c:idx val="0"/>
            <c:invertIfNegative val="0"/>
            <c:bubble3D val="0"/>
            <c:spPr>
              <a:solidFill>
                <a:srgbClr val="3E6670"/>
              </a:solidFill>
              <a:effectLst/>
            </c:spPr>
          </c:dPt>
          <c:dPt>
            <c:idx val="1"/>
            <c:invertIfNegative val="0"/>
            <c:bubble3D val="0"/>
            <c:spPr>
              <a:solidFill>
                <a:srgbClr val="3E6670"/>
              </a:solidFill>
              <a:effectLst/>
            </c:spPr>
          </c:dPt>
          <c:dPt>
            <c:idx val="2"/>
            <c:invertIfNegative val="0"/>
            <c:bubble3D val="0"/>
            <c:spPr>
              <a:solidFill>
                <a:srgbClr val="3E6670"/>
              </a:solidFill>
              <a:effectLst/>
            </c:spPr>
          </c:dPt>
          <c:dPt>
            <c:idx val="3"/>
            <c:invertIfNegative val="0"/>
            <c:bubble3D val="0"/>
            <c:spPr>
              <a:solidFill>
                <a:srgbClr val="3E6670"/>
              </a:solidFill>
              <a:effectLst/>
            </c:spPr>
          </c:dPt>
          <c:dPt>
            <c:idx val="4"/>
            <c:invertIfNegative val="0"/>
            <c:bubble3D val="0"/>
            <c:spPr>
              <a:solidFill>
                <a:srgbClr val="3E6670"/>
              </a:solidFill>
              <a:effectLst/>
            </c:spPr>
          </c:dPt>
          <c:dPt>
            <c:idx val="5"/>
            <c:invertIfNegative val="0"/>
            <c:bubble3D val="0"/>
            <c:spPr>
              <a:solidFill>
                <a:srgbClr val="3E6670"/>
              </a:solidFill>
              <a:effectLst/>
            </c:spPr>
          </c:dPt>
          <c:dPt>
            <c:idx val="6"/>
            <c:invertIfNegative val="0"/>
            <c:bubble3D val="0"/>
            <c:spPr>
              <a:solidFill>
                <a:srgbClr val="3E6670"/>
              </a:solidFill>
              <a:effectLst/>
            </c:spPr>
          </c:dPt>
          <c:dPt>
            <c:idx val="7"/>
            <c:invertIfNegative val="0"/>
            <c:bubble3D val="0"/>
            <c:spPr>
              <a:solidFill>
                <a:srgbClr val="3E6670"/>
              </a:solidFill>
              <a:effectLst/>
            </c:spPr>
          </c:dPt>
          <c:cat>
            <c:multiLvlStrRef>
              <c:f>Sheet1!$A$2:$A$9</c:f>
              <c:multiLvlStrCache>
                <c:ptCount val="8"/>
                <c:lvl>
                  <c:pt idx="0">
                    <c:v>Legal analysis and strategy</c:v>
                  </c:pt>
                  <c:pt idx="1">
                    <c:v>Legal writing</c:v>
                  </c:pt>
                  <c:pt idx="2">
                    <c:v>Fact investigation</c:v>
                  </c:pt>
                  <c:pt idx="3">
                    <c:v>Case administration</c:v>
                  </c:pt>
                  <c:pt idx="4">
                    <c:v>Document review</c:v>
                  </c:pt>
                  <c:pt idx="5">
                    <c:v>Due diligence</c:v>
                  </c:pt>
                  <c:pt idx="6">
                    <c:v>Advising clients</c:v>
                  </c:pt>
                  <c:pt idx="7">
                    <c:v>Document management</c:v>
                  </c:pt>
                </c:lvl>
              </c:multiLvlStrCache>
            </c:multiLvlStrRef>
          </c:cat>
          <c:val>
            <c:numRef>
              <c:f>Sheet1!$B$2:$B$9</c:f>
              <c:numCache>
                <c:formatCode>General</c:formatCode>
                <c:ptCount val="8"/>
                <c:pt idx="0">
                  <c:v>27</c:v>
                </c:pt>
                <c:pt idx="1">
                  <c:v>17.7</c:v>
                </c:pt>
                <c:pt idx="2">
                  <c:v>9.6</c:v>
                </c:pt>
                <c:pt idx="3">
                  <c:v>5.6</c:v>
                </c:pt>
                <c:pt idx="4">
                  <c:v>3.6</c:v>
                </c:pt>
                <c:pt idx="5">
                  <c:v>3.4</c:v>
                </c:pt>
                <c:pt idx="6">
                  <c:v>3.2</c:v>
                </c:pt>
                <c:pt idx="7">
                  <c:v>0.7</c:v>
                </c:pt>
              </c:numCache>
            </c:numRef>
          </c:val>
        </c:ser>
        <c:dLbls>
          <c:numFmt formatCode="0.0&quot;%&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Spending</c:v>
                </c:pt>
              </c:strCache>
            </c:strRef>
          </c:tx>
          <c:spPr>
            <a:solidFill>
              <a:srgbClr val="3E6670"/>
            </a:solidFill>
            <a:effectLst/>
          </c:spPr>
          <c:invertIfNegative val="0"/>
          <c:dLbls>
            <c:numFmt formatCode="&quot;$&quot;0&quot;B&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cat>
            <c:multiLvlStrRef>
              <c:f>Sheet1!$A$2:$A$4</c:f>
              <c:multiLvlStrCache>
                <c:ptCount val="3"/>
                <c:lvl>
                  <c:pt idx="0">
                    <c:v>2024</c:v>
                  </c:pt>
                  <c:pt idx="1">
                    <c:v>2025</c:v>
                  </c:pt>
                  <c:pt idx="2">
                    <c:v>2026f</c:v>
                  </c:pt>
                </c:lvl>
              </c:multiLvlStrCache>
            </c:multiLvlStrRef>
          </c:cat>
          <c:val>
            <c:numRef>
              <c:f>Sheet1!$B$2:$B$4</c:f>
              <c:numCache>
                <c:formatCode>General</c:formatCode>
                <c:ptCount val="3"/>
                <c:pt idx="0">
                  <c:v>193</c:v>
                </c:pt>
                <c:pt idx="1">
                  <c:v>213</c:v>
                </c:pt>
                <c:pt idx="2">
                  <c:v>240</c:v>
                </c:pt>
              </c:numCache>
            </c:numRef>
          </c:val>
        </c:ser>
        <c:dLbls>
          <c:numFmt formatCode="&quot;$&quot;0&quot;B&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c:v>
                </c:pt>
              </c:strCache>
            </c:strRef>
          </c:tx>
          <c:spPr>
            <a:solidFill>
              <a:srgbClr val="3E6670"/>
            </a:solidFill>
            <a:effectLst/>
          </c:spPr>
          <c:invertIfNegative val="0"/>
          <c:dLbls>
            <c:numFmt formatCode="&quot;$&quot;0.0&quot;B&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cat>
            <c:multiLvlStrRef>
              <c:f>Sheet1!$A$2:$A$3</c:f>
              <c:multiLvlStrCache>
                <c:ptCount val="2"/>
                <c:lvl>
                  <c:pt idx="0">
                    <c:v>2023</c:v>
                  </c:pt>
                  <c:pt idx="1">
                    <c:v>2029f</c:v>
                  </c:pt>
                </c:lvl>
              </c:multiLvlStrCache>
            </c:multiLvlStrRef>
          </c:cat>
          <c:val>
            <c:numRef>
              <c:f>Sheet1!$B$2:$B$3</c:f>
              <c:numCache>
                <c:formatCode>General</c:formatCode>
                <c:ptCount val="2"/>
                <c:pt idx="0">
                  <c:v>4.98</c:v>
                </c:pt>
                <c:pt idx="1">
                  <c:v>9.08</c:v>
                </c:pt>
              </c:numCache>
            </c:numRef>
          </c:val>
        </c:ser>
        <c:dLbls>
          <c:numFmt formatCode="&quot;$&quot;0.0&quot;B&quot;" sourceLinked="0"/>
          <c:txPr>
            <a:bodyPr/>
            <a:lstStyle/>
            <a:p>
              <a:pPr>
                <a:defRPr b="0" i="0" strike="noStrike" sz="1000" u="none">
                  <a:solidFill>
                    <a:srgbClr val="55676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Fact-finding</c:v>
                </c:pt>
              </c:strCache>
            </c:strRef>
          </c:tx>
          <c:spPr>
            <a:solidFill>
              <a:srgbClr val="CFD6D3"/>
            </a:solidFill>
            <a:effectLst/>
          </c:spPr>
          <c:invertIfNegative val="0"/>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Law firm quote</c:v>
                  </c:pt>
                  <c:pt idx="1">
                    <c:v>With Regulift, target</c:v>
                  </c:pt>
                </c:lvl>
              </c:multiLvlStrCache>
            </c:multiLvlStrRef>
          </c:cat>
          <c:val>
            <c:numRef>
              <c:f>Sheet1!$B$2:$B$3</c:f>
              <c:numCache>
                <c:formatCode>General</c:formatCode>
                <c:ptCount val="2"/>
                <c:pt idx="0">
                  <c:v>26</c:v>
                </c:pt>
                <c:pt idx="1">
                  <c:v>2</c:v>
                </c:pt>
              </c:numCache>
            </c:numRef>
          </c:val>
        </c:ser>
        <c:ser>
          <c:idx val="1"/>
          <c:order val="1"/>
          <c:tx>
            <c:strRef>
              <c:f>Sheet1!$C$1</c:f>
              <c:strCache>
                <c:ptCount val="1"/>
                <c:pt idx="0">
                  <c:v>Judgement</c:v>
                </c:pt>
              </c:strCache>
            </c:strRef>
          </c:tx>
          <c:spPr>
            <a:solidFill>
              <a:srgbClr val="3E6670"/>
            </a:solidFill>
            <a:effectLst/>
          </c:spPr>
          <c:invertIfNegative val="0"/>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Law firm quote</c:v>
                  </c:pt>
                  <c:pt idx="1">
                    <c:v>With Regulift, target</c:v>
                  </c:pt>
                </c:lvl>
              </c:multiLvlStrCache>
            </c:multiLvlStrRef>
          </c:cat>
          <c:val>
            <c:numRef>
              <c:f>Sheet1!$C$2:$C$3</c:f>
              <c:numCache>
                <c:formatCode>General</c:formatCode>
                <c:ptCount val="2"/>
                <c:pt idx="0">
                  <c:v>14</c:v>
                </c:pt>
                <c:pt idx="1">
                  <c:v>14</c:v>
                </c:pt>
              </c:numCache>
            </c:numRef>
          </c:val>
        </c:ser>
        <c:dLbls>
          <c:numFmt formatCode="0&quot; h&quot;" sourceLinked="0"/>
          <c:txPr>
            <a:bodyPr/>
            <a:lstStyle/>
            <a:p>
              <a:pPr>
                <a:defRPr b="0" i="0" strike="noStrike" sz="1000" u="none">
                  <a:solidFill>
                    <a:srgbClr val="1C2B2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76B"/>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5676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sentence: Regulift reads a company's systems from the inside, prepares the evidence, and brings partner lawyers into the same workspace. The result is less money on compliance and more on competing. Everything that follows backs that sentence with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on security and compliance software keeps rising by double digits, while the EU itself wants compliance cost down by a quarter. Those two facts do not contradict each other: companies pay more for tools and still pay lawyers to find facts. The last figure is the gap we attack: about a fifth of billed hours is fact-finding that software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Four slides: where lawyer money goes, the wave of EU regulation with its dates, the market size, and the competitive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from billing data on US firms, the best public split of lawyer time by task. Fact-finding tasks are the four lighter bars: fact investigation, case administration, document review, due diligence. Together about 23 percent. Compliance readiness work for a small company is more discovery-heavy than this average. The randomised trial figure of 20 percent is what AI gives a lawyer who still does the discovery. We remove the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overlap between 2025 and 2027. The Digital Omnibus moved the AI Act high-risk duties to December 2027, which we verified on EUR-Lex, so the pressure is not gone, it is scheduled. The CRA reporting duty went live five weeks ago. NIS2 reaches small companies through their customers, not directly, and we say so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both from named analysts with public methodology. The point is not the exact size of our slice. It is that the spend keeps rising while the Commission wants compliance cheaper. Whoever makes compliance cheaper for the companies that cannot afford it today has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one on our website, with example vendors added for this audience. The two closest players each hold one piece: Justima has the law firm, Norm Ai has lawyer-supervised agents but only for US finance. Nobody starts from the company's systems. That is the row that changes every other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The product in four slides plus an honest status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Everyone else asks the company what it does. We read it. The left column is what the market sells today. The right column is what changes when the starting point is the company's own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question every CTO asks: what leaves my company. Answer: a report about technologies, flows and vendors. No records, no file contents, no credentials. And nothing at all until one person on their side approves it. The platform builds the inventory, the gap list and the evidence pack from that approved report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journey. Step three is the one that makes us different from a tool: the lawyer does not get a PDF by email, they open the same workspace. No re-explaining, no forty hours of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score centrality and defensibility of the AI approach. Centrality: without the agentic collector there is no product, the inside-out idea depends on machines reading systems at scale. Defensibility: the evidence graph per company, the lawyer-authored rule base, and the law firm network all compound. The two-layer split is also what keeps us legal in Germany and France, where software may not give individual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stage. A live site, a designed architecture, researched decisions, no customers yet. The jury scores evidence and coachability, not inflated claims. The plan slide shows what the bootcamp weeks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Four decisions, each backed by the research reports in the appendix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trap out loud: for a 40-person software company, GDPR and the AI Act apply directly, NIS2 and DORA arrive through customers. That is still real pressure, because 63 percent of NIS2-covered organisations push security requirements down to suppliers. One nuance a lawyer must confirm per country: NIS2 counts SaaS as cloud computing, so a SaaS company with 50 or more staff can be covered directly. CSRD is out of the product after Omnibus I. The full report with every article reference is in the research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scoring: on equal weights Germany and Italy tie at the top and Austria is fifth. Austria wins on the two things that matter for a two-person team in the next twelve months: we can be in the room, and the trigger is live right now. Austrian legal-advice rules are the strictest, which is deliberate: a partner model that passes in Vienna passes in Berlin. An Austrian lawyer reviews the model before launch. The Netherlands is the best English-language fourth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 firms are the channel because the economics work for them: the evidence pack removes the hours clients resent paying for and leaves the hours they value. The legal structure matters as much as the pitch. We checked the bar rules in five countries. Paying a firm for mandates is forbidden in four of them, so the firm pays a flat fee for the workspace and the client picks the firm. This is the same conclusion the market leaders in legal tech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we would execute with or without the award. The award money goes into the legal review budget of the first two pilots, so the partner firm's hours are paid and we can measure the real reduction. Every block has a checkable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full business plan is not required at this stage; this is the commercial logic and the three numbers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the research result, the tier prices are our proposal within the defensible ranges it found. Mid tier 9 to 18 thousand euros sits between StartComply at 10,500 for two frameworks and Vanta at 20 to 40 thousand dollars for one framework at this size. Small companies compare us with data protection officer services at 700 to 5,400 euros, so the small band must stay under 7,200. The lawyer layer is the part most juries will probe: we checked the bar rules in five countries. A fee per mandate was voided by the German Federal Court in 2024, so the firm pays a flat workspace fee and the client chooses the firm. The level of that fee is the one number we cannot back yet; it comes from pilot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Say the target out loud, say what the studies measure, and say why our mechanism is different from what they measured. Then say we will publish pilot numbers. Juries reward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Founders and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Founder-problem fit is a third of the Stage 1 score. Andreas built the exact kind of integrations the collector needs, for the exact kind of company we target. Simone owns the commercial side. Say what each of you will personally do in the first thirty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sentence. The ask is a place, not money. Say what the award would be spent on in one breath, then stop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6F4E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548640" y="457200"/>
            <a:ext cx="11094415" cy="0"/>
          </a:xfrm>
          <a:prstGeom prst="line">
            <a:avLst/>
          </a:prstGeom>
          <a:noFill/>
          <a:ln w="9525">
            <a:solidFill>
              <a:srgbClr val="E3E0D7"/>
            </a:solidFill>
            <a:prstDash val="solid"/>
          </a:ln>
        </p:spPr>
      </p:sp>
      <p:sp>
        <p:nvSpPr>
          <p:cNvPr id="3" name="Text 1"/>
          <p:cNvSpPr txBox="1"/>
          <p:nvPr/>
        </p:nvSpPr>
        <p:spPr>
          <a:xfrm>
            <a:off x="548640" y="6382512"/>
            <a:ext cx="1828800" cy="274320"/>
          </a:xfrm>
          <a:prstGeom prst="rect">
            <a:avLst/>
          </a:prstGeom>
          <a:noFill/>
          <a:ln/>
        </p:spPr>
        <p:txBody>
          <a:bodyPr wrap="square" lIns="0" tIns="0" rIns="0" bIns="0" rtlCol="0" anchor="ctr"/>
          <a:lstStyle/>
          <a:p>
            <a:pPr indent="0" marL="0">
              <a:buNone/>
            </a:pPr>
            <a:r>
              <a:rPr lang="en-US" sz="1100" dirty="0">
                <a:solidFill>
                  <a:srgbClr val="1C2B2F"/>
                </a:solidFill>
                <a:latin typeface="Geist Medium" pitchFamily="34" charset="0"/>
                <a:ea typeface="Geist Medium" pitchFamily="34" charset="-122"/>
                <a:cs typeface="Geist Medium" pitchFamily="34" charset="-120"/>
              </a:rPr>
              <a:t>regulift</a:t>
            </a:r>
            <a:endParaRPr lang="en-US" sz="1100" dirty="0"/>
          </a:p>
        </p:txBody>
      </p:sp>
      <p:sp>
        <p:nvSpPr>
          <p:cNvPr id="4" name="Text 2"/>
          <p:cNvSpPr txBox="1"/>
          <p:nvPr/>
        </p:nvSpPr>
        <p:spPr>
          <a:xfrm>
            <a:off x="1463040" y="6382512"/>
            <a:ext cx="2743200" cy="274320"/>
          </a:xfrm>
          <a:prstGeom prst="rect">
            <a:avLst/>
          </a:prstGeom>
          <a:noFill/>
          <a:ln/>
        </p:spPr>
        <p:txBody>
          <a:bodyPr wrap="square" lIns="0" tIns="0" rIns="0" bIns="0" rtlCol="0" anchor="ctr"/>
          <a:lstStyle/>
          <a:p>
            <a:pPr indent="0" marL="0">
              <a:buNone/>
            </a:pPr>
            <a:r>
              <a:rPr lang="en-US" sz="900" dirty="0">
                <a:solidFill>
                  <a:srgbClr val="8A9A9D"/>
                </a:solidFill>
                <a:latin typeface="Geist" pitchFamily="34" charset="0"/>
                <a:ea typeface="Geist" pitchFamily="34" charset="-122"/>
                <a:cs typeface="Geist" pitchFamily="34" charset="-120"/>
              </a:rPr>
              <a:t>Regulation, lifted.</a:t>
            </a:r>
            <a:endParaRPr lang="en-US" sz="900" dirty="0"/>
          </a:p>
        </p:txBody>
      </p:sp>
      <p:sp>
        <p:nvSpPr>
          <p:cNvPr id="5" name="Text 3"/>
          <p:cNvSpPr/>
          <p:nvPr>
            <p:ph idx="103" type="body" hasCustomPrompt="1"/>
          </p:nvPr>
        </p:nvSpPr>
        <p:spPr>
          <a:xfrm>
            <a:off x="548640" y="548640"/>
            <a:ext cx="6400800" cy="292608"/>
          </a:xfrm>
          <a:prstGeom prst="rect">
            <a:avLst/>
          </a:prstGeom>
          <a:noFill/>
          <a:ln/>
        </p:spPr>
        <p:txBody>
          <a:bodyPr wrap="square" rtlCol="0"/>
          <a:lstStyle>
            <a:lvl1pPr indent="0" marL="0">
              <a:buNone/>
              <a:defRPr lang="en-US" sz="1000" dirty="0">
                <a:solidFill>
                  <a:srgbClr val="55676B"/>
                </a:solidFill>
                <a:latin typeface="Geist" pitchFamily="34" charset="0"/>
                <a:ea typeface="Geist" pitchFamily="34" charset="-122"/>
                <a:cs typeface="Geist" pitchFamily="34" charset="-120"/>
              </a:defRPr>
            </a:lvl1pPr>
          </a:lstStyle>
          <a:p>
            <a:pPr indent="0" marL="0">
              <a:buNone/>
            </a:pPr>
            <a:endParaRPr lang="en-US" sz="1000" dirty="0"/>
          </a:p>
        </p:txBody>
      </p:sp>
      <p:sp>
        <p:nvSpPr>
          <p:cNvPr id="6" name="Text 3"/>
          <p:cNvSpPr/>
          <p:nvPr>
            <p:ph idx="104" type="body" hasCustomPrompt="1"/>
          </p:nvPr>
        </p:nvSpPr>
        <p:spPr>
          <a:xfrm>
            <a:off x="6613855" y="548640"/>
            <a:ext cx="5029200" cy="292608"/>
          </a:xfrm>
          <a:prstGeom prst="rect">
            <a:avLst/>
          </a:prstGeom>
          <a:noFill/>
          <a:ln/>
        </p:spPr>
        <p:txBody>
          <a:bodyPr wrap="square" rtlCol="0"/>
          <a:lstStyle>
            <a:lvl1pPr algn="r" indent="0" marL="0">
              <a:buNone/>
              <a:defRPr lang="en-US" sz="1000" dirty="0">
                <a:solidFill>
                  <a:srgbClr val="55676B"/>
                </a:solidFill>
                <a:latin typeface="Geist" pitchFamily="34" charset="0"/>
                <a:ea typeface="Geist" pitchFamily="34" charset="-122"/>
                <a:cs typeface="Geist" pitchFamily="34" charset="-120"/>
              </a:defRPr>
            </a:lvl1pPr>
          </a:lstStyle>
          <a:p>
            <a:pPr algn="r" indent="0" marL="0">
              <a:buNone/>
            </a:pPr>
            <a:endParaRPr lang="en-US" sz="1000" dirty="0"/>
          </a:p>
        </p:txBody>
      </p:sp>
      <p:sp>
        <p:nvSpPr>
          <p:cNvPr id="7" name="Text 3"/>
          <p:cNvSpPr/>
          <p:nvPr>
            <p:ph idx="105" type="title" hasCustomPrompt="1"/>
          </p:nvPr>
        </p:nvSpPr>
        <p:spPr>
          <a:xfrm>
            <a:off x="548640" y="914400"/>
            <a:ext cx="10515600" cy="822960"/>
          </a:xfrm>
          <a:prstGeom prst="rect">
            <a:avLst/>
          </a:prstGeom>
          <a:noFill/>
          <a:ln/>
        </p:spPr>
        <p:txBody>
          <a:bodyPr wrap="square" rtlCol="0"/>
          <a:lstStyle>
            <a:lvl1pPr algn="l" indent="0" marL="0">
              <a:buNone/>
              <a:defRPr lang="en-US" sz="3000" spc="-50" kern="0" dirty="0">
                <a:solidFill>
                  <a:srgbClr val="1C2B2F"/>
                </a:solidFill>
                <a:latin typeface="Geist Medium" pitchFamily="34" charset="0"/>
                <a:ea typeface="Geist Medium" pitchFamily="34" charset="-122"/>
                <a:cs typeface="Geist Medium"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548640" y="457200"/>
            <a:ext cx="11094415" cy="0"/>
          </a:xfrm>
          <a:prstGeom prst="line">
            <a:avLst/>
          </a:prstGeom>
          <a:noFill/>
          <a:ln w="9525">
            <a:solidFill>
              <a:srgbClr val="E3E0D7"/>
            </a:solidFill>
            <a:prstDash val="solid"/>
          </a:ln>
        </p:spPr>
      </p:sp>
      <p:sp>
        <p:nvSpPr>
          <p:cNvPr id="3" name="Text 1"/>
          <p:cNvSpPr txBox="1"/>
          <p:nvPr/>
        </p:nvSpPr>
        <p:spPr>
          <a:xfrm>
            <a:off x="548640" y="6382512"/>
            <a:ext cx="1828800" cy="274320"/>
          </a:xfrm>
          <a:prstGeom prst="rect">
            <a:avLst/>
          </a:prstGeom>
          <a:noFill/>
          <a:ln/>
        </p:spPr>
        <p:txBody>
          <a:bodyPr wrap="square" lIns="0" tIns="0" rIns="0" bIns="0" rtlCol="0" anchor="ctr"/>
          <a:lstStyle/>
          <a:p>
            <a:pPr indent="0" marL="0">
              <a:buNone/>
            </a:pPr>
            <a:r>
              <a:rPr lang="en-US" sz="1100" dirty="0">
                <a:solidFill>
                  <a:srgbClr val="1C2B2F"/>
                </a:solidFill>
                <a:latin typeface="Geist Medium" pitchFamily="34" charset="0"/>
                <a:ea typeface="Geist Medium" pitchFamily="34" charset="-122"/>
                <a:cs typeface="Geist Medium" pitchFamily="34" charset="-120"/>
              </a:rPr>
              <a:t>regulift</a:t>
            </a:r>
            <a:endParaRPr lang="en-US" sz="1100" dirty="0"/>
          </a:p>
        </p:txBody>
      </p:sp>
      <p:sp>
        <p:nvSpPr>
          <p:cNvPr id="4" name="Text 2"/>
          <p:cNvSpPr txBox="1"/>
          <p:nvPr/>
        </p:nvSpPr>
        <p:spPr>
          <a:xfrm>
            <a:off x="1463040" y="6382512"/>
            <a:ext cx="2743200" cy="274320"/>
          </a:xfrm>
          <a:prstGeom prst="rect">
            <a:avLst/>
          </a:prstGeom>
          <a:noFill/>
          <a:ln/>
        </p:spPr>
        <p:txBody>
          <a:bodyPr wrap="square" lIns="0" tIns="0" rIns="0" bIns="0" rtlCol="0" anchor="ctr"/>
          <a:lstStyle/>
          <a:p>
            <a:pPr indent="0" marL="0">
              <a:buNone/>
            </a:pPr>
            <a:r>
              <a:rPr lang="en-US" sz="900" dirty="0">
                <a:solidFill>
                  <a:srgbClr val="8A9A9D"/>
                </a:solidFill>
                <a:latin typeface="Geist" pitchFamily="34" charset="0"/>
                <a:ea typeface="Geist" pitchFamily="34" charset="-122"/>
                <a:cs typeface="Geist" pitchFamily="34" charset="-120"/>
              </a:rPr>
              <a:t>Regulation, lifted.</a:t>
            </a:r>
            <a:endParaRPr lang="en-US" sz="900" dirty="0"/>
          </a:p>
        </p:txBody>
      </p:sp>
      <p:sp>
        <p:nvSpPr>
          <p:cNvPr id="5" name="Text 3"/>
          <p:cNvSpPr/>
          <p:nvPr>
            <p:ph idx="103" type="body" hasCustomPrompt="1"/>
          </p:nvPr>
        </p:nvSpPr>
        <p:spPr>
          <a:xfrm>
            <a:off x="548640" y="548640"/>
            <a:ext cx="6400800" cy="292608"/>
          </a:xfrm>
          <a:prstGeom prst="rect">
            <a:avLst/>
          </a:prstGeom>
          <a:noFill/>
          <a:ln/>
        </p:spPr>
        <p:txBody>
          <a:bodyPr wrap="square" rtlCol="0"/>
          <a:lstStyle>
            <a:lvl1pPr indent="0" marL="0">
              <a:buNone/>
              <a:defRPr lang="en-US" sz="1000" dirty="0">
                <a:solidFill>
                  <a:srgbClr val="55676B"/>
                </a:solidFill>
                <a:latin typeface="Geist" pitchFamily="34" charset="0"/>
                <a:ea typeface="Geist" pitchFamily="34" charset="-122"/>
                <a:cs typeface="Geist" pitchFamily="34" charset="-120"/>
              </a:defRPr>
            </a:lvl1pPr>
          </a:lstStyle>
          <a:p>
            <a:pPr indent="0" marL="0">
              <a:buNone/>
            </a:pPr>
            <a:endParaRPr lang="en-US" sz="1000" dirty="0"/>
          </a:p>
        </p:txBody>
      </p:sp>
      <p:sp>
        <p:nvSpPr>
          <p:cNvPr id="6" name="Text 3"/>
          <p:cNvSpPr/>
          <p:nvPr>
            <p:ph idx="104" type="body" hasCustomPrompt="1"/>
          </p:nvPr>
        </p:nvSpPr>
        <p:spPr>
          <a:xfrm>
            <a:off x="6613855" y="548640"/>
            <a:ext cx="5029200" cy="292608"/>
          </a:xfrm>
          <a:prstGeom prst="rect">
            <a:avLst/>
          </a:prstGeom>
          <a:noFill/>
          <a:ln/>
        </p:spPr>
        <p:txBody>
          <a:bodyPr wrap="square" rtlCol="0"/>
          <a:lstStyle>
            <a:lvl1pPr algn="r" indent="0" marL="0">
              <a:buNone/>
              <a:defRPr lang="en-US" sz="1000" dirty="0">
                <a:solidFill>
                  <a:srgbClr val="55676B"/>
                </a:solidFill>
                <a:latin typeface="Geist" pitchFamily="34" charset="0"/>
                <a:ea typeface="Geist" pitchFamily="34" charset="-122"/>
                <a:cs typeface="Geist" pitchFamily="34" charset="-120"/>
              </a:defRPr>
            </a:lvl1pPr>
          </a:lstStyle>
          <a:p>
            <a:pPr algn="r" indent="0" marL="0">
              <a:buNone/>
            </a:pPr>
            <a:endParaRPr lang="en-US" sz="1000" dirty="0"/>
          </a:p>
        </p:txBody>
      </p:sp>
      <p:sp>
        <p:nvSpPr>
          <p:cNvPr id="7" name="Text 3"/>
          <p:cNvSpPr/>
          <p:nvPr>
            <p:ph idx="105" type="title" hasCustomPrompt="1"/>
          </p:nvPr>
        </p:nvSpPr>
        <p:spPr>
          <a:xfrm>
            <a:off x="548640" y="1737360"/>
            <a:ext cx="5760720" cy="2834640"/>
          </a:xfrm>
          <a:prstGeom prst="rect">
            <a:avLst/>
          </a:prstGeom>
          <a:noFill/>
          <a:ln/>
        </p:spPr>
        <p:txBody>
          <a:bodyPr wrap="square" rtlCol="0"/>
          <a:lstStyle>
            <a:lvl1pPr algn="l" indent="0" marL="0">
              <a:buNone/>
              <a:defRPr lang="en-US" sz="4000" spc="-100" kern="0" dirty="0">
                <a:solidFill>
                  <a:srgbClr val="1C2B2F"/>
                </a:solidFill>
                <a:latin typeface="Geist Medium" pitchFamily="34" charset="0"/>
                <a:ea typeface="Geist Medium" pitchFamily="34" charset="-122"/>
                <a:cs typeface="Geist Medium" pitchFamily="34" charset="-120"/>
              </a:defRPr>
            </a:lvl1pPr>
          </a:lstStyle>
          <a:p>
            <a:pPr algn="l" indent="0" marL="0">
              <a:buNone/>
            </a:pPr>
            <a:endParaRPr lang="en-US" sz="4000" dirty="0"/>
          </a:p>
        </p:txBody>
      </p:sp>
      <p:sp>
        <p:nvSpPr>
          <p:cNvPr id="8" name="Text 3"/>
          <p:cNvSpPr/>
          <p:nvPr>
            <p:ph idx="106" type="body" hasCustomPrompt="1"/>
          </p:nvPr>
        </p:nvSpPr>
        <p:spPr>
          <a:xfrm>
            <a:off x="548640" y="4709160"/>
            <a:ext cx="5120640" cy="1280160"/>
          </a:xfrm>
          <a:prstGeom prst="rect">
            <a:avLst/>
          </a:prstGeom>
          <a:noFill/>
          <a:ln/>
        </p:spPr>
        <p:txBody>
          <a:bodyPr wrap="square" rtlCol="0"/>
          <a:lstStyle>
            <a:lvl1pPr algn="l" indent="0" marL="0">
              <a:buNone/>
              <a:defRPr lang="en-US" sz="1300" dirty="0">
                <a:solidFill>
                  <a:srgbClr val="55676B"/>
                </a:solidFill>
                <a:latin typeface="Geist" pitchFamily="34" charset="0"/>
                <a:ea typeface="Geist" pitchFamily="34" charset="-122"/>
                <a:cs typeface="Geist" pitchFamily="34" charset="-120"/>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1000/-home-andi/f48438b4-0a16-4bf3-84ad-6f8357b43e23/scratchpad/deckbuild/img/hero-r.png">    </p:cNvPr>
          <p:cNvPicPr>
            <a:picLocks noChangeAspect="1"/>
          </p:cNvPicPr>
          <p:nvPr/>
        </p:nvPicPr>
        <p:blipFill>
          <a:blip r:embed="rId1"/>
          <a:stretch>
            <a:fillRect/>
          </a:stretch>
        </p:blipFill>
        <p:spPr>
          <a:xfrm>
            <a:off x="548640" y="502920"/>
            <a:ext cx="11094415" cy="4622673"/>
          </a:xfrm>
          <a:prstGeom prst="rect">
            <a:avLst/>
          </a:prstGeom>
        </p:spPr>
      </p:pic>
      <p:sp>
        <p:nvSpPr>
          <p:cNvPr id="3" name="Text 0"/>
          <p:cNvSpPr txBox="1"/>
          <p:nvPr/>
        </p:nvSpPr>
        <p:spPr>
          <a:xfrm>
            <a:off x="548640" y="2976753"/>
            <a:ext cx="11094415" cy="2194560"/>
          </a:xfrm>
          <a:prstGeom prst="rect">
            <a:avLst/>
          </a:prstGeom>
          <a:noFill/>
          <a:ln/>
        </p:spPr>
        <p:txBody>
          <a:bodyPr wrap="square" lIns="0" tIns="0" rIns="0" bIns="0" rtlCol="0" anchor="b"/>
          <a:lstStyle/>
          <a:p>
            <a:pPr algn="ctr" indent="0" marL="0">
              <a:buNone/>
            </a:pPr>
            <a:r>
              <a:rPr lang="en-US" sz="15000" spc="-800" kern="0" dirty="0">
                <a:solidFill>
                  <a:srgbClr val="F6F4EE"/>
                </a:solidFill>
                <a:latin typeface="Geist Medium" pitchFamily="34" charset="0"/>
                <a:ea typeface="Geist Medium" pitchFamily="34" charset="-122"/>
                <a:cs typeface="Geist Medium" pitchFamily="34" charset="-120"/>
              </a:rPr>
              <a:t>regulift</a:t>
            </a:r>
            <a:endParaRPr lang="en-US" sz="15000" dirty="0"/>
          </a:p>
        </p:txBody>
      </p:sp>
      <p:sp>
        <p:nvSpPr>
          <p:cNvPr id="4" name="Text 1"/>
          <p:cNvSpPr txBox="1"/>
          <p:nvPr/>
        </p:nvSpPr>
        <p:spPr>
          <a:xfrm>
            <a:off x="548640" y="5290185"/>
            <a:ext cx="5486400"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Compliance platform. Inside-out assessment.</a:t>
            </a:r>
            <a:endParaRPr lang="en-US" sz="1000" dirty="0"/>
          </a:p>
        </p:txBody>
      </p:sp>
      <p:sp>
        <p:nvSpPr>
          <p:cNvPr id="5" name="Text 2"/>
          <p:cNvSpPr txBox="1"/>
          <p:nvPr/>
        </p:nvSpPr>
        <p:spPr>
          <a:xfrm>
            <a:off x="5242255" y="5290185"/>
            <a:ext cx="6400800" cy="274320"/>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EIT Community AI Entrepreneurs Lab 2026  |  Simone Mattioli and Andreas Herzinger</a:t>
            </a:r>
            <a:endParaRPr lang="en-US" sz="1000" dirty="0"/>
          </a:p>
        </p:txBody>
      </p:sp>
      <p:sp>
        <p:nvSpPr>
          <p:cNvPr id="6" name="Text 3"/>
          <p:cNvSpPr txBox="1"/>
          <p:nvPr/>
        </p:nvSpPr>
        <p:spPr>
          <a:xfrm>
            <a:off x="1463040" y="5747385"/>
            <a:ext cx="9265615" cy="868680"/>
          </a:xfrm>
          <a:prstGeom prst="rect">
            <a:avLst/>
          </a:prstGeom>
          <a:noFill/>
          <a:ln/>
        </p:spPr>
        <p:txBody>
          <a:bodyPr wrap="square" lIns="0" tIns="0" rIns="0" bIns="0" rtlCol="0" anchor="t"/>
          <a:lstStyle/>
          <a:p>
            <a:pPr algn="ctr" indent="0" marL="0">
              <a:buNone/>
            </a:pPr>
            <a:r>
              <a:rPr lang="en-US" sz="2100" spc="-50" kern="0" dirty="0">
                <a:solidFill>
                  <a:srgbClr val="1C2B2F"/>
                </a:solidFill>
                <a:latin typeface="Geist Medium" pitchFamily="34" charset="0"/>
                <a:ea typeface="Geist Medium" pitchFamily="34" charset="-122"/>
                <a:cs typeface="Geist Medium" pitchFamily="34" charset="-120"/>
              </a:rPr>
              <a:t>We assess compliance from inside your own systems and prepare it for real lawyers, so companies spend less on legal work and more on competing.</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Our mission.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Figures with their sources</a:t>
            </a:r>
            <a:endParaRPr lang="en-US" sz="1000" dirty="0"/>
          </a:p>
        </p:txBody>
      </p:sp>
      <p:sp>
        <p:nvSpPr>
          <p:cNvPr id="4" name="Text 2"/>
          <p:cNvSpPr txBox="1"/>
          <p:nvPr/>
        </p:nvSpPr>
        <p:spPr>
          <a:xfrm>
            <a:off x="548640" y="914400"/>
            <a:ext cx="11094415" cy="1737360"/>
          </a:xfrm>
          <a:prstGeom prst="rect">
            <a:avLst/>
          </a:prstGeom>
          <a:noFill/>
          <a:ln/>
        </p:spPr>
        <p:txBody>
          <a:bodyPr wrap="square" lIns="0" tIns="0" rIns="0" bIns="0" rtlCol="0" anchor="ctr"/>
          <a:lstStyle/>
          <a:p>
            <a:pPr algn="ctr" indent="0" marL="0">
              <a:buNone/>
            </a:pPr>
            <a:r>
              <a:rPr lang="en-US" sz="3800" spc="-100" kern="0" dirty="0">
                <a:solidFill>
                  <a:srgbClr val="1C2B2F"/>
                </a:solidFill>
                <a:latin typeface="Geist Medium" pitchFamily="34" charset="0"/>
                <a:ea typeface="Geist Medium" pitchFamily="34" charset="-122"/>
                <a:cs typeface="Geist Medium" pitchFamily="34" charset="-120"/>
              </a:rPr>
              <a:t>The compliance market is growing.</a:t>
            </a:r>
            <a:endParaRPr lang="en-US" sz="3800" dirty="0"/>
          </a:p>
          <a:p>
            <a:pPr algn="ctr" indent="0" marL="0">
              <a:buNone/>
            </a:pPr>
            <a:r>
              <a:rPr lang="en-US" sz="3800" spc="-100" kern="0" dirty="0">
                <a:solidFill>
                  <a:srgbClr val="1C2B2F"/>
                </a:solidFill>
                <a:latin typeface="Geist Medium" pitchFamily="34" charset="0"/>
                <a:ea typeface="Geist Medium" pitchFamily="34" charset="-122"/>
                <a:cs typeface="Geist Medium" pitchFamily="34" charset="-120"/>
              </a:rPr>
              <a:t>Regulift is built to shrink it.</a:t>
            </a:r>
            <a:endParaRPr lang="en-US" sz="3800" dirty="0"/>
          </a:p>
        </p:txBody>
      </p:sp>
      <p:sp>
        <p:nvSpPr>
          <p:cNvPr id="5" name="Shape 3"/>
          <p:cNvSpPr/>
          <p:nvPr/>
        </p:nvSpPr>
        <p:spPr>
          <a:xfrm>
            <a:off x="548640" y="2971800"/>
            <a:ext cx="11094415" cy="0"/>
          </a:xfrm>
          <a:prstGeom prst="line">
            <a:avLst/>
          </a:prstGeom>
          <a:noFill/>
          <a:ln w="9525">
            <a:solidFill>
              <a:srgbClr val="E3E0D7"/>
            </a:solidFill>
            <a:prstDash val="solid"/>
          </a:ln>
        </p:spPr>
      </p:sp>
      <p:sp>
        <p:nvSpPr>
          <p:cNvPr id="6" name="Shape 4"/>
          <p:cNvSpPr/>
          <p:nvPr/>
        </p:nvSpPr>
        <p:spPr>
          <a:xfrm>
            <a:off x="548640" y="5303520"/>
            <a:ext cx="11094415" cy="0"/>
          </a:xfrm>
          <a:prstGeom prst="line">
            <a:avLst/>
          </a:prstGeom>
          <a:noFill/>
          <a:ln w="9525">
            <a:solidFill>
              <a:srgbClr val="E3E0D7"/>
            </a:solidFill>
            <a:prstDash val="solid"/>
          </a:ln>
        </p:spPr>
      </p:sp>
      <p:sp>
        <p:nvSpPr>
          <p:cNvPr id="7" name="Text 5"/>
          <p:cNvSpPr txBox="1"/>
          <p:nvPr/>
        </p:nvSpPr>
        <p:spPr>
          <a:xfrm>
            <a:off x="548640" y="3172968"/>
            <a:ext cx="2407844" cy="731520"/>
          </a:xfrm>
          <a:prstGeom prst="rect">
            <a:avLst/>
          </a:prstGeom>
          <a:noFill/>
          <a:ln/>
        </p:spPr>
        <p:txBody>
          <a:bodyPr wrap="square" lIns="0" tIns="0" rIns="0" bIns="0" rtlCol="0" anchor="t"/>
          <a:lstStyle/>
          <a:p>
            <a:pPr indent="0" marL="0">
              <a:buNone/>
            </a:pPr>
            <a:r>
              <a:rPr lang="en-US" sz="4000" spc="-100" kern="0" dirty="0">
                <a:solidFill>
                  <a:srgbClr val="1C2B2F"/>
                </a:solidFill>
                <a:latin typeface="Geist Medium" pitchFamily="34" charset="0"/>
                <a:ea typeface="Geist Medium" pitchFamily="34" charset="-122"/>
                <a:cs typeface="Geist Medium" pitchFamily="34" charset="-120"/>
              </a:rPr>
              <a:t>+12.5%</a:t>
            </a:r>
            <a:endParaRPr lang="en-US" sz="4000" dirty="0"/>
          </a:p>
        </p:txBody>
      </p:sp>
      <p:sp>
        <p:nvSpPr>
          <p:cNvPr id="8" name="Text 6"/>
          <p:cNvSpPr txBox="1"/>
          <p:nvPr/>
        </p:nvSpPr>
        <p:spPr>
          <a:xfrm>
            <a:off x="548640" y="4023360"/>
            <a:ext cx="2362124" cy="118872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growth of worldwide information security spending forecast for 2026, to $240 billion (Gartner)</a:t>
            </a:r>
            <a:endParaRPr lang="en-US" sz="1150" dirty="0"/>
          </a:p>
        </p:txBody>
      </p:sp>
      <p:sp>
        <p:nvSpPr>
          <p:cNvPr id="9" name="Shape 7"/>
          <p:cNvSpPr/>
          <p:nvPr/>
        </p:nvSpPr>
        <p:spPr>
          <a:xfrm>
            <a:off x="3322244" y="2971800"/>
            <a:ext cx="0" cy="2331720"/>
          </a:xfrm>
          <a:prstGeom prst="line">
            <a:avLst/>
          </a:prstGeom>
          <a:noFill/>
          <a:ln w="9525">
            <a:solidFill>
              <a:srgbClr val="E3E0D7"/>
            </a:solidFill>
            <a:prstDash val="solid"/>
          </a:ln>
        </p:spPr>
      </p:sp>
      <p:sp>
        <p:nvSpPr>
          <p:cNvPr id="10" name="Text 8"/>
          <p:cNvSpPr txBox="1"/>
          <p:nvPr/>
        </p:nvSpPr>
        <p:spPr>
          <a:xfrm>
            <a:off x="3578276" y="3172968"/>
            <a:ext cx="2407844" cy="731520"/>
          </a:xfrm>
          <a:prstGeom prst="rect">
            <a:avLst/>
          </a:prstGeom>
          <a:noFill/>
          <a:ln/>
        </p:spPr>
        <p:txBody>
          <a:bodyPr wrap="square" lIns="0" tIns="0" rIns="0" bIns="0" rtlCol="0" anchor="t"/>
          <a:lstStyle/>
          <a:p>
            <a:pPr indent="0" marL="0">
              <a:buNone/>
            </a:pPr>
            <a:r>
              <a:rPr lang="en-US" sz="4000" spc="-100" kern="0" dirty="0">
                <a:solidFill>
                  <a:srgbClr val="1C2B2F"/>
                </a:solidFill>
                <a:latin typeface="Geist Medium" pitchFamily="34" charset="0"/>
                <a:ea typeface="Geist Medium" pitchFamily="34" charset="-122"/>
                <a:cs typeface="Geist Medium" pitchFamily="34" charset="-120"/>
              </a:rPr>
              <a:t>11% a year</a:t>
            </a:r>
            <a:endParaRPr lang="en-US" sz="4000" dirty="0"/>
          </a:p>
        </p:txBody>
      </p:sp>
      <p:sp>
        <p:nvSpPr>
          <p:cNvPr id="11" name="Text 9"/>
          <p:cNvSpPr txBox="1"/>
          <p:nvPr/>
        </p:nvSpPr>
        <p:spPr>
          <a:xfrm>
            <a:off x="3578276" y="4023360"/>
            <a:ext cx="2362124" cy="118872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growth of GRC software spending to 2029, from $4.98 billion in 2023 to $9.08 billion (Verdantix)</a:t>
            </a:r>
            <a:endParaRPr lang="en-US" sz="1150" dirty="0"/>
          </a:p>
        </p:txBody>
      </p:sp>
      <p:sp>
        <p:nvSpPr>
          <p:cNvPr id="12" name="Shape 10"/>
          <p:cNvSpPr/>
          <p:nvPr/>
        </p:nvSpPr>
        <p:spPr>
          <a:xfrm>
            <a:off x="6095848" y="2971800"/>
            <a:ext cx="0" cy="2331720"/>
          </a:xfrm>
          <a:prstGeom prst="line">
            <a:avLst/>
          </a:prstGeom>
          <a:noFill/>
          <a:ln w="9525">
            <a:solidFill>
              <a:srgbClr val="E3E0D7"/>
            </a:solidFill>
            <a:prstDash val="solid"/>
          </a:ln>
        </p:spPr>
      </p:sp>
      <p:sp>
        <p:nvSpPr>
          <p:cNvPr id="13" name="Text 11"/>
          <p:cNvSpPr txBox="1"/>
          <p:nvPr/>
        </p:nvSpPr>
        <p:spPr>
          <a:xfrm>
            <a:off x="6351880" y="3172968"/>
            <a:ext cx="2407844" cy="731520"/>
          </a:xfrm>
          <a:prstGeom prst="rect">
            <a:avLst/>
          </a:prstGeom>
          <a:noFill/>
          <a:ln/>
        </p:spPr>
        <p:txBody>
          <a:bodyPr wrap="square" lIns="0" tIns="0" rIns="0" bIns="0" rtlCol="0" anchor="t"/>
          <a:lstStyle/>
          <a:p>
            <a:pPr indent="0" marL="0">
              <a:buNone/>
            </a:pPr>
            <a:r>
              <a:rPr lang="en-US" sz="4000" spc="-100" kern="0" dirty="0">
                <a:solidFill>
                  <a:srgbClr val="1C2B2F"/>
                </a:solidFill>
                <a:latin typeface="Geist Medium" pitchFamily="34" charset="0"/>
                <a:ea typeface="Geist Medium" pitchFamily="34" charset="-122"/>
                <a:cs typeface="Geist Medium" pitchFamily="34" charset="-120"/>
              </a:rPr>
              <a:t>25 to 35%</a:t>
            </a:r>
            <a:endParaRPr lang="en-US" sz="4000" dirty="0"/>
          </a:p>
        </p:txBody>
      </p:sp>
      <p:sp>
        <p:nvSpPr>
          <p:cNvPr id="14" name="Text 12"/>
          <p:cNvSpPr txBox="1"/>
          <p:nvPr/>
        </p:nvSpPr>
        <p:spPr>
          <a:xfrm>
            <a:off x="6351880" y="4023360"/>
            <a:ext cx="2362124" cy="118872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cut in reporting burden the European Commission targets for all companies and for SMEs (COM(2025) 47)</a:t>
            </a:r>
            <a:endParaRPr lang="en-US" sz="1150" dirty="0"/>
          </a:p>
        </p:txBody>
      </p:sp>
      <p:sp>
        <p:nvSpPr>
          <p:cNvPr id="15" name="Shape 13"/>
          <p:cNvSpPr/>
          <p:nvPr/>
        </p:nvSpPr>
        <p:spPr>
          <a:xfrm>
            <a:off x="8869451" y="2971800"/>
            <a:ext cx="0" cy="2331720"/>
          </a:xfrm>
          <a:prstGeom prst="line">
            <a:avLst/>
          </a:prstGeom>
          <a:noFill/>
          <a:ln w="9525">
            <a:solidFill>
              <a:srgbClr val="E3E0D7"/>
            </a:solidFill>
            <a:prstDash val="solid"/>
          </a:ln>
        </p:spPr>
      </p:sp>
      <p:sp>
        <p:nvSpPr>
          <p:cNvPr id="16" name="Text 14"/>
          <p:cNvSpPr txBox="1"/>
          <p:nvPr/>
        </p:nvSpPr>
        <p:spPr>
          <a:xfrm>
            <a:off x="9125483" y="3172968"/>
            <a:ext cx="2407844" cy="731520"/>
          </a:xfrm>
          <a:prstGeom prst="rect">
            <a:avLst/>
          </a:prstGeom>
          <a:noFill/>
          <a:ln/>
        </p:spPr>
        <p:txBody>
          <a:bodyPr wrap="square" lIns="0" tIns="0" rIns="0" bIns="0" rtlCol="0" anchor="t"/>
          <a:lstStyle/>
          <a:p>
            <a:pPr indent="0" marL="0">
              <a:buNone/>
            </a:pPr>
            <a:r>
              <a:rPr lang="en-US" sz="4000" spc="-100" kern="0" dirty="0">
                <a:solidFill>
                  <a:srgbClr val="1C2B2F"/>
                </a:solidFill>
                <a:latin typeface="Geist Medium" pitchFamily="34" charset="0"/>
                <a:ea typeface="Geist Medium" pitchFamily="34" charset="-122"/>
                <a:cs typeface="Geist Medium" pitchFamily="34" charset="-120"/>
              </a:rPr>
              <a:t>19 to 23%</a:t>
            </a:r>
            <a:endParaRPr lang="en-US" sz="4000" dirty="0"/>
          </a:p>
        </p:txBody>
      </p:sp>
      <p:sp>
        <p:nvSpPr>
          <p:cNvPr id="17" name="Text 15"/>
          <p:cNvSpPr txBox="1"/>
          <p:nvPr/>
        </p:nvSpPr>
        <p:spPr>
          <a:xfrm>
            <a:off x="9125483" y="4023360"/>
            <a:ext cx="2362124" cy="118872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of lawyers' invoiced hours go to fact-finding tasks, before any judgement is given (Remus and Levy, 2017)</a:t>
            </a:r>
            <a:endParaRPr lang="en-US" sz="1150" dirty="0"/>
          </a:p>
        </p:txBody>
      </p:sp>
      <p:sp>
        <p:nvSpPr>
          <p:cNvPr id="18"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Gartner press release, Jul 2025. Verdantix GRC software forecast, Jan 2025. European Commission, A simpler and faster Europe, COM(2025) 47, Feb 2025. Remus and Levy, Georgetown Journal of Legal Ethics 30 (2017), Table 1.</a:t>
            </a:r>
            <a:endParaRPr lang="en-US" sz="900" dirty="0"/>
          </a:p>
        </p:txBody>
      </p:sp>
      <p:sp>
        <p:nvSpPr>
          <p:cNvPr id="20"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01  Analysis.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application to the EIT Community AI Entrepreneurs Lab 2026</a:t>
            </a:r>
            <a:endParaRPr lang="en-US" sz="1000" dirty="0"/>
          </a:p>
        </p:txBody>
      </p:sp>
      <p:sp>
        <p:nvSpPr>
          <p:cNvPr id="4" name="Text 3"/>
          <p:cNvSpPr/>
          <p:nvPr>
            <p:ph idx="105" type="title" hasCustomPrompt="1"/>
          </p:nvPr>
        </p:nvSpPr>
        <p:spPr>
          <a:xfrm>
            <a:off x="548640" y="1737360"/>
            <a:ext cx="5760720" cy="2834640"/>
          </a:xfrm>
          <a:prstGeom prst="rect">
            <a:avLst/>
          </a:prstGeom>
          <a:noFill/>
          <a:ln/>
        </p:spPr>
        <p:txBody>
          <a:bodyPr wrap="square" lIns="0" tIns="0" rIns="0" bIns="0" rtlCol="0" anchor="t"/>
          <a:lstStyle/>
          <a:p>
            <a:pPr algn="l" indent="0" marL="0">
              <a:buNone/>
            </a:pPr>
            <a:r>
              <a:rPr lang="en-US" sz="4000" spc="-100" kern="0" dirty="0">
                <a:solidFill>
                  <a:srgbClr val="1C2B2F"/>
                </a:solidFill>
                <a:latin typeface="Geist Medium" pitchFamily="34" charset="0"/>
                <a:ea typeface="Geist Medium" pitchFamily="34" charset="-122"/>
                <a:cs typeface="Geist Medium" pitchFamily="34" charset="-120"/>
              </a:rPr>
              <a:t>Companies pay twice: once for tools, once for lawyers to find the facts.</a:t>
            </a:r>
            <a:endParaRPr lang="en-US" sz="4000" dirty="0"/>
          </a:p>
        </p:txBody>
      </p:sp>
      <p:sp>
        <p:nvSpPr>
          <p:cNvPr id="5" name="Text 3"/>
          <p:cNvSpPr/>
          <p:nvPr>
            <p:ph idx="106" type="body" hasCustomPrompt="1"/>
          </p:nvPr>
        </p:nvSpPr>
        <p:spPr>
          <a:xfrm>
            <a:off x="548640" y="4709160"/>
            <a:ext cx="5120640" cy="1280160"/>
          </a:xfrm>
          <a:prstGeom prst="rect">
            <a:avLst/>
          </a:prstGeom>
          <a:noFill/>
          <a:ln/>
        </p:spPr>
        <p:txBody>
          <a:bodyPr wrap="square" lIns="0" tIns="0" rIns="0" bIns="0" rtlCol="0" anchor="t"/>
          <a:lstStyle/>
          <a:p>
            <a:pPr algn="l" indent="0" marL="0">
              <a:buNone/>
            </a:pPr>
            <a:r>
              <a:rPr lang="en-US" sz="1300" dirty="0">
                <a:solidFill>
                  <a:srgbClr val="55676B"/>
                </a:solidFill>
                <a:latin typeface="Geist" pitchFamily="34" charset="0"/>
                <a:ea typeface="Geist" pitchFamily="34" charset="-122"/>
                <a:cs typeface="Geist" pitchFamily="34" charset="-120"/>
              </a:rPr>
              <a:t>The analysis section covers where the money goes, the regulatory wave that keeps it growing, the size of the market, and why every incumbent works from the outside in.</a:t>
            </a:r>
            <a:endParaRPr lang="en-US" sz="1300" dirty="0"/>
          </a:p>
        </p:txBody>
      </p:sp>
      <p:pic>
        <p:nvPicPr>
          <p:cNvPr id="6" name="Image 0" descr="/tmp/claude-1000/-home-andi/f48438b4-0a16-4bf3-84ad-6f8357b43e23/scratchpad/deckbuild/img/towers-r.png">    </p:cNvPr>
          <p:cNvPicPr>
            <a:picLocks noChangeAspect="1"/>
          </p:cNvPicPr>
          <p:nvPr/>
        </p:nvPicPr>
        <p:blipFill>
          <a:blip r:embed="rId1"/>
          <a:stretch>
            <a:fillRect/>
          </a:stretch>
        </p:blipFill>
        <p:spPr>
          <a:xfrm>
            <a:off x="6705295" y="914400"/>
            <a:ext cx="4937760" cy="5212080"/>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Analysis.</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Where the money goes.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Billing data, not opinion</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A fifth of every legal bill buys facts, not advice</a:t>
            </a:r>
            <a:endParaRPr lang="en-US" sz="3000" dirty="0"/>
          </a:p>
        </p:txBody>
      </p:sp>
      <p:sp>
        <p:nvSpPr>
          <p:cNvPr id="5" name="Text 3"/>
          <p:cNvSpPr txBox="1"/>
          <p:nvPr/>
        </p:nvSpPr>
        <p:spPr>
          <a:xfrm>
            <a:off x="548640" y="1828800"/>
            <a:ext cx="4572000" cy="118872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Before a lawyer can advise on GDPR, NIS2 or the AI Act, someone has to establish what the company actually runs: systems, vendors, data flows, models. In law firms that work is billed by the hour.</a:t>
            </a:r>
            <a:endParaRPr lang="en-US" sz="1400" dirty="0"/>
          </a:p>
        </p:txBody>
      </p:sp>
      <p:sp>
        <p:nvSpPr>
          <p:cNvPr id="6" name="Text 4"/>
          <p:cNvSpPr txBox="1"/>
          <p:nvPr/>
        </p:nvSpPr>
        <p:spPr>
          <a:xfrm>
            <a:off x="548640" y="3108960"/>
            <a:ext cx="4572000" cy="28346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Fact investigation, document review, due diligence and case administration make up 19 to 23% of invoiced hours in US firm billing data.</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A randomised trial of AI-assisted legal work measured about 20% time saved per task. That is the lawyer working faster, not the fact-finding disappearing.</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In a first compliance review of a software company the share is higher: the lawyer has to learn the whole setup before any judgement.</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Our wedge: hand the lawyer the facts already organised, so their hours go to judgement.</a:t>
            </a:r>
            <a:endParaRPr lang="en-US" sz="1200" dirty="0"/>
          </a:p>
        </p:txBody>
      </p:sp>
      <p:sp>
        <p:nvSpPr>
          <p:cNvPr id="7" name="Shape 5"/>
          <p:cNvSpPr/>
          <p:nvPr/>
        </p:nvSpPr>
        <p:spPr>
          <a:xfrm>
            <a:off x="5669280" y="1828800"/>
            <a:ext cx="5973775" cy="4069080"/>
          </a:xfrm>
          <a:prstGeom prst="roundRect">
            <a:avLst>
              <a:gd name="adj" fmla="val 1798"/>
            </a:avLst>
          </a:prstGeom>
          <a:solidFill>
            <a:srgbClr val="FCFBF8"/>
          </a:solidFill>
          <a:ln w="9525">
            <a:solidFill>
              <a:srgbClr val="E3E0D7"/>
            </a:solidFill>
            <a:prstDash val="solid"/>
          </a:ln>
        </p:spPr>
      </p:sp>
      <p:sp>
        <p:nvSpPr>
          <p:cNvPr id="8" name="Text 6"/>
          <p:cNvSpPr txBox="1"/>
          <p:nvPr/>
        </p:nvSpPr>
        <p:spPr>
          <a:xfrm>
            <a:off x="5897880" y="1993392"/>
            <a:ext cx="5486400"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Share of invoiced hours by task, firms with fewer than 1,000 lawyers</a:t>
            </a:r>
            <a:endParaRPr lang="en-US" sz="1000" dirty="0"/>
          </a:p>
        </p:txBody>
      </p:sp>
      <p:graphicFrame>
        <p:nvGraphicFramePr>
          <p:cNvPr id="9" name="Chart 0" descr=""/>
          <p:cNvGraphicFramePr/>
          <p:nvPr/>
        </p:nvGraphicFramePr>
        <p:xfrm>
          <a:off x="5806440" y="2286000"/>
          <a:ext cx="5699455" cy="3520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Remus and Levy, Can Robots Be Lawyers?, Georgetown Journal of Legal Ethics 30 (2017), Table 1, Sky Analytics billing data 2012 to 2015. Schwarcz et al., AI-Powered Lawyering, working paper 2025. Fact-finding share is the sum of the four highlighted task rows.</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Analysis.</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The regulatory wave.</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Dates as of October 2026, from EUR-Lex</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Five EU laws land on the same companies in four years</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Each law brings its own evidence duties, and the deadlines overlap. A software company selling into regulated customers meets most of them through procurement questionnaires, long before a regulator calls.</a:t>
            </a:r>
            <a:endParaRPr lang="en-US" sz="1400" dirty="0"/>
          </a:p>
        </p:txBody>
      </p:sp>
      <p:sp>
        <p:nvSpPr>
          <p:cNvPr id="6" name="Shape 4"/>
          <p:cNvSpPr/>
          <p:nvPr/>
        </p:nvSpPr>
        <p:spPr>
          <a:xfrm>
            <a:off x="822960" y="3977640"/>
            <a:ext cx="10545775" cy="0"/>
          </a:xfrm>
          <a:prstGeom prst="line">
            <a:avLst/>
          </a:prstGeom>
          <a:noFill/>
          <a:ln w="9525">
            <a:solidFill>
              <a:srgbClr val="CFD6D3"/>
            </a:solidFill>
            <a:prstDash val="solid"/>
          </a:ln>
        </p:spPr>
      </p:sp>
      <p:sp>
        <p:nvSpPr>
          <p:cNvPr id="7" name="Shape 5"/>
          <p:cNvSpPr/>
          <p:nvPr/>
        </p:nvSpPr>
        <p:spPr>
          <a:xfrm>
            <a:off x="1261132" y="3913632"/>
            <a:ext cx="128016" cy="128016"/>
          </a:xfrm>
          <a:prstGeom prst="ellipse">
            <a:avLst/>
          </a:prstGeom>
          <a:solidFill>
            <a:srgbClr val="3E6670"/>
          </a:solidFill>
          <a:ln w="12700">
            <a:solidFill>
              <a:srgbClr val="3E6670"/>
            </a:solidFill>
            <a:prstDash val="solid"/>
          </a:ln>
        </p:spPr>
      </p:sp>
      <p:sp>
        <p:nvSpPr>
          <p:cNvPr id="8" name="Shape 6"/>
          <p:cNvSpPr/>
          <p:nvPr/>
        </p:nvSpPr>
        <p:spPr>
          <a:xfrm>
            <a:off x="1325140" y="3566160"/>
            <a:ext cx="0" cy="347472"/>
          </a:xfrm>
          <a:prstGeom prst="line">
            <a:avLst/>
          </a:prstGeom>
          <a:noFill/>
          <a:ln w="9525">
            <a:solidFill>
              <a:srgbClr val="CFD6D3"/>
            </a:solidFill>
            <a:prstDash val="solid"/>
          </a:ln>
        </p:spPr>
      </p:sp>
      <p:sp>
        <p:nvSpPr>
          <p:cNvPr id="9" name="Text 7"/>
          <p:cNvSpPr txBox="1"/>
          <p:nvPr/>
        </p:nvSpPr>
        <p:spPr>
          <a:xfrm>
            <a:off x="410740" y="274320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18 Oct 2024</a:t>
            </a:r>
            <a:endParaRPr lang="en-US" sz="1000" dirty="0"/>
          </a:p>
        </p:txBody>
      </p:sp>
      <p:sp>
        <p:nvSpPr>
          <p:cNvPr id="10" name="Text 8"/>
          <p:cNvSpPr txBox="1"/>
          <p:nvPr/>
        </p:nvSpPr>
        <p:spPr>
          <a:xfrm>
            <a:off x="410740" y="297180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NIS2 applies, national laws vary</a:t>
            </a:r>
            <a:endParaRPr lang="en-US" sz="1100" dirty="0"/>
          </a:p>
        </p:txBody>
      </p:sp>
      <p:sp>
        <p:nvSpPr>
          <p:cNvPr id="11" name="Shape 9"/>
          <p:cNvSpPr/>
          <p:nvPr/>
        </p:nvSpPr>
        <p:spPr>
          <a:xfrm>
            <a:off x="1964183" y="3913632"/>
            <a:ext cx="128016" cy="128016"/>
          </a:xfrm>
          <a:prstGeom prst="ellipse">
            <a:avLst/>
          </a:prstGeom>
          <a:solidFill>
            <a:srgbClr val="3E6670"/>
          </a:solidFill>
          <a:ln w="12700">
            <a:solidFill>
              <a:srgbClr val="3E6670"/>
            </a:solidFill>
            <a:prstDash val="solid"/>
          </a:ln>
        </p:spPr>
      </p:sp>
      <p:sp>
        <p:nvSpPr>
          <p:cNvPr id="12" name="Shape 10"/>
          <p:cNvSpPr/>
          <p:nvPr/>
        </p:nvSpPr>
        <p:spPr>
          <a:xfrm>
            <a:off x="2028191" y="4041648"/>
            <a:ext cx="0" cy="347472"/>
          </a:xfrm>
          <a:prstGeom prst="line">
            <a:avLst/>
          </a:prstGeom>
          <a:noFill/>
          <a:ln w="9525">
            <a:solidFill>
              <a:srgbClr val="CFD6D3"/>
            </a:solidFill>
            <a:prstDash val="solid"/>
          </a:ln>
        </p:spPr>
      </p:sp>
      <p:sp>
        <p:nvSpPr>
          <p:cNvPr id="13" name="Text 11"/>
          <p:cNvSpPr txBox="1"/>
          <p:nvPr/>
        </p:nvSpPr>
        <p:spPr>
          <a:xfrm>
            <a:off x="1113791" y="475488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17 Jan and 2 Feb 2025</a:t>
            </a:r>
            <a:endParaRPr lang="en-US" sz="1000" dirty="0"/>
          </a:p>
        </p:txBody>
      </p:sp>
      <p:sp>
        <p:nvSpPr>
          <p:cNvPr id="14" name="Text 12"/>
          <p:cNvSpPr txBox="1"/>
          <p:nvPr/>
        </p:nvSpPr>
        <p:spPr>
          <a:xfrm>
            <a:off x="1113791" y="425196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DORA applies; AI Act prohibitions and AI literacy</a:t>
            </a:r>
            <a:endParaRPr lang="en-US" sz="1100" dirty="0"/>
          </a:p>
        </p:txBody>
      </p:sp>
      <p:sp>
        <p:nvSpPr>
          <p:cNvPr id="15" name="Shape 13"/>
          <p:cNvSpPr/>
          <p:nvPr/>
        </p:nvSpPr>
        <p:spPr>
          <a:xfrm>
            <a:off x="3520941" y="3913632"/>
            <a:ext cx="128016" cy="128016"/>
          </a:xfrm>
          <a:prstGeom prst="ellipse">
            <a:avLst/>
          </a:prstGeom>
          <a:solidFill>
            <a:srgbClr val="3E6670"/>
          </a:solidFill>
          <a:ln w="12700">
            <a:solidFill>
              <a:srgbClr val="3E6670"/>
            </a:solidFill>
            <a:prstDash val="solid"/>
          </a:ln>
        </p:spPr>
      </p:sp>
      <p:sp>
        <p:nvSpPr>
          <p:cNvPr id="16" name="Shape 14"/>
          <p:cNvSpPr/>
          <p:nvPr/>
        </p:nvSpPr>
        <p:spPr>
          <a:xfrm>
            <a:off x="3584949" y="3566160"/>
            <a:ext cx="0" cy="347472"/>
          </a:xfrm>
          <a:prstGeom prst="line">
            <a:avLst/>
          </a:prstGeom>
          <a:noFill/>
          <a:ln w="9525">
            <a:solidFill>
              <a:srgbClr val="CFD6D3"/>
            </a:solidFill>
            <a:prstDash val="solid"/>
          </a:ln>
        </p:spPr>
      </p:sp>
      <p:sp>
        <p:nvSpPr>
          <p:cNvPr id="17" name="Text 15"/>
          <p:cNvSpPr txBox="1"/>
          <p:nvPr/>
        </p:nvSpPr>
        <p:spPr>
          <a:xfrm>
            <a:off x="2670549" y="274320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12 Sep 2025</a:t>
            </a:r>
            <a:endParaRPr lang="en-US" sz="1000" dirty="0"/>
          </a:p>
        </p:txBody>
      </p:sp>
      <p:sp>
        <p:nvSpPr>
          <p:cNvPr id="18" name="Text 16"/>
          <p:cNvSpPr txBox="1"/>
          <p:nvPr/>
        </p:nvSpPr>
        <p:spPr>
          <a:xfrm>
            <a:off x="2670549" y="297180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Data Act applies</a:t>
            </a:r>
            <a:endParaRPr lang="en-US" sz="1100" dirty="0"/>
          </a:p>
        </p:txBody>
      </p:sp>
      <p:sp>
        <p:nvSpPr>
          <p:cNvPr id="19" name="Shape 17"/>
          <p:cNvSpPr/>
          <p:nvPr/>
        </p:nvSpPr>
        <p:spPr>
          <a:xfrm>
            <a:off x="5780750" y="3913632"/>
            <a:ext cx="128016" cy="128016"/>
          </a:xfrm>
          <a:prstGeom prst="ellipse">
            <a:avLst/>
          </a:prstGeom>
          <a:solidFill>
            <a:srgbClr val="3E6670"/>
          </a:solidFill>
          <a:ln w="12700">
            <a:solidFill>
              <a:srgbClr val="3E6670"/>
            </a:solidFill>
            <a:prstDash val="solid"/>
          </a:ln>
        </p:spPr>
      </p:sp>
      <p:sp>
        <p:nvSpPr>
          <p:cNvPr id="20" name="Shape 18"/>
          <p:cNvSpPr/>
          <p:nvPr/>
        </p:nvSpPr>
        <p:spPr>
          <a:xfrm>
            <a:off x="5844758" y="4041648"/>
            <a:ext cx="0" cy="347472"/>
          </a:xfrm>
          <a:prstGeom prst="line">
            <a:avLst/>
          </a:prstGeom>
          <a:noFill/>
          <a:ln w="9525">
            <a:solidFill>
              <a:srgbClr val="CFD6D3"/>
            </a:solidFill>
            <a:prstDash val="solid"/>
          </a:ln>
        </p:spPr>
      </p:sp>
      <p:sp>
        <p:nvSpPr>
          <p:cNvPr id="21" name="Text 19"/>
          <p:cNvSpPr txBox="1"/>
          <p:nvPr/>
        </p:nvSpPr>
        <p:spPr>
          <a:xfrm>
            <a:off x="4930358" y="475488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2 Aug 2026</a:t>
            </a:r>
            <a:endParaRPr lang="en-US" sz="1000" dirty="0"/>
          </a:p>
        </p:txBody>
      </p:sp>
      <p:sp>
        <p:nvSpPr>
          <p:cNvPr id="22" name="Text 20"/>
          <p:cNvSpPr txBox="1"/>
          <p:nvPr/>
        </p:nvSpPr>
        <p:spPr>
          <a:xfrm>
            <a:off x="4930358" y="425196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AI Act transparency duties, Article 50</a:t>
            </a:r>
            <a:endParaRPr lang="en-US" sz="1100" dirty="0"/>
          </a:p>
        </p:txBody>
      </p:sp>
      <p:sp>
        <p:nvSpPr>
          <p:cNvPr id="23" name="Shape 21"/>
          <p:cNvSpPr/>
          <p:nvPr/>
        </p:nvSpPr>
        <p:spPr>
          <a:xfrm>
            <a:off x="6031840" y="3913632"/>
            <a:ext cx="128016" cy="128016"/>
          </a:xfrm>
          <a:prstGeom prst="ellipse">
            <a:avLst/>
          </a:prstGeom>
          <a:solidFill>
            <a:srgbClr val="3E6670"/>
          </a:solidFill>
          <a:ln w="12700">
            <a:solidFill>
              <a:srgbClr val="3E6670"/>
            </a:solidFill>
            <a:prstDash val="solid"/>
          </a:ln>
        </p:spPr>
      </p:sp>
      <p:sp>
        <p:nvSpPr>
          <p:cNvPr id="24" name="Shape 22"/>
          <p:cNvSpPr/>
          <p:nvPr/>
        </p:nvSpPr>
        <p:spPr>
          <a:xfrm>
            <a:off x="6095848" y="3566160"/>
            <a:ext cx="0" cy="347472"/>
          </a:xfrm>
          <a:prstGeom prst="line">
            <a:avLst/>
          </a:prstGeom>
          <a:noFill/>
          <a:ln w="9525">
            <a:solidFill>
              <a:srgbClr val="CFD6D3"/>
            </a:solidFill>
            <a:prstDash val="solid"/>
          </a:ln>
        </p:spPr>
      </p:sp>
      <p:sp>
        <p:nvSpPr>
          <p:cNvPr id="25" name="Text 23"/>
          <p:cNvSpPr txBox="1"/>
          <p:nvPr/>
        </p:nvSpPr>
        <p:spPr>
          <a:xfrm>
            <a:off x="5181448" y="274320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11 Sep 2026</a:t>
            </a:r>
            <a:endParaRPr lang="en-US" sz="1000" dirty="0"/>
          </a:p>
        </p:txBody>
      </p:sp>
      <p:sp>
        <p:nvSpPr>
          <p:cNvPr id="26" name="Text 24"/>
          <p:cNvSpPr txBox="1"/>
          <p:nvPr/>
        </p:nvSpPr>
        <p:spPr>
          <a:xfrm>
            <a:off x="5181448" y="297180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CRA vulnerability reporting, Article 14</a:t>
            </a:r>
            <a:endParaRPr lang="en-US" sz="1100" dirty="0"/>
          </a:p>
        </p:txBody>
      </p:sp>
      <p:sp>
        <p:nvSpPr>
          <p:cNvPr id="27" name="Shape 25"/>
          <p:cNvSpPr/>
          <p:nvPr/>
        </p:nvSpPr>
        <p:spPr>
          <a:xfrm>
            <a:off x="9095136" y="3913632"/>
            <a:ext cx="128016" cy="128016"/>
          </a:xfrm>
          <a:prstGeom prst="ellipse">
            <a:avLst/>
          </a:prstGeom>
          <a:solidFill>
            <a:srgbClr val="F6F4EE"/>
          </a:solidFill>
          <a:ln w="12700">
            <a:solidFill>
              <a:srgbClr val="3E6670"/>
            </a:solidFill>
            <a:prstDash val="solid"/>
          </a:ln>
        </p:spPr>
      </p:sp>
      <p:sp>
        <p:nvSpPr>
          <p:cNvPr id="28" name="Shape 26"/>
          <p:cNvSpPr/>
          <p:nvPr/>
        </p:nvSpPr>
        <p:spPr>
          <a:xfrm>
            <a:off x="9159144" y="4041648"/>
            <a:ext cx="0" cy="347472"/>
          </a:xfrm>
          <a:prstGeom prst="line">
            <a:avLst/>
          </a:prstGeom>
          <a:noFill/>
          <a:ln w="9525">
            <a:solidFill>
              <a:srgbClr val="CFD6D3"/>
            </a:solidFill>
            <a:prstDash val="solid"/>
          </a:ln>
        </p:spPr>
      </p:sp>
      <p:sp>
        <p:nvSpPr>
          <p:cNvPr id="29" name="Text 27"/>
          <p:cNvSpPr txBox="1"/>
          <p:nvPr/>
        </p:nvSpPr>
        <p:spPr>
          <a:xfrm>
            <a:off x="8244744" y="475488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2 Dec 2027</a:t>
            </a:r>
            <a:endParaRPr lang="en-US" sz="1000" dirty="0"/>
          </a:p>
        </p:txBody>
      </p:sp>
      <p:sp>
        <p:nvSpPr>
          <p:cNvPr id="30" name="Text 28"/>
          <p:cNvSpPr txBox="1"/>
          <p:nvPr/>
        </p:nvSpPr>
        <p:spPr>
          <a:xfrm>
            <a:off x="8244744" y="425196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AI Act Annex III high-risk duties</a:t>
            </a:r>
            <a:endParaRPr lang="en-US" sz="1100" dirty="0"/>
          </a:p>
        </p:txBody>
      </p:sp>
      <p:sp>
        <p:nvSpPr>
          <p:cNvPr id="31" name="Shape 29"/>
          <p:cNvSpPr/>
          <p:nvPr/>
        </p:nvSpPr>
        <p:spPr>
          <a:xfrm>
            <a:off x="9170463" y="3913632"/>
            <a:ext cx="128016" cy="128016"/>
          </a:xfrm>
          <a:prstGeom prst="ellipse">
            <a:avLst/>
          </a:prstGeom>
          <a:solidFill>
            <a:srgbClr val="F6F4EE"/>
          </a:solidFill>
          <a:ln w="12700">
            <a:solidFill>
              <a:srgbClr val="3E6670"/>
            </a:solidFill>
            <a:prstDash val="solid"/>
          </a:ln>
        </p:spPr>
      </p:sp>
      <p:sp>
        <p:nvSpPr>
          <p:cNvPr id="32" name="Shape 30"/>
          <p:cNvSpPr/>
          <p:nvPr/>
        </p:nvSpPr>
        <p:spPr>
          <a:xfrm>
            <a:off x="9234471" y="3566160"/>
            <a:ext cx="0" cy="347472"/>
          </a:xfrm>
          <a:prstGeom prst="line">
            <a:avLst/>
          </a:prstGeom>
          <a:noFill/>
          <a:ln w="9525">
            <a:solidFill>
              <a:srgbClr val="CFD6D3"/>
            </a:solidFill>
            <a:prstDash val="solid"/>
          </a:ln>
        </p:spPr>
      </p:sp>
      <p:sp>
        <p:nvSpPr>
          <p:cNvPr id="33" name="Text 31"/>
          <p:cNvSpPr txBox="1"/>
          <p:nvPr/>
        </p:nvSpPr>
        <p:spPr>
          <a:xfrm>
            <a:off x="8320071" y="274320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11 Dec 2027</a:t>
            </a:r>
            <a:endParaRPr lang="en-US" sz="1000" dirty="0"/>
          </a:p>
        </p:txBody>
      </p:sp>
      <p:sp>
        <p:nvSpPr>
          <p:cNvPr id="34" name="Text 32"/>
          <p:cNvSpPr txBox="1"/>
          <p:nvPr/>
        </p:nvSpPr>
        <p:spPr>
          <a:xfrm>
            <a:off x="8320071" y="297180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CRA fully applies</a:t>
            </a:r>
            <a:endParaRPr lang="en-US" sz="1100" dirty="0"/>
          </a:p>
        </p:txBody>
      </p:sp>
      <p:sp>
        <p:nvSpPr>
          <p:cNvPr id="35" name="Shape 33"/>
          <p:cNvSpPr/>
          <p:nvPr/>
        </p:nvSpPr>
        <p:spPr>
          <a:xfrm>
            <a:off x="10802547" y="3913632"/>
            <a:ext cx="128016" cy="128016"/>
          </a:xfrm>
          <a:prstGeom prst="ellipse">
            <a:avLst/>
          </a:prstGeom>
          <a:solidFill>
            <a:srgbClr val="F6F4EE"/>
          </a:solidFill>
          <a:ln w="12700">
            <a:solidFill>
              <a:srgbClr val="3E6670"/>
            </a:solidFill>
            <a:prstDash val="solid"/>
          </a:ln>
        </p:spPr>
      </p:sp>
      <p:sp>
        <p:nvSpPr>
          <p:cNvPr id="36" name="Shape 34"/>
          <p:cNvSpPr/>
          <p:nvPr/>
        </p:nvSpPr>
        <p:spPr>
          <a:xfrm>
            <a:off x="10866555" y="4041648"/>
            <a:ext cx="0" cy="347472"/>
          </a:xfrm>
          <a:prstGeom prst="line">
            <a:avLst/>
          </a:prstGeom>
          <a:noFill/>
          <a:ln w="9525">
            <a:solidFill>
              <a:srgbClr val="CFD6D3"/>
            </a:solidFill>
            <a:prstDash val="solid"/>
          </a:ln>
        </p:spPr>
      </p:sp>
      <p:sp>
        <p:nvSpPr>
          <p:cNvPr id="37" name="Text 35"/>
          <p:cNvSpPr txBox="1"/>
          <p:nvPr/>
        </p:nvSpPr>
        <p:spPr>
          <a:xfrm>
            <a:off x="9952155" y="4754880"/>
            <a:ext cx="1828800" cy="228600"/>
          </a:xfrm>
          <a:prstGeom prst="rect">
            <a:avLst/>
          </a:prstGeom>
          <a:noFill/>
          <a:ln/>
        </p:spPr>
        <p:txBody>
          <a:bodyPr wrap="square" lIns="0" tIns="0" rIns="0" bIns="0" rtlCol="0" anchor="t"/>
          <a:lstStyle/>
          <a:p>
            <a:pPr algn="ctr" indent="0" marL="0">
              <a:buNone/>
            </a:pPr>
            <a:r>
              <a:rPr lang="en-US" sz="1000" dirty="0">
                <a:solidFill>
                  <a:srgbClr val="8A9A9D"/>
                </a:solidFill>
                <a:latin typeface="Geist" pitchFamily="34" charset="0"/>
                <a:ea typeface="Geist" pitchFamily="34" charset="-122"/>
                <a:cs typeface="Geist" pitchFamily="34" charset="-120"/>
              </a:rPr>
              <a:t>2 Aug 2028</a:t>
            </a:r>
            <a:endParaRPr lang="en-US" sz="1000" dirty="0"/>
          </a:p>
        </p:txBody>
      </p:sp>
      <p:sp>
        <p:nvSpPr>
          <p:cNvPr id="38" name="Text 36"/>
          <p:cNvSpPr txBox="1"/>
          <p:nvPr/>
        </p:nvSpPr>
        <p:spPr>
          <a:xfrm>
            <a:off x="9952155" y="4251960"/>
            <a:ext cx="1828800" cy="548640"/>
          </a:xfrm>
          <a:prstGeom prst="rect">
            <a:avLst/>
          </a:prstGeom>
          <a:noFill/>
          <a:ln/>
        </p:spPr>
        <p:txBody>
          <a:bodyPr wrap="square" lIns="0" tIns="0" rIns="0" bIns="0" rtlCol="0" anchor="t"/>
          <a:lstStyle/>
          <a:p>
            <a:pPr algn="ctr" indent="0" marL="0">
              <a:buNone/>
            </a:pPr>
            <a:r>
              <a:rPr lang="en-US" sz="1100" dirty="0">
                <a:solidFill>
                  <a:srgbClr val="1C2B2F"/>
                </a:solidFill>
                <a:latin typeface="Geist" pitchFamily="34" charset="0"/>
                <a:ea typeface="Geist" pitchFamily="34" charset="-122"/>
                <a:cs typeface="Geist" pitchFamily="34" charset="-120"/>
              </a:rPr>
              <a:t>AI Act Annex I product-embedded systems</a:t>
            </a:r>
            <a:endParaRPr lang="en-US" sz="1100" dirty="0"/>
          </a:p>
        </p:txBody>
      </p:sp>
      <p:sp>
        <p:nvSpPr>
          <p:cNvPr id="39" name="Text 37"/>
          <p:cNvSpPr txBox="1"/>
          <p:nvPr/>
        </p:nvSpPr>
        <p:spPr>
          <a:xfrm>
            <a:off x="548640" y="5440680"/>
            <a:ext cx="11094415"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Filled dots: in force today. Open dots: still ahead. GDPR has applied since May 2018 and sits under all of it.</a:t>
            </a:r>
            <a:endParaRPr lang="en-US" sz="1000" dirty="0"/>
          </a:p>
        </p:txBody>
      </p:sp>
      <p:sp>
        <p:nvSpPr>
          <p:cNvPr id="40" name="Text 38"/>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Directive (EU) 2022/2555 (NIS2), Regulation (EU) 2022/2554 (DORA), Regulation (EU) 2024/1689 (AI Act) as amended by Regulation (EU) 2026/1744 (Digital Omnibus on AI, OJ L 24 Jul 2026), Regulation (EU) 2023/2854 (Data Act), Regulation (EU) 2024/2847 (CRA). All read on EUR-Lex, 18 Oct 2026.</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Analysis.</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The market.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Primary sources, figures in the notes</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Budgets rise every year. Small companies pay the most</a:t>
            </a:r>
            <a:endParaRPr lang="en-US" sz="3000" dirty="0"/>
          </a:p>
        </p:txBody>
      </p:sp>
      <p:sp>
        <p:nvSpPr>
          <p:cNvPr id="5" name="Text 3"/>
          <p:cNvSpPr txBox="1"/>
          <p:nvPr/>
        </p:nvSpPr>
        <p:spPr>
          <a:xfrm>
            <a:off x="548640" y="1828800"/>
            <a:ext cx="4206240" cy="137160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Security and compliance budgets grow by double digits. Legal services in the EU are a 140 billion euro market. Small companies pay the most relative to their size and most often lack the budget.</a:t>
            </a:r>
            <a:endParaRPr lang="en-US" sz="1400" dirty="0"/>
          </a:p>
        </p:txBody>
      </p:sp>
      <p:sp>
        <p:nvSpPr>
          <p:cNvPr id="6" name="Text 4"/>
          <p:cNvSpPr txBox="1"/>
          <p:nvPr/>
        </p:nvSpPr>
        <p:spPr>
          <a:xfrm>
            <a:off x="548640" y="3291840"/>
            <a:ext cx="4206240" cy="26517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Worldwide information security spending: $193 billion in 2024, $213 billion in 2025, $240 billion forecast for 2026.</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GRC software: $4.98 billion in 2023 to $9.08 billion by 2029, concentrated in North America and Europe.</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EU-27 turnover of legal activities: about 140 billion euros in 2022 (Eurostat).</a:t>
            </a:r>
            <a:endParaRPr lang="en-US" sz="1200" dirty="0"/>
          </a:p>
          <a:p>
            <a:pPr marL="342900" indent="-342900">
              <a:spcAft>
                <a:spcPts val="700"/>
              </a:spcAft>
              <a:buSzPct val="100000"/>
              <a:buChar char="●"/>
            </a:pPr>
            <a:r>
              <a:rPr lang="en-US" sz="1200" dirty="0">
                <a:solidFill>
                  <a:srgbClr val="55676B"/>
                </a:solidFill>
                <a:latin typeface="Geist" pitchFamily="34" charset="0"/>
                <a:ea typeface="Geist" pitchFamily="34" charset="-122"/>
                <a:cs typeface="Geist" pitchFamily="34" charset="-120"/>
              </a:rPr>
              <a:t>34% of entities expect they cannot obtain the extra budget NIS2 needs, a share that is highest for SMEs (ENISA).</a:t>
            </a:r>
            <a:endParaRPr lang="en-US" sz="1200" dirty="0"/>
          </a:p>
        </p:txBody>
      </p:sp>
      <p:sp>
        <p:nvSpPr>
          <p:cNvPr id="7" name="Shape 5"/>
          <p:cNvSpPr/>
          <p:nvPr/>
        </p:nvSpPr>
        <p:spPr>
          <a:xfrm>
            <a:off x="5120640" y="1828800"/>
            <a:ext cx="3124048" cy="4069080"/>
          </a:xfrm>
          <a:prstGeom prst="roundRect">
            <a:avLst>
              <a:gd name="adj" fmla="val 2342"/>
            </a:avLst>
          </a:prstGeom>
          <a:solidFill>
            <a:srgbClr val="FCFBF8"/>
          </a:solidFill>
          <a:ln w="9525">
            <a:solidFill>
              <a:srgbClr val="E3E0D7"/>
            </a:solidFill>
            <a:prstDash val="solid"/>
          </a:ln>
        </p:spPr>
      </p:sp>
      <p:sp>
        <p:nvSpPr>
          <p:cNvPr id="8" name="Text 6"/>
          <p:cNvSpPr txBox="1"/>
          <p:nvPr/>
        </p:nvSpPr>
        <p:spPr>
          <a:xfrm>
            <a:off x="5349240" y="1993392"/>
            <a:ext cx="2666848"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Information security spending</a:t>
            </a:r>
            <a:endParaRPr lang="en-US" sz="1000" dirty="0"/>
          </a:p>
        </p:txBody>
      </p:sp>
      <p:sp>
        <p:nvSpPr>
          <p:cNvPr id="9" name="Text 7"/>
          <p:cNvSpPr txBox="1"/>
          <p:nvPr/>
        </p:nvSpPr>
        <p:spPr>
          <a:xfrm>
            <a:off x="5349240" y="2212848"/>
            <a:ext cx="2666848"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Worldwide end-user spending, $ billion</a:t>
            </a:r>
            <a:endParaRPr lang="en-US" sz="1000" dirty="0"/>
          </a:p>
        </p:txBody>
      </p:sp>
      <p:graphicFrame>
        <p:nvGraphicFramePr>
          <p:cNvPr id="10" name="Chart 0" descr=""/>
          <p:cNvGraphicFramePr/>
          <p:nvPr/>
        </p:nvGraphicFramePr>
        <p:xfrm>
          <a:off x="5257800" y="2606040"/>
          <a:ext cx="2849728" cy="31546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519008" y="1828800"/>
            <a:ext cx="3124048" cy="4069080"/>
          </a:xfrm>
          <a:prstGeom prst="roundRect">
            <a:avLst>
              <a:gd name="adj" fmla="val 2342"/>
            </a:avLst>
          </a:prstGeom>
          <a:solidFill>
            <a:srgbClr val="FCFBF8"/>
          </a:solidFill>
          <a:ln w="9525">
            <a:solidFill>
              <a:srgbClr val="E3E0D7"/>
            </a:solidFill>
            <a:prstDash val="solid"/>
          </a:ln>
        </p:spPr>
      </p:sp>
      <p:sp>
        <p:nvSpPr>
          <p:cNvPr id="12" name="Text 9"/>
          <p:cNvSpPr txBox="1"/>
          <p:nvPr/>
        </p:nvSpPr>
        <p:spPr>
          <a:xfrm>
            <a:off x="8747608" y="1993392"/>
            <a:ext cx="2666848"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GRC software market</a:t>
            </a:r>
            <a:endParaRPr lang="en-US" sz="1000" dirty="0"/>
          </a:p>
        </p:txBody>
      </p:sp>
      <p:sp>
        <p:nvSpPr>
          <p:cNvPr id="13" name="Text 10"/>
          <p:cNvSpPr txBox="1"/>
          <p:nvPr/>
        </p:nvSpPr>
        <p:spPr>
          <a:xfrm>
            <a:off x="8747608" y="2212848"/>
            <a:ext cx="2666848"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Worldwide, $ billion</a:t>
            </a:r>
            <a:endParaRPr lang="en-US" sz="1000" dirty="0"/>
          </a:p>
        </p:txBody>
      </p:sp>
      <p:graphicFrame>
        <p:nvGraphicFramePr>
          <p:cNvPr id="14" name="Chart 1" descr=""/>
          <p:cNvGraphicFramePr/>
          <p:nvPr/>
        </p:nvGraphicFramePr>
        <p:xfrm>
          <a:off x="8656168" y="2606040"/>
          <a:ext cx="2849728" cy="315468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Gartner, Jul 2025. Verdantix, Jan 2025. Eurostat sbs_ovw_act, NACE M69.1, 2022. ENISA NIS Investments 2024, p. 6 and p. 46. European Commission SWD(2021) 84, p. 75.</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Analysis.</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How the market does it.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Public product descriptions, October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Every incumbent asks the company. None reads it</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We reviewed twelve vendors' public materials. All of them make the customer pick frameworks and answer questions. None derives what applies from the company's own systems, and none publishes a per-obligation lawyer sign-off.</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3840480"/>
                <a:gridCol w="1737360"/>
                <a:gridCol w="1828800"/>
                <a:gridCol w="1828800"/>
                <a:gridCol w="1858975"/>
              </a:tblGrid>
              <a:tr h="0">
                <a:tc>
                  <a:txBody>
                    <a:bodyPr/>
                    <a:lstStyle/>
                    <a:p>
                      <a:pPr algn="l" indent="0" marL="0">
                        <a:buNone/>
                      </a:pPr>
                      <a:r>
                        <a:rPr lang="en-US" sz="1100" dirty="0">
                          <a:solidFill>
                            <a:srgbClr val="1C2B2F"/>
                          </a:solidFill>
                          <a:latin typeface="Geist Medium" pitchFamily="34" charset="0"/>
                          <a:ea typeface="Geist Medium" pitchFamily="34" charset="-122"/>
                          <a:cs typeface="Geist Medium" pitchFamily="34" charset="-120"/>
                        </a:rPr>
                        <a:t>What you get</a:t>
                      </a:r>
                      <a:endParaRPr lang="en-US" sz="1100" dirty="0">
                        <a:latin typeface="Geist Medium" charset="0"/>
                        <a:ea typeface="Geist Medium" charset="0"/>
                        <a:cs typeface="Geist Medium" charset="0"/>
                      </a:endParaRPr>
                    </a:p>
                  </a:txBody>
                  <a:tcPr marL="0" marR="76200" marT="50800" marB="762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Medium" pitchFamily="34" charset="0"/>
                          <a:ea typeface="Geist Medium" pitchFamily="34" charset="-122"/>
                          <a:cs typeface="Geist Medium" pitchFamily="34" charset="-120"/>
                        </a:rPr>
                        <a:t>Regulift</a:t>
                      </a:r>
                      <a:endParaRPr lang="en-US" sz="1100" dirty="0">
                        <a:latin typeface="Geist Medium" charset="0"/>
                        <a:ea typeface="Geist Medium" charset="0"/>
                        <a:cs typeface="Geist Medium" charset="0"/>
                      </a:endParaRPr>
                    </a:p>
                  </a:txBody>
                  <a:tcPr marL="0" marR="76200" marT="50800" marB="762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E7EDEC"/>
                    </a:solidFill>
                  </a:tcPr>
                </a:tc>
                <a:tc>
                  <a:txBody>
                    <a:bodyPr/>
                    <a:lstStyle/>
                    <a:p>
                      <a:pPr algn="ctr" indent="0" marL="0">
                        <a:buNone/>
                      </a:pPr>
                      <a:r>
                        <a:rPr lang="en-US" sz="1100" dirty="0">
                          <a:solidFill>
                            <a:srgbClr val="1C2B2F"/>
                          </a:solidFill>
                          <a:latin typeface="Geist Medium" pitchFamily="34" charset="0"/>
                          <a:ea typeface="Geist Medium" pitchFamily="34" charset="-122"/>
                          <a:cs typeface="Geist Medium" pitchFamily="34" charset="-120"/>
                        </a:rPr>
                        <a:t>Compliance consultancies</a:t>
                      </a:r>
                      <a:endParaRPr lang="en-US" sz="1100" dirty="0">
                        <a:latin typeface="Geist Medium" charset="0"/>
                        <a:ea typeface="Geist Medium" charset="0"/>
                        <a:cs typeface="Geist Medium" charset="0"/>
                      </a:endParaRPr>
                    </a:p>
                  </a:txBody>
                  <a:tcPr marL="0" marR="76200" marT="50800" marB="762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Medium" pitchFamily="34" charset="0"/>
                          <a:ea typeface="Geist Medium" pitchFamily="34" charset="-122"/>
                          <a:cs typeface="Geist Medium" pitchFamily="34" charset="-120"/>
                        </a:rPr>
                        <a:t>Questionnaire and control platforms</a:t>
                      </a:r>
                      <a:endParaRPr lang="en-US" sz="1100" dirty="0">
                        <a:latin typeface="Geist Medium" charset="0"/>
                        <a:ea typeface="Geist Medium" charset="0"/>
                        <a:cs typeface="Geist Medium" charset="0"/>
                      </a:endParaRPr>
                    </a:p>
                  </a:txBody>
                  <a:tcPr marL="0" marR="76200" marT="50800" marB="762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c>
                  <a:txBody>
                    <a:bodyPr/>
                    <a:lstStyle/>
                    <a:p>
                      <a:pPr algn="ctr" indent="0" marL="0">
                        <a:buNone/>
                      </a:pPr>
                      <a:r>
                        <a:rPr lang="en-US" sz="1100" dirty="0">
                          <a:solidFill>
                            <a:srgbClr val="1C2B2F"/>
                          </a:solidFill>
                          <a:latin typeface="Geist Medium" pitchFamily="34" charset="0"/>
                          <a:ea typeface="Geist Medium" pitchFamily="34" charset="-122"/>
                          <a:cs typeface="Geist Medium" pitchFamily="34" charset="-120"/>
                        </a:rPr>
                        <a:t>AI governance tools</a:t>
                      </a:r>
                      <a:endParaRPr lang="en-US" sz="1100" dirty="0">
                        <a:latin typeface="Geist Medium" charset="0"/>
                        <a:ea typeface="Geist Medium" charset="0"/>
                        <a:cs typeface="Geist Medium" charset="0"/>
                      </a:endParaRPr>
                    </a:p>
                  </a:txBody>
                  <a:tcPr marL="0" marR="76200" marT="50800" marB="76200" anchor="b">
                    <a:lnL w="0" cap="flat" cmpd="sng" algn="ctr">
                      <a:noFill/>
                    </a:lnL>
                    <a:lnR w="0" cap="flat" cmpd="sng" algn="ctr">
                      <a:noFill/>
                    </a:lnR>
                    <a:lnT w="0" cap="flat" cmpd="sng" algn="ctr">
                      <a:noFill/>
                    </a:lnT>
                    <a:lnB w="9525" cap="flat" cmpd="sng" algn="ctr">
                      <a:solidFill>
                        <a:srgbClr val="1C2B2F"/>
                      </a:solidFill>
                      <a:prstDash val="solid"/>
                      <a:round/>
                      <a:headEnd type="none" w="med" len="med"/>
                      <a:tailEnd type="none" w="med" len="med"/>
                    </a:lnB>
                    <a:solidFill>
                      <a:srgbClr val="F6F4EE"/>
                    </a:solidFill>
                  </a:tcPr>
                </a:tc>
              </a:tr>
              <a:tr h="0">
                <a:tc>
                  <a:txBody>
                    <a:bodyPr/>
                    <a:lstStyle/>
                    <a:p>
                      <a:pPr algn="l" indent="0" marL="0">
                        <a:buNone/>
                      </a:pPr>
                      <a:endParaRPr lang="en-US" sz="850" dirty="0">
                        <a:latin typeface="Geist" charset="0"/>
                        <a:ea typeface="Geist" charset="0"/>
                        <a:cs typeface="Geist" charset="0"/>
                      </a:endParaRPr>
                    </a:p>
                  </a:txBody>
                  <a:tcPr marL="0" marR="76200" marT="38100" marB="635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50" dirty="0">
                          <a:solidFill>
                            <a:srgbClr val="8A9A9D"/>
                          </a:solidFill>
                          <a:latin typeface="Geist" pitchFamily="34" charset="0"/>
                          <a:ea typeface="Geist" pitchFamily="34" charset="-122"/>
                          <a:cs typeface="Geist" pitchFamily="34" charset="-120"/>
                        </a:rPr>
                        <a:t>inside-out, lawyers inside</a:t>
                      </a:r>
                      <a:endParaRPr lang="en-US" sz="850" dirty="0">
                        <a:latin typeface="Geist" charset="0"/>
                        <a:ea typeface="Geist" charset="0"/>
                        <a:cs typeface="Geist" charset="0"/>
                      </a:endParaRPr>
                    </a:p>
                  </a:txBody>
                  <a:tcPr marL="0" marR="76200" marT="38100" marB="635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850" dirty="0">
                          <a:solidFill>
                            <a:srgbClr val="8A9A9D"/>
                          </a:solidFill>
                          <a:latin typeface="Geist" pitchFamily="34" charset="0"/>
                          <a:ea typeface="Geist" pitchFamily="34" charset="-122"/>
                          <a:cs typeface="Geist" pitchFamily="34" charset="-120"/>
                        </a:rPr>
                        <a:t>DataGuard, heyData, Secjur</a:t>
                      </a:r>
                      <a:endParaRPr lang="en-US" sz="850" dirty="0">
                        <a:latin typeface="Geist" charset="0"/>
                        <a:ea typeface="Geist" charset="0"/>
                        <a:cs typeface="Geist" charset="0"/>
                      </a:endParaRPr>
                    </a:p>
                  </a:txBody>
                  <a:tcPr marL="0" marR="76200" marT="38100" marB="635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50" dirty="0">
                          <a:solidFill>
                            <a:srgbClr val="8A9A9D"/>
                          </a:solidFill>
                          <a:latin typeface="Geist" pitchFamily="34" charset="0"/>
                          <a:ea typeface="Geist" pitchFamily="34" charset="-122"/>
                          <a:cs typeface="Geist" pitchFamily="34" charset="-120"/>
                        </a:rPr>
                        <a:t>OneTrust, Vanta, Drata</a:t>
                      </a:r>
                      <a:endParaRPr lang="en-US" sz="850" dirty="0">
                        <a:latin typeface="Geist" charset="0"/>
                        <a:ea typeface="Geist" charset="0"/>
                        <a:cs typeface="Geist" charset="0"/>
                      </a:endParaRPr>
                    </a:p>
                  </a:txBody>
                  <a:tcPr marL="0" marR="76200" marT="38100" marB="635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850" dirty="0">
                          <a:solidFill>
                            <a:srgbClr val="8A9A9D"/>
                          </a:solidFill>
                          <a:latin typeface="Geist" pitchFamily="34" charset="0"/>
                          <a:ea typeface="Geist" pitchFamily="34" charset="-122"/>
                          <a:cs typeface="Geist" pitchFamily="34" charset="-120"/>
                        </a:rPr>
                        <a:t>Credo AI, Holistic AI, trail</a:t>
                      </a:r>
                      <a:endParaRPr lang="en-US" sz="850" dirty="0">
                        <a:latin typeface="Geist" charset="0"/>
                        <a:ea typeface="Geist" charset="0"/>
                        <a:cs typeface="Geist" charset="0"/>
                      </a:endParaRPr>
                    </a:p>
                  </a:txBody>
                  <a:tcPr marL="0" marR="76200" marT="38100" marB="63500">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200" dirty="0">
                          <a:solidFill>
                            <a:srgbClr val="1C2B2F"/>
                          </a:solidFill>
                          <a:latin typeface="Geist Medium" pitchFamily="34" charset="0"/>
                          <a:ea typeface="Geist Medium" pitchFamily="34" charset="-122"/>
                          <a:cs typeface="Geist Medium" pitchFamily="34" charset="-120"/>
                        </a:rPr>
                        <a:t>Starts from your real systems, not a form</a:t>
                      </a:r>
                      <a:endParaRPr lang="en-US" sz="1200" dirty="0">
                        <a:latin typeface="Geist Medium" charset="0"/>
                        <a:ea typeface="Geist Medium" charset="0"/>
                        <a:cs typeface="Geist Medium" charset="0"/>
                      </a:endParaRPr>
                    </a:p>
                  </a:txBody>
                  <a:tcPr marL="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200" dirty="0">
                          <a:solidFill>
                            <a:srgbClr val="1C2B2F"/>
                          </a:solidFill>
                          <a:latin typeface="Geist Medium" pitchFamily="34" charset="0"/>
                          <a:ea typeface="Geist Medium" pitchFamily="34" charset="-122"/>
                          <a:cs typeface="Geist Medium" pitchFamily="34" charset="-120"/>
                        </a:rPr>
                        <a:t>GDPR, AI Act, NIS2 and DORA in one view</a:t>
                      </a:r>
                      <a:endParaRPr lang="en-US" sz="1200" dirty="0">
                        <a:latin typeface="Geist Medium" charset="0"/>
                        <a:ea typeface="Geist Medium" charset="0"/>
                        <a:cs typeface="Geist Medium" charset="0"/>
                      </a:endParaRPr>
                    </a:p>
                  </a:txBody>
                  <a:tcPr marL="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200" dirty="0">
                          <a:solidFill>
                            <a:srgbClr val="1C2B2F"/>
                          </a:solidFill>
                          <a:latin typeface="Geist Medium" pitchFamily="34" charset="0"/>
                          <a:ea typeface="Geist Medium" pitchFamily="34" charset="-122"/>
                          <a:cs typeface="Geist Medium" pitchFamily="34" charset="-120"/>
                        </a:rPr>
                        <a:t>Lawyer review built into the journey</a:t>
                      </a:r>
                      <a:endParaRPr lang="en-US" sz="1200" dirty="0">
                        <a:latin typeface="Geist Medium" charset="0"/>
                        <a:ea typeface="Geist Medium" charset="0"/>
                        <a:cs typeface="Geist Medium" charset="0"/>
                      </a:endParaRPr>
                    </a:p>
                  </a:txBody>
                  <a:tcPr marL="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200" dirty="0">
                          <a:solidFill>
                            <a:srgbClr val="1C2B2F"/>
                          </a:solidFill>
                          <a:latin typeface="Geist Medium" pitchFamily="34" charset="0"/>
                          <a:ea typeface="Geist Medium" pitchFamily="34" charset="-122"/>
                          <a:cs typeface="Geist Medium" pitchFamily="34" charset="-120"/>
                        </a:rPr>
                        <a:t>Stays current after the first assessment</a:t>
                      </a:r>
                      <a:endParaRPr lang="en-US" sz="1200" dirty="0">
                        <a:latin typeface="Geist Medium" charset="0"/>
                        <a:ea typeface="Geist Medium" charset="0"/>
                        <a:cs typeface="Geist Medium" charset="0"/>
                      </a:endParaRPr>
                    </a:p>
                  </a:txBody>
                  <a:tcPr marL="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r h="0">
                <a:tc>
                  <a:txBody>
                    <a:bodyPr/>
                    <a:lstStyle/>
                    <a:p>
                      <a:pPr indent="0" marL="0">
                        <a:buNone/>
                      </a:pPr>
                      <a:r>
                        <a:rPr lang="en-US" sz="1200" dirty="0">
                          <a:solidFill>
                            <a:srgbClr val="1C2B2F"/>
                          </a:solidFill>
                          <a:latin typeface="Geist Medium" pitchFamily="34" charset="0"/>
                          <a:ea typeface="Geist Medium" pitchFamily="34" charset="-122"/>
                          <a:cs typeface="Geist Medium" pitchFamily="34" charset="-120"/>
                        </a:rPr>
                        <a:t>Built to lower your legal bill</a:t>
                      </a:r>
                      <a:endParaRPr lang="en-US" sz="1200" dirty="0">
                        <a:latin typeface="Geist Medium" charset="0"/>
                        <a:ea typeface="Geist Medium" charset="0"/>
                        <a:cs typeface="Geist Medium" charset="0"/>
                      </a:endParaRPr>
                    </a:p>
                  </a:txBody>
                  <a:tcPr marL="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E7EDEC"/>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1C2B2F"/>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c>
                  <a:txBody>
                    <a:bodyPr/>
                    <a:lstStyle/>
                    <a:p>
                      <a:pPr algn="ctr" indent="0" marL="0">
                        <a:buNone/>
                      </a:pPr>
                      <a:r>
                        <a:rPr lang="en-US" sz="1200" dirty="0">
                          <a:solidFill>
                            <a:srgbClr val="8A9A9D"/>
                          </a:solidFill>
                          <a:latin typeface="Geist" pitchFamily="34" charset="0"/>
                          <a:ea typeface="Geist" pitchFamily="34" charset="-122"/>
                          <a:cs typeface="Geist" pitchFamily="34" charset="-120"/>
                        </a:rPr>
                        <a:t>○</a:t>
                      </a:r>
                      <a:endParaRPr lang="en-US" sz="1200" dirty="0">
                        <a:latin typeface="Geist" charset="0"/>
                        <a:ea typeface="Geist" charset="0"/>
                        <a:cs typeface="Geist" charset="0"/>
                      </a:endParaRPr>
                    </a:p>
                  </a:txBody>
                  <a:tcPr marL="76200" marR="76200" marT="101600" marB="101600" anchor="ctr">
                    <a:lnL w="0" cap="flat" cmpd="sng" algn="ctr">
                      <a:noFill/>
                    </a:lnL>
                    <a:lnR w="0" cap="flat" cmpd="sng" algn="ctr">
                      <a:noFill/>
                    </a:lnR>
                    <a:lnT w="0" cap="flat" cmpd="sng" algn="ctr">
                      <a:noFill/>
                    </a:lnT>
                    <a:lnB w="6350" cap="flat" cmpd="sng" algn="ctr">
                      <a:solidFill>
                        <a:srgbClr val="E3E0D7"/>
                      </a:solidFill>
                      <a:prstDash val="solid"/>
                      <a:round/>
                      <a:headEnd type="none" w="med" len="med"/>
                      <a:tailEnd type="none" w="med" len="med"/>
                    </a:lnB>
                    <a:solidFill>
                      <a:srgbClr val="F6F4EE"/>
                    </a:solidFill>
                  </a:tcPr>
                </a:tc>
              </a:tr>
            </a:tbl>
          </a:graphicData>
        </a:graphic>
      </p:graphicFrame>
      <p:sp>
        <p:nvSpPr>
          <p:cNvPr id="7" name="Text 4"/>
          <p:cNvSpPr txBox="1"/>
          <p:nvPr/>
        </p:nvSpPr>
        <p:spPr>
          <a:xfrm>
            <a:off x="548640" y="5687568"/>
            <a:ext cx="11094415"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 Yes     ◐ Partly, or at extra cost     ○ Not the focus.   Closest single players: Justima (law-firm-backed monitoring) and Norm Ai (US finance only).</a:t>
            </a:r>
            <a:endParaRPr lang="en-US" sz="1000" dirty="0"/>
          </a:p>
        </p:txBody>
      </p:sp>
      <p:sp>
        <p:nvSpPr>
          <p:cNvPr id="8" name="Text 5"/>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 Regulift market scan of public product pages and funding announcements, 14 Oct 2026, twelve vendors. Vendor names are examples per category.</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02  Solution.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application to the EIT Community AI Entrepreneurs Lab 2026</a:t>
            </a:r>
            <a:endParaRPr lang="en-US" sz="1000" dirty="0"/>
          </a:p>
        </p:txBody>
      </p:sp>
      <p:sp>
        <p:nvSpPr>
          <p:cNvPr id="4" name="Text 3"/>
          <p:cNvSpPr/>
          <p:nvPr>
            <p:ph idx="105" type="title" hasCustomPrompt="1"/>
          </p:nvPr>
        </p:nvSpPr>
        <p:spPr>
          <a:xfrm>
            <a:off x="548640" y="1737360"/>
            <a:ext cx="5760720" cy="2834640"/>
          </a:xfrm>
          <a:prstGeom prst="rect">
            <a:avLst/>
          </a:prstGeom>
          <a:noFill/>
          <a:ln/>
        </p:spPr>
        <p:txBody>
          <a:bodyPr wrap="square" lIns="0" tIns="0" rIns="0" bIns="0" rtlCol="0" anchor="t"/>
          <a:lstStyle/>
          <a:p>
            <a:pPr algn="l" indent="0" marL="0">
              <a:buNone/>
            </a:pPr>
            <a:r>
              <a:rPr lang="en-US" sz="4000" spc="-100" kern="0" dirty="0">
                <a:solidFill>
                  <a:srgbClr val="1C2B2F"/>
                </a:solidFill>
                <a:latin typeface="Geist Medium" pitchFamily="34" charset="0"/>
                <a:ea typeface="Geist Medium" pitchFamily="34" charset="-122"/>
                <a:cs typeface="Geist Medium" pitchFamily="34" charset="-120"/>
              </a:rPr>
              <a:t>Others ask. We read.</a:t>
            </a:r>
            <a:endParaRPr lang="en-US" sz="4000" dirty="0"/>
          </a:p>
        </p:txBody>
      </p:sp>
      <p:sp>
        <p:nvSpPr>
          <p:cNvPr id="5" name="Text 3"/>
          <p:cNvSpPr/>
          <p:nvPr>
            <p:ph idx="106" type="body" hasCustomPrompt="1"/>
          </p:nvPr>
        </p:nvSpPr>
        <p:spPr>
          <a:xfrm>
            <a:off x="548640" y="4709160"/>
            <a:ext cx="5120640" cy="1280160"/>
          </a:xfrm>
          <a:prstGeom prst="rect">
            <a:avLst/>
          </a:prstGeom>
          <a:noFill/>
          <a:ln/>
        </p:spPr>
        <p:txBody>
          <a:bodyPr wrap="square" lIns="0" tIns="0" rIns="0" bIns="0" rtlCol="0" anchor="t"/>
          <a:lstStyle/>
          <a:p>
            <a:pPr algn="l" indent="0" marL="0">
              <a:buNone/>
            </a:pPr>
            <a:r>
              <a:rPr lang="en-US" sz="1300" dirty="0">
                <a:solidFill>
                  <a:srgbClr val="55676B"/>
                </a:solidFill>
                <a:latin typeface="Geist" pitchFamily="34" charset="0"/>
                <a:ea typeface="Geist" pitchFamily="34" charset="-122"/>
                <a:cs typeface="Geist" pitchFamily="34" charset="-120"/>
              </a:rPr>
              <a:t>The solution section shows the inside-out model, where the data goes and where it does not, the three steps from connection to legal confirmation, why AI is central to it, and what exists today.</a:t>
            </a:r>
            <a:endParaRPr lang="en-US" sz="1300" dirty="0"/>
          </a:p>
        </p:txBody>
      </p:sp>
      <p:pic>
        <p:nvPicPr>
          <p:cNvPr id="6" name="Image 0" descr="/tmp/claude-1000/-home-andi/f48438b4-0a16-4bf3-84ad-6f8357b43e23/scratchpad/deckbuild/img/foam-r.png">    </p:cNvPr>
          <p:cNvPicPr>
            <a:picLocks noChangeAspect="1"/>
          </p:cNvPicPr>
          <p:nvPr/>
        </p:nvPicPr>
        <p:blipFill>
          <a:blip r:embed="rId1"/>
          <a:stretch>
            <a:fillRect/>
          </a:stretch>
        </p:blipFill>
        <p:spPr>
          <a:xfrm>
            <a:off x="6705295" y="914400"/>
            <a:ext cx="4937760" cy="5212080"/>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Inside-out, not outside-in.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The usual way, and ours</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Outside-in asks. Inside-out reads</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Outside-in tools rely on memory and produce a snapshot that is out of date a week later. Inside-out starts from the systems themselves, with read-only access, and stays current as they change.</a:t>
            </a:r>
            <a:endParaRPr lang="en-US" sz="1400" dirty="0"/>
          </a:p>
        </p:txBody>
      </p:sp>
      <p:sp>
        <p:nvSpPr>
          <p:cNvPr id="6" name="Shape 4"/>
          <p:cNvSpPr/>
          <p:nvPr/>
        </p:nvSpPr>
        <p:spPr>
          <a:xfrm>
            <a:off x="548640" y="2514600"/>
            <a:ext cx="5318608" cy="0"/>
          </a:xfrm>
          <a:prstGeom prst="line">
            <a:avLst/>
          </a:prstGeom>
          <a:noFill/>
          <a:ln w="9525">
            <a:solidFill>
              <a:srgbClr val="1C2B2F"/>
            </a:solidFill>
            <a:prstDash val="solid"/>
          </a:ln>
        </p:spPr>
      </p:sp>
      <p:sp>
        <p:nvSpPr>
          <p:cNvPr id="7" name="Text 5"/>
          <p:cNvSpPr txBox="1"/>
          <p:nvPr/>
        </p:nvSpPr>
        <p:spPr>
          <a:xfrm>
            <a:off x="548640" y="2651760"/>
            <a:ext cx="5318608" cy="41148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The usual way: outside-in</a:t>
            </a:r>
            <a:endParaRPr lang="en-US" sz="1800" dirty="0"/>
          </a:p>
        </p:txBody>
      </p:sp>
      <p:sp>
        <p:nvSpPr>
          <p:cNvPr id="8" name="Shape 6"/>
          <p:cNvSpPr/>
          <p:nvPr/>
        </p:nvSpPr>
        <p:spPr>
          <a:xfrm>
            <a:off x="548640" y="3200400"/>
            <a:ext cx="5318608" cy="0"/>
          </a:xfrm>
          <a:prstGeom prst="line">
            <a:avLst/>
          </a:prstGeom>
          <a:noFill/>
          <a:ln w="9525">
            <a:solidFill>
              <a:srgbClr val="E3E0D7"/>
            </a:solidFill>
            <a:prstDash val="solid"/>
          </a:ln>
        </p:spPr>
      </p:sp>
      <p:sp>
        <p:nvSpPr>
          <p:cNvPr id="9" name="Text 7"/>
          <p:cNvSpPr txBox="1"/>
          <p:nvPr/>
        </p:nvSpPr>
        <p:spPr>
          <a:xfrm>
            <a:off x="548640" y="3310128"/>
            <a:ext cx="274320" cy="36576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0" name="Text 8"/>
          <p:cNvSpPr txBox="1"/>
          <p:nvPr/>
        </p:nvSpPr>
        <p:spPr>
          <a:xfrm>
            <a:off x="868680" y="3310128"/>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Forms and interviews that rely on memory</a:t>
            </a:r>
            <a:endParaRPr lang="en-US" sz="1300" dirty="0"/>
          </a:p>
        </p:txBody>
      </p:sp>
      <p:sp>
        <p:nvSpPr>
          <p:cNvPr id="11" name="Shape 9"/>
          <p:cNvSpPr/>
          <p:nvPr/>
        </p:nvSpPr>
        <p:spPr>
          <a:xfrm>
            <a:off x="548640" y="3767328"/>
            <a:ext cx="5318608" cy="0"/>
          </a:xfrm>
          <a:prstGeom prst="line">
            <a:avLst/>
          </a:prstGeom>
          <a:noFill/>
          <a:ln w="9525">
            <a:solidFill>
              <a:srgbClr val="E3E0D7"/>
            </a:solidFill>
            <a:prstDash val="solid"/>
          </a:ln>
        </p:spPr>
      </p:sp>
      <p:sp>
        <p:nvSpPr>
          <p:cNvPr id="12" name="Text 10"/>
          <p:cNvSpPr txBox="1"/>
          <p:nvPr/>
        </p:nvSpPr>
        <p:spPr>
          <a:xfrm>
            <a:off x="548640" y="3877056"/>
            <a:ext cx="274320" cy="36576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3" name="Text 11"/>
          <p:cNvSpPr txBox="1"/>
          <p:nvPr/>
        </p:nvSpPr>
        <p:spPr>
          <a:xfrm>
            <a:off x="868680" y="3877056"/>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A snapshot that is out of date the week after</a:t>
            </a:r>
            <a:endParaRPr lang="en-US" sz="1300" dirty="0"/>
          </a:p>
        </p:txBody>
      </p:sp>
      <p:sp>
        <p:nvSpPr>
          <p:cNvPr id="14" name="Shape 12"/>
          <p:cNvSpPr/>
          <p:nvPr/>
        </p:nvSpPr>
        <p:spPr>
          <a:xfrm>
            <a:off x="548640" y="4334256"/>
            <a:ext cx="5318608" cy="0"/>
          </a:xfrm>
          <a:prstGeom prst="line">
            <a:avLst/>
          </a:prstGeom>
          <a:noFill/>
          <a:ln w="9525">
            <a:solidFill>
              <a:srgbClr val="E3E0D7"/>
            </a:solidFill>
            <a:prstDash val="solid"/>
          </a:ln>
        </p:spPr>
      </p:sp>
      <p:sp>
        <p:nvSpPr>
          <p:cNvPr id="15" name="Text 13"/>
          <p:cNvSpPr txBox="1"/>
          <p:nvPr/>
        </p:nvSpPr>
        <p:spPr>
          <a:xfrm>
            <a:off x="548640" y="4443984"/>
            <a:ext cx="274320" cy="36576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6" name="Text 14"/>
          <p:cNvSpPr txBox="1"/>
          <p:nvPr/>
        </p:nvSpPr>
        <p:spPr>
          <a:xfrm>
            <a:off x="868680" y="4443984"/>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Billable hours spent collecting facts, not giving advice</a:t>
            </a:r>
            <a:endParaRPr lang="en-US" sz="1300" dirty="0"/>
          </a:p>
        </p:txBody>
      </p:sp>
      <p:sp>
        <p:nvSpPr>
          <p:cNvPr id="17" name="Shape 15"/>
          <p:cNvSpPr/>
          <p:nvPr/>
        </p:nvSpPr>
        <p:spPr>
          <a:xfrm>
            <a:off x="548640" y="4901184"/>
            <a:ext cx="5318608" cy="0"/>
          </a:xfrm>
          <a:prstGeom prst="line">
            <a:avLst/>
          </a:prstGeom>
          <a:noFill/>
          <a:ln w="9525">
            <a:solidFill>
              <a:srgbClr val="E3E0D7"/>
            </a:solidFill>
            <a:prstDash val="solid"/>
          </a:ln>
        </p:spPr>
      </p:sp>
      <p:sp>
        <p:nvSpPr>
          <p:cNvPr id="18" name="Text 16"/>
          <p:cNvSpPr txBox="1"/>
          <p:nvPr/>
        </p:nvSpPr>
        <p:spPr>
          <a:xfrm>
            <a:off x="548640" y="5010912"/>
            <a:ext cx="274320" cy="365760"/>
          </a:xfrm>
          <a:prstGeom prst="rect">
            <a:avLst/>
          </a:prstGeom>
          <a:noFill/>
          <a:ln/>
        </p:spPr>
        <p:txBody>
          <a:bodyPr wrap="square" lIns="0" tIns="0" rIns="0" bIns="0" rtlCol="0" anchor="ctr"/>
          <a:lstStyle/>
          <a:p>
            <a:pPr indent="0" marL="0">
              <a:buNone/>
            </a:pPr>
            <a:r>
              <a:rPr lang="en-US" sz="1100" dirty="0">
                <a:solidFill>
                  <a:srgbClr val="8A9A9D"/>
                </a:solidFill>
                <a:latin typeface="Geist" pitchFamily="34" charset="0"/>
                <a:ea typeface="Geist" pitchFamily="34" charset="-122"/>
                <a:cs typeface="Geist" pitchFamily="34" charset="-120"/>
              </a:rPr>
              <a:t>○</a:t>
            </a:r>
            <a:endParaRPr lang="en-US" sz="1100" dirty="0"/>
          </a:p>
        </p:txBody>
      </p:sp>
      <p:sp>
        <p:nvSpPr>
          <p:cNvPr id="19" name="Text 17"/>
          <p:cNvSpPr txBox="1"/>
          <p:nvPr/>
        </p:nvSpPr>
        <p:spPr>
          <a:xfrm>
            <a:off x="868680" y="5010912"/>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Evidence assembled by hand before every review</a:t>
            </a:r>
            <a:endParaRPr lang="en-US" sz="1300" dirty="0"/>
          </a:p>
        </p:txBody>
      </p:sp>
      <p:sp>
        <p:nvSpPr>
          <p:cNvPr id="20" name="Shape 18"/>
          <p:cNvSpPr/>
          <p:nvPr/>
        </p:nvSpPr>
        <p:spPr>
          <a:xfrm>
            <a:off x="6324448" y="2514600"/>
            <a:ext cx="5318608" cy="0"/>
          </a:xfrm>
          <a:prstGeom prst="line">
            <a:avLst/>
          </a:prstGeom>
          <a:noFill/>
          <a:ln w="9525">
            <a:solidFill>
              <a:srgbClr val="1C2B2F"/>
            </a:solidFill>
            <a:prstDash val="solid"/>
          </a:ln>
        </p:spPr>
      </p:sp>
      <p:sp>
        <p:nvSpPr>
          <p:cNvPr id="21" name="Text 19"/>
          <p:cNvSpPr txBox="1"/>
          <p:nvPr/>
        </p:nvSpPr>
        <p:spPr>
          <a:xfrm>
            <a:off x="6324448" y="2651760"/>
            <a:ext cx="5318608" cy="41148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The Regulift way: inside-out</a:t>
            </a:r>
            <a:endParaRPr lang="en-US" sz="1800" dirty="0"/>
          </a:p>
        </p:txBody>
      </p:sp>
      <p:sp>
        <p:nvSpPr>
          <p:cNvPr id="22" name="Shape 20"/>
          <p:cNvSpPr/>
          <p:nvPr/>
        </p:nvSpPr>
        <p:spPr>
          <a:xfrm>
            <a:off x="6324448" y="3200400"/>
            <a:ext cx="5318608" cy="0"/>
          </a:xfrm>
          <a:prstGeom prst="line">
            <a:avLst/>
          </a:prstGeom>
          <a:noFill/>
          <a:ln w="9525">
            <a:solidFill>
              <a:srgbClr val="E3E0D7"/>
            </a:solidFill>
            <a:prstDash val="solid"/>
          </a:ln>
        </p:spPr>
      </p:sp>
      <p:sp>
        <p:nvSpPr>
          <p:cNvPr id="23" name="Text 21"/>
          <p:cNvSpPr txBox="1"/>
          <p:nvPr/>
        </p:nvSpPr>
        <p:spPr>
          <a:xfrm>
            <a:off x="6324448" y="3310128"/>
            <a:ext cx="274320" cy="36576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24" name="Text 22"/>
          <p:cNvSpPr txBox="1"/>
          <p:nvPr/>
        </p:nvSpPr>
        <p:spPr>
          <a:xfrm>
            <a:off x="6644488" y="3310128"/>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Connects to repositories, cloud, HR and CRM tools with read-only access</a:t>
            </a:r>
            <a:endParaRPr lang="en-US" sz="1300" dirty="0"/>
          </a:p>
        </p:txBody>
      </p:sp>
      <p:sp>
        <p:nvSpPr>
          <p:cNvPr id="25" name="Shape 23"/>
          <p:cNvSpPr/>
          <p:nvPr/>
        </p:nvSpPr>
        <p:spPr>
          <a:xfrm>
            <a:off x="6324448" y="3767328"/>
            <a:ext cx="5318608" cy="0"/>
          </a:xfrm>
          <a:prstGeom prst="line">
            <a:avLst/>
          </a:prstGeom>
          <a:noFill/>
          <a:ln w="9525">
            <a:solidFill>
              <a:srgbClr val="E3E0D7"/>
            </a:solidFill>
            <a:prstDash val="solid"/>
          </a:ln>
        </p:spPr>
      </p:sp>
      <p:sp>
        <p:nvSpPr>
          <p:cNvPr id="26" name="Text 24"/>
          <p:cNvSpPr txBox="1"/>
          <p:nvPr/>
        </p:nvSpPr>
        <p:spPr>
          <a:xfrm>
            <a:off x="6324448" y="3877056"/>
            <a:ext cx="274320" cy="36576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27" name="Text 25"/>
          <p:cNvSpPr txBox="1"/>
          <p:nvPr/>
        </p:nvSpPr>
        <p:spPr>
          <a:xfrm>
            <a:off x="6644488" y="3877056"/>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Builds the data and AI inventory from real flows, not recollection</a:t>
            </a:r>
            <a:endParaRPr lang="en-US" sz="1300" dirty="0"/>
          </a:p>
        </p:txBody>
      </p:sp>
      <p:sp>
        <p:nvSpPr>
          <p:cNvPr id="28" name="Shape 26"/>
          <p:cNvSpPr/>
          <p:nvPr/>
        </p:nvSpPr>
        <p:spPr>
          <a:xfrm>
            <a:off x="6324448" y="4334256"/>
            <a:ext cx="5318608" cy="0"/>
          </a:xfrm>
          <a:prstGeom prst="line">
            <a:avLst/>
          </a:prstGeom>
          <a:noFill/>
          <a:ln w="9525">
            <a:solidFill>
              <a:srgbClr val="E3E0D7"/>
            </a:solidFill>
            <a:prstDash val="solid"/>
          </a:ln>
        </p:spPr>
      </p:sp>
      <p:sp>
        <p:nvSpPr>
          <p:cNvPr id="29" name="Text 27"/>
          <p:cNvSpPr txBox="1"/>
          <p:nvPr/>
        </p:nvSpPr>
        <p:spPr>
          <a:xfrm>
            <a:off x="6324448" y="4443984"/>
            <a:ext cx="274320" cy="36576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30" name="Text 28"/>
          <p:cNvSpPr txBox="1"/>
          <p:nvPr/>
        </p:nvSpPr>
        <p:spPr>
          <a:xfrm>
            <a:off x="6644488" y="4443984"/>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Stays current as the systems change</a:t>
            </a:r>
            <a:endParaRPr lang="en-US" sz="1300" dirty="0"/>
          </a:p>
        </p:txBody>
      </p:sp>
      <p:sp>
        <p:nvSpPr>
          <p:cNvPr id="31" name="Shape 29"/>
          <p:cNvSpPr/>
          <p:nvPr/>
        </p:nvSpPr>
        <p:spPr>
          <a:xfrm>
            <a:off x="6324448" y="4901184"/>
            <a:ext cx="5318608" cy="0"/>
          </a:xfrm>
          <a:prstGeom prst="line">
            <a:avLst/>
          </a:prstGeom>
          <a:noFill/>
          <a:ln w="9525">
            <a:solidFill>
              <a:srgbClr val="E3E0D7"/>
            </a:solidFill>
            <a:prstDash val="solid"/>
          </a:ln>
        </p:spPr>
      </p:sp>
      <p:sp>
        <p:nvSpPr>
          <p:cNvPr id="32" name="Text 30"/>
          <p:cNvSpPr txBox="1"/>
          <p:nvPr/>
        </p:nvSpPr>
        <p:spPr>
          <a:xfrm>
            <a:off x="6324448" y="5010912"/>
            <a:ext cx="274320" cy="365760"/>
          </a:xfrm>
          <a:prstGeom prst="rect">
            <a:avLst/>
          </a:prstGeom>
          <a:noFill/>
          <a:ln/>
        </p:spPr>
        <p:txBody>
          <a:bodyPr wrap="square" lIns="0" tIns="0" rIns="0" bIns="0" rtlCol="0" anchor="ctr"/>
          <a:lstStyle/>
          <a:p>
            <a:pPr indent="0" marL="0">
              <a:buNone/>
            </a:pPr>
            <a:r>
              <a:rPr lang="en-US" sz="1100" dirty="0">
                <a:solidFill>
                  <a:srgbClr val="1C2B2F"/>
                </a:solidFill>
                <a:latin typeface="Geist" pitchFamily="34" charset="0"/>
                <a:ea typeface="Geist" pitchFamily="34" charset="-122"/>
                <a:cs typeface="Geist" pitchFamily="34" charset="-120"/>
              </a:rPr>
              <a:t>●</a:t>
            </a:r>
            <a:endParaRPr lang="en-US" sz="1100" dirty="0"/>
          </a:p>
        </p:txBody>
      </p:sp>
      <p:sp>
        <p:nvSpPr>
          <p:cNvPr id="33" name="Text 31"/>
          <p:cNvSpPr txBox="1"/>
          <p:nvPr/>
        </p:nvSpPr>
        <p:spPr>
          <a:xfrm>
            <a:off x="6644488" y="5010912"/>
            <a:ext cx="4952848" cy="438912"/>
          </a:xfrm>
          <a:prstGeom prst="rect">
            <a:avLst/>
          </a:prstGeom>
          <a:noFill/>
          <a:ln/>
        </p:spPr>
        <p:txBody>
          <a:bodyPr wrap="square" lIns="0" tIns="0" rIns="0" bIns="0" rtlCol="0" anchor="t"/>
          <a:lstStyle/>
          <a:p>
            <a:pPr indent="0" marL="0">
              <a:buNone/>
            </a:pPr>
            <a:r>
              <a:rPr lang="en-US" sz="1300" dirty="0">
                <a:solidFill>
                  <a:srgbClr val="1C2B2F"/>
                </a:solidFill>
                <a:latin typeface="Geist" pitchFamily="34" charset="0"/>
                <a:ea typeface="Geist" pitchFamily="34" charset="-122"/>
                <a:cs typeface="Geist" pitchFamily="34" charset="-120"/>
              </a:rPr>
              <a:t>Hands lawyers evidence, so their hours go to judgement</a:t>
            </a:r>
            <a:endParaRPr lang="en-US" sz="1300" dirty="0"/>
          </a:p>
        </p:txBody>
      </p:sp>
      <p:sp>
        <p:nvSpPr>
          <p:cNvPr id="34" name="Text 32"/>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Read-only access, hosting in Europe and export of the full record are design principles of the platform. See regulift website, section Inside-out.</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Where the data goes.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Read-only, approved by the company</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Context leaves. The data stays</a:t>
            </a:r>
            <a:endParaRPr lang="en-US" sz="3000" dirty="0"/>
          </a:p>
        </p:txBody>
      </p:sp>
      <p:sp>
        <p:nvSpPr>
          <p:cNvPr id="5" name="Text 3"/>
          <p:cNvSpPr txBox="1"/>
          <p:nvPr/>
        </p:nvSpPr>
        <p:spPr>
          <a:xfrm>
            <a:off x="548640" y="1783080"/>
            <a:ext cx="8229600"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A collector reads inside the company and writes a report about what runs and where data flows, never the records themselves. One named representative approves the report. Only then does it reach the Regulift platform.</a:t>
            </a:r>
            <a:endParaRPr lang="en-US" sz="1400" dirty="0"/>
          </a:p>
        </p:txBody>
      </p:sp>
      <p:pic>
        <p:nvPicPr>
          <p:cNvPr id="6" name="Image 0" descr="/tmp/claude-1000/-home-andi/f48438b4-0a16-4bf3-84ad-6f8357b43e23/scratchpad/deckbuild/img/flow.png">    </p:cNvPr>
          <p:cNvPicPr>
            <a:picLocks noChangeAspect="1"/>
          </p:cNvPicPr>
          <p:nvPr/>
        </p:nvPicPr>
        <p:blipFill>
          <a:blip r:embed="rId1"/>
          <a:stretch>
            <a:fillRect/>
          </a:stretch>
        </p:blipFill>
        <p:spPr>
          <a:xfrm>
            <a:off x="548640" y="2514600"/>
            <a:ext cx="11094415" cy="2877614"/>
          </a:xfrm>
          <a:prstGeom prst="rect">
            <a:avLst/>
          </a:prstGeom>
        </p:spPr>
      </p:pic>
      <p:sp>
        <p:nvSpPr>
          <p:cNvPr id="7" name="Text 4"/>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Diagram from the Regulift website. The approval step is a product rule, not an option.</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How it works.</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Technology first, human expertise next</a:t>
            </a:r>
            <a:endParaRPr lang="en-US" sz="1000" dirty="0"/>
          </a:p>
        </p:txBody>
      </p:sp>
      <p:sp>
        <p:nvSpPr>
          <p:cNvPr id="4" name="Shape 2"/>
          <p:cNvSpPr/>
          <p:nvPr/>
        </p:nvSpPr>
        <p:spPr>
          <a:xfrm>
            <a:off x="548640" y="1920240"/>
            <a:ext cx="3454298" cy="0"/>
          </a:xfrm>
          <a:prstGeom prst="line">
            <a:avLst/>
          </a:prstGeom>
          <a:noFill/>
          <a:ln w="9525">
            <a:solidFill>
              <a:srgbClr val="1C2B2F"/>
            </a:solidFill>
            <a:prstDash val="solid"/>
          </a:ln>
        </p:spPr>
      </p:sp>
      <p:sp>
        <p:nvSpPr>
          <p:cNvPr id="5" name="Text 3"/>
          <p:cNvSpPr txBox="1"/>
          <p:nvPr/>
        </p:nvSpPr>
        <p:spPr>
          <a:xfrm>
            <a:off x="548640" y="204825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01</a:t>
            </a:r>
            <a:endParaRPr lang="en-US" sz="1000" dirty="0"/>
          </a:p>
        </p:txBody>
      </p:sp>
      <p:sp>
        <p:nvSpPr>
          <p:cNvPr id="6" name="Text 4"/>
          <p:cNvSpPr txBox="1"/>
          <p:nvPr/>
        </p:nvSpPr>
        <p:spPr>
          <a:xfrm>
            <a:off x="548640" y="237744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Understand</a:t>
            </a:r>
            <a:endParaRPr lang="en-US" sz="2000" dirty="0"/>
          </a:p>
        </p:txBody>
      </p:sp>
      <p:sp>
        <p:nvSpPr>
          <p:cNvPr id="7" name="Text 5"/>
          <p:cNvSpPr txBox="1"/>
          <p:nvPr/>
        </p:nvSpPr>
        <p:spPr>
          <a:xfrm>
            <a:off x="548640" y="2880360"/>
            <a:ext cx="3454298" cy="178308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Regulift maps the company's data flows, AI use and third parties from the approved report and builds the context for an assessment that fits the business.</a:t>
            </a:r>
            <a:endParaRPr lang="en-US" sz="1300" dirty="0"/>
          </a:p>
        </p:txBody>
      </p:sp>
      <p:sp>
        <p:nvSpPr>
          <p:cNvPr id="8" name="Shape 6"/>
          <p:cNvSpPr/>
          <p:nvPr/>
        </p:nvSpPr>
        <p:spPr>
          <a:xfrm>
            <a:off x="4368698" y="1920240"/>
            <a:ext cx="3454298" cy="0"/>
          </a:xfrm>
          <a:prstGeom prst="line">
            <a:avLst/>
          </a:prstGeom>
          <a:noFill/>
          <a:ln w="9525">
            <a:solidFill>
              <a:srgbClr val="1C2B2F"/>
            </a:solidFill>
            <a:prstDash val="solid"/>
          </a:ln>
        </p:spPr>
      </p:sp>
      <p:sp>
        <p:nvSpPr>
          <p:cNvPr id="9" name="Text 7"/>
          <p:cNvSpPr txBox="1"/>
          <p:nvPr/>
        </p:nvSpPr>
        <p:spPr>
          <a:xfrm>
            <a:off x="4368698" y="204825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02</a:t>
            </a:r>
            <a:endParaRPr lang="en-US" sz="1000" dirty="0"/>
          </a:p>
        </p:txBody>
      </p:sp>
      <p:sp>
        <p:nvSpPr>
          <p:cNvPr id="10" name="Text 8"/>
          <p:cNvSpPr txBox="1"/>
          <p:nvPr/>
        </p:nvSpPr>
        <p:spPr>
          <a:xfrm>
            <a:off x="4368698" y="237744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Improve</a:t>
            </a:r>
            <a:endParaRPr lang="en-US" sz="2000" dirty="0"/>
          </a:p>
        </p:txBody>
      </p:sp>
      <p:sp>
        <p:nvSpPr>
          <p:cNvPr id="11" name="Text 9"/>
          <p:cNvSpPr txBox="1"/>
          <p:nvPr/>
        </p:nvSpPr>
        <p:spPr>
          <a:xfrm>
            <a:off x="4368698" y="2880360"/>
            <a:ext cx="3454298" cy="178308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Every missing piece of evidence becomes a concrete action, ranked by what matters most. Most of them close without a lawyer: a processing agreement, a retention schedule, an incident playbook.</a:t>
            </a:r>
            <a:endParaRPr lang="en-US" sz="1300" dirty="0"/>
          </a:p>
        </p:txBody>
      </p:sp>
      <p:sp>
        <p:nvSpPr>
          <p:cNvPr id="12" name="Shape 10"/>
          <p:cNvSpPr/>
          <p:nvPr/>
        </p:nvSpPr>
        <p:spPr>
          <a:xfrm>
            <a:off x="8188757" y="1920240"/>
            <a:ext cx="3454298" cy="0"/>
          </a:xfrm>
          <a:prstGeom prst="line">
            <a:avLst/>
          </a:prstGeom>
          <a:noFill/>
          <a:ln w="9525">
            <a:solidFill>
              <a:srgbClr val="1C2B2F"/>
            </a:solidFill>
            <a:prstDash val="solid"/>
          </a:ln>
        </p:spPr>
      </p:sp>
      <p:sp>
        <p:nvSpPr>
          <p:cNvPr id="13" name="Text 11"/>
          <p:cNvSpPr txBox="1"/>
          <p:nvPr/>
        </p:nvSpPr>
        <p:spPr>
          <a:xfrm>
            <a:off x="8188757" y="204825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03</a:t>
            </a:r>
            <a:endParaRPr lang="en-US" sz="1000" dirty="0"/>
          </a:p>
        </p:txBody>
      </p:sp>
      <p:sp>
        <p:nvSpPr>
          <p:cNvPr id="14" name="Text 12"/>
          <p:cNvSpPr txBox="1"/>
          <p:nvPr/>
        </p:nvSpPr>
        <p:spPr>
          <a:xfrm>
            <a:off x="8188757" y="237744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Review</a:t>
            </a:r>
            <a:endParaRPr lang="en-US" sz="2000" dirty="0"/>
          </a:p>
        </p:txBody>
      </p:sp>
      <p:sp>
        <p:nvSpPr>
          <p:cNvPr id="15" name="Text 13"/>
          <p:cNvSpPr txBox="1"/>
          <p:nvPr/>
        </p:nvSpPr>
        <p:spPr>
          <a:xfrm>
            <a:off x="8188757" y="2880360"/>
            <a:ext cx="3454298" cy="178308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Partner lawyers are ready inside Regulift when the company is. They open the same workspace, with inventory, evidence and open items already in place, and confirm compliance in writing.</a:t>
            </a:r>
            <a:endParaRPr lang="en-US" sz="1300" dirty="0"/>
          </a:p>
        </p:txBody>
      </p:sp>
      <p:sp>
        <p:nvSpPr>
          <p:cNvPr id="16" name="Shape 14"/>
          <p:cNvSpPr/>
          <p:nvPr/>
        </p:nvSpPr>
        <p:spPr>
          <a:xfrm>
            <a:off x="548640" y="4846320"/>
            <a:ext cx="11094415" cy="1005840"/>
          </a:xfrm>
          <a:prstGeom prst="roundRect">
            <a:avLst>
              <a:gd name="adj" fmla="val 7273"/>
            </a:avLst>
          </a:prstGeom>
          <a:solidFill>
            <a:srgbClr val="E7EDEC"/>
          </a:solidFill>
          <a:ln w="9525">
            <a:solidFill>
              <a:srgbClr val="E7EDEC"/>
            </a:solidFill>
            <a:prstDash val="solid"/>
          </a:ln>
        </p:spPr>
      </p:sp>
      <p:sp>
        <p:nvSpPr>
          <p:cNvPr id="17" name="Text 15"/>
          <p:cNvSpPr txBox="1"/>
          <p:nvPr/>
        </p:nvSpPr>
        <p:spPr>
          <a:xfrm>
            <a:off x="822960" y="5010912"/>
            <a:ext cx="3291840" cy="36576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Real lawyers, when it matters</a:t>
            </a:r>
            <a:endParaRPr lang="en-US" sz="1600" dirty="0"/>
          </a:p>
        </p:txBody>
      </p:sp>
      <p:sp>
        <p:nvSpPr>
          <p:cNvPr id="18" name="Text 16"/>
          <p:cNvSpPr txBox="1"/>
          <p:nvPr/>
        </p:nvSpPr>
        <p:spPr>
          <a:xfrm>
            <a:off x="4206240" y="5010912"/>
            <a:ext cx="7162495" cy="731520"/>
          </a:xfrm>
          <a:prstGeom prst="rect">
            <a:avLst/>
          </a:prstGeom>
          <a:noFill/>
          <a:ln/>
        </p:spPr>
        <p:txBody>
          <a:bodyPr wrap="square" lIns="0" tIns="0" rIns="0" bIns="0" rtlCol="0" anchor="t"/>
          <a:lstStyle/>
          <a:p>
            <a:pPr indent="0" marL="0">
              <a:buNone/>
            </a:pPr>
            <a:r>
              <a:rPr lang="en-US" sz="1250" dirty="0">
                <a:solidFill>
                  <a:srgbClr val="1C2B2F"/>
                </a:solidFill>
                <a:latin typeface="Geist" pitchFamily="34" charset="0"/>
                <a:ea typeface="Geist" pitchFamily="34" charset="-122"/>
                <a:cs typeface="Geist" pitchFamily="34" charset="-120"/>
              </a:rPr>
              <a:t>Partner law firms are part of Regulift. The platform prepares the evidence. Advice comes from a lawyer, never from a model. Certification is a label only some regulations offer; a lawyer's written confirmation of compliance is what customers and auditors actually ask for.</a:t>
            </a:r>
            <a:endParaRPr lang="en-US" sz="1250" dirty="0"/>
          </a:p>
        </p:txBody>
      </p:sp>
      <p:sp>
        <p:nvSpPr>
          <p:cNvPr id="20"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Why AI is central.</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Two layers, one legal safe harbour</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AI does the groundwork. People make the call</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The AI is not a chat window on top of a checklist. It is the collector and the mapping engine that turn a company's technical footprint into legal evidence. A deterministic layer written by lawyers keeps it on the right side of the law.</a:t>
            </a:r>
            <a:endParaRPr lang="en-US" sz="1400" dirty="0"/>
          </a:p>
        </p:txBody>
      </p:sp>
      <p:sp>
        <p:nvSpPr>
          <p:cNvPr id="6" name="Shape 4"/>
          <p:cNvSpPr/>
          <p:nvPr/>
        </p:nvSpPr>
        <p:spPr>
          <a:xfrm>
            <a:off x="548640" y="2514600"/>
            <a:ext cx="3515258" cy="3337560"/>
          </a:xfrm>
          <a:prstGeom prst="roundRect">
            <a:avLst>
              <a:gd name="adj" fmla="val 2192"/>
            </a:avLst>
          </a:prstGeom>
          <a:solidFill>
            <a:srgbClr val="FCFBF8"/>
          </a:solidFill>
          <a:ln w="9525">
            <a:solidFill>
              <a:srgbClr val="E3E0D7"/>
            </a:solidFill>
            <a:prstDash val="solid"/>
          </a:ln>
        </p:spPr>
      </p:sp>
      <p:sp>
        <p:nvSpPr>
          <p:cNvPr id="7" name="Text 5"/>
          <p:cNvSpPr txBox="1"/>
          <p:nvPr/>
        </p:nvSpPr>
        <p:spPr>
          <a:xfrm>
            <a:off x="777240" y="2697480"/>
            <a:ext cx="305805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Layer 1, deterministic</a:t>
            </a:r>
            <a:endParaRPr lang="en-US" sz="1000" dirty="0"/>
          </a:p>
        </p:txBody>
      </p:sp>
      <p:sp>
        <p:nvSpPr>
          <p:cNvPr id="8" name="Text 6"/>
          <p:cNvSpPr txBox="1"/>
          <p:nvPr/>
        </p:nvSpPr>
        <p:spPr>
          <a:xfrm>
            <a:off x="777240" y="2971800"/>
            <a:ext cx="3058058" cy="73152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Lawyer-authored applicability trees</a:t>
            </a:r>
            <a:endParaRPr lang="en-US" sz="1700" dirty="0"/>
          </a:p>
        </p:txBody>
      </p:sp>
      <p:sp>
        <p:nvSpPr>
          <p:cNvPr id="9" name="Text 7"/>
          <p:cNvSpPr txBox="1"/>
          <p:nvPr/>
        </p:nvSpPr>
        <p:spPr>
          <a:xfrm>
            <a:off x="777240" y="3749040"/>
            <a:ext cx="3058058" cy="2011680"/>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Partner law firms write the yes-or-no logic that decides which obligations apply: headcount, sector, role, data categories. Mechanical rules of this kind are what the German Federal Court of Justice protected in the Smartlaw ruling (BGH I ZR 113/20), so the platform never gives an individual legal opinion itself.</a:t>
            </a:r>
            <a:endParaRPr lang="en-US" sz="1200" dirty="0"/>
          </a:p>
        </p:txBody>
      </p:sp>
      <p:sp>
        <p:nvSpPr>
          <p:cNvPr id="10" name="Shape 8"/>
          <p:cNvSpPr/>
          <p:nvPr/>
        </p:nvSpPr>
        <p:spPr>
          <a:xfrm>
            <a:off x="4338218" y="2514600"/>
            <a:ext cx="3515258" cy="3337560"/>
          </a:xfrm>
          <a:prstGeom prst="roundRect">
            <a:avLst>
              <a:gd name="adj" fmla="val 2192"/>
            </a:avLst>
          </a:prstGeom>
          <a:solidFill>
            <a:srgbClr val="E7EDEC"/>
          </a:solidFill>
          <a:ln w="9525">
            <a:solidFill>
              <a:srgbClr val="E7EDEC"/>
            </a:solidFill>
            <a:prstDash val="solid"/>
          </a:ln>
        </p:spPr>
      </p:sp>
      <p:sp>
        <p:nvSpPr>
          <p:cNvPr id="11" name="Text 9"/>
          <p:cNvSpPr txBox="1"/>
          <p:nvPr/>
        </p:nvSpPr>
        <p:spPr>
          <a:xfrm>
            <a:off x="4566818" y="2697480"/>
            <a:ext cx="305805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Layer 2, agentic</a:t>
            </a:r>
            <a:endParaRPr lang="en-US" sz="1000" dirty="0"/>
          </a:p>
        </p:txBody>
      </p:sp>
      <p:sp>
        <p:nvSpPr>
          <p:cNvPr id="12" name="Text 10"/>
          <p:cNvSpPr txBox="1"/>
          <p:nvPr/>
        </p:nvSpPr>
        <p:spPr>
          <a:xfrm>
            <a:off x="4566818" y="2971800"/>
            <a:ext cx="3058058" cy="73152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A collector that reads systems through MCP</a:t>
            </a:r>
            <a:endParaRPr lang="en-US" sz="1700" dirty="0"/>
          </a:p>
        </p:txBody>
      </p:sp>
      <p:sp>
        <p:nvSpPr>
          <p:cNvPr id="13" name="Text 11"/>
          <p:cNvSpPr txBox="1"/>
          <p:nvPr/>
        </p:nvSpPr>
        <p:spPr>
          <a:xfrm>
            <a:off x="4566818" y="3749040"/>
            <a:ext cx="3058058" cy="2011680"/>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Agents connect to repositories, cloud accounts, HR and CRM tools through Model Context Protocol servers with read-only scopes. They identify services, models, processors and data flows, and write the context report the representative approves. This is the part no questionnaire can do.</a:t>
            </a:r>
            <a:endParaRPr lang="en-US" sz="1200" dirty="0"/>
          </a:p>
        </p:txBody>
      </p:sp>
      <p:sp>
        <p:nvSpPr>
          <p:cNvPr id="14" name="Shape 12"/>
          <p:cNvSpPr/>
          <p:nvPr/>
        </p:nvSpPr>
        <p:spPr>
          <a:xfrm>
            <a:off x="8127797" y="2514600"/>
            <a:ext cx="3515258" cy="3337560"/>
          </a:xfrm>
          <a:prstGeom prst="roundRect">
            <a:avLst>
              <a:gd name="adj" fmla="val 2192"/>
            </a:avLst>
          </a:prstGeom>
          <a:solidFill>
            <a:srgbClr val="FCFBF8"/>
          </a:solidFill>
          <a:ln w="9525">
            <a:solidFill>
              <a:srgbClr val="E3E0D7"/>
            </a:solidFill>
            <a:prstDash val="solid"/>
          </a:ln>
        </p:spPr>
      </p:sp>
      <p:sp>
        <p:nvSpPr>
          <p:cNvPr id="15" name="Text 13"/>
          <p:cNvSpPr txBox="1"/>
          <p:nvPr/>
        </p:nvSpPr>
        <p:spPr>
          <a:xfrm>
            <a:off x="8356397" y="2697480"/>
            <a:ext cx="305805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On top</a:t>
            </a:r>
            <a:endParaRPr lang="en-US" sz="1000" dirty="0"/>
          </a:p>
        </p:txBody>
      </p:sp>
      <p:sp>
        <p:nvSpPr>
          <p:cNvPr id="16" name="Text 14"/>
          <p:cNvSpPr txBox="1"/>
          <p:nvPr/>
        </p:nvSpPr>
        <p:spPr>
          <a:xfrm>
            <a:off x="8356397" y="2971800"/>
            <a:ext cx="3058058" cy="73152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Architecture-to-law mapping and evidence graph</a:t>
            </a:r>
            <a:endParaRPr lang="en-US" sz="1700" dirty="0"/>
          </a:p>
        </p:txBody>
      </p:sp>
      <p:sp>
        <p:nvSpPr>
          <p:cNvPr id="17" name="Text 15"/>
          <p:cNvSpPr txBox="1"/>
          <p:nvPr/>
        </p:nvSpPr>
        <p:spPr>
          <a:xfrm>
            <a:off x="8356397" y="3749040"/>
            <a:ext cx="3058058" cy="2011680"/>
          </a:xfrm>
          <a:prstGeom prst="rect">
            <a:avLst/>
          </a:prstGeom>
          <a:noFill/>
          <a:ln/>
        </p:spPr>
        <p:txBody>
          <a:bodyPr wrap="square" lIns="0" tIns="0" rIns="0" bIns="0" rtlCol="0" anchor="t"/>
          <a:lstStyle/>
          <a:p>
            <a:pPr indent="0" marL="0">
              <a:buNone/>
            </a:pPr>
            <a:r>
              <a:rPr lang="en-US" sz="1200" dirty="0">
                <a:solidFill>
                  <a:srgbClr val="55676B"/>
                </a:solidFill>
                <a:latin typeface="Geist" pitchFamily="34" charset="0"/>
                <a:ea typeface="Geist" pitchFamily="34" charset="-122"/>
                <a:cs typeface="Geist" pitchFamily="34" charset="-120"/>
              </a:rPr>
              <a:t>Language models map the approved report onto obligations: which flow is a transfer, which model decides about people, which service is a supplier under NIS2 or DORA. Every finding links to its evidence. Grey-zone questions route to the partner lawyer, never to an autogenerated verdict.</a:t>
            </a:r>
            <a:endParaRPr lang="en-US" sz="1200" dirty="0"/>
          </a:p>
        </p:txBody>
      </p:sp>
      <p:sp>
        <p:nvSpPr>
          <p:cNvPr id="18"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BGH, judgment of 9 Sep 2021, I ZR 113/20 (Smartlaw). Model Context Protocol specification, modelcontextprotocol.io. Regulation (EU) 2024/1689, Article 6 and Annex III for high-risk classification.</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Solution.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What exists today.</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Honest stage: concept with a validated design</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Where we stand on 18 October 2026</a:t>
            </a:r>
            <a:endParaRPr lang="en-US" sz="3000" dirty="0"/>
          </a:p>
        </p:txBody>
      </p:sp>
      <p:pic>
        <p:nvPicPr>
          <p:cNvPr id="5" name="Image 0" descr="/tmp/claude-1000/-home-andi/f48438b4-0a16-4bf3-84ad-6f8357b43e23/scratchpad/deckbuild/img/site-r.png">    </p:cNvPr>
          <p:cNvPicPr>
            <a:picLocks noChangeAspect="1"/>
          </p:cNvPicPr>
          <p:nvPr/>
        </p:nvPicPr>
        <p:blipFill>
          <a:blip r:embed="rId1"/>
          <a:stretch>
            <a:fillRect/>
          </a:stretch>
        </p:blipFill>
        <p:spPr>
          <a:xfrm>
            <a:off x="5790895" y="1828800"/>
            <a:ext cx="5852160" cy="3657600"/>
          </a:xfrm>
          <a:prstGeom prst="rect">
            <a:avLst/>
          </a:prstGeom>
        </p:spPr>
      </p:pic>
      <p:sp>
        <p:nvSpPr>
          <p:cNvPr id="6" name="Text 3"/>
          <p:cNvSpPr txBox="1"/>
          <p:nvPr/>
        </p:nvSpPr>
        <p:spPr>
          <a:xfrm>
            <a:off x="5790895" y="5596128"/>
            <a:ext cx="5852160"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simo-hue.github.io/Business, live since 17 October 2026</a:t>
            </a:r>
            <a:endParaRPr lang="en-US" sz="1000" dirty="0"/>
          </a:p>
        </p:txBody>
      </p:sp>
      <p:sp>
        <p:nvSpPr>
          <p:cNvPr id="7" name="Shape 4"/>
          <p:cNvSpPr/>
          <p:nvPr/>
        </p:nvSpPr>
        <p:spPr>
          <a:xfrm>
            <a:off x="548640" y="1783080"/>
            <a:ext cx="4937760" cy="0"/>
          </a:xfrm>
          <a:prstGeom prst="line">
            <a:avLst/>
          </a:prstGeom>
          <a:noFill/>
          <a:ln w="9525">
            <a:solidFill>
              <a:srgbClr val="1C2B2F"/>
            </a:solidFill>
            <a:prstDash val="solid"/>
          </a:ln>
        </p:spPr>
      </p:sp>
      <p:sp>
        <p:nvSpPr>
          <p:cNvPr id="8" name="Text 5"/>
          <p:cNvSpPr txBox="1"/>
          <p:nvPr/>
        </p:nvSpPr>
        <p:spPr>
          <a:xfrm>
            <a:off x="548640" y="1874520"/>
            <a:ext cx="49377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Live</a:t>
            </a:r>
            <a:endParaRPr lang="en-US" sz="1000" dirty="0"/>
          </a:p>
        </p:txBody>
      </p:sp>
      <p:sp>
        <p:nvSpPr>
          <p:cNvPr id="9" name="Text 6"/>
          <p:cNvSpPr txBox="1"/>
          <p:nvPr/>
        </p:nvSpPr>
        <p:spPr>
          <a:xfrm>
            <a:off x="548640" y="2084832"/>
            <a:ext cx="4937760" cy="310896"/>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Positioning, website and name</a:t>
            </a:r>
            <a:endParaRPr lang="en-US" sz="1500" dirty="0"/>
          </a:p>
        </p:txBody>
      </p:sp>
      <p:sp>
        <p:nvSpPr>
          <p:cNvPr id="10" name="Text 7"/>
          <p:cNvSpPr txBox="1"/>
          <p:nvPr/>
        </p:nvSpPr>
        <p:spPr>
          <a:xfrm>
            <a:off x="548640" y="2386584"/>
            <a:ext cx="4937760" cy="41148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Public site with the inside-out model, data-flow design, comparison and FAQ.</a:t>
            </a:r>
            <a:endParaRPr lang="en-US" sz="1100" dirty="0"/>
          </a:p>
        </p:txBody>
      </p:sp>
      <p:sp>
        <p:nvSpPr>
          <p:cNvPr id="11" name="Shape 8"/>
          <p:cNvSpPr/>
          <p:nvPr/>
        </p:nvSpPr>
        <p:spPr>
          <a:xfrm>
            <a:off x="548640" y="2816352"/>
            <a:ext cx="4937760" cy="0"/>
          </a:xfrm>
          <a:prstGeom prst="line">
            <a:avLst/>
          </a:prstGeom>
          <a:noFill/>
          <a:ln w="9525">
            <a:solidFill>
              <a:srgbClr val="E3E0D7"/>
            </a:solidFill>
            <a:prstDash val="solid"/>
          </a:ln>
        </p:spPr>
      </p:sp>
      <p:sp>
        <p:nvSpPr>
          <p:cNvPr id="12" name="Text 9"/>
          <p:cNvSpPr txBox="1"/>
          <p:nvPr/>
        </p:nvSpPr>
        <p:spPr>
          <a:xfrm>
            <a:off x="548640" y="2907792"/>
            <a:ext cx="49377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Designed</a:t>
            </a:r>
            <a:endParaRPr lang="en-US" sz="1000" dirty="0"/>
          </a:p>
        </p:txBody>
      </p:sp>
      <p:sp>
        <p:nvSpPr>
          <p:cNvPr id="13" name="Text 10"/>
          <p:cNvSpPr txBox="1"/>
          <p:nvPr/>
        </p:nvSpPr>
        <p:spPr>
          <a:xfrm>
            <a:off x="548640" y="3118104"/>
            <a:ext cx="4937760" cy="310896"/>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Collector architecture</a:t>
            </a:r>
            <a:endParaRPr lang="en-US" sz="1500" dirty="0"/>
          </a:p>
        </p:txBody>
      </p:sp>
      <p:sp>
        <p:nvSpPr>
          <p:cNvPr id="14" name="Text 11"/>
          <p:cNvSpPr txBox="1"/>
          <p:nvPr/>
        </p:nvSpPr>
        <p:spPr>
          <a:xfrm>
            <a:off x="548640" y="3419856"/>
            <a:ext cx="4937760" cy="41148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MCP read-only connectors, context report, representative approval, evidence graph. Built on Andreas's SME integration work.</a:t>
            </a:r>
            <a:endParaRPr lang="en-US" sz="1100" dirty="0"/>
          </a:p>
        </p:txBody>
      </p:sp>
      <p:sp>
        <p:nvSpPr>
          <p:cNvPr id="15" name="Shape 12"/>
          <p:cNvSpPr/>
          <p:nvPr/>
        </p:nvSpPr>
        <p:spPr>
          <a:xfrm>
            <a:off x="548640" y="3849624"/>
            <a:ext cx="4937760" cy="0"/>
          </a:xfrm>
          <a:prstGeom prst="line">
            <a:avLst/>
          </a:prstGeom>
          <a:noFill/>
          <a:ln w="9525">
            <a:solidFill>
              <a:srgbClr val="E3E0D7"/>
            </a:solidFill>
            <a:prstDash val="solid"/>
          </a:ln>
        </p:spPr>
      </p:sp>
      <p:sp>
        <p:nvSpPr>
          <p:cNvPr id="16" name="Text 13"/>
          <p:cNvSpPr txBox="1"/>
          <p:nvPr/>
        </p:nvSpPr>
        <p:spPr>
          <a:xfrm>
            <a:off x="548640" y="3941064"/>
            <a:ext cx="49377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Researched</a:t>
            </a:r>
            <a:endParaRPr lang="en-US" sz="1000" dirty="0"/>
          </a:p>
        </p:txBody>
      </p:sp>
      <p:sp>
        <p:nvSpPr>
          <p:cNvPr id="17" name="Text 14"/>
          <p:cNvSpPr txBox="1"/>
          <p:nvPr/>
        </p:nvSpPr>
        <p:spPr>
          <a:xfrm>
            <a:off x="548640" y="4151376"/>
            <a:ext cx="4937760" cy="310896"/>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Market, regulations, countries, pricing</a:t>
            </a:r>
            <a:endParaRPr lang="en-US" sz="1500" dirty="0"/>
          </a:p>
        </p:txBody>
      </p:sp>
      <p:sp>
        <p:nvSpPr>
          <p:cNvPr id="18" name="Text 15"/>
          <p:cNvSpPr txBox="1"/>
          <p:nvPr/>
        </p:nvSpPr>
        <p:spPr>
          <a:xfrm>
            <a:off x="548640" y="4453128"/>
            <a:ext cx="4937760" cy="41148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Twelve-vendor scan, source-checked figures, regulation and country selection with primary sources.</a:t>
            </a:r>
            <a:endParaRPr lang="en-US" sz="1100" dirty="0"/>
          </a:p>
        </p:txBody>
      </p:sp>
      <p:sp>
        <p:nvSpPr>
          <p:cNvPr id="19" name="Shape 16"/>
          <p:cNvSpPr/>
          <p:nvPr/>
        </p:nvSpPr>
        <p:spPr>
          <a:xfrm>
            <a:off x="548640" y="4882896"/>
            <a:ext cx="4937760" cy="0"/>
          </a:xfrm>
          <a:prstGeom prst="line">
            <a:avLst/>
          </a:prstGeom>
          <a:noFill/>
          <a:ln w="9525">
            <a:solidFill>
              <a:srgbClr val="E3E0D7"/>
            </a:solidFill>
            <a:prstDash val="solid"/>
          </a:ln>
        </p:spPr>
      </p:sp>
      <p:sp>
        <p:nvSpPr>
          <p:cNvPr id="20" name="Text 17"/>
          <p:cNvSpPr txBox="1"/>
          <p:nvPr/>
        </p:nvSpPr>
        <p:spPr>
          <a:xfrm>
            <a:off x="548640" y="4974336"/>
            <a:ext cx="4937760" cy="256032"/>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Next</a:t>
            </a:r>
            <a:endParaRPr lang="en-US" sz="1000" dirty="0"/>
          </a:p>
        </p:txBody>
      </p:sp>
      <p:sp>
        <p:nvSpPr>
          <p:cNvPr id="21" name="Text 18"/>
          <p:cNvSpPr txBox="1"/>
          <p:nvPr/>
        </p:nvSpPr>
        <p:spPr>
          <a:xfrm>
            <a:off x="548640" y="5184648"/>
            <a:ext cx="4937760" cy="310896"/>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Pilot and partner law firm</a:t>
            </a:r>
            <a:endParaRPr lang="en-US" sz="1500" dirty="0"/>
          </a:p>
        </p:txBody>
      </p:sp>
      <p:sp>
        <p:nvSpPr>
          <p:cNvPr id="22" name="Text 19"/>
          <p:cNvSpPr txBox="1"/>
          <p:nvPr/>
        </p:nvSpPr>
        <p:spPr>
          <a:xfrm>
            <a:off x="548640" y="5486400"/>
            <a:ext cx="4937760" cy="411480"/>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No customers and no signed firm yet. The 30/60/90-day plan is built to change that.</a:t>
            </a:r>
            <a:endParaRPr lang="en-US" sz="11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03  Strategy.</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application to the EIT Community AI Entrepreneurs Lab 2026</a:t>
            </a:r>
            <a:endParaRPr lang="en-US" sz="1000" dirty="0"/>
          </a:p>
        </p:txBody>
      </p:sp>
      <p:sp>
        <p:nvSpPr>
          <p:cNvPr id="4" name="Text 3"/>
          <p:cNvSpPr/>
          <p:nvPr>
            <p:ph idx="105" type="title" hasCustomPrompt="1"/>
          </p:nvPr>
        </p:nvSpPr>
        <p:spPr>
          <a:xfrm>
            <a:off x="548640" y="1737360"/>
            <a:ext cx="5760720" cy="2834640"/>
          </a:xfrm>
          <a:prstGeom prst="rect">
            <a:avLst/>
          </a:prstGeom>
          <a:noFill/>
          <a:ln/>
        </p:spPr>
        <p:txBody>
          <a:bodyPr wrap="square" lIns="0" tIns="0" rIns="0" bIns="0" rtlCol="0" anchor="t"/>
          <a:lstStyle/>
          <a:p>
            <a:pPr algn="l" indent="0" marL="0">
              <a:buNone/>
            </a:pPr>
            <a:r>
              <a:rPr lang="en-US" sz="4000" spc="-100" kern="0" dirty="0">
                <a:solidFill>
                  <a:srgbClr val="1C2B2F"/>
                </a:solidFill>
                <a:latin typeface="Geist Medium" pitchFamily="34" charset="0"/>
                <a:ea typeface="Geist Medium" pitchFamily="34" charset="-122"/>
                <a:cs typeface="Geist Medium" pitchFamily="34" charset="-120"/>
              </a:rPr>
              <a:t>Start narrow, where the evidence says the pain is.</a:t>
            </a:r>
            <a:endParaRPr lang="en-US" sz="4000" dirty="0"/>
          </a:p>
        </p:txBody>
      </p:sp>
      <p:sp>
        <p:nvSpPr>
          <p:cNvPr id="5" name="Text 3"/>
          <p:cNvSpPr/>
          <p:nvPr>
            <p:ph idx="106" type="body" hasCustomPrompt="1"/>
          </p:nvPr>
        </p:nvSpPr>
        <p:spPr>
          <a:xfrm>
            <a:off x="548640" y="4709160"/>
            <a:ext cx="5120640" cy="1280160"/>
          </a:xfrm>
          <a:prstGeom prst="rect">
            <a:avLst/>
          </a:prstGeom>
          <a:noFill/>
          <a:ln/>
        </p:spPr>
        <p:txBody>
          <a:bodyPr wrap="square" lIns="0" tIns="0" rIns="0" bIns="0" rtlCol="0" anchor="t"/>
          <a:lstStyle/>
          <a:p>
            <a:pPr algn="l" indent="0" marL="0">
              <a:buNone/>
            </a:pPr>
            <a:r>
              <a:rPr lang="en-US" sz="1300" dirty="0">
                <a:solidFill>
                  <a:srgbClr val="55676B"/>
                </a:solidFill>
                <a:latin typeface="Geist" pitchFamily="34" charset="0"/>
                <a:ea typeface="Geist" pitchFamily="34" charset="-122"/>
                <a:cs typeface="Geist" pitchFamily="34" charset="-120"/>
              </a:rPr>
              <a:t>The strategy section settles which regulations first, which country first, how partner law firms become the channel, and the plan for the first 90 days and the first year.</a:t>
            </a:r>
            <a:endParaRPr lang="en-US" sz="1300" dirty="0"/>
          </a:p>
        </p:txBody>
      </p:sp>
      <p:pic>
        <p:nvPicPr>
          <p:cNvPr id="6" name="Image 0" descr="/tmp/claude-1000/-home-andi/f48438b4-0a16-4bf3-84ad-6f8357b43e23/scratchpad/deckbuild/img/hills-r.png">    </p:cNvPr>
          <p:cNvPicPr>
            <a:picLocks noChangeAspect="1"/>
          </p:cNvPicPr>
          <p:nvPr/>
        </p:nvPicPr>
        <p:blipFill>
          <a:blip r:embed="rId1"/>
          <a:stretch>
            <a:fillRect/>
          </a:stretch>
        </p:blipFill>
        <p:spPr>
          <a:xfrm>
            <a:off x="6705295" y="914400"/>
            <a:ext cx="4937760" cy="5212080"/>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Strategy.</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Which regulations first.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Legal texts checked on EUR-Lex, 18 Oct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Start with GDPR, NIS2 and the AI Act. Add the CRA next</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Three laws reach almost every B2B software company today, directly or through its customers. The CRA follows for installable software, DORA as a supplier module, the Data Act as a SaaS module. CSRD is dropped: it now applies only above 1,000 staff.</a:t>
            </a:r>
            <a:endParaRPr lang="en-US" sz="1400" dirty="0"/>
          </a:p>
        </p:txBody>
      </p:sp>
      <p:sp>
        <p:nvSpPr>
          <p:cNvPr id="6" name="Shape 4"/>
          <p:cNvSpPr/>
          <p:nvPr/>
        </p:nvSpPr>
        <p:spPr>
          <a:xfrm>
            <a:off x="548640" y="2468880"/>
            <a:ext cx="2567864" cy="2423160"/>
          </a:xfrm>
          <a:prstGeom prst="roundRect">
            <a:avLst>
              <a:gd name="adj" fmla="val 3019"/>
            </a:avLst>
          </a:prstGeom>
          <a:solidFill>
            <a:srgbClr val="E7EDEC"/>
          </a:solidFill>
          <a:ln w="9525">
            <a:solidFill>
              <a:srgbClr val="E7EDEC"/>
            </a:solidFill>
            <a:prstDash val="solid"/>
          </a:ln>
        </p:spPr>
      </p:sp>
      <p:sp>
        <p:nvSpPr>
          <p:cNvPr id="7" name="Text 5"/>
          <p:cNvSpPr txBox="1"/>
          <p:nvPr/>
        </p:nvSpPr>
        <p:spPr>
          <a:xfrm>
            <a:off x="749808" y="2606040"/>
            <a:ext cx="216552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Start</a:t>
            </a:r>
            <a:endParaRPr lang="en-US" sz="1000" dirty="0"/>
          </a:p>
        </p:txBody>
      </p:sp>
      <p:sp>
        <p:nvSpPr>
          <p:cNvPr id="8" name="Text 6"/>
          <p:cNvSpPr txBox="1"/>
          <p:nvPr/>
        </p:nvSpPr>
        <p:spPr>
          <a:xfrm>
            <a:off x="749808" y="2852928"/>
            <a:ext cx="2165528" cy="41148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GDPR</a:t>
            </a:r>
            <a:endParaRPr lang="en-US" sz="1700" dirty="0"/>
          </a:p>
        </p:txBody>
      </p:sp>
      <p:sp>
        <p:nvSpPr>
          <p:cNvPr id="9" name="Text 7"/>
          <p:cNvSpPr txBox="1"/>
          <p:nvPr/>
        </p:nvSpPr>
        <p:spPr>
          <a:xfrm>
            <a:off x="749808" y="3310128"/>
            <a:ext cx="2165528" cy="1536192"/>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Applies to every company that handles personal data. About €1.2 billion in fines in 2025 and €7.1 billion since 2018. The inventory and data-flow map come straight from the collector.</a:t>
            </a:r>
            <a:endParaRPr lang="en-US" sz="1100" dirty="0"/>
          </a:p>
        </p:txBody>
      </p:sp>
      <p:sp>
        <p:nvSpPr>
          <p:cNvPr id="10" name="Shape 8"/>
          <p:cNvSpPr/>
          <p:nvPr/>
        </p:nvSpPr>
        <p:spPr>
          <a:xfrm>
            <a:off x="3390824" y="2468880"/>
            <a:ext cx="2567864" cy="2423160"/>
          </a:xfrm>
          <a:prstGeom prst="roundRect">
            <a:avLst>
              <a:gd name="adj" fmla="val 3019"/>
            </a:avLst>
          </a:prstGeom>
          <a:solidFill>
            <a:srgbClr val="E7EDEC"/>
          </a:solidFill>
          <a:ln w="9525">
            <a:solidFill>
              <a:srgbClr val="E7EDEC"/>
            </a:solidFill>
            <a:prstDash val="solid"/>
          </a:ln>
        </p:spPr>
      </p:sp>
      <p:sp>
        <p:nvSpPr>
          <p:cNvPr id="11" name="Text 9"/>
          <p:cNvSpPr txBox="1"/>
          <p:nvPr/>
        </p:nvSpPr>
        <p:spPr>
          <a:xfrm>
            <a:off x="3591992" y="2606040"/>
            <a:ext cx="216552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Start</a:t>
            </a:r>
            <a:endParaRPr lang="en-US" sz="1000" dirty="0"/>
          </a:p>
        </p:txBody>
      </p:sp>
      <p:sp>
        <p:nvSpPr>
          <p:cNvPr id="12" name="Text 10"/>
          <p:cNvSpPr txBox="1"/>
          <p:nvPr/>
        </p:nvSpPr>
        <p:spPr>
          <a:xfrm>
            <a:off x="3591992" y="2852928"/>
            <a:ext cx="2165528" cy="41148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NIS2</a:t>
            </a:r>
            <a:endParaRPr lang="en-US" sz="1700" dirty="0"/>
          </a:p>
        </p:txBody>
      </p:sp>
      <p:sp>
        <p:nvSpPr>
          <p:cNvPr id="13" name="Text 11"/>
          <p:cNvSpPr txBox="1"/>
          <p:nvPr/>
        </p:nvSpPr>
        <p:spPr>
          <a:xfrm>
            <a:off x="3591992" y="3310128"/>
            <a:ext cx="2165528" cy="1536192"/>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Reaches small suppliers through their customers: 63% of covered organisations require security standards from suppliers, 48% put them in contracts. Germany alone has 20,141 registered entities.</a:t>
            </a:r>
            <a:endParaRPr lang="en-US" sz="1100" dirty="0"/>
          </a:p>
        </p:txBody>
      </p:sp>
      <p:sp>
        <p:nvSpPr>
          <p:cNvPr id="14" name="Shape 12"/>
          <p:cNvSpPr/>
          <p:nvPr/>
        </p:nvSpPr>
        <p:spPr>
          <a:xfrm>
            <a:off x="6233008" y="2468880"/>
            <a:ext cx="2567864" cy="2423160"/>
          </a:xfrm>
          <a:prstGeom prst="roundRect">
            <a:avLst>
              <a:gd name="adj" fmla="val 3019"/>
            </a:avLst>
          </a:prstGeom>
          <a:solidFill>
            <a:srgbClr val="E7EDEC"/>
          </a:solidFill>
          <a:ln w="9525">
            <a:solidFill>
              <a:srgbClr val="E7EDEC"/>
            </a:solidFill>
            <a:prstDash val="solid"/>
          </a:ln>
        </p:spPr>
      </p:sp>
      <p:sp>
        <p:nvSpPr>
          <p:cNvPr id="15" name="Text 13"/>
          <p:cNvSpPr txBox="1"/>
          <p:nvPr/>
        </p:nvSpPr>
        <p:spPr>
          <a:xfrm>
            <a:off x="6434176" y="2606040"/>
            <a:ext cx="216552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Start</a:t>
            </a:r>
            <a:endParaRPr lang="en-US" sz="1000" dirty="0"/>
          </a:p>
        </p:txBody>
      </p:sp>
      <p:sp>
        <p:nvSpPr>
          <p:cNvPr id="16" name="Text 14"/>
          <p:cNvSpPr txBox="1"/>
          <p:nvPr/>
        </p:nvSpPr>
        <p:spPr>
          <a:xfrm>
            <a:off x="6434176" y="2852928"/>
            <a:ext cx="2165528" cy="41148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EU AI Act</a:t>
            </a:r>
            <a:endParaRPr lang="en-US" sz="1700" dirty="0"/>
          </a:p>
        </p:txBody>
      </p:sp>
      <p:sp>
        <p:nvSpPr>
          <p:cNvPr id="17" name="Text 15"/>
          <p:cNvSpPr txBox="1"/>
          <p:nvPr/>
        </p:nvSpPr>
        <p:spPr>
          <a:xfrm>
            <a:off x="6434176" y="3310128"/>
            <a:ext cx="2165528" cy="1536192"/>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AI use among EU firms rose from 13.5% in 2024 to 20.0% in 2025, and 30.4% among firms with 50 to 249 staff. High-risk duties apply from 2 Dec 2027, so the inventory work starts now.</a:t>
            </a:r>
            <a:endParaRPr lang="en-US" sz="1100" dirty="0"/>
          </a:p>
        </p:txBody>
      </p:sp>
      <p:sp>
        <p:nvSpPr>
          <p:cNvPr id="18" name="Shape 16"/>
          <p:cNvSpPr/>
          <p:nvPr/>
        </p:nvSpPr>
        <p:spPr>
          <a:xfrm>
            <a:off x="9075191" y="2468880"/>
            <a:ext cx="2567864" cy="2423160"/>
          </a:xfrm>
          <a:prstGeom prst="roundRect">
            <a:avLst>
              <a:gd name="adj" fmla="val 3019"/>
            </a:avLst>
          </a:prstGeom>
          <a:solidFill>
            <a:srgbClr val="FCFBF8"/>
          </a:solidFill>
          <a:ln w="9525">
            <a:solidFill>
              <a:srgbClr val="E3E0D7"/>
            </a:solidFill>
            <a:prstDash val="solid"/>
          </a:ln>
        </p:spPr>
      </p:sp>
      <p:sp>
        <p:nvSpPr>
          <p:cNvPr id="19" name="Text 17"/>
          <p:cNvSpPr txBox="1"/>
          <p:nvPr/>
        </p:nvSpPr>
        <p:spPr>
          <a:xfrm>
            <a:off x="9276359" y="2606040"/>
            <a:ext cx="216552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Next, in this order</a:t>
            </a:r>
            <a:endParaRPr lang="en-US" sz="1000" dirty="0"/>
          </a:p>
        </p:txBody>
      </p:sp>
      <p:sp>
        <p:nvSpPr>
          <p:cNvPr id="20" name="Text 18"/>
          <p:cNvSpPr txBox="1"/>
          <p:nvPr/>
        </p:nvSpPr>
        <p:spPr>
          <a:xfrm>
            <a:off x="9276359" y="2852928"/>
            <a:ext cx="2165528" cy="411480"/>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CRA, DORA, Data Act</a:t>
            </a:r>
            <a:endParaRPr lang="en-US" sz="1700" dirty="0"/>
          </a:p>
        </p:txBody>
      </p:sp>
      <p:sp>
        <p:nvSpPr>
          <p:cNvPr id="21" name="Text 19"/>
          <p:cNvSpPr txBox="1"/>
          <p:nvPr/>
        </p:nvSpPr>
        <p:spPr>
          <a:xfrm>
            <a:off x="9276359" y="3310128"/>
            <a:ext cx="2165528" cy="1536192"/>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CRA reporting duties have applied since 11 Sep 2026 for installable software. DORA as a module for suppliers to banks and insurers. Data Act switching rules for every SaaS provider from 12 Jan 2027.</a:t>
            </a:r>
            <a:endParaRPr lang="en-US" sz="1100" dirty="0"/>
          </a:p>
        </p:txBody>
      </p:sp>
      <p:sp>
        <p:nvSpPr>
          <p:cNvPr id="22" name="Shape 20"/>
          <p:cNvSpPr/>
          <p:nvPr/>
        </p:nvSpPr>
        <p:spPr>
          <a:xfrm>
            <a:off x="548640" y="5029200"/>
            <a:ext cx="11094415" cy="822960"/>
          </a:xfrm>
          <a:prstGeom prst="roundRect">
            <a:avLst>
              <a:gd name="adj" fmla="val 8889"/>
            </a:avLst>
          </a:prstGeom>
          <a:solidFill>
            <a:srgbClr val="FCFBF8"/>
          </a:solidFill>
          <a:ln w="9525">
            <a:solidFill>
              <a:srgbClr val="E3E0D7"/>
            </a:solidFill>
            <a:prstDash val="solid"/>
          </a:ln>
        </p:spPr>
      </p:sp>
      <p:sp>
        <p:nvSpPr>
          <p:cNvPr id="23" name="Text 21"/>
          <p:cNvSpPr txBox="1"/>
          <p:nvPr/>
        </p:nvSpPr>
        <p:spPr>
          <a:xfrm>
            <a:off x="822960" y="5175504"/>
            <a:ext cx="2926080" cy="36576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Who we build for first</a:t>
            </a:r>
            <a:endParaRPr lang="en-US" sz="1500" dirty="0"/>
          </a:p>
        </p:txBody>
      </p:sp>
      <p:sp>
        <p:nvSpPr>
          <p:cNvPr id="24" name="Text 22"/>
          <p:cNvSpPr txBox="1"/>
          <p:nvPr/>
        </p:nvSpPr>
        <p:spPr>
          <a:xfrm>
            <a:off x="3840480" y="5175504"/>
            <a:ext cx="7528255" cy="640080"/>
          </a:xfrm>
          <a:prstGeom prst="rect">
            <a:avLst/>
          </a:prstGeom>
          <a:noFill/>
          <a:ln/>
        </p:spPr>
        <p:txBody>
          <a:bodyPr wrap="square" lIns="0" tIns="0" rIns="0" bIns="0" rtlCol="0" anchor="t"/>
          <a:lstStyle/>
          <a:p>
            <a:pPr indent="0" marL="0">
              <a:buNone/>
            </a:pPr>
            <a:r>
              <a:rPr lang="en-US" sz="1200" dirty="0">
                <a:solidFill>
                  <a:srgbClr val="1C2B2F"/>
                </a:solidFill>
                <a:latin typeface="Geist" pitchFamily="34" charset="0"/>
                <a:ea typeface="Geist" pitchFamily="34" charset="-122"/>
                <a:cs typeface="Geist" pitchFamily="34" charset="-120"/>
              </a:rPr>
              <a:t>B2B software and SaaS companies and managed IT providers with 20 to 249 staff, best fit 50 to 249. Eurostat counts 14,989 EU software firms with 20 to 49 staff and 8,381 with 50 to 249 (NACE J62, 2024).</a:t>
            </a:r>
            <a:endParaRPr lang="en-US" sz="1200" dirty="0"/>
          </a:p>
        </p:txBody>
      </p:sp>
      <p:sp>
        <p:nvSpPr>
          <p:cNvPr id="25" name="Text 23"/>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EUR-Lex texts of GDPR, NIS2 (Art. 2(1), 21(2)(d)), AI Act as amended by 2026/1744, CRA, DORA (Art. 30), Data Act, Directive 2026/470. BSI registrations, 30 Sep 2026. ENISA NIS Investments 2025, p. 26. DLA Piper GDPR fines survey, Jan 2026. Eurostat isoc_eb_ai and sbs_sc_ovw.</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Strategy.</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Road to market.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Eurostat, national gazettes and courts, 18 Oct 2026</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Austria first, then Germany, then Italy</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Austria wins on the practical test: a founder on the ground, a live NIS2 trigger, dense mid-sized companies and expensive lawyers. Germany is the biggest prize once the partner model is proven. Italy adds a native-speaking founder. Budapest stays the base for pilots. Together: 119,784 enterprises with 50 or more staff.</a:t>
            </a:r>
            <a:endParaRPr lang="en-US" sz="1400" dirty="0"/>
          </a:p>
        </p:txBody>
      </p:sp>
      <p:sp>
        <p:nvSpPr>
          <p:cNvPr id="6" name="Shape 4"/>
          <p:cNvSpPr/>
          <p:nvPr/>
        </p:nvSpPr>
        <p:spPr>
          <a:xfrm>
            <a:off x="548640" y="2468880"/>
            <a:ext cx="3454298" cy="0"/>
          </a:xfrm>
          <a:prstGeom prst="line">
            <a:avLst/>
          </a:prstGeom>
          <a:noFill/>
          <a:ln w="9525">
            <a:solidFill>
              <a:srgbClr val="1C2B2F"/>
            </a:solidFill>
            <a:prstDash val="solid"/>
          </a:ln>
        </p:spPr>
      </p:sp>
      <p:sp>
        <p:nvSpPr>
          <p:cNvPr id="7" name="Text 5"/>
          <p:cNvSpPr txBox="1"/>
          <p:nvPr/>
        </p:nvSpPr>
        <p:spPr>
          <a:xfrm>
            <a:off x="548640" y="259689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First market, 2027</a:t>
            </a:r>
            <a:endParaRPr lang="en-US" sz="1000" dirty="0"/>
          </a:p>
        </p:txBody>
      </p:sp>
      <p:sp>
        <p:nvSpPr>
          <p:cNvPr id="8" name="Text 6"/>
          <p:cNvSpPr txBox="1"/>
          <p:nvPr/>
        </p:nvSpPr>
        <p:spPr>
          <a:xfrm>
            <a:off x="548640" y="292608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Austria</a:t>
            </a:r>
            <a:endParaRPr lang="en-US" sz="2000" dirty="0"/>
          </a:p>
        </p:txBody>
      </p:sp>
      <p:sp>
        <p:nvSpPr>
          <p:cNvPr id="9" name="Text 7"/>
          <p:cNvSpPr txBox="1"/>
          <p:nvPr/>
        </p:nvSpPr>
        <p:spPr>
          <a:xfrm>
            <a:off x="548640" y="3429000"/>
            <a:ext cx="3454298"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NIS2 law in force since 1 Oct 2026, registration due within three months: the freshest trigger of any candidate</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861 firms with 50 or more staff per million inhabitants, against an EU average of 680</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Legal spend about €441 per head a year, against €100 in Hungary; tariff rate about €349 an hour</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One founder is Austrian, Vienna is 2 h 48 from Budapest. Strict legal-advice rules like Germany's, so the partner model carries over</a:t>
            </a:r>
            <a:endParaRPr lang="en-US" sz="1250" dirty="0"/>
          </a:p>
        </p:txBody>
      </p:sp>
      <p:sp>
        <p:nvSpPr>
          <p:cNvPr id="10" name="Shape 8"/>
          <p:cNvSpPr/>
          <p:nvPr/>
        </p:nvSpPr>
        <p:spPr>
          <a:xfrm>
            <a:off x="4368698" y="2468880"/>
            <a:ext cx="3454298" cy="0"/>
          </a:xfrm>
          <a:prstGeom prst="line">
            <a:avLst/>
          </a:prstGeom>
          <a:noFill/>
          <a:ln w="9525">
            <a:solidFill>
              <a:srgbClr val="1C2B2F"/>
            </a:solidFill>
            <a:prstDash val="solid"/>
          </a:ln>
        </p:spPr>
      </p:sp>
      <p:sp>
        <p:nvSpPr>
          <p:cNvPr id="11" name="Text 9"/>
          <p:cNvSpPr txBox="1"/>
          <p:nvPr/>
        </p:nvSpPr>
        <p:spPr>
          <a:xfrm>
            <a:off x="4368698" y="259689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Second</a:t>
            </a:r>
            <a:endParaRPr lang="en-US" sz="1000" dirty="0"/>
          </a:p>
        </p:txBody>
      </p:sp>
      <p:sp>
        <p:nvSpPr>
          <p:cNvPr id="12" name="Text 10"/>
          <p:cNvSpPr txBox="1"/>
          <p:nvPr/>
        </p:nvSpPr>
        <p:spPr>
          <a:xfrm>
            <a:off x="4368698" y="292608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Germany</a:t>
            </a:r>
            <a:endParaRPr lang="en-US" sz="2000" dirty="0"/>
          </a:p>
        </p:txBody>
      </p:sp>
      <p:sp>
        <p:nvSpPr>
          <p:cNvPr id="13" name="Text 11"/>
          <p:cNvSpPr txBox="1"/>
          <p:nvPr/>
        </p:nvSpPr>
        <p:spPr>
          <a:xfrm>
            <a:off x="4368698" y="3429000"/>
            <a:ext cx="3454298"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80,043 firms with 50 or more staff, the largest market in the EU</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NIS2 in force since Dec 2025, 20,141 entities registered by 30 Sep 2026; AI Act authority designated (Bundesnetzagentur)</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Government estimates 2,752 hours a year of NIS2 effort per particularly important entity</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Crowded compliance-software field, so entry runs through partner firms rather than direct sales</a:t>
            </a:r>
            <a:endParaRPr lang="en-US" sz="1250" dirty="0"/>
          </a:p>
        </p:txBody>
      </p:sp>
      <p:sp>
        <p:nvSpPr>
          <p:cNvPr id="14" name="Shape 12"/>
          <p:cNvSpPr/>
          <p:nvPr/>
        </p:nvSpPr>
        <p:spPr>
          <a:xfrm>
            <a:off x="8188757" y="2468880"/>
            <a:ext cx="3454298" cy="0"/>
          </a:xfrm>
          <a:prstGeom prst="line">
            <a:avLst/>
          </a:prstGeom>
          <a:noFill/>
          <a:ln w="9525">
            <a:solidFill>
              <a:srgbClr val="1C2B2F"/>
            </a:solidFill>
            <a:prstDash val="solid"/>
          </a:ln>
        </p:spPr>
      </p:sp>
      <p:sp>
        <p:nvSpPr>
          <p:cNvPr id="15" name="Text 13"/>
          <p:cNvSpPr txBox="1"/>
          <p:nvPr/>
        </p:nvSpPr>
        <p:spPr>
          <a:xfrm>
            <a:off x="8188757" y="2596896"/>
            <a:ext cx="3454298"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Third</a:t>
            </a:r>
            <a:endParaRPr lang="en-US" sz="1000" dirty="0"/>
          </a:p>
        </p:txBody>
      </p:sp>
      <p:sp>
        <p:nvSpPr>
          <p:cNvPr id="16" name="Text 14"/>
          <p:cNvSpPr txBox="1"/>
          <p:nvPr/>
        </p:nvSpPr>
        <p:spPr>
          <a:xfrm>
            <a:off x="8188757" y="2926080"/>
            <a:ext cx="3454298" cy="457200"/>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Italy</a:t>
            </a:r>
            <a:endParaRPr lang="en-US" sz="2000" dirty="0"/>
          </a:p>
        </p:txBody>
      </p:sp>
      <p:sp>
        <p:nvSpPr>
          <p:cNvPr id="17" name="Text 15"/>
          <p:cNvSpPr txBox="1"/>
          <p:nvPr/>
        </p:nvSpPr>
        <p:spPr>
          <a:xfrm>
            <a:off x="8188757" y="3429000"/>
            <a:ext cx="3454298"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31,851 firms with 50 or more staff and a native-speaking founder</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Own national AI law (Law 132/2025) and NIS2 in force since Oct 2024</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The most open legal-advice rules of the three, so more of the workflow can run in the product</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Lawyers are cheaper, so the cost-saving pitch is weaker; lead with readiness and speed</a:t>
            </a:r>
            <a:endParaRPr lang="en-US" sz="1250" dirty="0"/>
          </a:p>
        </p:txBody>
      </p:sp>
      <p:sp>
        <p:nvSpPr>
          <p:cNvPr id="18" name="Text 16"/>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RIS, BGBl. I Nr. 94/2025 (NISG 2026). BGBl. 2025 I Nr. 301 and BSI registration figures, Sep 2026. Bundestag Drucksache 21/1501. Eurostat sbs_sc_ovw 2024 and nama_10_co3_p3. OGH 4 Ob 77/23m. Law 132/2025 (Italy). ÖBB timetable. Full scoring across 15 countries in FILES/research-countries.md.</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Strategy.</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The channel.</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Partner law firms, inside the platform</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Law firms are the channel, not the competition</a:t>
            </a:r>
            <a:endParaRPr lang="en-US" sz="3000" dirty="0"/>
          </a:p>
        </p:txBody>
      </p:sp>
      <p:sp>
        <p:nvSpPr>
          <p:cNvPr id="5" name="Text 3"/>
          <p:cNvSpPr txBox="1"/>
          <p:nvPr/>
        </p:nvSpPr>
        <p:spPr>
          <a:xfrm>
            <a:off x="548640" y="1783080"/>
            <a:ext cx="4754880" cy="14630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A partner firm recommends Regulift to its clients because it removes the fact-finding the client does not want to pay for and sends the firm organised, higher-margin judgement work instead.</a:t>
            </a:r>
            <a:endParaRPr lang="en-US" sz="1400" dirty="0"/>
          </a:p>
        </p:txBody>
      </p:sp>
      <p:sp>
        <p:nvSpPr>
          <p:cNvPr id="6" name="Text 4"/>
          <p:cNvSpPr txBox="1"/>
          <p:nvPr/>
        </p:nvSpPr>
        <p:spPr>
          <a:xfrm>
            <a:off x="548640" y="3291840"/>
            <a:ext cx="4754880" cy="2560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The firm gets mandates with the evidence pack already in place: fewer unbillable discovery hours, more advisory hours at its full rate.</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The client gets the same lawyer at a lower bill, with the work visible in one workspace, and chooses the firm from a list.</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Regulift gets distribution through trusted advisers, and stays lawful: the firm pays a flat yearly workspace fee, never a share of fees or a fee per mandate.</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That structure holds in Germany, Austria, Italy and France, where bar rules forbid paying for mandates, and in the Netherlands.</a:t>
            </a:r>
            <a:endParaRPr lang="en-US" sz="1250" dirty="0"/>
          </a:p>
        </p:txBody>
      </p:sp>
      <p:sp>
        <p:nvSpPr>
          <p:cNvPr id="7" name="Shape 5"/>
          <p:cNvSpPr/>
          <p:nvPr/>
        </p:nvSpPr>
        <p:spPr>
          <a:xfrm>
            <a:off x="5852160" y="1828800"/>
            <a:ext cx="5790895" cy="4023360"/>
          </a:xfrm>
          <a:prstGeom prst="roundRect">
            <a:avLst>
              <a:gd name="adj" fmla="val 1818"/>
            </a:avLst>
          </a:prstGeom>
          <a:solidFill>
            <a:srgbClr val="E7EDEC"/>
          </a:solidFill>
          <a:ln w="9525">
            <a:solidFill>
              <a:srgbClr val="E7EDEC"/>
            </a:solidFill>
            <a:prstDash val="solid"/>
          </a:ln>
        </p:spPr>
      </p:sp>
      <p:sp>
        <p:nvSpPr>
          <p:cNvPr id="8" name="Text 6"/>
          <p:cNvSpPr txBox="1"/>
          <p:nvPr/>
        </p:nvSpPr>
        <p:spPr>
          <a:xfrm>
            <a:off x="6126480" y="2011680"/>
            <a:ext cx="5242255"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What a partner firm commits to</a:t>
            </a:r>
            <a:endParaRPr lang="en-US" sz="1000" dirty="0"/>
          </a:p>
        </p:txBody>
      </p:sp>
      <p:sp>
        <p:nvSpPr>
          <p:cNvPr id="9" name="Shape 7"/>
          <p:cNvSpPr/>
          <p:nvPr/>
        </p:nvSpPr>
        <p:spPr>
          <a:xfrm>
            <a:off x="6126480" y="2377440"/>
            <a:ext cx="5242255" cy="0"/>
          </a:xfrm>
          <a:prstGeom prst="line">
            <a:avLst/>
          </a:prstGeom>
          <a:noFill/>
          <a:ln w="9525">
            <a:solidFill>
              <a:srgbClr val="CFD6D3"/>
            </a:solidFill>
            <a:prstDash val="solid"/>
          </a:ln>
        </p:spPr>
      </p:sp>
      <p:sp>
        <p:nvSpPr>
          <p:cNvPr id="10" name="Text 8"/>
          <p:cNvSpPr txBox="1"/>
          <p:nvPr/>
        </p:nvSpPr>
        <p:spPr>
          <a:xfrm>
            <a:off x="6126480" y="2487168"/>
            <a:ext cx="2011680" cy="64008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Authors the rules</a:t>
            </a:r>
            <a:endParaRPr lang="en-US" sz="1400" dirty="0"/>
          </a:p>
        </p:txBody>
      </p:sp>
      <p:sp>
        <p:nvSpPr>
          <p:cNvPr id="11" name="Text 9"/>
          <p:cNvSpPr txBox="1"/>
          <p:nvPr/>
        </p:nvSpPr>
        <p:spPr>
          <a:xfrm>
            <a:off x="8229600" y="2487168"/>
            <a:ext cx="3047695" cy="685800"/>
          </a:xfrm>
          <a:prstGeom prst="rect">
            <a:avLst/>
          </a:prstGeom>
          <a:noFill/>
          <a:ln/>
        </p:spPr>
        <p:txBody>
          <a:bodyPr wrap="square" lIns="0" tIns="0" rIns="0" bIns="0" rtlCol="0" anchor="t"/>
          <a:lstStyle/>
          <a:p>
            <a:pPr indent="0" marL="0">
              <a:buNone/>
            </a:pPr>
            <a:r>
              <a:rPr lang="en-US" sz="1150" dirty="0">
                <a:solidFill>
                  <a:srgbClr val="1C2B2F"/>
                </a:solidFill>
                <a:latin typeface="Geist" pitchFamily="34" charset="0"/>
                <a:ea typeface="Geist" pitchFamily="34" charset="-122"/>
                <a:cs typeface="Geist" pitchFamily="34" charset="-120"/>
              </a:rPr>
              <a:t>Writes and maintains the applicability trees for its jurisdiction, under its name.</a:t>
            </a:r>
            <a:endParaRPr lang="en-US" sz="1150" dirty="0"/>
          </a:p>
        </p:txBody>
      </p:sp>
      <p:sp>
        <p:nvSpPr>
          <p:cNvPr id="12" name="Shape 10"/>
          <p:cNvSpPr/>
          <p:nvPr/>
        </p:nvSpPr>
        <p:spPr>
          <a:xfrm>
            <a:off x="6126480" y="3218688"/>
            <a:ext cx="5242255" cy="0"/>
          </a:xfrm>
          <a:prstGeom prst="line">
            <a:avLst/>
          </a:prstGeom>
          <a:noFill/>
          <a:ln w="9525">
            <a:solidFill>
              <a:srgbClr val="CFD6D3"/>
            </a:solidFill>
            <a:prstDash val="solid"/>
          </a:ln>
        </p:spPr>
      </p:sp>
      <p:sp>
        <p:nvSpPr>
          <p:cNvPr id="13" name="Text 11"/>
          <p:cNvSpPr txBox="1"/>
          <p:nvPr/>
        </p:nvSpPr>
        <p:spPr>
          <a:xfrm>
            <a:off x="6126480" y="3328416"/>
            <a:ext cx="2011680" cy="64008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Reviews inside the platform</a:t>
            </a:r>
            <a:endParaRPr lang="en-US" sz="1400" dirty="0"/>
          </a:p>
        </p:txBody>
      </p:sp>
      <p:sp>
        <p:nvSpPr>
          <p:cNvPr id="14" name="Text 12"/>
          <p:cNvSpPr txBox="1"/>
          <p:nvPr/>
        </p:nvSpPr>
        <p:spPr>
          <a:xfrm>
            <a:off x="8229600" y="3328416"/>
            <a:ext cx="3047695" cy="685800"/>
          </a:xfrm>
          <a:prstGeom prst="rect">
            <a:avLst/>
          </a:prstGeom>
          <a:noFill/>
          <a:ln/>
        </p:spPr>
        <p:txBody>
          <a:bodyPr wrap="square" lIns="0" tIns="0" rIns="0" bIns="0" rtlCol="0" anchor="t"/>
          <a:lstStyle/>
          <a:p>
            <a:pPr indent="0" marL="0">
              <a:buNone/>
            </a:pPr>
            <a:r>
              <a:rPr lang="en-US" sz="1150" dirty="0">
                <a:solidFill>
                  <a:srgbClr val="1C2B2F"/>
                </a:solidFill>
                <a:latin typeface="Geist" pitchFamily="34" charset="0"/>
                <a:ea typeface="Geist" pitchFamily="34" charset="-122"/>
                <a:cs typeface="Geist" pitchFamily="34" charset="-120"/>
              </a:rPr>
              <a:t>Opens the workspace, reviews the evidence pack, confirms compliance in writing.</a:t>
            </a:r>
            <a:endParaRPr lang="en-US" sz="1150" dirty="0"/>
          </a:p>
        </p:txBody>
      </p:sp>
      <p:sp>
        <p:nvSpPr>
          <p:cNvPr id="15" name="Shape 13"/>
          <p:cNvSpPr/>
          <p:nvPr/>
        </p:nvSpPr>
        <p:spPr>
          <a:xfrm>
            <a:off x="6126480" y="4059936"/>
            <a:ext cx="5242255" cy="0"/>
          </a:xfrm>
          <a:prstGeom prst="line">
            <a:avLst/>
          </a:prstGeom>
          <a:noFill/>
          <a:ln w="9525">
            <a:solidFill>
              <a:srgbClr val="CFD6D3"/>
            </a:solidFill>
            <a:prstDash val="solid"/>
          </a:ln>
        </p:spPr>
      </p:sp>
      <p:sp>
        <p:nvSpPr>
          <p:cNvPr id="16" name="Text 14"/>
          <p:cNvSpPr txBox="1"/>
          <p:nvPr/>
        </p:nvSpPr>
        <p:spPr>
          <a:xfrm>
            <a:off x="6126480" y="4169664"/>
            <a:ext cx="2011680" cy="64008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Refers clients</a:t>
            </a:r>
            <a:endParaRPr lang="en-US" sz="1400" dirty="0"/>
          </a:p>
        </p:txBody>
      </p:sp>
      <p:sp>
        <p:nvSpPr>
          <p:cNvPr id="17" name="Text 15"/>
          <p:cNvSpPr txBox="1"/>
          <p:nvPr/>
        </p:nvSpPr>
        <p:spPr>
          <a:xfrm>
            <a:off x="8229600" y="4169664"/>
            <a:ext cx="3047695" cy="685800"/>
          </a:xfrm>
          <a:prstGeom prst="rect">
            <a:avLst/>
          </a:prstGeom>
          <a:noFill/>
          <a:ln/>
        </p:spPr>
        <p:txBody>
          <a:bodyPr wrap="square" lIns="0" tIns="0" rIns="0" bIns="0" rtlCol="0" anchor="t"/>
          <a:lstStyle/>
          <a:p>
            <a:pPr indent="0" marL="0">
              <a:buNone/>
            </a:pPr>
            <a:r>
              <a:rPr lang="en-US" sz="1150" dirty="0">
                <a:solidFill>
                  <a:srgbClr val="1C2B2F"/>
                </a:solidFill>
                <a:latin typeface="Geist" pitchFamily="34" charset="0"/>
                <a:ea typeface="Geist" pitchFamily="34" charset="-122"/>
                <a:cs typeface="Geist" pitchFamily="34" charset="-120"/>
              </a:rPr>
              <a:t>Recommends Regulift to clients facing GDPR, AI Act or NIS2 questions, without exclusivity.</a:t>
            </a:r>
            <a:endParaRPr lang="en-US" sz="1150" dirty="0"/>
          </a:p>
        </p:txBody>
      </p:sp>
      <p:sp>
        <p:nvSpPr>
          <p:cNvPr id="18" name="Shape 16"/>
          <p:cNvSpPr/>
          <p:nvPr/>
        </p:nvSpPr>
        <p:spPr>
          <a:xfrm>
            <a:off x="6126480" y="4901184"/>
            <a:ext cx="5242255" cy="0"/>
          </a:xfrm>
          <a:prstGeom prst="line">
            <a:avLst/>
          </a:prstGeom>
          <a:noFill/>
          <a:ln w="9525">
            <a:solidFill>
              <a:srgbClr val="CFD6D3"/>
            </a:solidFill>
            <a:prstDash val="solid"/>
          </a:ln>
        </p:spPr>
      </p:sp>
      <p:sp>
        <p:nvSpPr>
          <p:cNvPr id="19" name="Text 17"/>
          <p:cNvSpPr txBox="1"/>
          <p:nvPr/>
        </p:nvSpPr>
        <p:spPr>
          <a:xfrm>
            <a:off x="6126480" y="5010912"/>
            <a:ext cx="2011680" cy="64008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Pays a flat workspace fee</a:t>
            </a:r>
            <a:endParaRPr lang="en-US" sz="1400" dirty="0"/>
          </a:p>
        </p:txBody>
      </p:sp>
      <p:sp>
        <p:nvSpPr>
          <p:cNvPr id="20" name="Text 18"/>
          <p:cNvSpPr txBox="1"/>
          <p:nvPr/>
        </p:nvSpPr>
        <p:spPr>
          <a:xfrm>
            <a:off x="8229600" y="5010912"/>
            <a:ext cx="3047695" cy="685800"/>
          </a:xfrm>
          <a:prstGeom prst="rect">
            <a:avLst/>
          </a:prstGeom>
          <a:noFill/>
          <a:ln/>
        </p:spPr>
        <p:txBody>
          <a:bodyPr wrap="square" lIns="0" tIns="0" rIns="0" bIns="0" rtlCol="0" anchor="t"/>
          <a:lstStyle/>
          <a:p>
            <a:pPr indent="0" marL="0">
              <a:buNone/>
            </a:pPr>
            <a:r>
              <a:rPr lang="en-US" sz="1150" dirty="0">
                <a:solidFill>
                  <a:srgbClr val="1C2B2F"/>
                </a:solidFill>
                <a:latin typeface="Geist" pitchFamily="34" charset="0"/>
                <a:ea typeface="Geist" pitchFamily="34" charset="-122"/>
                <a:cs typeface="Geist" pitchFamily="34" charset="-120"/>
              </a:rPr>
              <a:t>Same for every firm, independent of mandates. Bills its own legal work directly to the client.</a:t>
            </a:r>
            <a:endParaRPr lang="en-US" sz="1150" dirty="0"/>
          </a:p>
        </p:txBody>
      </p:sp>
      <p:sp>
        <p:nvSpPr>
          <p:cNvPr id="21" name="Text 19"/>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BRAO §49b(3) and BGH IX ZR 89/23 (per-mandate platform fees void, Apr 2024). ÖRAK RL-BA 2015 §47(3). Italian Codice Deontologico Forense art. 37. French RIN art. 11.3 and 19.4.2. Dutch Verordening op de advocatuur, conditions on fee sharing. All read 18 Oct 2026.</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Strategy.</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Scaling plan.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30, 60, 90 days, then the first year</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How we really build this</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The bootcamp weeks are the first thirty days. Each block ends with evidence a jury can check: an interview count, a signed letter, a working connector, a paying pilot.</a:t>
            </a:r>
            <a:endParaRPr lang="en-US" sz="1400" dirty="0"/>
          </a:p>
        </p:txBody>
      </p:sp>
      <p:sp>
        <p:nvSpPr>
          <p:cNvPr id="6" name="Shape 4"/>
          <p:cNvSpPr/>
          <p:nvPr/>
        </p:nvSpPr>
        <p:spPr>
          <a:xfrm>
            <a:off x="548640" y="2514600"/>
            <a:ext cx="2499284" cy="0"/>
          </a:xfrm>
          <a:prstGeom prst="line">
            <a:avLst/>
          </a:prstGeom>
          <a:noFill/>
          <a:ln w="9525">
            <a:solidFill>
              <a:srgbClr val="1C2B2F"/>
            </a:solidFill>
            <a:prstDash val="solid"/>
          </a:ln>
        </p:spPr>
      </p:sp>
      <p:sp>
        <p:nvSpPr>
          <p:cNvPr id="7" name="Text 5"/>
          <p:cNvSpPr txBox="1"/>
          <p:nvPr/>
        </p:nvSpPr>
        <p:spPr>
          <a:xfrm>
            <a:off x="548640" y="2642616"/>
            <a:ext cx="249928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1 to 30</a:t>
            </a:r>
            <a:endParaRPr lang="en-US" sz="1000" dirty="0"/>
          </a:p>
        </p:txBody>
      </p:sp>
      <p:sp>
        <p:nvSpPr>
          <p:cNvPr id="8" name="Text 6"/>
          <p:cNvSpPr txBox="1"/>
          <p:nvPr/>
        </p:nvSpPr>
        <p:spPr>
          <a:xfrm>
            <a:off x="548640" y="2971800"/>
            <a:ext cx="2499284" cy="45720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Prove the pain</a:t>
            </a:r>
            <a:endParaRPr lang="en-US" sz="1800" dirty="0"/>
          </a:p>
        </p:txBody>
      </p:sp>
      <p:sp>
        <p:nvSpPr>
          <p:cNvPr id="9" name="Text 7"/>
          <p:cNvSpPr txBox="1"/>
          <p:nvPr/>
        </p:nvSpPr>
        <p:spPr>
          <a:xfrm>
            <a:off x="548640" y="3474720"/>
            <a:ext cx="2499284"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15 discovery interviews with CTOs and founders of 50 to 250 person software companies in Austria and Budapest</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Letter of intent from one Vienna law firm, model reviewed against Austrian bar rules</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Collector prototype: GitHub and one cloud provider, read-only, context report generated</a:t>
            </a:r>
            <a:endParaRPr lang="en-US" sz="1250" dirty="0"/>
          </a:p>
        </p:txBody>
      </p:sp>
      <p:sp>
        <p:nvSpPr>
          <p:cNvPr id="10" name="Shape 8"/>
          <p:cNvSpPr/>
          <p:nvPr/>
        </p:nvSpPr>
        <p:spPr>
          <a:xfrm>
            <a:off x="3413684" y="2514600"/>
            <a:ext cx="2499284" cy="0"/>
          </a:xfrm>
          <a:prstGeom prst="line">
            <a:avLst/>
          </a:prstGeom>
          <a:noFill/>
          <a:ln w="9525">
            <a:solidFill>
              <a:srgbClr val="1C2B2F"/>
            </a:solidFill>
            <a:prstDash val="solid"/>
          </a:ln>
        </p:spPr>
      </p:sp>
      <p:sp>
        <p:nvSpPr>
          <p:cNvPr id="11" name="Text 9"/>
          <p:cNvSpPr txBox="1"/>
          <p:nvPr/>
        </p:nvSpPr>
        <p:spPr>
          <a:xfrm>
            <a:off x="3413684" y="2642616"/>
            <a:ext cx="249928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31 to 60</a:t>
            </a:r>
            <a:endParaRPr lang="en-US" sz="1000" dirty="0"/>
          </a:p>
        </p:txBody>
      </p:sp>
      <p:sp>
        <p:nvSpPr>
          <p:cNvPr id="12" name="Text 10"/>
          <p:cNvSpPr txBox="1"/>
          <p:nvPr/>
        </p:nvSpPr>
        <p:spPr>
          <a:xfrm>
            <a:off x="3413684" y="2971800"/>
            <a:ext cx="2499284" cy="45720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Prove the flow</a:t>
            </a:r>
            <a:endParaRPr lang="en-US" sz="1800" dirty="0"/>
          </a:p>
        </p:txBody>
      </p:sp>
      <p:sp>
        <p:nvSpPr>
          <p:cNvPr id="13" name="Text 11"/>
          <p:cNvSpPr txBox="1"/>
          <p:nvPr/>
        </p:nvSpPr>
        <p:spPr>
          <a:xfrm>
            <a:off x="3413684" y="3474720"/>
            <a:ext cx="2499284"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Two design partners connect real systems</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Representative approval and report sync working end to end</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First inventory and gap list reviewed by the partner firm</a:t>
            </a:r>
            <a:endParaRPr lang="en-US" sz="1250" dirty="0"/>
          </a:p>
        </p:txBody>
      </p:sp>
      <p:sp>
        <p:nvSpPr>
          <p:cNvPr id="14" name="Shape 12"/>
          <p:cNvSpPr/>
          <p:nvPr/>
        </p:nvSpPr>
        <p:spPr>
          <a:xfrm>
            <a:off x="6278728" y="2514600"/>
            <a:ext cx="2499284" cy="0"/>
          </a:xfrm>
          <a:prstGeom prst="line">
            <a:avLst/>
          </a:prstGeom>
          <a:noFill/>
          <a:ln w="9525">
            <a:solidFill>
              <a:srgbClr val="1C2B2F"/>
            </a:solidFill>
            <a:prstDash val="solid"/>
          </a:ln>
        </p:spPr>
      </p:sp>
      <p:sp>
        <p:nvSpPr>
          <p:cNvPr id="15" name="Text 13"/>
          <p:cNvSpPr txBox="1"/>
          <p:nvPr/>
        </p:nvSpPr>
        <p:spPr>
          <a:xfrm>
            <a:off x="6278728" y="2642616"/>
            <a:ext cx="249928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Days 61 to 90</a:t>
            </a:r>
            <a:endParaRPr lang="en-US" sz="1000" dirty="0"/>
          </a:p>
        </p:txBody>
      </p:sp>
      <p:sp>
        <p:nvSpPr>
          <p:cNvPr id="16" name="Text 14"/>
          <p:cNvSpPr txBox="1"/>
          <p:nvPr/>
        </p:nvSpPr>
        <p:spPr>
          <a:xfrm>
            <a:off x="6278728" y="2971800"/>
            <a:ext cx="2499284" cy="45720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Prove the value</a:t>
            </a:r>
            <a:endParaRPr lang="en-US" sz="1800" dirty="0"/>
          </a:p>
        </p:txBody>
      </p:sp>
      <p:sp>
        <p:nvSpPr>
          <p:cNvPr id="17" name="Text 15"/>
          <p:cNvSpPr txBox="1"/>
          <p:nvPr/>
        </p:nvSpPr>
        <p:spPr>
          <a:xfrm>
            <a:off x="6278728" y="3474720"/>
            <a:ext cx="2499284"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First evidence pack confirmed in writing by the partner firm</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Measured lawyer hours against the firm's own quote</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Pricing tested with both design partners; incorporate the company</a:t>
            </a:r>
            <a:endParaRPr lang="en-US" sz="1250" dirty="0"/>
          </a:p>
        </p:txBody>
      </p:sp>
      <p:sp>
        <p:nvSpPr>
          <p:cNvPr id="18" name="Shape 16"/>
          <p:cNvSpPr/>
          <p:nvPr/>
        </p:nvSpPr>
        <p:spPr>
          <a:xfrm>
            <a:off x="9143771" y="2514600"/>
            <a:ext cx="2499284" cy="0"/>
          </a:xfrm>
          <a:prstGeom prst="line">
            <a:avLst/>
          </a:prstGeom>
          <a:noFill/>
          <a:ln w="9525">
            <a:solidFill>
              <a:srgbClr val="1C2B2F"/>
            </a:solidFill>
            <a:prstDash val="solid"/>
          </a:ln>
        </p:spPr>
      </p:sp>
      <p:sp>
        <p:nvSpPr>
          <p:cNvPr id="19" name="Text 17"/>
          <p:cNvSpPr txBox="1"/>
          <p:nvPr/>
        </p:nvSpPr>
        <p:spPr>
          <a:xfrm>
            <a:off x="9143771" y="2642616"/>
            <a:ext cx="2499284"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Months 4 to 12</a:t>
            </a:r>
            <a:endParaRPr lang="en-US" sz="1000" dirty="0"/>
          </a:p>
        </p:txBody>
      </p:sp>
      <p:sp>
        <p:nvSpPr>
          <p:cNvPr id="20" name="Text 18"/>
          <p:cNvSpPr txBox="1"/>
          <p:nvPr/>
        </p:nvSpPr>
        <p:spPr>
          <a:xfrm>
            <a:off x="9143771" y="2971800"/>
            <a:ext cx="2499284" cy="457200"/>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Scale the loop</a:t>
            </a:r>
            <a:endParaRPr lang="en-US" sz="1800" dirty="0"/>
          </a:p>
        </p:txBody>
      </p:sp>
      <p:sp>
        <p:nvSpPr>
          <p:cNvPr id="21" name="Text 19"/>
          <p:cNvSpPr txBox="1"/>
          <p:nvPr/>
        </p:nvSpPr>
        <p:spPr>
          <a:xfrm>
            <a:off x="9143771" y="3474720"/>
            <a:ext cx="2499284"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HR and CRM connectors, NIS2 and AI Act modules live on top of GDPR</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Ten paying pilots in Austria, second law firm signed; aws Preseed application (up to €89,000)</a:t>
            </a:r>
            <a:endParaRPr lang="en-US" sz="1250" dirty="0"/>
          </a:p>
          <a:p>
            <a:pPr marL="342900" indent="-342900">
              <a:spcAft>
                <a:spcPts val="600"/>
              </a:spcAft>
              <a:buSzPct val="100000"/>
              <a:buChar char="●"/>
            </a:pPr>
            <a:r>
              <a:rPr lang="en-US" sz="1250" dirty="0">
                <a:solidFill>
                  <a:srgbClr val="55676B"/>
                </a:solidFill>
                <a:latin typeface="Geist" pitchFamily="34" charset="0"/>
                <a:ea typeface="Geist" pitchFamily="34" charset="-122"/>
                <a:cs typeface="Geist" pitchFamily="34" charset="-120"/>
              </a:rPr>
              <a:t>Germany opened through a partner firm there; pre-seed round on measured pilot data</a:t>
            </a:r>
            <a:endParaRPr lang="en-US" sz="125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04  Commercial model.</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application to the EIT Community AI Entrepreneurs Lab 2026</a:t>
            </a:r>
            <a:endParaRPr lang="en-US" sz="1000" dirty="0"/>
          </a:p>
        </p:txBody>
      </p:sp>
      <p:sp>
        <p:nvSpPr>
          <p:cNvPr id="4" name="Text 3"/>
          <p:cNvSpPr/>
          <p:nvPr>
            <p:ph idx="105" type="title" hasCustomPrompt="1"/>
          </p:nvPr>
        </p:nvSpPr>
        <p:spPr>
          <a:xfrm>
            <a:off x="548640" y="1737360"/>
            <a:ext cx="5760720" cy="2834640"/>
          </a:xfrm>
          <a:prstGeom prst="rect">
            <a:avLst/>
          </a:prstGeom>
          <a:noFill/>
          <a:ln/>
        </p:spPr>
        <p:txBody>
          <a:bodyPr wrap="square" lIns="0" tIns="0" rIns="0" bIns="0" rtlCol="0" anchor="t"/>
          <a:lstStyle/>
          <a:p>
            <a:pPr algn="l" indent="0" marL="0">
              <a:buNone/>
            </a:pPr>
            <a:r>
              <a:rPr lang="en-US" sz="4000" spc="-100" kern="0" dirty="0">
                <a:solidFill>
                  <a:srgbClr val="1C2B2F"/>
                </a:solidFill>
                <a:latin typeface="Geist Medium" pitchFamily="34" charset="0"/>
                <a:ea typeface="Geist Medium" pitchFamily="34" charset="-122"/>
                <a:cs typeface="Geist Medium" pitchFamily="34" charset="-120"/>
              </a:rPr>
              <a:t>Priced so the lawyer's bill drops and the firm still earns more.</a:t>
            </a:r>
            <a:endParaRPr lang="en-US" sz="4000" dirty="0"/>
          </a:p>
        </p:txBody>
      </p:sp>
      <p:sp>
        <p:nvSpPr>
          <p:cNvPr id="5" name="Text 3"/>
          <p:cNvSpPr/>
          <p:nvPr>
            <p:ph idx="106" type="body" hasCustomPrompt="1"/>
          </p:nvPr>
        </p:nvSpPr>
        <p:spPr>
          <a:xfrm>
            <a:off x="548640" y="4709160"/>
            <a:ext cx="5120640" cy="1280160"/>
          </a:xfrm>
          <a:prstGeom prst="rect">
            <a:avLst/>
          </a:prstGeom>
          <a:noFill/>
          <a:ln/>
        </p:spPr>
        <p:txBody>
          <a:bodyPr wrap="square" lIns="0" tIns="0" rIns="0" bIns="0" rtlCol="0" anchor="t"/>
          <a:lstStyle/>
          <a:p>
            <a:pPr algn="l" indent="0" marL="0">
              <a:buNone/>
            </a:pPr>
            <a:r>
              <a:rPr lang="en-US" sz="1300" dirty="0">
                <a:solidFill>
                  <a:srgbClr val="55676B"/>
                </a:solidFill>
                <a:latin typeface="Geist" pitchFamily="34" charset="0"/>
                <a:ea typeface="Geist" pitchFamily="34" charset="-122"/>
                <a:cs typeface="Geist" pitchFamily="34" charset="-120"/>
              </a:rPr>
              <a:t>The commercial section shows the price architecture, the numbers behind it, and why the customer's total cost falls even though a lawyer still signs.</a:t>
            </a:r>
            <a:endParaRPr lang="en-US" sz="1300" dirty="0"/>
          </a:p>
        </p:txBody>
      </p:sp>
      <p:pic>
        <p:nvPicPr>
          <p:cNvPr id="6" name="Image 0" descr="/tmp/claude-1000/-home-andi/f48438b4-0a16-4bf3-84ad-6f8357b43e23/scratchpad/deckbuild/img/interior-r.png">    </p:cNvPr>
          <p:cNvPicPr>
            <a:picLocks noChangeAspect="1"/>
          </p:cNvPicPr>
          <p:nvPr/>
        </p:nvPicPr>
        <p:blipFill>
          <a:blip r:embed="rId1"/>
          <a:stretch>
            <a:fillRect/>
          </a:stretch>
        </p:blipFill>
        <p:spPr>
          <a:xfrm>
            <a:off x="6705295" y="914400"/>
            <a:ext cx="4937760" cy="5212080"/>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Commercial model.</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Price architecture.</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Published price points, bar rules per country</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Platform, modules, and lawyers who bill their own work</a:t>
            </a:r>
            <a:endParaRPr lang="en-US" sz="3000" dirty="0"/>
          </a:p>
        </p:txBody>
      </p:sp>
      <p:sp>
        <p:nvSpPr>
          <p:cNvPr id="5" name="Text 3"/>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The company pays a yearly platform fee by size, adds a module per regulation it needs, and picks a partner law firm that bills its legal work directly. Per-framework pricing is the market norm. A fee per legal mandate is not lawful in our first markets, so there is none.</a:t>
            </a:r>
            <a:endParaRPr lang="en-US" sz="1400" dirty="0"/>
          </a:p>
        </p:txBody>
      </p:sp>
      <p:sp>
        <p:nvSpPr>
          <p:cNvPr id="6" name="Shape 4"/>
          <p:cNvSpPr/>
          <p:nvPr/>
        </p:nvSpPr>
        <p:spPr>
          <a:xfrm>
            <a:off x="548640" y="2468880"/>
            <a:ext cx="3515258" cy="2240280"/>
          </a:xfrm>
          <a:prstGeom prst="roundRect">
            <a:avLst>
              <a:gd name="adj" fmla="val 3265"/>
            </a:avLst>
          </a:prstGeom>
          <a:solidFill>
            <a:srgbClr val="FCFBF8"/>
          </a:solidFill>
          <a:ln w="9525">
            <a:solidFill>
              <a:srgbClr val="E3E0D7"/>
            </a:solidFill>
            <a:prstDash val="solid"/>
          </a:ln>
        </p:spPr>
      </p:sp>
      <p:sp>
        <p:nvSpPr>
          <p:cNvPr id="7" name="Text 5"/>
          <p:cNvSpPr txBox="1"/>
          <p:nvPr/>
        </p:nvSpPr>
        <p:spPr>
          <a:xfrm>
            <a:off x="749808" y="2606040"/>
            <a:ext cx="3112922"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Platform base, GDPR included</a:t>
            </a:r>
            <a:endParaRPr lang="en-US" sz="1000" dirty="0"/>
          </a:p>
        </p:txBody>
      </p:sp>
      <p:sp>
        <p:nvSpPr>
          <p:cNvPr id="8" name="Text 6"/>
          <p:cNvSpPr txBox="1"/>
          <p:nvPr/>
        </p:nvSpPr>
        <p:spPr>
          <a:xfrm>
            <a:off x="749808" y="2834640"/>
            <a:ext cx="3112922" cy="502920"/>
          </a:xfrm>
          <a:prstGeom prst="rect">
            <a:avLst/>
          </a:prstGeom>
          <a:noFill/>
          <a:ln/>
        </p:spPr>
        <p:txBody>
          <a:bodyPr wrap="square" lIns="0" tIns="0" rIns="0" bIns="0" rtlCol="0" anchor="t"/>
          <a:lstStyle/>
          <a:p>
            <a:pPr indent="0" marL="0">
              <a:buNone/>
            </a:pPr>
            <a:r>
              <a:rPr lang="en-US" sz="2400" spc="-50" kern="0" dirty="0">
                <a:solidFill>
                  <a:srgbClr val="1C2B2F"/>
                </a:solidFill>
                <a:latin typeface="Geist Medium" pitchFamily="34" charset="0"/>
                <a:ea typeface="Geist Medium" pitchFamily="34" charset="-122"/>
                <a:cs typeface="Geist Medium" pitchFamily="34" charset="-120"/>
              </a:rPr>
              <a:t>€3,600 to €14,400</a:t>
            </a:r>
            <a:endParaRPr lang="en-US" sz="2400" dirty="0"/>
          </a:p>
        </p:txBody>
      </p:sp>
      <p:sp>
        <p:nvSpPr>
          <p:cNvPr id="9" name="Text 7"/>
          <p:cNvSpPr txBox="1"/>
          <p:nvPr/>
        </p:nvSpPr>
        <p:spPr>
          <a:xfrm>
            <a:off x="749808" y="3337560"/>
            <a:ext cx="3112922"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per year, by company size</a:t>
            </a:r>
            <a:endParaRPr lang="en-US" sz="1000" dirty="0"/>
          </a:p>
        </p:txBody>
      </p:sp>
      <p:sp>
        <p:nvSpPr>
          <p:cNvPr id="10" name="Text 8"/>
          <p:cNvSpPr txBox="1"/>
          <p:nvPr/>
        </p:nvSpPr>
        <p:spPr>
          <a:xfrm>
            <a:off x="749808" y="3639312"/>
            <a:ext cx="3112922" cy="1024128"/>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Three bands: 10 to 49 staff €3,600, 50 to 249 staff €7,200, 250 to 1,000 staff €14,400. Includes the read-only connectors, context report, inventory and the GDPR module.</a:t>
            </a:r>
            <a:endParaRPr lang="en-US" sz="1100" dirty="0"/>
          </a:p>
        </p:txBody>
      </p:sp>
      <p:sp>
        <p:nvSpPr>
          <p:cNvPr id="11" name="Shape 9"/>
          <p:cNvSpPr/>
          <p:nvPr/>
        </p:nvSpPr>
        <p:spPr>
          <a:xfrm>
            <a:off x="4338218" y="2468880"/>
            <a:ext cx="3515258" cy="2240280"/>
          </a:xfrm>
          <a:prstGeom prst="roundRect">
            <a:avLst>
              <a:gd name="adj" fmla="val 3265"/>
            </a:avLst>
          </a:prstGeom>
          <a:solidFill>
            <a:srgbClr val="E7EDEC"/>
          </a:solidFill>
          <a:ln w="9525">
            <a:solidFill>
              <a:srgbClr val="E7EDEC"/>
            </a:solidFill>
            <a:prstDash val="solid"/>
          </a:ln>
        </p:spPr>
      </p:sp>
      <p:sp>
        <p:nvSpPr>
          <p:cNvPr id="12" name="Text 10"/>
          <p:cNvSpPr txBox="1"/>
          <p:nvPr/>
        </p:nvSpPr>
        <p:spPr>
          <a:xfrm>
            <a:off x="4539386" y="2606040"/>
            <a:ext cx="3112922"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Regulation modules</a:t>
            </a:r>
            <a:endParaRPr lang="en-US" sz="1000" dirty="0"/>
          </a:p>
        </p:txBody>
      </p:sp>
      <p:sp>
        <p:nvSpPr>
          <p:cNvPr id="13" name="Text 11"/>
          <p:cNvSpPr txBox="1"/>
          <p:nvPr/>
        </p:nvSpPr>
        <p:spPr>
          <a:xfrm>
            <a:off x="4539386" y="2834640"/>
            <a:ext cx="3112922" cy="502920"/>
          </a:xfrm>
          <a:prstGeom prst="rect">
            <a:avLst/>
          </a:prstGeom>
          <a:noFill/>
          <a:ln/>
        </p:spPr>
        <p:txBody>
          <a:bodyPr wrap="square" lIns="0" tIns="0" rIns="0" bIns="0" rtlCol="0" anchor="t"/>
          <a:lstStyle/>
          <a:p>
            <a:pPr indent="0" marL="0">
              <a:buNone/>
            </a:pPr>
            <a:r>
              <a:rPr lang="en-US" sz="2400" spc="-50" kern="0" dirty="0">
                <a:solidFill>
                  <a:srgbClr val="1C2B2F"/>
                </a:solidFill>
                <a:latin typeface="Geist Medium" pitchFamily="34" charset="0"/>
                <a:ea typeface="Geist Medium" pitchFamily="34" charset="-122"/>
                <a:cs typeface="Geist Medium" pitchFamily="34" charset="-120"/>
              </a:rPr>
              <a:t>€1,800 to €6,000</a:t>
            </a:r>
            <a:endParaRPr lang="en-US" sz="2400" dirty="0"/>
          </a:p>
        </p:txBody>
      </p:sp>
      <p:sp>
        <p:nvSpPr>
          <p:cNvPr id="14" name="Text 12"/>
          <p:cNvSpPr txBox="1"/>
          <p:nvPr/>
        </p:nvSpPr>
        <p:spPr>
          <a:xfrm>
            <a:off x="4539386" y="3337560"/>
            <a:ext cx="3112922"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per regulation per year, by size</a:t>
            </a:r>
            <a:endParaRPr lang="en-US" sz="1000" dirty="0"/>
          </a:p>
        </p:txBody>
      </p:sp>
      <p:sp>
        <p:nvSpPr>
          <p:cNvPr id="15" name="Text 13"/>
          <p:cNvSpPr txBox="1"/>
          <p:nvPr/>
        </p:nvSpPr>
        <p:spPr>
          <a:xfrm>
            <a:off x="4539386" y="3639312"/>
            <a:ext cx="3112922" cy="1024128"/>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AI Act, NIS2 supply-chain readiness, DORA for ICT suppliers, CRA. Each adds its gap list and evidence pack. A mid-sized company with three modules lands at €14,400 to €18,000.</a:t>
            </a:r>
            <a:endParaRPr lang="en-US" sz="1100" dirty="0"/>
          </a:p>
        </p:txBody>
      </p:sp>
      <p:sp>
        <p:nvSpPr>
          <p:cNvPr id="16" name="Shape 14"/>
          <p:cNvSpPr/>
          <p:nvPr/>
        </p:nvSpPr>
        <p:spPr>
          <a:xfrm>
            <a:off x="8127797" y="2468880"/>
            <a:ext cx="3515258" cy="2240280"/>
          </a:xfrm>
          <a:prstGeom prst="roundRect">
            <a:avLst>
              <a:gd name="adj" fmla="val 3265"/>
            </a:avLst>
          </a:prstGeom>
          <a:solidFill>
            <a:srgbClr val="FCFBF8"/>
          </a:solidFill>
          <a:ln w="9525">
            <a:solidFill>
              <a:srgbClr val="E3E0D7"/>
            </a:solidFill>
            <a:prstDash val="solid"/>
          </a:ln>
        </p:spPr>
      </p:sp>
      <p:sp>
        <p:nvSpPr>
          <p:cNvPr id="17" name="Text 15"/>
          <p:cNvSpPr txBox="1"/>
          <p:nvPr/>
        </p:nvSpPr>
        <p:spPr>
          <a:xfrm>
            <a:off x="8328965" y="2606040"/>
            <a:ext cx="3112922"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Partner law firms</a:t>
            </a:r>
            <a:endParaRPr lang="en-US" sz="1000" dirty="0"/>
          </a:p>
        </p:txBody>
      </p:sp>
      <p:sp>
        <p:nvSpPr>
          <p:cNvPr id="18" name="Text 16"/>
          <p:cNvSpPr txBox="1"/>
          <p:nvPr/>
        </p:nvSpPr>
        <p:spPr>
          <a:xfrm>
            <a:off x="8328965" y="2834640"/>
            <a:ext cx="3112922" cy="502920"/>
          </a:xfrm>
          <a:prstGeom prst="rect">
            <a:avLst/>
          </a:prstGeom>
          <a:noFill/>
          <a:ln/>
        </p:spPr>
        <p:txBody>
          <a:bodyPr wrap="square" lIns="0" tIns="0" rIns="0" bIns="0" rtlCol="0" anchor="t"/>
          <a:lstStyle/>
          <a:p>
            <a:pPr indent="0" marL="0">
              <a:buNone/>
            </a:pPr>
            <a:r>
              <a:rPr lang="en-US" sz="2400" spc="-50" kern="0" dirty="0">
                <a:solidFill>
                  <a:srgbClr val="1C2B2F"/>
                </a:solidFill>
                <a:latin typeface="Geist Medium" pitchFamily="34" charset="0"/>
                <a:ea typeface="Geist Medium" pitchFamily="34" charset="-122"/>
                <a:cs typeface="Geist Medium" pitchFamily="34" charset="-120"/>
              </a:rPr>
              <a:t>Flat yearly fee</a:t>
            </a:r>
            <a:endParaRPr lang="en-US" sz="2400" dirty="0"/>
          </a:p>
        </p:txBody>
      </p:sp>
      <p:sp>
        <p:nvSpPr>
          <p:cNvPr id="19" name="Text 17"/>
          <p:cNvSpPr txBox="1"/>
          <p:nvPr/>
        </p:nvSpPr>
        <p:spPr>
          <a:xfrm>
            <a:off x="8328965" y="3337560"/>
            <a:ext cx="3112922"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same for every firm, never per mandate</a:t>
            </a:r>
            <a:endParaRPr lang="en-US" sz="1000" dirty="0"/>
          </a:p>
        </p:txBody>
      </p:sp>
      <p:sp>
        <p:nvSpPr>
          <p:cNvPr id="20" name="Text 18"/>
          <p:cNvSpPr txBox="1"/>
          <p:nvPr/>
        </p:nvSpPr>
        <p:spPr>
          <a:xfrm>
            <a:off x="8328965" y="3639312"/>
            <a:ext cx="3112922" cy="1024128"/>
          </a:xfrm>
          <a:prstGeom prst="rect">
            <a:avLst/>
          </a:prstGeom>
          <a:noFill/>
          <a:ln/>
        </p:spPr>
        <p:txBody>
          <a:bodyPr wrap="square" lIns="0" tIns="0" rIns="0" bIns="0" rtlCol="0" anchor="t"/>
          <a:lstStyle/>
          <a:p>
            <a:pPr indent="0" marL="0">
              <a:buNone/>
            </a:pPr>
            <a:r>
              <a:rPr lang="en-US" sz="1100" dirty="0">
                <a:solidFill>
                  <a:srgbClr val="55676B"/>
                </a:solidFill>
                <a:latin typeface="Geist" pitchFamily="34" charset="0"/>
                <a:ea typeface="Geist" pitchFamily="34" charset="-122"/>
                <a:cs typeface="Geist" pitchFamily="34" charset="-120"/>
              </a:rPr>
              <a:t>The client chooses the firm from a list. The firm bills its legal work directly. Regulift takes no share and no fee per mandate or lead, which German, Austrian, Italian and French bar rules forbid.</a:t>
            </a:r>
            <a:endParaRPr lang="en-US" sz="1100" dirty="0"/>
          </a:p>
        </p:txBody>
      </p:sp>
      <p:sp>
        <p:nvSpPr>
          <p:cNvPr id="21" name="Shape 19"/>
          <p:cNvSpPr/>
          <p:nvPr/>
        </p:nvSpPr>
        <p:spPr>
          <a:xfrm>
            <a:off x="548640" y="4846320"/>
            <a:ext cx="11094415" cy="0"/>
          </a:xfrm>
          <a:prstGeom prst="line">
            <a:avLst/>
          </a:prstGeom>
          <a:noFill/>
          <a:ln w="9525">
            <a:solidFill>
              <a:srgbClr val="E3E0D7"/>
            </a:solidFill>
            <a:prstDash val="solid"/>
          </a:ln>
        </p:spPr>
      </p:sp>
      <p:sp>
        <p:nvSpPr>
          <p:cNvPr id="22" name="Shape 20"/>
          <p:cNvSpPr/>
          <p:nvPr/>
        </p:nvSpPr>
        <p:spPr>
          <a:xfrm>
            <a:off x="548640" y="5943600"/>
            <a:ext cx="11094415" cy="0"/>
          </a:xfrm>
          <a:prstGeom prst="line">
            <a:avLst/>
          </a:prstGeom>
          <a:noFill/>
          <a:ln w="9525">
            <a:solidFill>
              <a:srgbClr val="E3E0D7"/>
            </a:solidFill>
            <a:prstDash val="solid"/>
          </a:ln>
        </p:spPr>
      </p:sp>
      <p:sp>
        <p:nvSpPr>
          <p:cNvPr id="23" name="Text 21"/>
          <p:cNvSpPr txBox="1"/>
          <p:nvPr/>
        </p:nvSpPr>
        <p:spPr>
          <a:xfrm>
            <a:off x="548640" y="5047488"/>
            <a:ext cx="3332378"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€9,000 to €18,000</a:t>
            </a:r>
            <a:endParaRPr lang="en-US" sz="2200" dirty="0"/>
          </a:p>
        </p:txBody>
      </p:sp>
      <p:sp>
        <p:nvSpPr>
          <p:cNvPr id="24" name="Text 22"/>
          <p:cNvSpPr txBox="1"/>
          <p:nvPr/>
        </p:nvSpPr>
        <p:spPr>
          <a:xfrm>
            <a:off x="548640" y="5532120"/>
            <a:ext cx="3286658" cy="3200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a year for a 50 to 249 person company with three to four regulations, our mid tier</a:t>
            </a:r>
            <a:endParaRPr lang="en-US" sz="1150" dirty="0"/>
          </a:p>
        </p:txBody>
      </p:sp>
      <p:sp>
        <p:nvSpPr>
          <p:cNvPr id="25" name="Shape 23"/>
          <p:cNvSpPr/>
          <p:nvPr/>
        </p:nvSpPr>
        <p:spPr>
          <a:xfrm>
            <a:off x="4246778" y="4846320"/>
            <a:ext cx="0" cy="1097280"/>
          </a:xfrm>
          <a:prstGeom prst="line">
            <a:avLst/>
          </a:prstGeom>
          <a:noFill/>
          <a:ln w="9525">
            <a:solidFill>
              <a:srgbClr val="E3E0D7"/>
            </a:solidFill>
            <a:prstDash val="solid"/>
          </a:ln>
        </p:spPr>
      </p:sp>
      <p:sp>
        <p:nvSpPr>
          <p:cNvPr id="26" name="Text 24"/>
          <p:cNvSpPr txBox="1"/>
          <p:nvPr/>
        </p:nvSpPr>
        <p:spPr>
          <a:xfrm>
            <a:off x="4502810" y="5047488"/>
            <a:ext cx="3332378"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USD 20,000</a:t>
            </a:r>
            <a:endParaRPr lang="en-US" sz="2200" dirty="0"/>
          </a:p>
        </p:txBody>
      </p:sp>
      <p:sp>
        <p:nvSpPr>
          <p:cNvPr id="27" name="Text 25"/>
          <p:cNvSpPr txBox="1"/>
          <p:nvPr/>
        </p:nvSpPr>
        <p:spPr>
          <a:xfrm>
            <a:off x="4502810" y="5532120"/>
            <a:ext cx="3286658" cy="3200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median yearly spend on Vanta, usually one framework (Vendr, 374 purchases)</a:t>
            </a:r>
            <a:endParaRPr lang="en-US" sz="1150" dirty="0"/>
          </a:p>
        </p:txBody>
      </p:sp>
      <p:sp>
        <p:nvSpPr>
          <p:cNvPr id="28" name="Shape 26"/>
          <p:cNvSpPr/>
          <p:nvPr/>
        </p:nvSpPr>
        <p:spPr>
          <a:xfrm>
            <a:off x="7944917" y="4846320"/>
            <a:ext cx="0" cy="1097280"/>
          </a:xfrm>
          <a:prstGeom prst="line">
            <a:avLst/>
          </a:prstGeom>
          <a:noFill/>
          <a:ln w="9525">
            <a:solidFill>
              <a:srgbClr val="E3E0D7"/>
            </a:solidFill>
            <a:prstDash val="solid"/>
          </a:ln>
        </p:spPr>
      </p:sp>
      <p:sp>
        <p:nvSpPr>
          <p:cNvPr id="29" name="Text 27"/>
          <p:cNvSpPr txBox="1"/>
          <p:nvPr/>
        </p:nvSpPr>
        <p:spPr>
          <a:xfrm>
            <a:off x="8200949" y="5047488"/>
            <a:ext cx="3332378" cy="457200"/>
          </a:xfrm>
          <a:prstGeom prst="rect">
            <a:avLst/>
          </a:prstGeom>
          <a:noFill/>
          <a:ln/>
        </p:spPr>
        <p:txBody>
          <a:bodyPr wrap="square" lIns="0" tIns="0" rIns="0" bIns="0" rtlCol="0" anchor="t"/>
          <a:lstStyle/>
          <a:p>
            <a:pPr indent="0" marL="0">
              <a:buNone/>
            </a:pPr>
            <a:r>
              <a:rPr lang="en-US" sz="2200" spc="-100" kern="0" dirty="0">
                <a:solidFill>
                  <a:srgbClr val="1C2B2F"/>
                </a:solidFill>
                <a:latin typeface="Geist Medium" pitchFamily="34" charset="0"/>
                <a:ea typeface="Geist Medium" pitchFamily="34" charset="-122"/>
                <a:cs typeface="Geist Medium" pitchFamily="34" charset="-120"/>
              </a:rPr>
              <a:t>€244 an hour</a:t>
            </a:r>
            <a:endParaRPr lang="en-US" sz="2200" dirty="0"/>
          </a:p>
        </p:txBody>
      </p:sp>
      <p:sp>
        <p:nvSpPr>
          <p:cNvPr id="30" name="Text 28"/>
          <p:cNvSpPr txBox="1"/>
          <p:nvPr/>
        </p:nvSpPr>
        <p:spPr>
          <a:xfrm>
            <a:off x="8200949" y="5532120"/>
            <a:ext cx="3286658" cy="320040"/>
          </a:xfrm>
          <a:prstGeom prst="rect">
            <a:avLst/>
          </a:prstGeom>
          <a:noFill/>
          <a:ln/>
        </p:spPr>
        <p:txBody>
          <a:bodyPr wrap="square" lIns="0" tIns="0" rIns="0" bIns="0" rtlCol="0" anchor="t"/>
          <a:lstStyle/>
          <a:p>
            <a:pPr indent="0" marL="0">
              <a:buNone/>
            </a:pPr>
            <a:r>
              <a:rPr lang="en-US" sz="1150" dirty="0">
                <a:solidFill>
                  <a:srgbClr val="55676B"/>
                </a:solidFill>
                <a:latin typeface="Geist" pitchFamily="34" charset="0"/>
                <a:ea typeface="Geist" pitchFamily="34" charset="-122"/>
                <a:cs typeface="Geist" pitchFamily="34" charset="-120"/>
              </a:rPr>
              <a:t>average standard rate of German lawyers in 2024 (BRAK STAR survey)</a:t>
            </a:r>
            <a:endParaRPr lang="en-US" sz="1150" dirty="0"/>
          </a:p>
        </p:txBody>
      </p:sp>
      <p:sp>
        <p:nvSpPr>
          <p:cNvPr id="31" name="Text 29"/>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Vendr marketplace data, Feb 2026. Vanta and Drata AWS Marketplace listings, Oct 2026. StartComply pricing page, Oct 2026 (€4,500 per framework). BRAK STAR survey via beck-aktuell, Feb 2026. BGH IX ZR 89/23 (Apr 2024), BRAO §49b(3), ÖRAK RL-BA §47, Italian CDF art. 37, French RIN art. 11.3 and 19.4.2. Tier prices are our proposal.</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Commercial model.</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Why it gets cheaper.</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Target, labelled as such</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Same lawyer, fewer hours: the target and the evidence</a:t>
            </a:r>
            <a:endParaRPr lang="en-US" sz="3000" dirty="0"/>
          </a:p>
        </p:txBody>
      </p:sp>
      <p:sp>
        <p:nvSpPr>
          <p:cNvPr id="5" name="Text 3"/>
          <p:cNvSpPr txBox="1"/>
          <p:nvPr/>
        </p:nvSpPr>
        <p:spPr>
          <a:xfrm>
            <a:off x="548640" y="1783080"/>
            <a:ext cx="4937760" cy="155448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Our target is a legal bill about 60% lower for a readiness review. Published studies measure about 20% time saved when a lawyer uses AI and still does the discovery. The difference is where the hours go: we remove the discovery before the clock starts.</a:t>
            </a:r>
            <a:endParaRPr lang="en-US" sz="1400" dirty="0"/>
          </a:p>
        </p:txBody>
      </p:sp>
      <p:sp>
        <p:nvSpPr>
          <p:cNvPr id="6" name="Text 4"/>
          <p:cNvSpPr txBox="1"/>
          <p:nvPr/>
        </p:nvSpPr>
        <p:spPr>
          <a:xfrm>
            <a:off x="548640" y="3383280"/>
            <a:ext cx="493776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Randomised trial: about 20% time saved per legal task with AI assistance (Schwarcz et al., 2025).</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Billing data: fact-finding-type tasks are 19 to 23% of invoiced hours on average, more in a first compliance review (Remus and Levy, 2017).</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Modelled ceiling: 66 to 74% of hourly billed work has automation potential (Clio Legal Trends 2024). A ceiling, not a result.</a:t>
            </a:r>
            <a:endParaRPr lang="en-US" sz="1250" dirty="0"/>
          </a:p>
          <a:p>
            <a:pPr marL="342900" indent="-342900">
              <a:spcAft>
                <a:spcPts val="800"/>
              </a:spcAft>
              <a:buSzPct val="100000"/>
              <a:buChar char="●"/>
            </a:pPr>
            <a:r>
              <a:rPr lang="en-US" sz="1250" dirty="0">
                <a:solidFill>
                  <a:srgbClr val="55676B"/>
                </a:solidFill>
                <a:latin typeface="Geist" pitchFamily="34" charset="0"/>
                <a:ea typeface="Geist" pitchFamily="34" charset="-122"/>
                <a:cs typeface="Geist" pitchFamily="34" charset="-120"/>
              </a:rPr>
              <a:t>We will publish measured hours from the first pilots. Until then the 60% stays labelled a target, on the website and here.</a:t>
            </a:r>
            <a:endParaRPr lang="en-US" sz="1250" dirty="0"/>
          </a:p>
        </p:txBody>
      </p:sp>
      <p:sp>
        <p:nvSpPr>
          <p:cNvPr id="7" name="Shape 5"/>
          <p:cNvSpPr/>
          <p:nvPr/>
        </p:nvSpPr>
        <p:spPr>
          <a:xfrm>
            <a:off x="6035040" y="1828800"/>
            <a:ext cx="5608015" cy="4023360"/>
          </a:xfrm>
          <a:prstGeom prst="roundRect">
            <a:avLst>
              <a:gd name="adj" fmla="val 1818"/>
            </a:avLst>
          </a:prstGeom>
          <a:solidFill>
            <a:srgbClr val="FCFBF8"/>
          </a:solidFill>
          <a:ln w="9525">
            <a:solidFill>
              <a:srgbClr val="E3E0D7"/>
            </a:solidFill>
            <a:prstDash val="solid"/>
          </a:ln>
        </p:spPr>
      </p:sp>
      <p:sp>
        <p:nvSpPr>
          <p:cNvPr id="8" name="Text 6"/>
          <p:cNvSpPr txBox="1"/>
          <p:nvPr/>
        </p:nvSpPr>
        <p:spPr>
          <a:xfrm>
            <a:off x="6263640" y="1993392"/>
            <a:ext cx="5150815" cy="274320"/>
          </a:xfrm>
          <a:prstGeom prst="rect">
            <a:avLst/>
          </a:prstGeom>
          <a:noFill/>
          <a:ln/>
        </p:spPr>
        <p:txBody>
          <a:bodyPr wrap="square" lIns="0" tIns="0" rIns="0" bIns="0" rtlCol="0" anchor="t"/>
          <a:lstStyle/>
          <a:p>
            <a:pPr indent="0" marL="0">
              <a:buNone/>
            </a:pPr>
            <a:r>
              <a:rPr lang="en-US" sz="1000" dirty="0">
                <a:solidFill>
                  <a:srgbClr val="1C2B2F"/>
                </a:solidFill>
                <a:latin typeface="Geist" pitchFamily="34" charset="0"/>
                <a:ea typeface="Geist" pitchFamily="34" charset="-122"/>
                <a:cs typeface="Geist" pitchFamily="34" charset="-120"/>
              </a:rPr>
              <a:t>Lawyer hours in our illustrative case</a:t>
            </a:r>
            <a:endParaRPr lang="en-US" sz="1000" dirty="0"/>
          </a:p>
        </p:txBody>
      </p:sp>
      <p:sp>
        <p:nvSpPr>
          <p:cNvPr id="9" name="Text 7"/>
          <p:cNvSpPr txBox="1"/>
          <p:nvPr/>
        </p:nvSpPr>
        <p:spPr>
          <a:xfrm>
            <a:off x="6263640" y="2212848"/>
            <a:ext cx="5150815" cy="274320"/>
          </a:xfrm>
          <a:prstGeom prst="rect">
            <a:avLst/>
          </a:prstGeom>
          <a:noFill/>
          <a:ln/>
        </p:spPr>
        <p:txBody>
          <a:bodyPr wrap="square" lIns="0" tIns="0" rIns="0" bIns="0" rtlCol="0" anchor="t"/>
          <a:lstStyle/>
          <a:p>
            <a:pPr indent="0" marL="0">
              <a:buNone/>
            </a:pPr>
            <a:r>
              <a:rPr lang="en-US" sz="1000" dirty="0">
                <a:solidFill>
                  <a:srgbClr val="8A9A9D"/>
                </a:solidFill>
                <a:latin typeface="Geist" pitchFamily="34" charset="0"/>
                <a:ea typeface="Geist" pitchFamily="34" charset="-122"/>
                <a:cs typeface="Geist" pitchFamily="34" charset="-120"/>
              </a:rPr>
              <a:t>Forty hours quoted, sixteen as our target</a:t>
            </a:r>
            <a:endParaRPr lang="en-US" sz="1000" dirty="0"/>
          </a:p>
        </p:txBody>
      </p:sp>
      <p:graphicFrame>
        <p:nvGraphicFramePr>
          <p:cNvPr id="10" name="Chart 0" descr=""/>
          <p:cNvGraphicFramePr/>
          <p:nvPr/>
        </p:nvGraphicFramePr>
        <p:xfrm>
          <a:off x="6172200" y="2606040"/>
          <a:ext cx="5333695" cy="31089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900" dirty="0">
                <a:solidFill>
                  <a:srgbClr val="8A9A9D"/>
                </a:solidFill>
                <a:latin typeface="Geist" pitchFamily="34" charset="0"/>
                <a:ea typeface="Geist" pitchFamily="34" charset="-122"/>
                <a:cs typeface="Geist" pitchFamily="34" charset="-120"/>
              </a:rPr>
              <a:t>Sources: Schwarcz, Manning, Barry, Cleveland, Prescott and Rich, AI-Powered Lawyering, 2025. Remus and Levy, 2017, Table 1. Clio Legal Trends Report 2024. The illustrative split of 40 hours is our assumption and is labelled as such.</a:t>
            </a:r>
            <a:endParaRPr lang="en-US" sz="9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05  Conclusion.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application to the EIT Community AI Entrepreneurs Lab 2026</a:t>
            </a:r>
            <a:endParaRPr lang="en-US" sz="1000" dirty="0"/>
          </a:p>
        </p:txBody>
      </p:sp>
      <p:sp>
        <p:nvSpPr>
          <p:cNvPr id="4" name="Text 3"/>
          <p:cNvSpPr/>
          <p:nvPr>
            <p:ph idx="105" type="title" hasCustomPrompt="1"/>
          </p:nvPr>
        </p:nvSpPr>
        <p:spPr>
          <a:xfrm>
            <a:off x="548640" y="1737360"/>
            <a:ext cx="5760720" cy="2834640"/>
          </a:xfrm>
          <a:prstGeom prst="rect">
            <a:avLst/>
          </a:prstGeom>
          <a:noFill/>
          <a:ln/>
        </p:spPr>
        <p:txBody>
          <a:bodyPr wrap="square" lIns="0" tIns="0" rIns="0" bIns="0" rtlCol="0" anchor="t"/>
          <a:lstStyle/>
          <a:p>
            <a:pPr algn="l" indent="0" marL="0">
              <a:buNone/>
            </a:pPr>
            <a:r>
              <a:rPr lang="en-US" sz="4000" spc="-100" kern="0" dirty="0">
                <a:solidFill>
                  <a:srgbClr val="1C2B2F"/>
                </a:solidFill>
                <a:latin typeface="Geist Medium" pitchFamily="34" charset="0"/>
                <a:ea typeface="Geist Medium" pitchFamily="34" charset="-122"/>
                <a:cs typeface="Geist Medium" pitchFamily="34" charset="-120"/>
              </a:rPr>
              <a:t>Two founders, one problem we have both touched.</a:t>
            </a:r>
            <a:endParaRPr lang="en-US" sz="4000" dirty="0"/>
          </a:p>
        </p:txBody>
      </p:sp>
      <p:sp>
        <p:nvSpPr>
          <p:cNvPr id="5" name="Text 3"/>
          <p:cNvSpPr/>
          <p:nvPr>
            <p:ph idx="106" type="body" hasCustomPrompt="1"/>
          </p:nvPr>
        </p:nvSpPr>
        <p:spPr>
          <a:xfrm>
            <a:off x="548640" y="4709160"/>
            <a:ext cx="5120640" cy="1280160"/>
          </a:xfrm>
          <a:prstGeom prst="rect">
            <a:avLst/>
          </a:prstGeom>
          <a:noFill/>
          <a:ln/>
        </p:spPr>
        <p:txBody>
          <a:bodyPr wrap="square" lIns="0" tIns="0" rIns="0" bIns="0" rtlCol="0" anchor="t"/>
          <a:lstStyle/>
          <a:p>
            <a:pPr algn="l" indent="0" marL="0">
              <a:buNone/>
            </a:pPr>
            <a:r>
              <a:rPr lang="en-US" sz="1300" dirty="0">
                <a:solidFill>
                  <a:srgbClr val="55676B"/>
                </a:solidFill>
                <a:latin typeface="Geist" pitchFamily="34" charset="0"/>
                <a:ea typeface="Geist" pitchFamily="34" charset="-122"/>
                <a:cs typeface="Geist" pitchFamily="34" charset="-120"/>
              </a:rPr>
              <a:t>The conclusion covers who we are, why this problem is ours, and what the bootcamp week would be used for.</a:t>
            </a:r>
            <a:endParaRPr lang="en-US" sz="1300" dirty="0"/>
          </a:p>
        </p:txBody>
      </p:sp>
      <p:pic>
        <p:nvPicPr>
          <p:cNvPr id="6" name="Image 0" descr="/tmp/claude-1000/-home-andi/f48438b4-0a16-4bf3-84ad-6f8357b43e23/scratchpad/deckbuild/img/rock-r.png">    </p:cNvPr>
          <p:cNvPicPr>
            <a:picLocks noChangeAspect="1"/>
          </p:cNvPicPr>
          <p:nvPr/>
        </p:nvPicPr>
        <p:blipFill>
          <a:blip r:embed="rId1"/>
          <a:stretch>
            <a:fillRect/>
          </a:stretch>
        </p:blipFill>
        <p:spPr>
          <a:xfrm>
            <a:off x="6705295" y="1574074"/>
            <a:ext cx="4937760" cy="3526971"/>
          </a:xfrm>
          <a:prstGeom prst="rect">
            <a:avLst/>
          </a:prstGeom>
        </p:spPr>
      </p:pic>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Conclusion.</a:t>
            </a:r>
            <a:endParaRPr lang="en-US" sz="1000" dirty="0"/>
          </a:p>
          <a:p>
            <a:pPr indent="0" marL="0">
              <a:buNone/>
            </a:pPr>
            <a:r>
              <a:rPr lang="en-US" sz="1000" dirty="0">
                <a:solidFill>
                  <a:srgbClr val="55676B"/>
                </a:solidFill>
                <a:latin typeface="Geist" pitchFamily="34" charset="0"/>
                <a:ea typeface="Geist" pitchFamily="34" charset="-122"/>
                <a:cs typeface="Geist" pitchFamily="34" charset="-120"/>
              </a:rPr>
              <a:t>The people behind Regulift.</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EIT Digital Master School, 28DIGITAL</a:t>
            </a:r>
            <a:endParaRPr lang="en-US" sz="1000" dirty="0"/>
          </a:p>
        </p:txBody>
      </p:sp>
      <p:sp>
        <p:nvSpPr>
          <p:cNvPr id="4"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r>
              <a:rPr lang="en-US" sz="3000" spc="-50" kern="0" dirty="0">
                <a:solidFill>
                  <a:srgbClr val="1C2B2F"/>
                </a:solidFill>
                <a:latin typeface="Geist Medium" pitchFamily="34" charset="0"/>
                <a:ea typeface="Geist Medium" pitchFamily="34" charset="-122"/>
                <a:cs typeface="Geist Medium" pitchFamily="34" charset="-120"/>
              </a:rPr>
              <a:t>Meet the founders</a:t>
            </a:r>
            <a:endParaRPr lang="en-US" sz="3000" dirty="0"/>
          </a:p>
        </p:txBody>
      </p:sp>
      <p:sp>
        <p:nvSpPr>
          <p:cNvPr id="5" name="Text 3"/>
          <p:cNvSpPr txBox="1"/>
          <p:nvPr/>
        </p:nvSpPr>
        <p:spPr>
          <a:xfrm>
            <a:off x="548640" y="1783080"/>
            <a:ext cx="4206240" cy="2377440"/>
          </a:xfrm>
          <a:prstGeom prst="rect">
            <a:avLst/>
          </a:prstGeom>
          <a:noFill/>
          <a:ln/>
        </p:spPr>
        <p:txBody>
          <a:bodyPr wrap="square" lIns="0" tIns="0" rIns="0" bIns="0" rtlCol="0" anchor="t"/>
          <a:lstStyle/>
          <a:p>
            <a:pPr indent="0" marL="0">
              <a:buNone/>
            </a:pPr>
            <a:r>
              <a:rPr lang="en-US" sz="1400" dirty="0">
                <a:solidFill>
                  <a:srgbClr val="1C2B2F"/>
                </a:solidFill>
                <a:latin typeface="Geist" pitchFamily="34" charset="0"/>
                <a:ea typeface="Geist" pitchFamily="34" charset="-122"/>
                <a:cs typeface="Geist" pitchFamily="34" charset="-120"/>
              </a:rPr>
              <a:t>We are Simone and Andreas, students at EIT Digital Master School. We met in Budapest during our entry year at ELTE and started building Regulift together.</a:t>
            </a:r>
            <a:endParaRPr lang="en-US" sz="1400" dirty="0"/>
          </a:p>
        </p:txBody>
      </p:sp>
      <p:sp>
        <p:nvSpPr>
          <p:cNvPr id="6" name="Text 4"/>
          <p:cNvSpPr txBox="1"/>
          <p:nvPr/>
        </p:nvSpPr>
        <p:spPr>
          <a:xfrm>
            <a:off x="548640" y="3291840"/>
            <a:ext cx="4206240" cy="2560320"/>
          </a:xfrm>
          <a:prstGeom prst="rect">
            <a:avLst/>
          </a:prstGeom>
          <a:noFill/>
          <a:ln/>
        </p:spPr>
        <p:txBody>
          <a:bodyPr wrap="square" lIns="0" tIns="0" rIns="0" bIns="0" rtlCol="0" anchor="t"/>
          <a:lstStyle/>
          <a:p>
            <a:pPr indent="0" marL="0">
              <a:buNone/>
            </a:pPr>
            <a:r>
              <a:rPr lang="en-US" sz="1250" dirty="0">
                <a:solidFill>
                  <a:srgbClr val="55676B"/>
                </a:solidFill>
                <a:latin typeface="Geist" pitchFamily="34" charset="0"/>
                <a:ea typeface="Geist" pitchFamily="34" charset="-122"/>
                <a:cs typeface="Geist" pitchFamily="34" charset="-120"/>
              </a:rPr>
              <a:t>Why us: Andreas has spent the last years connecting company data to AI safely for small and medium companies, building MCP servers and retrieval systems in production. That is the collector. Simone brings the business and innovation track of the programme and runs customer discovery and partnerships. The problem found us through that work: every SME integration started with the same unanswered compliance questions.</a:t>
            </a:r>
            <a:endParaRPr lang="en-US" sz="1250" dirty="0"/>
          </a:p>
        </p:txBody>
      </p:sp>
      <p:pic>
        <p:nvPicPr>
          <p:cNvPr id="7" name="Image 0" descr="/tmp/claude-1000/-home-andi/f48438b4-0a16-4bf3-84ad-6f8357b43e23/scratchpad/deckbuild/img/simone-r.png">    </p:cNvPr>
          <p:cNvPicPr>
            <a:picLocks noChangeAspect="1"/>
          </p:cNvPicPr>
          <p:nvPr/>
        </p:nvPicPr>
        <p:blipFill>
          <a:blip r:embed="rId1"/>
          <a:stretch>
            <a:fillRect/>
          </a:stretch>
        </p:blipFill>
        <p:spPr>
          <a:xfrm>
            <a:off x="5486400" y="1828800"/>
            <a:ext cx="2331720" cy="2914650"/>
          </a:xfrm>
          <a:prstGeom prst="rect">
            <a:avLst/>
          </a:prstGeom>
        </p:spPr>
      </p:pic>
      <p:sp>
        <p:nvSpPr>
          <p:cNvPr id="8" name="Text 5"/>
          <p:cNvSpPr txBox="1"/>
          <p:nvPr/>
        </p:nvSpPr>
        <p:spPr>
          <a:xfrm>
            <a:off x="5486400" y="4880610"/>
            <a:ext cx="288036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Simone Mattioli</a:t>
            </a:r>
            <a:endParaRPr lang="en-US" sz="1500" dirty="0"/>
          </a:p>
        </p:txBody>
      </p:sp>
      <p:sp>
        <p:nvSpPr>
          <p:cNvPr id="9" name="Text 6"/>
          <p:cNvSpPr txBox="1"/>
          <p:nvPr/>
        </p:nvSpPr>
        <p:spPr>
          <a:xfrm>
            <a:off x="5486400" y="5200650"/>
            <a:ext cx="2880360"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Co-founder. Customers, partners, programme</a:t>
            </a:r>
            <a:endParaRPr lang="en-US" sz="1000" dirty="0"/>
          </a:p>
        </p:txBody>
      </p:sp>
      <p:sp>
        <p:nvSpPr>
          <p:cNvPr id="10" name="Text 7"/>
          <p:cNvSpPr txBox="1"/>
          <p:nvPr/>
        </p:nvSpPr>
        <p:spPr>
          <a:xfrm>
            <a:off x="5486400" y="5456682"/>
            <a:ext cx="3108960" cy="146304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EIT Digital Master School, Autonomous Systems and Intelligent Robotics track. Leads discovery, partner law firms and the application.</a:t>
            </a:r>
            <a:endParaRPr lang="en-US" sz="1050" dirty="0"/>
          </a:p>
        </p:txBody>
      </p:sp>
      <p:pic>
        <p:nvPicPr>
          <p:cNvPr id="11" name="Image 1" descr="/tmp/claude-1000/-home-andi/f48438b4-0a16-4bf3-84ad-6f8357b43e23/scratchpad/deckbuild/img/andreas-r.png">    </p:cNvPr>
          <p:cNvPicPr>
            <a:picLocks noChangeAspect="1"/>
          </p:cNvPicPr>
          <p:nvPr/>
        </p:nvPicPr>
        <p:blipFill>
          <a:blip r:embed="rId2"/>
          <a:stretch>
            <a:fillRect/>
          </a:stretch>
        </p:blipFill>
        <p:spPr>
          <a:xfrm>
            <a:off x="8915400" y="1828800"/>
            <a:ext cx="2331720" cy="2914650"/>
          </a:xfrm>
          <a:prstGeom prst="rect">
            <a:avLst/>
          </a:prstGeom>
        </p:spPr>
      </p:pic>
      <p:sp>
        <p:nvSpPr>
          <p:cNvPr id="12" name="Text 8"/>
          <p:cNvSpPr txBox="1"/>
          <p:nvPr/>
        </p:nvSpPr>
        <p:spPr>
          <a:xfrm>
            <a:off x="8915400" y="4880610"/>
            <a:ext cx="2880360" cy="320040"/>
          </a:xfrm>
          <a:prstGeom prst="rect">
            <a:avLst/>
          </a:prstGeom>
          <a:noFill/>
          <a:ln/>
        </p:spPr>
        <p:txBody>
          <a:bodyPr wrap="square" lIns="0" tIns="0" rIns="0" bIns="0" rtlCol="0" anchor="t"/>
          <a:lstStyle/>
          <a:p>
            <a:pPr indent="0" marL="0">
              <a:buNone/>
            </a:pPr>
            <a:r>
              <a:rPr lang="en-US" sz="1500" dirty="0">
                <a:solidFill>
                  <a:srgbClr val="1C2B2F"/>
                </a:solidFill>
                <a:latin typeface="Geist Medium" pitchFamily="34" charset="0"/>
                <a:ea typeface="Geist Medium" pitchFamily="34" charset="-122"/>
                <a:cs typeface="Geist Medium" pitchFamily="34" charset="-120"/>
              </a:rPr>
              <a:t>Andreas Herzinger</a:t>
            </a:r>
            <a:endParaRPr lang="en-US" sz="1500" dirty="0"/>
          </a:p>
        </p:txBody>
      </p:sp>
      <p:sp>
        <p:nvSpPr>
          <p:cNvPr id="13" name="Text 9"/>
          <p:cNvSpPr txBox="1"/>
          <p:nvPr/>
        </p:nvSpPr>
        <p:spPr>
          <a:xfrm>
            <a:off x="8915400" y="5200650"/>
            <a:ext cx="2880360" cy="274320"/>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Co-founder. Product and engineering</a:t>
            </a:r>
            <a:endParaRPr lang="en-US" sz="1000" dirty="0"/>
          </a:p>
        </p:txBody>
      </p:sp>
      <p:sp>
        <p:nvSpPr>
          <p:cNvPr id="14" name="Text 10"/>
          <p:cNvSpPr txBox="1"/>
          <p:nvPr/>
        </p:nvSpPr>
        <p:spPr>
          <a:xfrm>
            <a:off x="8915400" y="5456682"/>
            <a:ext cx="3108960" cy="1463040"/>
          </a:xfrm>
          <a:prstGeom prst="rect">
            <a:avLst/>
          </a:prstGeom>
          <a:noFill/>
          <a:ln/>
        </p:spPr>
        <p:txBody>
          <a:bodyPr wrap="square" lIns="0" tIns="0" rIns="0" bIns="0" rtlCol="0" anchor="t"/>
          <a:lstStyle/>
          <a:p>
            <a:pPr indent="0" marL="0">
              <a:buNone/>
            </a:pPr>
            <a:r>
              <a:rPr lang="en-US" sz="1050" dirty="0">
                <a:solidFill>
                  <a:srgbClr val="55676B"/>
                </a:solidFill>
                <a:latin typeface="Geist" pitchFamily="34" charset="0"/>
                <a:ea typeface="Geist" pitchFamily="34" charset="-122"/>
                <a:cs typeface="Geist" pitchFamily="34" charset="-120"/>
              </a:rPr>
              <a:t>EIT Digital Master School, Data Science. Freelance AI engineer: AI integrations for SMEs, MCP servers, secure data connections to language models, RAG systems in production.</a:t>
            </a:r>
            <a:endParaRPr lang="en-US" sz="105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body" hasCustomPrompt="1"/>
          </p:nvPr>
        </p:nvSpPr>
        <p:spPr>
          <a:xfrm>
            <a:off x="548640" y="548640"/>
            <a:ext cx="6400800" cy="292608"/>
          </a:xfrm>
          <a:prstGeom prst="rect">
            <a:avLst/>
          </a:prstGeom>
          <a:noFill/>
          <a:ln/>
        </p:spPr>
        <p:txBody>
          <a:bodyPr wrap="square" lIns="0" tIns="0" rIns="0" bIns="0" rtlCol="0" anchor="t"/>
          <a:lstStyle/>
          <a:p>
            <a:pPr indent="0" marL="0">
              <a:buNone/>
            </a:pPr>
            <a:r>
              <a:rPr lang="en-US" sz="1000" dirty="0">
                <a:solidFill>
                  <a:srgbClr val="55676B"/>
                </a:solidFill>
                <a:latin typeface="Geist" pitchFamily="34" charset="0"/>
                <a:ea typeface="Geist" pitchFamily="34" charset="-122"/>
                <a:cs typeface="Geist" pitchFamily="34" charset="-120"/>
              </a:rPr>
              <a:t>Conclusion.</a:t>
            </a:r>
            <a:endParaRPr lang="en-US" sz="1000" dirty="0"/>
          </a:p>
        </p:txBody>
      </p:sp>
      <p:sp>
        <p:nvSpPr>
          <p:cNvPr id="3" name="Text 3"/>
          <p:cNvSpPr/>
          <p:nvPr>
            <p:ph idx="104" type="body" hasCustomPrompt="1"/>
          </p:nvPr>
        </p:nvSpPr>
        <p:spPr>
          <a:xfrm>
            <a:off x="6613855" y="548640"/>
            <a:ext cx="5029200" cy="292608"/>
          </a:xfrm>
          <a:prstGeom prst="rect">
            <a:avLst/>
          </a:prstGeom>
          <a:noFill/>
          <a:ln/>
        </p:spPr>
        <p:txBody>
          <a:bodyPr wrap="square" lIns="0" tIns="0" rIns="0" bIns="0" rtlCol="0" anchor="t"/>
          <a:lstStyle/>
          <a:p>
            <a:pPr algn="r" indent="0" marL="0">
              <a:buNone/>
            </a:pPr>
            <a:r>
              <a:rPr lang="en-US" sz="1000" dirty="0">
                <a:solidFill>
                  <a:srgbClr val="55676B"/>
                </a:solidFill>
                <a:latin typeface="Geist" pitchFamily="34" charset="0"/>
                <a:ea typeface="Geist" pitchFamily="34" charset="-122"/>
                <a:cs typeface="Geist" pitchFamily="34" charset="-120"/>
              </a:rPr>
              <a:t>Regulift, Budapest, October 2026</a:t>
            </a:r>
            <a:endParaRPr lang="en-US" sz="1000" dirty="0"/>
          </a:p>
        </p:txBody>
      </p:sp>
      <p:sp>
        <p:nvSpPr>
          <p:cNvPr id="4" name="Text 2"/>
          <p:cNvSpPr txBox="1"/>
          <p:nvPr/>
        </p:nvSpPr>
        <p:spPr>
          <a:xfrm>
            <a:off x="548640" y="914400"/>
            <a:ext cx="11094415" cy="1463040"/>
          </a:xfrm>
          <a:prstGeom prst="rect">
            <a:avLst/>
          </a:prstGeom>
          <a:noFill/>
          <a:ln/>
        </p:spPr>
        <p:txBody>
          <a:bodyPr wrap="square" lIns="0" tIns="0" rIns="0" bIns="0" rtlCol="0" anchor="ctr"/>
          <a:lstStyle/>
          <a:p>
            <a:pPr algn="ctr" indent="0" marL="0">
              <a:buNone/>
            </a:pPr>
            <a:r>
              <a:rPr lang="en-US" sz="3600" spc="-100" kern="0" dirty="0">
                <a:solidFill>
                  <a:srgbClr val="1C2B2F"/>
                </a:solidFill>
                <a:latin typeface="Geist Medium" pitchFamily="34" charset="0"/>
                <a:ea typeface="Geist Medium" pitchFamily="34" charset="-122"/>
                <a:cs typeface="Geist Medium" pitchFamily="34" charset="-120"/>
              </a:rPr>
              <a:t>Regulation, lifted.</a:t>
            </a:r>
            <a:endParaRPr lang="en-US" sz="3600" dirty="0"/>
          </a:p>
          <a:p>
            <a:pPr algn="ctr" indent="0" marL="0">
              <a:buNone/>
            </a:pPr>
            <a:r>
              <a:rPr lang="en-US" sz="3600" spc="-100" kern="0" dirty="0">
                <a:solidFill>
                  <a:srgbClr val="1C2B2F"/>
                </a:solidFill>
                <a:latin typeface="Geist Medium" pitchFamily="34" charset="0"/>
                <a:ea typeface="Geist Medium" pitchFamily="34" charset="-122"/>
                <a:cs typeface="Geist Medium" pitchFamily="34" charset="-120"/>
              </a:rPr>
              <a:t>Less spending on compliance, more on competing.</a:t>
            </a:r>
            <a:endParaRPr lang="en-US" sz="3600" dirty="0"/>
          </a:p>
        </p:txBody>
      </p:sp>
      <p:sp>
        <p:nvSpPr>
          <p:cNvPr id="5" name="Shape 3"/>
          <p:cNvSpPr/>
          <p:nvPr/>
        </p:nvSpPr>
        <p:spPr>
          <a:xfrm>
            <a:off x="548640" y="2697480"/>
            <a:ext cx="3454298" cy="0"/>
          </a:xfrm>
          <a:prstGeom prst="line">
            <a:avLst/>
          </a:prstGeom>
          <a:noFill/>
          <a:ln w="9525">
            <a:solidFill>
              <a:srgbClr val="1C2B2F"/>
            </a:solidFill>
            <a:prstDash val="solid"/>
          </a:ln>
        </p:spPr>
      </p:sp>
      <p:sp>
        <p:nvSpPr>
          <p:cNvPr id="6" name="Text 4"/>
          <p:cNvSpPr txBox="1"/>
          <p:nvPr/>
        </p:nvSpPr>
        <p:spPr>
          <a:xfrm>
            <a:off x="548640" y="2843784"/>
            <a:ext cx="3454298" cy="45720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What we ask for</a:t>
            </a:r>
            <a:endParaRPr lang="en-US" sz="1600" dirty="0"/>
          </a:p>
        </p:txBody>
      </p:sp>
      <p:sp>
        <p:nvSpPr>
          <p:cNvPr id="7" name="Text 5"/>
          <p:cNvSpPr txBox="1"/>
          <p:nvPr/>
        </p:nvSpPr>
        <p:spPr>
          <a:xfrm>
            <a:off x="548640" y="3337560"/>
            <a:ext cx="3454298" cy="164592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A place in the cohort. Five days to test the inside-out model with customers, founders and investors, and to meet the partner law firms Paris, Brussels and Amsterdam can offer.</a:t>
            </a:r>
            <a:endParaRPr lang="en-US" sz="1300" dirty="0"/>
          </a:p>
        </p:txBody>
      </p:sp>
      <p:sp>
        <p:nvSpPr>
          <p:cNvPr id="8" name="Shape 6"/>
          <p:cNvSpPr/>
          <p:nvPr/>
        </p:nvSpPr>
        <p:spPr>
          <a:xfrm>
            <a:off x="4368698" y="2697480"/>
            <a:ext cx="3454298" cy="0"/>
          </a:xfrm>
          <a:prstGeom prst="line">
            <a:avLst/>
          </a:prstGeom>
          <a:noFill/>
          <a:ln w="9525">
            <a:solidFill>
              <a:srgbClr val="1C2B2F"/>
            </a:solidFill>
            <a:prstDash val="solid"/>
          </a:ln>
        </p:spPr>
      </p:sp>
      <p:sp>
        <p:nvSpPr>
          <p:cNvPr id="9" name="Text 7"/>
          <p:cNvSpPr txBox="1"/>
          <p:nvPr/>
        </p:nvSpPr>
        <p:spPr>
          <a:xfrm>
            <a:off x="4368698" y="2843784"/>
            <a:ext cx="3454298" cy="45720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What the award would buy</a:t>
            </a:r>
            <a:endParaRPr lang="en-US" sz="1600" dirty="0"/>
          </a:p>
        </p:txBody>
      </p:sp>
      <p:sp>
        <p:nvSpPr>
          <p:cNvPr id="10" name="Text 8"/>
          <p:cNvSpPr txBox="1"/>
          <p:nvPr/>
        </p:nvSpPr>
        <p:spPr>
          <a:xfrm>
            <a:off x="4368698" y="3337560"/>
            <a:ext cx="3454298" cy="164592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The legal review budget of the first two pilots, so a partner firm's hours are paid and the hour reduction is measured, plus the second and third collector connectors.</a:t>
            </a:r>
            <a:endParaRPr lang="en-US" sz="1300" dirty="0"/>
          </a:p>
        </p:txBody>
      </p:sp>
      <p:sp>
        <p:nvSpPr>
          <p:cNvPr id="11" name="Shape 9"/>
          <p:cNvSpPr/>
          <p:nvPr/>
        </p:nvSpPr>
        <p:spPr>
          <a:xfrm>
            <a:off x="8188757" y="2697480"/>
            <a:ext cx="3454298" cy="0"/>
          </a:xfrm>
          <a:prstGeom prst="line">
            <a:avLst/>
          </a:prstGeom>
          <a:noFill/>
          <a:ln w="9525">
            <a:solidFill>
              <a:srgbClr val="1C2B2F"/>
            </a:solidFill>
            <a:prstDash val="solid"/>
          </a:ln>
        </p:spPr>
      </p:sp>
      <p:sp>
        <p:nvSpPr>
          <p:cNvPr id="12" name="Text 10"/>
          <p:cNvSpPr txBox="1"/>
          <p:nvPr/>
        </p:nvSpPr>
        <p:spPr>
          <a:xfrm>
            <a:off x="8188757" y="2843784"/>
            <a:ext cx="3454298" cy="457200"/>
          </a:xfrm>
          <a:prstGeom prst="rect">
            <a:avLst/>
          </a:prstGeom>
          <a:noFill/>
          <a:ln/>
        </p:spPr>
        <p:txBody>
          <a:bodyPr wrap="square" lIns="0" tIns="0" rIns="0" bIns="0" rtlCol="0" anchor="t"/>
          <a:lstStyle/>
          <a:p>
            <a:pPr indent="0" marL="0">
              <a:buNone/>
            </a:pPr>
            <a:r>
              <a:rPr lang="en-US" sz="1600" dirty="0">
                <a:solidFill>
                  <a:srgbClr val="1C2B2F"/>
                </a:solidFill>
                <a:latin typeface="Geist Medium" pitchFamily="34" charset="0"/>
                <a:ea typeface="Geist Medium" pitchFamily="34" charset="-122"/>
                <a:cs typeface="Geist Medium" pitchFamily="34" charset="-120"/>
              </a:rPr>
              <a:t>What you can check today</a:t>
            </a:r>
            <a:endParaRPr lang="en-US" sz="1600" dirty="0"/>
          </a:p>
        </p:txBody>
      </p:sp>
      <p:sp>
        <p:nvSpPr>
          <p:cNvPr id="13" name="Text 11"/>
          <p:cNvSpPr txBox="1"/>
          <p:nvPr/>
        </p:nvSpPr>
        <p:spPr>
          <a:xfrm>
            <a:off x="8188757" y="3337560"/>
            <a:ext cx="3454298" cy="164592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The live website, the source-checked figures behind every number in this deck, and the research reports on regulations, countries and pricing.</a:t>
            </a:r>
            <a:endParaRPr lang="en-US" sz="1300" dirty="0"/>
          </a:p>
        </p:txBody>
      </p:sp>
      <p:sp>
        <p:nvSpPr>
          <p:cNvPr id="14" name="Shape 12"/>
          <p:cNvSpPr/>
          <p:nvPr/>
        </p:nvSpPr>
        <p:spPr>
          <a:xfrm>
            <a:off x="548640" y="5120640"/>
            <a:ext cx="11094415" cy="731520"/>
          </a:xfrm>
          <a:prstGeom prst="roundRect">
            <a:avLst>
              <a:gd name="adj" fmla="val 10000"/>
            </a:avLst>
          </a:prstGeom>
          <a:solidFill>
            <a:srgbClr val="E7EDEC"/>
          </a:solidFill>
          <a:ln w="9525">
            <a:solidFill>
              <a:srgbClr val="E7EDEC"/>
            </a:solidFill>
            <a:prstDash val="solid"/>
          </a:ln>
        </p:spPr>
      </p:sp>
      <p:sp>
        <p:nvSpPr>
          <p:cNvPr id="15" name="Text 13"/>
          <p:cNvSpPr txBox="1"/>
          <p:nvPr/>
        </p:nvSpPr>
        <p:spPr>
          <a:xfrm>
            <a:off x="822960" y="5340096"/>
            <a:ext cx="10545775" cy="365760"/>
          </a:xfrm>
          <a:prstGeom prst="rect">
            <a:avLst/>
          </a:prstGeom>
          <a:noFill/>
          <a:ln/>
        </p:spPr>
        <p:txBody>
          <a:bodyPr wrap="square" lIns="0" tIns="0" rIns="0" bIns="0" rtlCol="0" anchor="t"/>
          <a:lstStyle/>
          <a:p>
            <a:pPr algn="ctr" indent="0" marL="0">
              <a:buNone/>
            </a:pPr>
            <a:r>
              <a:rPr lang="en-US" sz="1300" dirty="0">
                <a:solidFill>
                  <a:srgbClr val="1C2B2F"/>
                </a:solidFill>
                <a:latin typeface="Geist" pitchFamily="34" charset="0"/>
                <a:ea typeface="Geist" pitchFamily="34" charset="-122"/>
                <a:cs typeface="Geist" pitchFamily="34" charset="-120"/>
              </a:rPr>
              <a:t>simo-hue.github.io/Business   |   Simone Mattioli and Andreas Herzinger, EIT Digital Master School, Budapest</a:t>
            </a:r>
            <a:endParaRPr lang="en-US" sz="1300" dirty="0"/>
          </a:p>
        </p:txBody>
      </p:sp>
      <p:sp>
        <p:nvSpPr>
          <p:cNvPr id="17" name="Text 3"/>
          <p:cNvSpPr/>
          <p:nvPr>
            <p:ph idx="105" type="title" hasCustomPrompt="1"/>
          </p:nvPr>
        </p:nvSpPr>
        <p:spPr>
          <a:xfrm>
            <a:off x="548640" y="914400"/>
            <a:ext cx="10515600" cy="82296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10911535" y="6382512"/>
            <a:ext cx="7315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A9D"/>
                </a:solidFill>
                <a:latin typeface="Geist"/>
                <a:ea typeface="Geist"/>
                <a:cs typeface="Geist"/>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Regulift">
  <a:themeElements>
    <a:clrScheme name="Regulift">
      <a:dk1>
        <a:srgbClr val="1C2B2F"/>
      </a:dk1>
      <a:lt1>
        <a:srgbClr val="F6F4EE"/>
      </a:lt1>
      <a:dk2>
        <a:srgbClr val="55676B"/>
      </a:dk2>
      <a:lt2>
        <a:srgbClr val="E7EDEC"/>
      </a:lt2>
      <a:accent1>
        <a:srgbClr val="3E6670"/>
      </a:accent1>
      <a:accent2>
        <a:srgbClr val="8A9A9D"/>
      </a:accent2>
      <a:accent3>
        <a:srgbClr val="E3E0D7"/>
      </a:accent3>
      <a:accent4>
        <a:srgbClr val="CFD6D3"/>
      </a:accent4>
      <a:accent5>
        <a:srgbClr val="FCFBF8"/>
      </a:accent5>
      <a:accent6>
        <a:srgbClr val="4F8A6A"/>
      </a:accent6>
      <a:hlink>
        <a:srgbClr val="3E6670"/>
      </a:hlink>
      <a:folHlink>
        <a:srgbClr val="55676B"/>
      </a:folHlink>
    </a:clrScheme>
    <a:fontScheme name="Regulif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Regulation, lifted.</dc:title>
  <dc:subject>PptxGenJS Presentation</dc:subject>
  <dc:creator>Simone Mattioli, Andreas Herzinger</dc:creator>
  <cp:lastModifiedBy>Simone Mattioli, Andreas Herzinger</cp:lastModifiedBy>
  <cp:revision>1</cp:revision>
  <dcterms:created xsi:type="dcterms:W3CDTF">2026-10-18T09:16:50Z</dcterms:created>
  <dcterms:modified xsi:type="dcterms:W3CDTF">2026-10-18T09:16:50Z</dcterms:modified>
</cp:coreProperties>
</file>