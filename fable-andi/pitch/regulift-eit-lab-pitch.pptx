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d45085-8dd7-2e87-8bab-d738040c6785}">
          <p14:sldIdLst>
            <p14:sldId id="256"/>
          </p14:sldIdLst>
        </p14:section>
        <p14:section name="Problem" id="{db7ae4b9-f349-1fc6-0c7b-488e380d32c5}">
          <p14:sldIdLst>
            <p14:sldId id="257"/>
          </p14:sldIdLst>
        </p14:section>
        <p14:section name="Why now" id="{7f35e797-93d0-b937-8ca9-64cc197a63c2}">
          <p14:sldIdLst>
            <p14:sldId id="258"/>
          </p14:sldIdLst>
        </p14:section>
        <p14:section name="Solution" id="{1e297461-2178-d46d-ba00-cbe8efd60c91}">
          <p14:sldIdLst>
            <p14:sldId id="259"/>
            <p14:sldId id="260"/>
            <p14:sldId id="261"/>
          </p14:sldIdLst>
        </p14:section>
        <p14:section name="Market" id="{cb588741-1912-43ee-ee80-5ab0983f88a1}">
          <p14:sldIdLst>
            <p14:sldId id="262"/>
          </p14:sldIdLst>
        </p14:section>
        <p14:section name="Strategy" id="{01e1799c-e3b8-bc35-50c2-45a93bd24a46}">
          <p14:sldIdLst>
            <p14:sldId id="263"/>
            <p14:sldId id="264"/>
            <p14:sldId id="265"/>
          </p14:sldIdLst>
        </p14:section>
        <p14:section name="Close" id="{b188e7e7-0658-3928-2742-d8ddf36ce2e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invoiced hours</c:v>
                </c:pt>
              </c:strCache>
            </c:strRef>
          </c:tx>
          <c:spPr>
            <a:solidFill>
              <a:srgbClr val="CFD6D3"/>
            </a:solidFill>
            <a:effectLst/>
          </c:spPr>
          <c:invertIfNegative val="0"/>
          <c:dLbls>
            <c:numFmt formatCode="0.0&quot;%&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dPt>
            <c:idx val="0"/>
            <c:invertIfNegative val="0"/>
            <c:bubble3D val="0"/>
            <c:spPr>
              <a:solidFill>
                <a:srgbClr val="CFD6D3"/>
              </a:solidFill>
              <a:effectLst/>
            </c:spPr>
          </c:dPt>
          <c:dPt>
            <c:idx val="1"/>
            <c:invertIfNegative val="0"/>
            <c:bubble3D val="0"/>
            <c:spPr>
              <a:solidFill>
                <a:srgbClr val="CFD6D3"/>
              </a:solidFill>
              <a:effectLst/>
            </c:spPr>
          </c:dPt>
          <c:dPt>
            <c:idx val="2"/>
            <c:invertIfNegative val="0"/>
            <c:bubble3D val="0"/>
            <c:spPr>
              <a:solidFill>
                <a:srgbClr val="3E6670"/>
              </a:solidFill>
              <a:effectLst/>
            </c:spPr>
          </c:dPt>
          <c:dPt>
            <c:idx val="3"/>
            <c:invertIfNegative val="0"/>
            <c:bubble3D val="0"/>
            <c:spPr>
              <a:solidFill>
                <a:srgbClr val="3E6670"/>
              </a:solidFill>
              <a:effectLst/>
            </c:spPr>
          </c:dPt>
          <c:dPt>
            <c:idx val="4"/>
            <c:invertIfNegative val="0"/>
            <c:bubble3D val="0"/>
            <c:spPr>
              <a:solidFill>
                <a:srgbClr val="3E6670"/>
              </a:solidFill>
              <a:effectLst/>
            </c:spPr>
          </c:dPt>
          <c:dPt>
            <c:idx val="5"/>
            <c:invertIfNegative val="0"/>
            <c:bubble3D val="0"/>
            <c:spPr>
              <a:solidFill>
                <a:srgbClr val="3E6670"/>
              </a:solidFill>
              <a:effectLst/>
            </c:spPr>
          </c:dPt>
          <c:dPt>
            <c:idx val="6"/>
            <c:invertIfNegative val="0"/>
            <c:bubble3D val="0"/>
            <c:spPr>
              <a:solidFill>
                <a:srgbClr val="CFD6D3"/>
              </a:solidFill>
              <a:effectLst/>
            </c:spPr>
          </c:dPt>
          <c:dPt>
            <c:idx val="7"/>
            <c:invertIfNegative val="0"/>
            <c:bubble3D val="0"/>
            <c:spPr>
              <a:solidFill>
                <a:srgbClr val="CFD6D3"/>
              </a:solidFill>
              <a:effectLst/>
            </c:spPr>
          </c:dPt>
          <c:cat>
            <c:multiLvlStrRef>
              <c:f>Sheet1!$A$2:$A$9</c:f>
              <c:multiLvlStrCache>
                <c:ptCount val="8"/>
                <c:lvl>
                  <c:pt idx="0">
                    <c:v>Legal analysis and strategy</c:v>
                  </c:pt>
                  <c:pt idx="1">
                    <c:v>Legal writing</c:v>
                  </c:pt>
                  <c:pt idx="2">
                    <c:v>Fact investigation</c:v>
                  </c:pt>
                  <c:pt idx="3">
                    <c:v>Case administration</c:v>
                  </c:pt>
                  <c:pt idx="4">
                    <c:v>Document review</c:v>
                  </c:pt>
                  <c:pt idx="5">
                    <c:v>Due diligence</c:v>
                  </c:pt>
                  <c:pt idx="6">
                    <c:v>Advising clients</c:v>
                  </c:pt>
                  <c:pt idx="7">
                    <c:v>Document management</c:v>
                  </c:pt>
                </c:lvl>
              </c:multiLvlStrCache>
            </c:multiLvlStrRef>
          </c:cat>
          <c:val>
            <c:numRef>
              <c:f>Sheet1!$B$2:$B$9</c:f>
              <c:numCache>
                <c:formatCode>General</c:formatCode>
                <c:ptCount val="8"/>
                <c:pt idx="0">
                  <c:v>27</c:v>
                </c:pt>
                <c:pt idx="1">
                  <c:v>17.7</c:v>
                </c:pt>
                <c:pt idx="2">
                  <c:v>9.6</c:v>
                </c:pt>
                <c:pt idx="3">
                  <c:v>5.6</c:v>
                </c:pt>
                <c:pt idx="4">
                  <c:v>3.6</c:v>
                </c:pt>
                <c:pt idx="5">
                  <c:v>3.4</c:v>
                </c:pt>
                <c:pt idx="6">
                  <c:v>3.2</c:v>
                </c:pt>
                <c:pt idx="7">
                  <c:v>0.7</c:v>
                </c:pt>
              </c:numCache>
            </c:numRef>
          </c:val>
        </c:ser>
        <c:dLbls>
          <c:numFmt formatCode="0.0&quot;%&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Fact-finding</c:v>
                </c:pt>
              </c:strCache>
            </c:strRef>
          </c:tx>
          <c:spPr>
            <a:solidFill>
              <a:srgbClr val="CFD6D3"/>
            </a:solidFill>
            <a:effectLst/>
          </c:spPr>
          <c:invertIfNegative val="0"/>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Law firm quote</c:v>
                  </c:pt>
                  <c:pt idx="1">
                    <c:v>With Regulift, target</c:v>
                  </c:pt>
                </c:lvl>
              </c:multiLvlStrCache>
            </c:multiLvlStrRef>
          </c:cat>
          <c:val>
            <c:numRef>
              <c:f>Sheet1!$B$2:$B$3</c:f>
              <c:numCache>
                <c:formatCode>General</c:formatCode>
                <c:ptCount val="2"/>
                <c:pt idx="0">
                  <c:v>26</c:v>
                </c:pt>
                <c:pt idx="1">
                  <c:v>2</c:v>
                </c:pt>
              </c:numCache>
            </c:numRef>
          </c:val>
        </c:ser>
        <c:ser>
          <c:idx val="1"/>
          <c:order val="1"/>
          <c:tx>
            <c:strRef>
              <c:f>Sheet1!$C$1</c:f>
              <c:strCache>
                <c:ptCount val="1"/>
                <c:pt idx="0">
                  <c:v>Judgement</c:v>
                </c:pt>
              </c:strCache>
            </c:strRef>
          </c:tx>
          <c:spPr>
            <a:solidFill>
              <a:srgbClr val="3E6670"/>
            </a:solidFill>
            <a:effectLst/>
          </c:spPr>
          <c:invertIfNegative val="0"/>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Law firm quote</c:v>
                  </c:pt>
                  <c:pt idx="1">
                    <c:v>With Regulift, target</c:v>
                  </c:pt>
                </c:lvl>
              </c:multiLvlStrCache>
            </c:multiLvlStrRef>
          </c:cat>
          <c:val>
            <c:numRef>
              <c:f>Sheet1!$C$2:$C$3</c:f>
              <c:numCache>
                <c:formatCode>General</c:formatCode>
                <c:ptCount val="2"/>
                <c:pt idx="0">
                  <c:v>14</c:v>
                </c:pt>
                <c:pt idx="1">
                  <c:v>14</c:v>
                </c:pt>
              </c:numCache>
            </c:numRef>
          </c:val>
        </c:ser>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5676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sentence: Regulift reads a company's systems from the inside, prepares the evidence, and brings partner lawyers into the same workspace. The result is less money on compliance and more on competing. Ten slides follow, each backed by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from billing data on US firms, the best public split of lawyer time by task. The teal bars are fact-finding: fact investigation, case administration, document review, due diligence, about 23 percent together. Compliance readiness for a small software company is more discovery-heavy than this average. The 20 percent figure is what AI gives a lawyer who still does the discovery. We remove the discovery before the clock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overlap between 2025 and 2027. The Digital Omnibus moved the AI Act high-risk duties to December 2027, verified on EUR-Lex, so the pressure is scheduled, not gone. The CRA reporting duty went live five weeks ago. Below the timeline: spending keeps rising by double digits while the Commission itself wants compliance cost down by a quarter. Whoever makes compliance cheaper for the companies that cannot afford it today has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Everyone else asks the company what it does. We read it. The left column is what the market sells today. The right column is what changes when the starting point is the company's own systems. The four principles at the bottom answer the first objections a CTO raises.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question every CTO asks: what leaves my company. Answer: a report about technologies, flows and vendors. No records, no file contents, no credentials. And nothing at all until one person on their side approves it. Then three steps: understand, improve, review. Step three is what makes us different from a tool: the lawyer does not get a PDF by email, they open the same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score centrality and defensibility of the AI approach. Centrality: without the agentic collector there is no product. Defensibility: the evidence graph per company, the lawyer-authored rule base and the law firm network all compound, and none of them can be copied by adding a chat window to a questionnaire tool. The two-layer split is also what keeps us legal in Germany and Austria, where software may not give individual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one on our website, with example vendors for this audience. Two players each hold one piece: Justima has the law firm, Norm Ai has lawyer-supervised agents but only for US finance. Nobody starts from the company's systems. That is the row that changes every other row. On the right: the customer we build for first and three numbers that size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each from a research report. Laws: three reach almost every B2B software company today. Country: on equal weights Germany and Italy score higher, Austria wins on the two things that matter for a two-person team in the next twelve months: we can be in the room, and the trigger is live right now. Austrian legal-advice rules are the strictest, so a partner model that passes in Vienna passes in Berlin. Channel: law firms, with a fee structure we checked against the bar rules in five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the research result, the tier prices are our proposal within the ranges it found. Mid tier 9 to 18 thousand euros sits between StartComply at 10,500 for two frameworks and Vanta at 20 to 40 thousand dollars for one framework at this size. A fee per mandate was voided by the German Federal Court in 2024, so the firm pays a flat workspace fee and the client chooses the firm. Do not oversell the chart: say the target out loud, say what the studies measure, say why our mechanism differs, and say we will publish pilot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stage: a live site, a designed architecture, researched decisions, no customers yet. The jury scores evidence and coachability, not inflated claims. The plan is what we execute with or without the award, and every block ends with something a jury can check: an interview count, a signed letter, a working connector, a paying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Founder-problem fit is a third of the Stage 1 score. Andreas built the exact kind of integrations the collector needs, for the exact kind of company we target. Simone owns the commercial side. Say what each of you will personally do in the first thirty days. The ask is a place, not money. Say what the award would be spent on in one breath, then stop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6F4E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548640" y="457200"/>
            <a:ext cx="11094415" cy="0"/>
          </a:xfrm>
          <a:prstGeom prst="line">
            <a:avLst/>
          </a:prstGeom>
          <a:noFill/>
          <a:ln w="9525">
            <a:solidFill>
              <a:srgbClr val="E3E0D7"/>
            </a:solidFill>
            <a:prstDash val="solid"/>
          </a:ln>
        </p:spPr>
      </p:sp>
      <p:sp>
        <p:nvSpPr>
          <p:cNvPr id="3" name="Text 1"/>
          <p:cNvSpPr txBox="1"/>
          <p:nvPr/>
        </p:nvSpPr>
        <p:spPr>
          <a:xfrm>
            <a:off x="548640" y="6382512"/>
            <a:ext cx="1828800" cy="274320"/>
          </a:xfrm>
          <a:prstGeom prst="rect">
            <a:avLst/>
          </a:prstGeom>
          <a:noFill/>
          <a:ln/>
        </p:spPr>
        <p:txBody>
          <a:bodyPr wrap="square" lIns="0" tIns="0" rIns="0" bIns="0" rtlCol="0" anchor="ctr"/>
          <a:lstStyle/>
          <a:p>
            <a:pPr indent="0" marL="0">
              <a:buNone/>
            </a:pPr>
            <a:r>
              <a:rPr lang="en-US" sz="1100" dirty="0">
                <a:solidFill>
                  <a:srgbClr val="1C2B2F"/>
                </a:solidFill>
                <a:latin typeface="Geist Medium" pitchFamily="34" charset="0"/>
                <a:ea typeface="Geist Medium" pitchFamily="34" charset="-122"/>
                <a:cs typeface="Geist Medium" pitchFamily="34" charset="-120"/>
              </a:rPr>
              <a:t>regulift</a:t>
            </a:r>
            <a:endParaRPr lang="en-US" sz="1100" dirty="0"/>
          </a:p>
        </p:txBody>
      </p:sp>
      <p:sp>
        <p:nvSpPr>
          <p:cNvPr id="4" name="Text 2"/>
          <p:cNvSpPr txBox="1"/>
          <p:nvPr/>
        </p:nvSpPr>
        <p:spPr>
          <a:xfrm>
            <a:off x="1463040" y="6382512"/>
            <a:ext cx="2743200" cy="274320"/>
          </a:xfrm>
          <a:prstGeom prst="rect">
            <a:avLst/>
          </a:prstGeom>
          <a:noFill/>
          <a:ln/>
        </p:spPr>
        <p:txBody>
          <a:bodyPr wrap="square" lIns="0" tIns="0" rIns="0" bIns="0" rtlCol="0" anchor="ctr"/>
          <a:lstStyle/>
          <a:p>
            <a:pPr indent="0" marL="0">
              <a:buNone/>
            </a:pPr>
            <a:r>
              <a:rPr lang="en-US" sz="900" dirty="0">
                <a:solidFill>
                  <a:srgbClr val="8A9A9D"/>
                </a:solidFill>
                <a:latin typeface="Geist" pitchFamily="34" charset="0"/>
                <a:ea typeface="Geist" pitchFamily="34" charset="-122"/>
                <a:cs typeface="Geist" pitchFamily="34" charset="-120"/>
              </a:rPr>
              <a:t>Regulation, lifted.</a:t>
            </a:r>
            <a:endParaRPr lang="en-US" sz="900" dirty="0"/>
          </a:p>
        </p:txBody>
      </p:sp>
      <p:sp>
        <p:nvSpPr>
          <p:cNvPr id="5" name="Text 3"/>
          <p:cNvSpPr/>
          <p:nvPr>
            <p:ph idx="103" type="body" hasCustomPrompt="1"/>
          </p:nvPr>
        </p:nvSpPr>
        <p:spPr>
          <a:xfrm>
            <a:off x="548640" y="548640"/>
            <a:ext cx="6400800" cy="292608"/>
          </a:xfrm>
          <a:prstGeom prst="rect">
            <a:avLst/>
          </a:prstGeom>
          <a:noFill/>
          <a:ln/>
        </p:spPr>
        <p:txBody>
          <a:bodyPr wrap="square" rtlCol="0"/>
          <a:lstStyle>
            <a:lvl1pPr indent="0" marL="0">
              <a:buNone/>
              <a:defRPr lang="en-US" sz="1000" dirty="0">
                <a:solidFill>
                  <a:srgbClr val="55676B"/>
                </a:solidFill>
                <a:latin typeface="Geist" pitchFamily="34" charset="0"/>
                <a:ea typeface="Geist" pitchFamily="34" charset="-122"/>
                <a:cs typeface="Geist" pitchFamily="34" charset="-120"/>
              </a:defRPr>
            </a:lvl1pPr>
          </a:lstStyle>
          <a:p>
            <a:pPr indent="0" marL="0">
              <a:buNone/>
            </a:pPr>
            <a:endParaRPr lang="en-US" sz="1000" dirty="0"/>
          </a:p>
        </p:txBody>
      </p:sp>
      <p:sp>
        <p:nvSpPr>
          <p:cNvPr id="6" name="Text 3"/>
          <p:cNvSpPr/>
          <p:nvPr>
            <p:ph idx="104" type="body" hasCustomPrompt="1"/>
          </p:nvPr>
        </p:nvSpPr>
        <p:spPr>
          <a:xfrm>
            <a:off x="6613855" y="548640"/>
            <a:ext cx="5029200" cy="292608"/>
          </a:xfrm>
          <a:prstGeom prst="rect">
            <a:avLst/>
          </a:prstGeom>
          <a:noFill/>
          <a:ln/>
        </p:spPr>
        <p:txBody>
          <a:bodyPr wrap="square" rtlCol="0"/>
          <a:lstStyle>
            <a:lvl1pPr algn="r" indent="0" marL="0">
              <a:buNone/>
              <a:defRPr lang="en-US" sz="1000" dirty="0">
                <a:solidFill>
                  <a:srgbClr val="55676B"/>
                </a:solidFill>
                <a:latin typeface="Geist" pitchFamily="34" charset="0"/>
                <a:ea typeface="Geist" pitchFamily="34" charset="-122"/>
                <a:cs typeface="Geist" pitchFamily="34" charset="-120"/>
              </a:defRPr>
            </a:lvl1pPr>
          </a:lstStyle>
          <a:p>
            <a:pPr algn="r" indent="0" marL="0">
              <a:buNone/>
            </a:pPr>
            <a:endParaRPr lang="en-US" sz="1000" dirty="0"/>
          </a:p>
        </p:txBody>
      </p:sp>
      <p:sp>
        <p:nvSpPr>
          <p:cNvPr id="7" name="Text 3"/>
          <p:cNvSpPr/>
          <p:nvPr>
            <p:ph idx="105" type="title" hasCustomPrompt="1"/>
          </p:nvPr>
        </p:nvSpPr>
        <p:spPr>
          <a:xfrm>
            <a:off x="548640" y="914400"/>
            <a:ext cx="10515600" cy="822960"/>
          </a:xfrm>
          <a:prstGeom prst="rect">
            <a:avLst/>
          </a:prstGeom>
          <a:noFill/>
          <a:ln/>
        </p:spPr>
        <p:txBody>
          <a:bodyPr wrap="square" rtlCol="0"/>
          <a:lstStyle>
            <a:lvl1pPr algn="l" indent="0" marL="0">
              <a:buNone/>
              <a:defRPr lang="en-US" sz="3000" spc="-50" kern="0" dirty="0">
                <a:solidFill>
                  <a:srgbClr val="1C2B2F"/>
                </a:solidFill>
                <a:latin typeface="Geist Medium" pitchFamily="34" charset="0"/>
                <a:ea typeface="Geist Medium" pitchFamily="34" charset="-122"/>
                <a:cs typeface="Geist Medium"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1000/-home-andi-Dokumente-Business-Simone-Business-Business/f0091365-0ba5-4f1f-bb2f-076089d549ad/scratchpad/deck/img/hero-r.png">    </p:cNvPr>
          <p:cNvPicPr>
            <a:picLocks noChangeAspect="1"/>
          </p:cNvPicPr>
          <p:nvPr/>
        </p:nvPicPr>
        <p:blipFill>
          <a:blip r:embed="rId1"/>
          <a:stretch>
            <a:fillRect/>
          </a:stretch>
        </p:blipFill>
        <p:spPr>
          <a:xfrm>
            <a:off x="548640" y="502920"/>
            <a:ext cx="11094415" cy="4622673"/>
          </a:xfrm>
          <a:prstGeom prst="rect">
            <a:avLst/>
          </a:prstGeom>
        </p:spPr>
      </p:pic>
      <p:sp>
        <p:nvSpPr>
          <p:cNvPr id="3" name="Text 0"/>
          <p:cNvSpPr txBox="1"/>
          <p:nvPr/>
        </p:nvSpPr>
        <p:spPr>
          <a:xfrm>
            <a:off x="548640" y="2976753"/>
            <a:ext cx="11094415" cy="2194560"/>
          </a:xfrm>
          <a:prstGeom prst="rect">
            <a:avLst/>
          </a:prstGeom>
          <a:noFill/>
          <a:ln/>
        </p:spPr>
        <p:txBody>
          <a:bodyPr wrap="square" lIns="0" tIns="0" rIns="0" bIns="0" rtlCol="0" anchor="b"/>
          <a:lstStyle/>
          <a:p>
            <a:pPr algn="ctr" indent="0" marL="0">
              <a:buNone/>
            </a:pPr>
            <a:r>
              <a:rPr lang="en-US" sz="15000" spc="-800" kern="0" dirty="0">
                <a:solidFill>
                  <a:srgbClr val="F6F4EE"/>
                </a:solidFill>
                <a:latin typeface="Geist Medium" pitchFamily="34" charset="0"/>
                <a:ea typeface="Geist Medium" pitchFamily="34" charset="-122"/>
                <a:cs typeface="Geist Medium" pitchFamily="34" charset="-120"/>
              </a:rPr>
              <a:t>regulift</a:t>
            </a:r>
            <a:endParaRPr lang="en-US" sz="15000" dirty="0"/>
          </a:p>
        </p:txBody>
      </p:sp>
      <p:sp>
        <p:nvSpPr>
          <p:cNvPr id="4" name="Text 1"/>
          <p:cNvSpPr txBox="1"/>
          <p:nvPr/>
        </p:nvSpPr>
        <p:spPr>
          <a:xfrm>
            <a:off x="548640" y="5290185"/>
            <a:ext cx="5486400"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Compliance platform. Inside-out assessment.</a:t>
            </a:r>
            <a:endParaRPr lang="en-US" sz="1000" dirty="0"/>
          </a:p>
        </p:txBody>
      </p:sp>
      <p:sp>
        <p:nvSpPr>
          <p:cNvPr id="5" name="Text 2"/>
          <p:cNvSpPr txBox="1"/>
          <p:nvPr/>
        </p:nvSpPr>
        <p:spPr>
          <a:xfrm>
            <a:off x="5242255" y="5290185"/>
            <a:ext cx="6400800" cy="274320"/>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EIT Community AI Entrepreneurs Lab 2026  |  Simone Mattioli and Andreas Herzinger</a:t>
            </a:r>
            <a:endParaRPr lang="en-US" sz="1000" dirty="0"/>
          </a:p>
        </p:txBody>
      </p:sp>
      <p:sp>
        <p:nvSpPr>
          <p:cNvPr id="6" name="Text 3"/>
          <p:cNvSpPr txBox="1"/>
          <p:nvPr/>
        </p:nvSpPr>
        <p:spPr>
          <a:xfrm>
            <a:off x="1463040" y="5747385"/>
            <a:ext cx="9265615" cy="868680"/>
          </a:xfrm>
          <a:prstGeom prst="rect">
            <a:avLst/>
          </a:prstGeom>
          <a:noFill/>
          <a:ln/>
        </p:spPr>
        <p:txBody>
          <a:bodyPr wrap="square" lIns="0" tIns="0" rIns="0" bIns="0" rtlCol="0" anchor="t"/>
          <a:lstStyle/>
          <a:p>
            <a:pPr algn="ctr" indent="0" marL="0">
              <a:buNone/>
            </a:pPr>
            <a:r>
              <a:rPr lang="en-US" sz="2100" spc="-50" kern="0" dirty="0">
                <a:solidFill>
                  <a:srgbClr val="1C2B2F"/>
                </a:solidFill>
                <a:latin typeface="Geist Medium" pitchFamily="34" charset="0"/>
                <a:ea typeface="Geist Medium" pitchFamily="34" charset="-122"/>
                <a:cs typeface="Geist Medium" pitchFamily="34" charset="-120"/>
              </a:rPr>
              <a:t>We assess compliance from inside your own systems and prepare it for real lawyers, so companies spend less on legal work and more on competing.</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The problem.</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Where the money goes.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Billing data, not opinion</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A fifth of every legal bill buys facts, not advice</a:t>
            </a:r>
            <a:endParaRPr lang="en-US" sz="3000" dirty="0"/>
          </a:p>
        </p:txBody>
      </p:sp>
      <p:sp>
        <p:nvSpPr>
          <p:cNvPr id="6" name="Text 3"/>
          <p:cNvSpPr txBox="1"/>
          <p:nvPr/>
        </p:nvSpPr>
        <p:spPr>
          <a:xfrm>
            <a:off x="548640" y="1783080"/>
            <a:ext cx="4754880" cy="685800"/>
          </a:xfrm>
          <a:prstGeom prst="rect">
            <a:avLst/>
          </a:prstGeom>
          <a:noFill/>
          <a:ln/>
        </p:spPr>
        <p:txBody>
          <a:bodyPr wrap="square" lIns="0" tIns="0" rIns="0" bIns="0" rtlCol="0" anchor="t"/>
          <a:lstStyle/>
          <a:p>
            <a:pPr indent="0" marL="0">
              <a:buNone/>
            </a:pPr>
            <a:r>
              <a:rPr lang="en-US" sz="4400" spc="-150" kern="0" dirty="0">
                <a:solidFill>
                  <a:srgbClr val="1C2B2F"/>
                </a:solidFill>
                <a:latin typeface="Geist Medium" pitchFamily="34" charset="0"/>
                <a:ea typeface="Geist Medium" pitchFamily="34" charset="-122"/>
                <a:cs typeface="Geist Medium" pitchFamily="34" charset="-120"/>
              </a:rPr>
              <a:t>19 to 23%</a:t>
            </a:r>
            <a:endParaRPr lang="en-US" sz="4400" dirty="0"/>
          </a:p>
        </p:txBody>
      </p:sp>
      <p:sp>
        <p:nvSpPr>
          <p:cNvPr id="7" name="Text 4"/>
          <p:cNvSpPr txBox="1"/>
          <p:nvPr/>
        </p:nvSpPr>
        <p:spPr>
          <a:xfrm>
            <a:off x="548640" y="2514600"/>
            <a:ext cx="4754880" cy="914400"/>
          </a:xfrm>
          <a:prstGeom prst="rect">
            <a:avLst/>
          </a:prstGeom>
          <a:noFill/>
          <a:ln/>
        </p:spPr>
        <p:txBody>
          <a:bodyPr wrap="square" lIns="0" tIns="0" rIns="0" bIns="0" rtlCol="0" anchor="t"/>
          <a:lstStyle/>
          <a:p>
            <a:pPr indent="0" marL="0">
              <a:buNone/>
            </a:pPr>
            <a:r>
              <a:rPr lang="en-US" sz="1250" dirty="0">
                <a:solidFill>
                  <a:srgbClr val="1C2B2F"/>
                </a:solidFill>
                <a:latin typeface="Geist" pitchFamily="34" charset="0"/>
                <a:ea typeface="Geist" pitchFamily="34" charset="-122"/>
                <a:cs typeface="Geist" pitchFamily="34" charset="-120"/>
              </a:rPr>
              <a:t>of lawyers' invoiced hours go to fact-finding tasks, before any judgement is given. In a first compliance review of a software company the share is higher: the lawyer has to learn the whole setup first.</a:t>
            </a:r>
            <a:endParaRPr lang="en-US" sz="1250" dirty="0"/>
          </a:p>
        </p:txBody>
      </p:sp>
      <p:sp>
        <p:nvSpPr>
          <p:cNvPr id="8" name="Shape 5"/>
          <p:cNvSpPr/>
          <p:nvPr/>
        </p:nvSpPr>
        <p:spPr>
          <a:xfrm>
            <a:off x="548640" y="3520440"/>
            <a:ext cx="4754880" cy="0"/>
          </a:xfrm>
          <a:prstGeom prst="line">
            <a:avLst/>
          </a:prstGeom>
          <a:noFill/>
          <a:ln w="9525">
            <a:solidFill>
              <a:srgbClr val="E3E0D7"/>
            </a:solidFill>
            <a:prstDash val="solid"/>
          </a:ln>
        </p:spPr>
      </p:sp>
      <p:sp>
        <p:nvSpPr>
          <p:cNvPr id="9" name="Text 6"/>
          <p:cNvSpPr txBox="1"/>
          <p:nvPr/>
        </p:nvSpPr>
        <p:spPr>
          <a:xfrm>
            <a:off x="548640" y="3657600"/>
            <a:ext cx="4754880" cy="2286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5676B"/>
                </a:solidFill>
                <a:latin typeface="Geist" pitchFamily="34" charset="0"/>
                <a:ea typeface="Geist" pitchFamily="34" charset="-122"/>
                <a:cs typeface="Geist" pitchFamily="34" charset="-120"/>
              </a:rPr>
              <a:t>Before anyone can advise on GDPR, NIS2 or the AI Act, someone must establish what the company actually runs: systems, vendors, data flows, models. Law firms bill that by the hour.</a:t>
            </a:r>
            <a:endParaRPr lang="en-US" sz="1150" dirty="0"/>
          </a:p>
          <a:p>
            <a:pPr marL="342900" indent="-342900">
              <a:spcAft>
                <a:spcPts val="600"/>
              </a:spcAft>
              <a:buSzPct val="100000"/>
              <a:buChar char="●"/>
            </a:pPr>
            <a:r>
              <a:rPr lang="en-US" sz="1150" dirty="0">
                <a:solidFill>
                  <a:srgbClr val="55676B"/>
                </a:solidFill>
                <a:latin typeface="Geist" pitchFamily="34" charset="0"/>
                <a:ea typeface="Geist" pitchFamily="34" charset="-122"/>
                <a:cs typeface="Geist" pitchFamily="34" charset="-120"/>
              </a:rPr>
              <a:t>AI assistants make the lawyer about 20% faster at the same task. They do not remove the task.</a:t>
            </a:r>
            <a:endParaRPr lang="en-US" sz="1150" dirty="0"/>
          </a:p>
          <a:p>
            <a:pPr marL="342900" indent="-342900">
              <a:spcAft>
                <a:spcPts val="600"/>
              </a:spcAft>
              <a:buSzPct val="100000"/>
              <a:buChar char="●"/>
            </a:pPr>
            <a:r>
              <a:rPr lang="en-US" sz="1150" dirty="0">
                <a:solidFill>
                  <a:srgbClr val="55676B"/>
                </a:solidFill>
                <a:latin typeface="Geist" pitchFamily="34" charset="0"/>
                <a:ea typeface="Geist" pitchFamily="34" charset="-122"/>
                <a:cs typeface="Geist" pitchFamily="34" charset="-120"/>
              </a:rPr>
              <a:t>Small companies feel it most: 34% of NIS2-covered entities say they cannot obtain the extra budget, a share that is highest for SMEs.</a:t>
            </a:r>
            <a:endParaRPr lang="en-US" sz="1150" dirty="0"/>
          </a:p>
        </p:txBody>
      </p:sp>
      <p:sp>
        <p:nvSpPr>
          <p:cNvPr id="10" name="Shape 7"/>
          <p:cNvSpPr/>
          <p:nvPr/>
        </p:nvSpPr>
        <p:spPr>
          <a:xfrm>
            <a:off x="5852160" y="1783080"/>
            <a:ext cx="5790895" cy="4114800"/>
          </a:xfrm>
          <a:prstGeom prst="roundRect">
            <a:avLst>
              <a:gd name="adj" fmla="val 1778"/>
            </a:avLst>
          </a:prstGeom>
          <a:solidFill>
            <a:srgbClr val="FCFBF8"/>
          </a:solidFill>
          <a:ln w="9525">
            <a:solidFill>
              <a:srgbClr val="E3E0D7"/>
            </a:solidFill>
            <a:prstDash val="solid"/>
          </a:ln>
        </p:spPr>
      </p:sp>
      <p:sp>
        <p:nvSpPr>
          <p:cNvPr id="11" name="Text 8"/>
          <p:cNvSpPr txBox="1"/>
          <p:nvPr/>
        </p:nvSpPr>
        <p:spPr>
          <a:xfrm>
            <a:off x="6080760" y="1938528"/>
            <a:ext cx="5333695"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Share of invoiced hours by task, US firms with fewer than 1,000 lawyers</a:t>
            </a:r>
            <a:endParaRPr lang="en-US" sz="1000" dirty="0"/>
          </a:p>
        </p:txBody>
      </p:sp>
      <p:graphicFrame>
        <p:nvGraphicFramePr>
          <p:cNvPr id="12" name="Chart 0" descr=""/>
          <p:cNvGraphicFramePr/>
          <p:nvPr/>
        </p:nvGraphicFramePr>
        <p:xfrm>
          <a:off x="5989320" y="2240280"/>
          <a:ext cx="5516575" cy="32461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080760" y="5532120"/>
            <a:ext cx="5333695"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Teal bars are fact-finding. Together about 23% of the bill.</a:t>
            </a:r>
            <a:endParaRPr lang="en-US" sz="1000" dirty="0"/>
          </a:p>
        </p:txBody>
      </p:sp>
      <p:sp>
        <p:nvSpPr>
          <p:cNvPr id="14" name="Text 10"/>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Remus and Levy, Can Robots Be Lawyers?, Georgetown Journal of Legal Ethics 30 (2017), Table 1, Sky Analytics billing data. Schwarcz et al., AI-Powered Lawyering, 2025. ENISA NIS Investments 2024, p. 46.</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Why now.</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The regulatory wave.</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Dates read on EUR-Lex, 18 October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Five EU laws in four years. Budgets cannot keep up</a:t>
            </a:r>
            <a:endParaRPr lang="en-US" sz="3000" dirty="0"/>
          </a:p>
        </p:txBody>
      </p:sp>
      <p:sp>
        <p:nvSpPr>
          <p:cNvPr id="6"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Each law brings its own evidence duties and the deadlines overlap. A software company selling to regulated customers meets most of them through procurement questionnaires, long before a regulator calls.</a:t>
            </a:r>
            <a:endParaRPr lang="en-US" sz="1350" dirty="0"/>
          </a:p>
        </p:txBody>
      </p:sp>
      <p:sp>
        <p:nvSpPr>
          <p:cNvPr id="7" name="Shape 4"/>
          <p:cNvSpPr/>
          <p:nvPr/>
        </p:nvSpPr>
        <p:spPr>
          <a:xfrm>
            <a:off x="822960" y="3383280"/>
            <a:ext cx="10545775" cy="0"/>
          </a:xfrm>
          <a:prstGeom prst="line">
            <a:avLst/>
          </a:prstGeom>
          <a:noFill/>
          <a:ln w="9525">
            <a:solidFill>
              <a:srgbClr val="CFD6D3"/>
            </a:solidFill>
            <a:prstDash val="solid"/>
          </a:ln>
        </p:spPr>
      </p:sp>
      <p:sp>
        <p:nvSpPr>
          <p:cNvPr id="8" name="Shape 5"/>
          <p:cNvSpPr/>
          <p:nvPr/>
        </p:nvSpPr>
        <p:spPr>
          <a:xfrm>
            <a:off x="1261132" y="3319272"/>
            <a:ext cx="128016" cy="128016"/>
          </a:xfrm>
          <a:prstGeom prst="ellipse">
            <a:avLst/>
          </a:prstGeom>
          <a:solidFill>
            <a:srgbClr val="3E6670"/>
          </a:solidFill>
          <a:ln w="12700">
            <a:solidFill>
              <a:srgbClr val="3E6670"/>
            </a:solidFill>
            <a:prstDash val="solid"/>
          </a:ln>
        </p:spPr>
      </p:sp>
      <p:sp>
        <p:nvSpPr>
          <p:cNvPr id="9" name="Shape 6"/>
          <p:cNvSpPr/>
          <p:nvPr/>
        </p:nvSpPr>
        <p:spPr>
          <a:xfrm>
            <a:off x="1325140" y="3017520"/>
            <a:ext cx="0" cy="301752"/>
          </a:xfrm>
          <a:prstGeom prst="line">
            <a:avLst/>
          </a:prstGeom>
          <a:noFill/>
          <a:ln w="9525">
            <a:solidFill>
              <a:srgbClr val="CFD6D3"/>
            </a:solidFill>
            <a:prstDash val="solid"/>
          </a:ln>
        </p:spPr>
      </p:sp>
      <p:sp>
        <p:nvSpPr>
          <p:cNvPr id="10" name="Text 7"/>
          <p:cNvSpPr txBox="1"/>
          <p:nvPr/>
        </p:nvSpPr>
        <p:spPr>
          <a:xfrm>
            <a:off x="410740" y="228600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18 Oct 2024</a:t>
            </a:r>
            <a:endParaRPr lang="en-US" sz="950" dirty="0"/>
          </a:p>
        </p:txBody>
      </p:sp>
      <p:sp>
        <p:nvSpPr>
          <p:cNvPr id="11" name="Text 8"/>
          <p:cNvSpPr txBox="1"/>
          <p:nvPr/>
        </p:nvSpPr>
        <p:spPr>
          <a:xfrm>
            <a:off x="410740" y="2487168"/>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NIS2 applies, national laws vary</a:t>
            </a:r>
            <a:endParaRPr lang="en-US" sz="1050" dirty="0"/>
          </a:p>
        </p:txBody>
      </p:sp>
      <p:sp>
        <p:nvSpPr>
          <p:cNvPr id="12" name="Shape 9"/>
          <p:cNvSpPr/>
          <p:nvPr/>
        </p:nvSpPr>
        <p:spPr>
          <a:xfrm>
            <a:off x="1964183" y="3319272"/>
            <a:ext cx="128016" cy="128016"/>
          </a:xfrm>
          <a:prstGeom prst="ellipse">
            <a:avLst/>
          </a:prstGeom>
          <a:solidFill>
            <a:srgbClr val="3E6670"/>
          </a:solidFill>
          <a:ln w="12700">
            <a:solidFill>
              <a:srgbClr val="3E6670"/>
            </a:solidFill>
            <a:prstDash val="solid"/>
          </a:ln>
        </p:spPr>
      </p:sp>
      <p:sp>
        <p:nvSpPr>
          <p:cNvPr id="13" name="Shape 10"/>
          <p:cNvSpPr/>
          <p:nvPr/>
        </p:nvSpPr>
        <p:spPr>
          <a:xfrm>
            <a:off x="2028191" y="3447288"/>
            <a:ext cx="0" cy="301752"/>
          </a:xfrm>
          <a:prstGeom prst="line">
            <a:avLst/>
          </a:prstGeom>
          <a:noFill/>
          <a:ln w="9525">
            <a:solidFill>
              <a:srgbClr val="CFD6D3"/>
            </a:solidFill>
            <a:prstDash val="solid"/>
          </a:ln>
        </p:spPr>
      </p:sp>
      <p:sp>
        <p:nvSpPr>
          <p:cNvPr id="14" name="Text 11"/>
          <p:cNvSpPr txBox="1"/>
          <p:nvPr/>
        </p:nvSpPr>
        <p:spPr>
          <a:xfrm>
            <a:off x="1113791" y="425196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Jan and Feb 2025</a:t>
            </a:r>
            <a:endParaRPr lang="en-US" sz="950" dirty="0"/>
          </a:p>
        </p:txBody>
      </p:sp>
      <p:sp>
        <p:nvSpPr>
          <p:cNvPr id="15" name="Text 12"/>
          <p:cNvSpPr txBox="1"/>
          <p:nvPr/>
        </p:nvSpPr>
        <p:spPr>
          <a:xfrm>
            <a:off x="1113791" y="3794760"/>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DORA applies; AI Act prohibitions and AI literacy</a:t>
            </a:r>
            <a:endParaRPr lang="en-US" sz="1050" dirty="0"/>
          </a:p>
        </p:txBody>
      </p:sp>
      <p:sp>
        <p:nvSpPr>
          <p:cNvPr id="16" name="Shape 13"/>
          <p:cNvSpPr/>
          <p:nvPr/>
        </p:nvSpPr>
        <p:spPr>
          <a:xfrm>
            <a:off x="3520941" y="3319272"/>
            <a:ext cx="128016" cy="128016"/>
          </a:xfrm>
          <a:prstGeom prst="ellipse">
            <a:avLst/>
          </a:prstGeom>
          <a:solidFill>
            <a:srgbClr val="3E6670"/>
          </a:solidFill>
          <a:ln w="12700">
            <a:solidFill>
              <a:srgbClr val="3E6670"/>
            </a:solidFill>
            <a:prstDash val="solid"/>
          </a:ln>
        </p:spPr>
      </p:sp>
      <p:sp>
        <p:nvSpPr>
          <p:cNvPr id="17" name="Shape 14"/>
          <p:cNvSpPr/>
          <p:nvPr/>
        </p:nvSpPr>
        <p:spPr>
          <a:xfrm>
            <a:off x="3584949" y="3017520"/>
            <a:ext cx="0" cy="301752"/>
          </a:xfrm>
          <a:prstGeom prst="line">
            <a:avLst/>
          </a:prstGeom>
          <a:noFill/>
          <a:ln w="9525">
            <a:solidFill>
              <a:srgbClr val="CFD6D3"/>
            </a:solidFill>
            <a:prstDash val="solid"/>
          </a:ln>
        </p:spPr>
      </p:sp>
      <p:sp>
        <p:nvSpPr>
          <p:cNvPr id="18" name="Text 15"/>
          <p:cNvSpPr txBox="1"/>
          <p:nvPr/>
        </p:nvSpPr>
        <p:spPr>
          <a:xfrm>
            <a:off x="2670549" y="228600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12 Sep 2025</a:t>
            </a:r>
            <a:endParaRPr lang="en-US" sz="950" dirty="0"/>
          </a:p>
        </p:txBody>
      </p:sp>
      <p:sp>
        <p:nvSpPr>
          <p:cNvPr id="19" name="Text 16"/>
          <p:cNvSpPr txBox="1"/>
          <p:nvPr/>
        </p:nvSpPr>
        <p:spPr>
          <a:xfrm>
            <a:off x="2670549" y="2487168"/>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Data Act applies</a:t>
            </a:r>
            <a:endParaRPr lang="en-US" sz="1050" dirty="0"/>
          </a:p>
        </p:txBody>
      </p:sp>
      <p:sp>
        <p:nvSpPr>
          <p:cNvPr id="20" name="Shape 17"/>
          <p:cNvSpPr/>
          <p:nvPr/>
        </p:nvSpPr>
        <p:spPr>
          <a:xfrm>
            <a:off x="5780750" y="3319272"/>
            <a:ext cx="128016" cy="128016"/>
          </a:xfrm>
          <a:prstGeom prst="ellipse">
            <a:avLst/>
          </a:prstGeom>
          <a:solidFill>
            <a:srgbClr val="3E6670"/>
          </a:solidFill>
          <a:ln w="12700">
            <a:solidFill>
              <a:srgbClr val="3E6670"/>
            </a:solidFill>
            <a:prstDash val="solid"/>
          </a:ln>
        </p:spPr>
      </p:sp>
      <p:sp>
        <p:nvSpPr>
          <p:cNvPr id="21" name="Shape 18"/>
          <p:cNvSpPr/>
          <p:nvPr/>
        </p:nvSpPr>
        <p:spPr>
          <a:xfrm>
            <a:off x="5844758" y="3447288"/>
            <a:ext cx="0" cy="301752"/>
          </a:xfrm>
          <a:prstGeom prst="line">
            <a:avLst/>
          </a:prstGeom>
          <a:noFill/>
          <a:ln w="9525">
            <a:solidFill>
              <a:srgbClr val="CFD6D3"/>
            </a:solidFill>
            <a:prstDash val="solid"/>
          </a:ln>
        </p:spPr>
      </p:sp>
      <p:sp>
        <p:nvSpPr>
          <p:cNvPr id="22" name="Text 19"/>
          <p:cNvSpPr txBox="1"/>
          <p:nvPr/>
        </p:nvSpPr>
        <p:spPr>
          <a:xfrm>
            <a:off x="4930358" y="425196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2 Aug 2026</a:t>
            </a:r>
            <a:endParaRPr lang="en-US" sz="950" dirty="0"/>
          </a:p>
        </p:txBody>
      </p:sp>
      <p:sp>
        <p:nvSpPr>
          <p:cNvPr id="23" name="Text 20"/>
          <p:cNvSpPr txBox="1"/>
          <p:nvPr/>
        </p:nvSpPr>
        <p:spPr>
          <a:xfrm>
            <a:off x="4930358" y="3794760"/>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AI Act transparency duties, Article 50</a:t>
            </a:r>
            <a:endParaRPr lang="en-US" sz="1050" dirty="0"/>
          </a:p>
        </p:txBody>
      </p:sp>
      <p:sp>
        <p:nvSpPr>
          <p:cNvPr id="24" name="Shape 21"/>
          <p:cNvSpPr/>
          <p:nvPr/>
        </p:nvSpPr>
        <p:spPr>
          <a:xfrm>
            <a:off x="6031840" y="3319272"/>
            <a:ext cx="128016" cy="128016"/>
          </a:xfrm>
          <a:prstGeom prst="ellipse">
            <a:avLst/>
          </a:prstGeom>
          <a:solidFill>
            <a:srgbClr val="3E6670"/>
          </a:solidFill>
          <a:ln w="12700">
            <a:solidFill>
              <a:srgbClr val="3E6670"/>
            </a:solidFill>
            <a:prstDash val="solid"/>
          </a:ln>
        </p:spPr>
      </p:sp>
      <p:sp>
        <p:nvSpPr>
          <p:cNvPr id="25" name="Shape 22"/>
          <p:cNvSpPr/>
          <p:nvPr/>
        </p:nvSpPr>
        <p:spPr>
          <a:xfrm>
            <a:off x="6095848" y="3017520"/>
            <a:ext cx="0" cy="301752"/>
          </a:xfrm>
          <a:prstGeom prst="line">
            <a:avLst/>
          </a:prstGeom>
          <a:noFill/>
          <a:ln w="9525">
            <a:solidFill>
              <a:srgbClr val="CFD6D3"/>
            </a:solidFill>
            <a:prstDash val="solid"/>
          </a:ln>
        </p:spPr>
      </p:sp>
      <p:sp>
        <p:nvSpPr>
          <p:cNvPr id="26" name="Text 23"/>
          <p:cNvSpPr txBox="1"/>
          <p:nvPr/>
        </p:nvSpPr>
        <p:spPr>
          <a:xfrm>
            <a:off x="5181448" y="228600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11 Sep 2026</a:t>
            </a:r>
            <a:endParaRPr lang="en-US" sz="950" dirty="0"/>
          </a:p>
        </p:txBody>
      </p:sp>
      <p:sp>
        <p:nvSpPr>
          <p:cNvPr id="27" name="Text 24"/>
          <p:cNvSpPr txBox="1"/>
          <p:nvPr/>
        </p:nvSpPr>
        <p:spPr>
          <a:xfrm>
            <a:off x="5181448" y="2487168"/>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CRA vulnerability reporting, Article 14</a:t>
            </a:r>
            <a:endParaRPr lang="en-US" sz="1050" dirty="0"/>
          </a:p>
        </p:txBody>
      </p:sp>
      <p:sp>
        <p:nvSpPr>
          <p:cNvPr id="28" name="Shape 25"/>
          <p:cNvSpPr/>
          <p:nvPr/>
        </p:nvSpPr>
        <p:spPr>
          <a:xfrm>
            <a:off x="9095136" y="3319272"/>
            <a:ext cx="128016" cy="128016"/>
          </a:xfrm>
          <a:prstGeom prst="ellipse">
            <a:avLst/>
          </a:prstGeom>
          <a:solidFill>
            <a:srgbClr val="F6F4EE"/>
          </a:solidFill>
          <a:ln w="12700">
            <a:solidFill>
              <a:srgbClr val="3E6670"/>
            </a:solidFill>
            <a:prstDash val="solid"/>
          </a:ln>
        </p:spPr>
      </p:sp>
      <p:sp>
        <p:nvSpPr>
          <p:cNvPr id="29" name="Shape 26"/>
          <p:cNvSpPr/>
          <p:nvPr/>
        </p:nvSpPr>
        <p:spPr>
          <a:xfrm>
            <a:off x="9159144" y="3447288"/>
            <a:ext cx="0" cy="301752"/>
          </a:xfrm>
          <a:prstGeom prst="line">
            <a:avLst/>
          </a:prstGeom>
          <a:noFill/>
          <a:ln w="9525">
            <a:solidFill>
              <a:srgbClr val="CFD6D3"/>
            </a:solidFill>
            <a:prstDash val="solid"/>
          </a:ln>
        </p:spPr>
      </p:sp>
      <p:sp>
        <p:nvSpPr>
          <p:cNvPr id="30" name="Text 27"/>
          <p:cNvSpPr txBox="1"/>
          <p:nvPr/>
        </p:nvSpPr>
        <p:spPr>
          <a:xfrm>
            <a:off x="8244744" y="425196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2 Dec 2027</a:t>
            </a:r>
            <a:endParaRPr lang="en-US" sz="950" dirty="0"/>
          </a:p>
        </p:txBody>
      </p:sp>
      <p:sp>
        <p:nvSpPr>
          <p:cNvPr id="31" name="Text 28"/>
          <p:cNvSpPr txBox="1"/>
          <p:nvPr/>
        </p:nvSpPr>
        <p:spPr>
          <a:xfrm>
            <a:off x="8244744" y="3794760"/>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AI Act Annex III high-risk duties</a:t>
            </a:r>
            <a:endParaRPr lang="en-US" sz="1050" dirty="0"/>
          </a:p>
        </p:txBody>
      </p:sp>
      <p:sp>
        <p:nvSpPr>
          <p:cNvPr id="32" name="Shape 29"/>
          <p:cNvSpPr/>
          <p:nvPr/>
        </p:nvSpPr>
        <p:spPr>
          <a:xfrm>
            <a:off x="9170463" y="3319272"/>
            <a:ext cx="128016" cy="128016"/>
          </a:xfrm>
          <a:prstGeom prst="ellipse">
            <a:avLst/>
          </a:prstGeom>
          <a:solidFill>
            <a:srgbClr val="F6F4EE"/>
          </a:solidFill>
          <a:ln w="12700">
            <a:solidFill>
              <a:srgbClr val="3E6670"/>
            </a:solidFill>
            <a:prstDash val="solid"/>
          </a:ln>
        </p:spPr>
      </p:sp>
      <p:sp>
        <p:nvSpPr>
          <p:cNvPr id="33" name="Shape 30"/>
          <p:cNvSpPr/>
          <p:nvPr/>
        </p:nvSpPr>
        <p:spPr>
          <a:xfrm>
            <a:off x="9234471" y="3017520"/>
            <a:ext cx="0" cy="301752"/>
          </a:xfrm>
          <a:prstGeom prst="line">
            <a:avLst/>
          </a:prstGeom>
          <a:noFill/>
          <a:ln w="9525">
            <a:solidFill>
              <a:srgbClr val="CFD6D3"/>
            </a:solidFill>
            <a:prstDash val="solid"/>
          </a:ln>
        </p:spPr>
      </p:sp>
      <p:sp>
        <p:nvSpPr>
          <p:cNvPr id="34" name="Text 31"/>
          <p:cNvSpPr txBox="1"/>
          <p:nvPr/>
        </p:nvSpPr>
        <p:spPr>
          <a:xfrm>
            <a:off x="8320071" y="228600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11 Dec 2027</a:t>
            </a:r>
            <a:endParaRPr lang="en-US" sz="950" dirty="0"/>
          </a:p>
        </p:txBody>
      </p:sp>
      <p:sp>
        <p:nvSpPr>
          <p:cNvPr id="35" name="Text 32"/>
          <p:cNvSpPr txBox="1"/>
          <p:nvPr/>
        </p:nvSpPr>
        <p:spPr>
          <a:xfrm>
            <a:off x="8320071" y="2487168"/>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CRA fully applies</a:t>
            </a:r>
            <a:endParaRPr lang="en-US" sz="1050" dirty="0"/>
          </a:p>
        </p:txBody>
      </p:sp>
      <p:sp>
        <p:nvSpPr>
          <p:cNvPr id="36" name="Shape 33"/>
          <p:cNvSpPr/>
          <p:nvPr/>
        </p:nvSpPr>
        <p:spPr>
          <a:xfrm>
            <a:off x="10802547" y="3319272"/>
            <a:ext cx="128016" cy="128016"/>
          </a:xfrm>
          <a:prstGeom prst="ellipse">
            <a:avLst/>
          </a:prstGeom>
          <a:solidFill>
            <a:srgbClr val="F6F4EE"/>
          </a:solidFill>
          <a:ln w="12700">
            <a:solidFill>
              <a:srgbClr val="3E6670"/>
            </a:solidFill>
            <a:prstDash val="solid"/>
          </a:ln>
        </p:spPr>
      </p:sp>
      <p:sp>
        <p:nvSpPr>
          <p:cNvPr id="37" name="Shape 34"/>
          <p:cNvSpPr/>
          <p:nvPr/>
        </p:nvSpPr>
        <p:spPr>
          <a:xfrm>
            <a:off x="10866555" y="3447288"/>
            <a:ext cx="0" cy="301752"/>
          </a:xfrm>
          <a:prstGeom prst="line">
            <a:avLst/>
          </a:prstGeom>
          <a:noFill/>
          <a:ln w="9525">
            <a:solidFill>
              <a:srgbClr val="CFD6D3"/>
            </a:solidFill>
            <a:prstDash val="solid"/>
          </a:ln>
        </p:spPr>
      </p:sp>
      <p:sp>
        <p:nvSpPr>
          <p:cNvPr id="38" name="Text 35"/>
          <p:cNvSpPr txBox="1"/>
          <p:nvPr/>
        </p:nvSpPr>
        <p:spPr>
          <a:xfrm>
            <a:off x="9952155" y="4251960"/>
            <a:ext cx="1828800" cy="201168"/>
          </a:xfrm>
          <a:prstGeom prst="rect">
            <a:avLst/>
          </a:prstGeom>
          <a:noFill/>
          <a:ln/>
        </p:spPr>
        <p:txBody>
          <a:bodyPr wrap="square" lIns="0" tIns="0" rIns="0" bIns="0" rtlCol="0" anchor="t"/>
          <a:lstStyle/>
          <a:p>
            <a:pPr algn="ctr" indent="0" marL="0">
              <a:buNone/>
            </a:pPr>
            <a:r>
              <a:rPr lang="en-US" sz="950" dirty="0">
                <a:solidFill>
                  <a:srgbClr val="8A9A9D"/>
                </a:solidFill>
                <a:latin typeface="Geist" pitchFamily="34" charset="0"/>
                <a:ea typeface="Geist" pitchFamily="34" charset="-122"/>
                <a:cs typeface="Geist" pitchFamily="34" charset="-120"/>
              </a:rPr>
              <a:t>2 Aug 2028</a:t>
            </a:r>
            <a:endParaRPr lang="en-US" sz="950" dirty="0"/>
          </a:p>
        </p:txBody>
      </p:sp>
      <p:sp>
        <p:nvSpPr>
          <p:cNvPr id="39" name="Text 36"/>
          <p:cNvSpPr txBox="1"/>
          <p:nvPr/>
        </p:nvSpPr>
        <p:spPr>
          <a:xfrm>
            <a:off x="9952155" y="3794760"/>
            <a:ext cx="1828800" cy="502920"/>
          </a:xfrm>
          <a:prstGeom prst="rect">
            <a:avLst/>
          </a:prstGeom>
          <a:noFill/>
          <a:ln/>
        </p:spPr>
        <p:txBody>
          <a:bodyPr wrap="square" lIns="0" tIns="0" rIns="0" bIns="0" rtlCol="0" anchor="t"/>
          <a:lstStyle/>
          <a:p>
            <a:pPr algn="ctr" indent="0" marL="0">
              <a:buNone/>
            </a:pPr>
            <a:r>
              <a:rPr lang="en-US" sz="1050" dirty="0">
                <a:solidFill>
                  <a:srgbClr val="1C2B2F"/>
                </a:solidFill>
                <a:latin typeface="Geist" pitchFamily="34" charset="0"/>
                <a:ea typeface="Geist" pitchFamily="34" charset="-122"/>
                <a:cs typeface="Geist" pitchFamily="34" charset="-120"/>
              </a:rPr>
              <a:t>AI Act Annex I embedded systems</a:t>
            </a:r>
            <a:endParaRPr lang="en-US" sz="1050" dirty="0"/>
          </a:p>
        </p:txBody>
      </p:sp>
      <p:sp>
        <p:nvSpPr>
          <p:cNvPr id="40" name="Text 37"/>
          <p:cNvSpPr txBox="1"/>
          <p:nvPr/>
        </p:nvSpPr>
        <p:spPr>
          <a:xfrm>
            <a:off x="548640" y="4553712"/>
            <a:ext cx="11094415" cy="228600"/>
          </a:xfrm>
          <a:prstGeom prst="rect">
            <a:avLst/>
          </a:prstGeom>
          <a:noFill/>
          <a:ln/>
        </p:spPr>
        <p:txBody>
          <a:bodyPr wrap="square" lIns="0" tIns="0" rIns="0" bIns="0" rtlCol="0" anchor="t"/>
          <a:lstStyle/>
          <a:p>
            <a:pPr indent="0" marL="0">
              <a:buNone/>
            </a:pPr>
            <a:r>
              <a:rPr lang="en-US" sz="950" dirty="0">
                <a:solidFill>
                  <a:srgbClr val="8A9A9D"/>
                </a:solidFill>
                <a:latin typeface="Geist" pitchFamily="34" charset="0"/>
                <a:ea typeface="Geist" pitchFamily="34" charset="-122"/>
                <a:cs typeface="Geist" pitchFamily="34" charset="-120"/>
              </a:rPr>
              <a:t>Filled dots: in force today. Open dots: still ahead. GDPR has applied since May 2018 and sits under all of it.</a:t>
            </a:r>
            <a:endParaRPr lang="en-US" sz="950" dirty="0"/>
          </a:p>
        </p:txBody>
      </p:sp>
      <p:sp>
        <p:nvSpPr>
          <p:cNvPr id="41" name="Shape 38"/>
          <p:cNvSpPr/>
          <p:nvPr/>
        </p:nvSpPr>
        <p:spPr>
          <a:xfrm>
            <a:off x="548640" y="4846320"/>
            <a:ext cx="11094415" cy="0"/>
          </a:xfrm>
          <a:prstGeom prst="line">
            <a:avLst/>
          </a:prstGeom>
          <a:noFill/>
          <a:ln w="9525">
            <a:solidFill>
              <a:srgbClr val="E3E0D7"/>
            </a:solidFill>
            <a:prstDash val="solid"/>
          </a:ln>
        </p:spPr>
      </p:sp>
      <p:sp>
        <p:nvSpPr>
          <p:cNvPr id="42" name="Shape 39"/>
          <p:cNvSpPr/>
          <p:nvPr/>
        </p:nvSpPr>
        <p:spPr>
          <a:xfrm>
            <a:off x="548640" y="5897880"/>
            <a:ext cx="11094415" cy="0"/>
          </a:xfrm>
          <a:prstGeom prst="line">
            <a:avLst/>
          </a:prstGeom>
          <a:noFill/>
          <a:ln w="9525">
            <a:solidFill>
              <a:srgbClr val="E3E0D7"/>
            </a:solidFill>
            <a:prstDash val="solid"/>
          </a:ln>
        </p:spPr>
      </p:sp>
      <p:sp>
        <p:nvSpPr>
          <p:cNvPr id="43" name="Text 40"/>
          <p:cNvSpPr txBox="1"/>
          <p:nvPr/>
        </p:nvSpPr>
        <p:spPr>
          <a:xfrm>
            <a:off x="548640" y="5029200"/>
            <a:ext cx="2407844"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+12.5%</a:t>
            </a:r>
            <a:endParaRPr lang="en-US" sz="2200" dirty="0"/>
          </a:p>
        </p:txBody>
      </p:sp>
      <p:sp>
        <p:nvSpPr>
          <p:cNvPr id="44" name="Text 41"/>
          <p:cNvSpPr txBox="1"/>
          <p:nvPr/>
        </p:nvSpPr>
        <p:spPr>
          <a:xfrm>
            <a:off x="548640" y="5504688"/>
            <a:ext cx="2362124" cy="347472"/>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security spending growth in 2026, to $240 bn (Gartner)</a:t>
            </a:r>
            <a:endParaRPr lang="en-US" sz="1050" dirty="0"/>
          </a:p>
        </p:txBody>
      </p:sp>
      <p:sp>
        <p:nvSpPr>
          <p:cNvPr id="45" name="Shape 42"/>
          <p:cNvSpPr/>
          <p:nvPr/>
        </p:nvSpPr>
        <p:spPr>
          <a:xfrm>
            <a:off x="3322244" y="4846320"/>
            <a:ext cx="0" cy="1051560"/>
          </a:xfrm>
          <a:prstGeom prst="line">
            <a:avLst/>
          </a:prstGeom>
          <a:noFill/>
          <a:ln w="9525">
            <a:solidFill>
              <a:srgbClr val="E3E0D7"/>
            </a:solidFill>
            <a:prstDash val="solid"/>
          </a:ln>
        </p:spPr>
      </p:sp>
      <p:sp>
        <p:nvSpPr>
          <p:cNvPr id="46" name="Text 43"/>
          <p:cNvSpPr txBox="1"/>
          <p:nvPr/>
        </p:nvSpPr>
        <p:spPr>
          <a:xfrm>
            <a:off x="3578276" y="5029200"/>
            <a:ext cx="2407844"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11% a year</a:t>
            </a:r>
            <a:endParaRPr lang="en-US" sz="2200" dirty="0"/>
          </a:p>
        </p:txBody>
      </p:sp>
      <p:sp>
        <p:nvSpPr>
          <p:cNvPr id="47" name="Text 44"/>
          <p:cNvSpPr txBox="1"/>
          <p:nvPr/>
        </p:nvSpPr>
        <p:spPr>
          <a:xfrm>
            <a:off x="3578276" y="5504688"/>
            <a:ext cx="2362124" cy="347472"/>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growth of GRC software spending to 2029, to $9.08 bn (Verdantix)</a:t>
            </a:r>
            <a:endParaRPr lang="en-US" sz="1050" dirty="0"/>
          </a:p>
        </p:txBody>
      </p:sp>
      <p:sp>
        <p:nvSpPr>
          <p:cNvPr id="48" name="Shape 45"/>
          <p:cNvSpPr/>
          <p:nvPr/>
        </p:nvSpPr>
        <p:spPr>
          <a:xfrm>
            <a:off x="6095848" y="4846320"/>
            <a:ext cx="0" cy="1051560"/>
          </a:xfrm>
          <a:prstGeom prst="line">
            <a:avLst/>
          </a:prstGeom>
          <a:noFill/>
          <a:ln w="9525">
            <a:solidFill>
              <a:srgbClr val="E3E0D7"/>
            </a:solidFill>
            <a:prstDash val="solid"/>
          </a:ln>
        </p:spPr>
      </p:sp>
      <p:sp>
        <p:nvSpPr>
          <p:cNvPr id="49" name="Text 46"/>
          <p:cNvSpPr txBox="1"/>
          <p:nvPr/>
        </p:nvSpPr>
        <p:spPr>
          <a:xfrm>
            <a:off x="6351880" y="5029200"/>
            <a:ext cx="2407844"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€140 bn</a:t>
            </a:r>
            <a:endParaRPr lang="en-US" sz="2200" dirty="0"/>
          </a:p>
        </p:txBody>
      </p:sp>
      <p:sp>
        <p:nvSpPr>
          <p:cNvPr id="50" name="Text 47"/>
          <p:cNvSpPr txBox="1"/>
          <p:nvPr/>
        </p:nvSpPr>
        <p:spPr>
          <a:xfrm>
            <a:off x="6351880" y="5504688"/>
            <a:ext cx="2362124" cy="347472"/>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turnover of legal activities in the EU-27 in 2022 (Eurostat)</a:t>
            </a:r>
            <a:endParaRPr lang="en-US" sz="1050" dirty="0"/>
          </a:p>
        </p:txBody>
      </p:sp>
      <p:sp>
        <p:nvSpPr>
          <p:cNvPr id="51" name="Shape 48"/>
          <p:cNvSpPr/>
          <p:nvPr/>
        </p:nvSpPr>
        <p:spPr>
          <a:xfrm>
            <a:off x="8869451" y="4846320"/>
            <a:ext cx="0" cy="1051560"/>
          </a:xfrm>
          <a:prstGeom prst="line">
            <a:avLst/>
          </a:prstGeom>
          <a:noFill/>
          <a:ln w="9525">
            <a:solidFill>
              <a:srgbClr val="E3E0D7"/>
            </a:solidFill>
            <a:prstDash val="solid"/>
          </a:ln>
        </p:spPr>
      </p:sp>
      <p:sp>
        <p:nvSpPr>
          <p:cNvPr id="52" name="Text 49"/>
          <p:cNvSpPr txBox="1"/>
          <p:nvPr/>
        </p:nvSpPr>
        <p:spPr>
          <a:xfrm>
            <a:off x="9125483" y="5029200"/>
            <a:ext cx="2407844"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25 to 35%</a:t>
            </a:r>
            <a:endParaRPr lang="en-US" sz="2200" dirty="0"/>
          </a:p>
        </p:txBody>
      </p:sp>
      <p:sp>
        <p:nvSpPr>
          <p:cNvPr id="53" name="Text 50"/>
          <p:cNvSpPr txBox="1"/>
          <p:nvPr/>
        </p:nvSpPr>
        <p:spPr>
          <a:xfrm>
            <a:off x="9125483" y="5504688"/>
            <a:ext cx="2362124" cy="347472"/>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cut in reporting burden the Commission targets for companies and SMEs</a:t>
            </a:r>
            <a:endParaRPr lang="en-US" sz="1050" dirty="0"/>
          </a:p>
        </p:txBody>
      </p:sp>
      <p:sp>
        <p:nvSpPr>
          <p:cNvPr id="54" name="Text 51"/>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Directive (EU) 2022/2555, Regulations (EU) 2022/2554, 2023/2854, 2024/1689 as amended by 2026/1744, 2024/2847, all on EUR-Lex. Gartner, Jul 2025. Verdantix, Jan 2025. Eurostat sbs_ovw_act, NACE M69.1. COM(2025) 47.</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The 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Inside-out, not outside-in.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The usual way, and ours</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Others ask. We read</a:t>
            </a:r>
            <a:endParaRPr lang="en-US" sz="3000" dirty="0"/>
          </a:p>
        </p:txBody>
      </p:sp>
      <p:sp>
        <p:nvSpPr>
          <p:cNvPr id="6"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Every incumbent asks the company what it does: forms, interviews, questionnaires. Regulift connects to the systems themselves with read-only access and reads what the company actually runs.</a:t>
            </a:r>
            <a:endParaRPr lang="en-US" sz="1350" dirty="0"/>
          </a:p>
        </p:txBody>
      </p:sp>
      <p:sp>
        <p:nvSpPr>
          <p:cNvPr id="7" name="Shape 4"/>
          <p:cNvSpPr/>
          <p:nvPr/>
        </p:nvSpPr>
        <p:spPr>
          <a:xfrm>
            <a:off x="548640" y="2468880"/>
            <a:ext cx="5318608" cy="0"/>
          </a:xfrm>
          <a:prstGeom prst="line">
            <a:avLst/>
          </a:prstGeom>
          <a:noFill/>
          <a:ln w="9525">
            <a:solidFill>
              <a:srgbClr val="1C2B2F"/>
            </a:solidFill>
            <a:prstDash val="solid"/>
          </a:ln>
        </p:spPr>
      </p:sp>
      <p:sp>
        <p:nvSpPr>
          <p:cNvPr id="8" name="Text 5"/>
          <p:cNvSpPr txBox="1"/>
          <p:nvPr/>
        </p:nvSpPr>
        <p:spPr>
          <a:xfrm>
            <a:off x="548640" y="2596896"/>
            <a:ext cx="5318608" cy="36576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The usual way: outside-in</a:t>
            </a:r>
            <a:endParaRPr lang="en-US" sz="1600" dirty="0"/>
          </a:p>
        </p:txBody>
      </p:sp>
      <p:sp>
        <p:nvSpPr>
          <p:cNvPr id="9" name="Shape 6"/>
          <p:cNvSpPr/>
          <p:nvPr/>
        </p:nvSpPr>
        <p:spPr>
          <a:xfrm>
            <a:off x="548640" y="3017520"/>
            <a:ext cx="5318608" cy="0"/>
          </a:xfrm>
          <a:prstGeom prst="line">
            <a:avLst/>
          </a:prstGeom>
          <a:noFill/>
          <a:ln w="9525">
            <a:solidFill>
              <a:srgbClr val="E3E0D7"/>
            </a:solidFill>
            <a:prstDash val="solid"/>
          </a:ln>
        </p:spPr>
      </p:sp>
      <p:sp>
        <p:nvSpPr>
          <p:cNvPr id="10" name="Text 7"/>
          <p:cNvSpPr txBox="1"/>
          <p:nvPr/>
        </p:nvSpPr>
        <p:spPr>
          <a:xfrm>
            <a:off x="548640" y="3108960"/>
            <a:ext cx="274320" cy="32004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1" name="Text 8"/>
          <p:cNvSpPr txBox="1"/>
          <p:nvPr/>
        </p:nvSpPr>
        <p:spPr>
          <a:xfrm>
            <a:off x="868680" y="31089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Forms and interviews that rely on memory</a:t>
            </a:r>
            <a:endParaRPr lang="en-US" sz="1200" dirty="0"/>
          </a:p>
        </p:txBody>
      </p:sp>
      <p:sp>
        <p:nvSpPr>
          <p:cNvPr id="12" name="Shape 9"/>
          <p:cNvSpPr/>
          <p:nvPr/>
        </p:nvSpPr>
        <p:spPr>
          <a:xfrm>
            <a:off x="548640" y="3474720"/>
            <a:ext cx="5318608" cy="0"/>
          </a:xfrm>
          <a:prstGeom prst="line">
            <a:avLst/>
          </a:prstGeom>
          <a:noFill/>
          <a:ln w="9525">
            <a:solidFill>
              <a:srgbClr val="E3E0D7"/>
            </a:solidFill>
            <a:prstDash val="solid"/>
          </a:ln>
        </p:spPr>
      </p:sp>
      <p:sp>
        <p:nvSpPr>
          <p:cNvPr id="13" name="Text 10"/>
          <p:cNvSpPr txBox="1"/>
          <p:nvPr/>
        </p:nvSpPr>
        <p:spPr>
          <a:xfrm>
            <a:off x="548640" y="3566160"/>
            <a:ext cx="274320" cy="32004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4" name="Text 11"/>
          <p:cNvSpPr txBox="1"/>
          <p:nvPr/>
        </p:nvSpPr>
        <p:spPr>
          <a:xfrm>
            <a:off x="868680" y="35661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A snapshot that is out of date the week after</a:t>
            </a:r>
            <a:endParaRPr lang="en-US" sz="1200" dirty="0"/>
          </a:p>
        </p:txBody>
      </p:sp>
      <p:sp>
        <p:nvSpPr>
          <p:cNvPr id="15" name="Shape 12"/>
          <p:cNvSpPr/>
          <p:nvPr/>
        </p:nvSpPr>
        <p:spPr>
          <a:xfrm>
            <a:off x="548640" y="3931920"/>
            <a:ext cx="5318608" cy="0"/>
          </a:xfrm>
          <a:prstGeom prst="line">
            <a:avLst/>
          </a:prstGeom>
          <a:noFill/>
          <a:ln w="9525">
            <a:solidFill>
              <a:srgbClr val="E3E0D7"/>
            </a:solidFill>
            <a:prstDash val="solid"/>
          </a:ln>
        </p:spPr>
      </p:sp>
      <p:sp>
        <p:nvSpPr>
          <p:cNvPr id="16" name="Text 13"/>
          <p:cNvSpPr txBox="1"/>
          <p:nvPr/>
        </p:nvSpPr>
        <p:spPr>
          <a:xfrm>
            <a:off x="548640" y="4023360"/>
            <a:ext cx="274320" cy="32004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7" name="Text 14"/>
          <p:cNvSpPr txBox="1"/>
          <p:nvPr/>
        </p:nvSpPr>
        <p:spPr>
          <a:xfrm>
            <a:off x="868680" y="40233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Billable hours spent collecting facts, not giving advice</a:t>
            </a:r>
            <a:endParaRPr lang="en-US" sz="1200" dirty="0"/>
          </a:p>
        </p:txBody>
      </p:sp>
      <p:sp>
        <p:nvSpPr>
          <p:cNvPr id="18" name="Shape 15"/>
          <p:cNvSpPr/>
          <p:nvPr/>
        </p:nvSpPr>
        <p:spPr>
          <a:xfrm>
            <a:off x="548640" y="4389120"/>
            <a:ext cx="5318608" cy="0"/>
          </a:xfrm>
          <a:prstGeom prst="line">
            <a:avLst/>
          </a:prstGeom>
          <a:noFill/>
          <a:ln w="9525">
            <a:solidFill>
              <a:srgbClr val="E3E0D7"/>
            </a:solidFill>
            <a:prstDash val="solid"/>
          </a:ln>
        </p:spPr>
      </p:sp>
      <p:sp>
        <p:nvSpPr>
          <p:cNvPr id="19" name="Text 16"/>
          <p:cNvSpPr txBox="1"/>
          <p:nvPr/>
        </p:nvSpPr>
        <p:spPr>
          <a:xfrm>
            <a:off x="548640" y="4480560"/>
            <a:ext cx="274320" cy="32004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20" name="Text 17"/>
          <p:cNvSpPr txBox="1"/>
          <p:nvPr/>
        </p:nvSpPr>
        <p:spPr>
          <a:xfrm>
            <a:off x="868680" y="44805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Evidence assembled by hand before every review</a:t>
            </a:r>
            <a:endParaRPr lang="en-US" sz="1200" dirty="0"/>
          </a:p>
        </p:txBody>
      </p:sp>
      <p:sp>
        <p:nvSpPr>
          <p:cNvPr id="21" name="Shape 18"/>
          <p:cNvSpPr/>
          <p:nvPr/>
        </p:nvSpPr>
        <p:spPr>
          <a:xfrm>
            <a:off x="6324448" y="2468880"/>
            <a:ext cx="5318608" cy="0"/>
          </a:xfrm>
          <a:prstGeom prst="line">
            <a:avLst/>
          </a:prstGeom>
          <a:noFill/>
          <a:ln w="9525">
            <a:solidFill>
              <a:srgbClr val="1C2B2F"/>
            </a:solidFill>
            <a:prstDash val="solid"/>
          </a:ln>
        </p:spPr>
      </p:sp>
      <p:sp>
        <p:nvSpPr>
          <p:cNvPr id="22" name="Text 19"/>
          <p:cNvSpPr txBox="1"/>
          <p:nvPr/>
        </p:nvSpPr>
        <p:spPr>
          <a:xfrm>
            <a:off x="6324448" y="2596896"/>
            <a:ext cx="5318608" cy="36576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The Regulift way: inside-out</a:t>
            </a:r>
            <a:endParaRPr lang="en-US" sz="1600" dirty="0"/>
          </a:p>
        </p:txBody>
      </p:sp>
      <p:sp>
        <p:nvSpPr>
          <p:cNvPr id="23" name="Shape 20"/>
          <p:cNvSpPr/>
          <p:nvPr/>
        </p:nvSpPr>
        <p:spPr>
          <a:xfrm>
            <a:off x="6324448" y="3017520"/>
            <a:ext cx="5318608" cy="0"/>
          </a:xfrm>
          <a:prstGeom prst="line">
            <a:avLst/>
          </a:prstGeom>
          <a:noFill/>
          <a:ln w="9525">
            <a:solidFill>
              <a:srgbClr val="E3E0D7"/>
            </a:solidFill>
            <a:prstDash val="solid"/>
          </a:ln>
        </p:spPr>
      </p:sp>
      <p:sp>
        <p:nvSpPr>
          <p:cNvPr id="24" name="Text 21"/>
          <p:cNvSpPr txBox="1"/>
          <p:nvPr/>
        </p:nvSpPr>
        <p:spPr>
          <a:xfrm>
            <a:off x="6324448" y="3108960"/>
            <a:ext cx="274320" cy="32004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25" name="Text 22"/>
          <p:cNvSpPr txBox="1"/>
          <p:nvPr/>
        </p:nvSpPr>
        <p:spPr>
          <a:xfrm>
            <a:off x="6644488" y="31089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Connects to repositories, cloud, HR and CRM tools, read-only</a:t>
            </a:r>
            <a:endParaRPr lang="en-US" sz="1200" dirty="0"/>
          </a:p>
        </p:txBody>
      </p:sp>
      <p:sp>
        <p:nvSpPr>
          <p:cNvPr id="26" name="Shape 23"/>
          <p:cNvSpPr/>
          <p:nvPr/>
        </p:nvSpPr>
        <p:spPr>
          <a:xfrm>
            <a:off x="6324448" y="3474720"/>
            <a:ext cx="5318608" cy="0"/>
          </a:xfrm>
          <a:prstGeom prst="line">
            <a:avLst/>
          </a:prstGeom>
          <a:noFill/>
          <a:ln w="9525">
            <a:solidFill>
              <a:srgbClr val="E3E0D7"/>
            </a:solidFill>
            <a:prstDash val="solid"/>
          </a:ln>
        </p:spPr>
      </p:sp>
      <p:sp>
        <p:nvSpPr>
          <p:cNvPr id="27" name="Text 24"/>
          <p:cNvSpPr txBox="1"/>
          <p:nvPr/>
        </p:nvSpPr>
        <p:spPr>
          <a:xfrm>
            <a:off x="6324448" y="3566160"/>
            <a:ext cx="274320" cy="32004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28" name="Text 25"/>
          <p:cNvSpPr txBox="1"/>
          <p:nvPr/>
        </p:nvSpPr>
        <p:spPr>
          <a:xfrm>
            <a:off x="6644488" y="35661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Builds the data and AI inventory from real flows, not recollection</a:t>
            </a:r>
            <a:endParaRPr lang="en-US" sz="1200" dirty="0"/>
          </a:p>
        </p:txBody>
      </p:sp>
      <p:sp>
        <p:nvSpPr>
          <p:cNvPr id="29" name="Shape 26"/>
          <p:cNvSpPr/>
          <p:nvPr/>
        </p:nvSpPr>
        <p:spPr>
          <a:xfrm>
            <a:off x="6324448" y="3931920"/>
            <a:ext cx="5318608" cy="0"/>
          </a:xfrm>
          <a:prstGeom prst="line">
            <a:avLst/>
          </a:prstGeom>
          <a:noFill/>
          <a:ln w="9525">
            <a:solidFill>
              <a:srgbClr val="E3E0D7"/>
            </a:solidFill>
            <a:prstDash val="solid"/>
          </a:ln>
        </p:spPr>
      </p:sp>
      <p:sp>
        <p:nvSpPr>
          <p:cNvPr id="30" name="Text 27"/>
          <p:cNvSpPr txBox="1"/>
          <p:nvPr/>
        </p:nvSpPr>
        <p:spPr>
          <a:xfrm>
            <a:off x="6324448" y="4023360"/>
            <a:ext cx="274320" cy="32004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31" name="Text 28"/>
          <p:cNvSpPr txBox="1"/>
          <p:nvPr/>
        </p:nvSpPr>
        <p:spPr>
          <a:xfrm>
            <a:off x="6644488" y="40233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Stays current as the systems change</a:t>
            </a:r>
            <a:endParaRPr lang="en-US" sz="1200" dirty="0"/>
          </a:p>
        </p:txBody>
      </p:sp>
      <p:sp>
        <p:nvSpPr>
          <p:cNvPr id="32" name="Shape 29"/>
          <p:cNvSpPr/>
          <p:nvPr/>
        </p:nvSpPr>
        <p:spPr>
          <a:xfrm>
            <a:off x="6324448" y="4389120"/>
            <a:ext cx="5318608" cy="0"/>
          </a:xfrm>
          <a:prstGeom prst="line">
            <a:avLst/>
          </a:prstGeom>
          <a:noFill/>
          <a:ln w="9525">
            <a:solidFill>
              <a:srgbClr val="E3E0D7"/>
            </a:solidFill>
            <a:prstDash val="solid"/>
          </a:ln>
        </p:spPr>
      </p:sp>
      <p:sp>
        <p:nvSpPr>
          <p:cNvPr id="33" name="Text 30"/>
          <p:cNvSpPr txBox="1"/>
          <p:nvPr/>
        </p:nvSpPr>
        <p:spPr>
          <a:xfrm>
            <a:off x="6324448" y="4480560"/>
            <a:ext cx="274320" cy="32004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34" name="Text 31"/>
          <p:cNvSpPr txBox="1"/>
          <p:nvPr/>
        </p:nvSpPr>
        <p:spPr>
          <a:xfrm>
            <a:off x="6644488" y="4480560"/>
            <a:ext cx="4952848" cy="347472"/>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Hands lawyers evidence, so their hours go to judgement</a:t>
            </a:r>
            <a:endParaRPr lang="en-US" sz="1200" dirty="0"/>
          </a:p>
        </p:txBody>
      </p:sp>
      <p:sp>
        <p:nvSpPr>
          <p:cNvPr id="35" name="Shape 32"/>
          <p:cNvSpPr/>
          <p:nvPr/>
        </p:nvSpPr>
        <p:spPr>
          <a:xfrm>
            <a:off x="548640" y="4983480"/>
            <a:ext cx="11094415" cy="914400"/>
          </a:xfrm>
          <a:prstGeom prst="roundRect">
            <a:avLst>
              <a:gd name="adj" fmla="val 8000"/>
            </a:avLst>
          </a:prstGeom>
          <a:solidFill>
            <a:srgbClr val="E7EDEC"/>
          </a:solidFill>
          <a:ln w="9525">
            <a:solidFill>
              <a:srgbClr val="E7EDEC"/>
            </a:solidFill>
            <a:prstDash val="solid"/>
          </a:ln>
        </p:spPr>
      </p:sp>
      <p:sp>
        <p:nvSpPr>
          <p:cNvPr id="36" name="Text 33"/>
          <p:cNvSpPr txBox="1"/>
          <p:nvPr/>
        </p:nvSpPr>
        <p:spPr>
          <a:xfrm>
            <a:off x="777240" y="5120640"/>
            <a:ext cx="2202104" cy="274320"/>
          </a:xfrm>
          <a:prstGeom prst="rect">
            <a:avLst/>
          </a:prstGeom>
          <a:noFill/>
          <a:ln/>
        </p:spPr>
        <p:txBody>
          <a:bodyPr wrap="square" lIns="0" tIns="0" rIns="0" bIns="0" rtlCol="0" anchor="t"/>
          <a:lstStyle/>
          <a:p>
            <a:pPr indent="0" marL="0">
              <a:buNone/>
            </a:pPr>
            <a:r>
              <a:rPr lang="en-US" sz="1250" dirty="0">
                <a:solidFill>
                  <a:srgbClr val="1C2B2F"/>
                </a:solidFill>
                <a:latin typeface="Geist Medium" pitchFamily="34" charset="0"/>
                <a:ea typeface="Geist Medium" pitchFamily="34" charset="-122"/>
                <a:cs typeface="Geist Medium" pitchFamily="34" charset="-120"/>
              </a:rPr>
              <a:t>Read-only, by design</a:t>
            </a:r>
            <a:endParaRPr lang="en-US" sz="1250" dirty="0"/>
          </a:p>
        </p:txBody>
      </p:sp>
      <p:sp>
        <p:nvSpPr>
          <p:cNvPr id="37" name="Text 34"/>
          <p:cNvSpPr txBox="1"/>
          <p:nvPr/>
        </p:nvSpPr>
        <p:spPr>
          <a:xfrm>
            <a:off x="777240" y="5394960"/>
            <a:ext cx="2202104" cy="5029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We never change your systems. Access can be revoked at any time.</a:t>
            </a:r>
            <a:endParaRPr lang="en-US" sz="1050" dirty="0"/>
          </a:p>
        </p:txBody>
      </p:sp>
      <p:sp>
        <p:nvSpPr>
          <p:cNvPr id="38" name="Text 35"/>
          <p:cNvSpPr txBox="1"/>
          <p:nvPr/>
        </p:nvSpPr>
        <p:spPr>
          <a:xfrm>
            <a:off x="3505124" y="5120640"/>
            <a:ext cx="2202104" cy="274320"/>
          </a:xfrm>
          <a:prstGeom prst="rect">
            <a:avLst/>
          </a:prstGeom>
          <a:noFill/>
          <a:ln/>
        </p:spPr>
        <p:txBody>
          <a:bodyPr wrap="square" lIns="0" tIns="0" rIns="0" bIns="0" rtlCol="0" anchor="t"/>
          <a:lstStyle/>
          <a:p>
            <a:pPr indent="0" marL="0">
              <a:buNone/>
            </a:pPr>
            <a:r>
              <a:rPr lang="en-US" sz="1250" dirty="0">
                <a:solidFill>
                  <a:srgbClr val="1C2B2F"/>
                </a:solidFill>
                <a:latin typeface="Geist Medium" pitchFamily="34" charset="0"/>
                <a:ea typeface="Geist Medium" pitchFamily="34" charset="-122"/>
                <a:cs typeface="Geist Medium" pitchFamily="34" charset="-120"/>
              </a:rPr>
              <a:t>Hosted in Europe</a:t>
            </a:r>
            <a:endParaRPr lang="en-US" sz="1250" dirty="0"/>
          </a:p>
        </p:txBody>
      </p:sp>
      <p:sp>
        <p:nvSpPr>
          <p:cNvPr id="39" name="Text 36"/>
          <p:cNvSpPr txBox="1"/>
          <p:nvPr/>
        </p:nvSpPr>
        <p:spPr>
          <a:xfrm>
            <a:off x="3505124" y="5394960"/>
            <a:ext cx="2202104" cy="5029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Materials and findings stay on European infrastructure, under European law.</a:t>
            </a:r>
            <a:endParaRPr lang="en-US" sz="1050" dirty="0"/>
          </a:p>
        </p:txBody>
      </p:sp>
      <p:sp>
        <p:nvSpPr>
          <p:cNvPr id="40" name="Text 37"/>
          <p:cNvSpPr txBox="1"/>
          <p:nvPr/>
        </p:nvSpPr>
        <p:spPr>
          <a:xfrm>
            <a:off x="6233008" y="5120640"/>
            <a:ext cx="2202104" cy="274320"/>
          </a:xfrm>
          <a:prstGeom prst="rect">
            <a:avLst/>
          </a:prstGeom>
          <a:noFill/>
          <a:ln/>
        </p:spPr>
        <p:txBody>
          <a:bodyPr wrap="square" lIns="0" tIns="0" rIns="0" bIns="0" rtlCol="0" anchor="t"/>
          <a:lstStyle/>
          <a:p>
            <a:pPr indent="0" marL="0">
              <a:buNone/>
            </a:pPr>
            <a:r>
              <a:rPr lang="en-US" sz="1250" dirty="0">
                <a:solidFill>
                  <a:srgbClr val="1C2B2F"/>
                </a:solidFill>
                <a:latin typeface="Geist Medium" pitchFamily="34" charset="0"/>
                <a:ea typeface="Geist Medium" pitchFamily="34" charset="-122"/>
                <a:cs typeface="Geist Medium" pitchFamily="34" charset="-120"/>
              </a:rPr>
              <a:t>Real lawyers, when it matters</a:t>
            </a:r>
            <a:endParaRPr lang="en-US" sz="1250" dirty="0"/>
          </a:p>
        </p:txBody>
      </p:sp>
      <p:sp>
        <p:nvSpPr>
          <p:cNvPr id="41" name="Text 38"/>
          <p:cNvSpPr txBox="1"/>
          <p:nvPr/>
        </p:nvSpPr>
        <p:spPr>
          <a:xfrm>
            <a:off x="6233008" y="5394960"/>
            <a:ext cx="2202104" cy="5029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Partner law firms work inside the platform. Advice comes from a lawyer, never from a model.</a:t>
            </a:r>
            <a:endParaRPr lang="en-US" sz="1050" dirty="0"/>
          </a:p>
        </p:txBody>
      </p:sp>
      <p:sp>
        <p:nvSpPr>
          <p:cNvPr id="42" name="Text 39"/>
          <p:cNvSpPr txBox="1"/>
          <p:nvPr/>
        </p:nvSpPr>
        <p:spPr>
          <a:xfrm>
            <a:off x="8960891" y="5120640"/>
            <a:ext cx="2202104" cy="274320"/>
          </a:xfrm>
          <a:prstGeom prst="rect">
            <a:avLst/>
          </a:prstGeom>
          <a:noFill/>
          <a:ln/>
        </p:spPr>
        <p:txBody>
          <a:bodyPr wrap="square" lIns="0" tIns="0" rIns="0" bIns="0" rtlCol="0" anchor="t"/>
          <a:lstStyle/>
          <a:p>
            <a:pPr indent="0" marL="0">
              <a:buNone/>
            </a:pPr>
            <a:r>
              <a:rPr lang="en-US" sz="1250" dirty="0">
                <a:solidFill>
                  <a:srgbClr val="1C2B2F"/>
                </a:solidFill>
                <a:latin typeface="Geist Medium" pitchFamily="34" charset="0"/>
                <a:ea typeface="Geist Medium" pitchFamily="34" charset="-122"/>
                <a:cs typeface="Geist Medium" pitchFamily="34" charset="-120"/>
              </a:rPr>
              <a:t>You own the record</a:t>
            </a:r>
            <a:endParaRPr lang="en-US" sz="1250" dirty="0"/>
          </a:p>
        </p:txBody>
      </p:sp>
      <p:sp>
        <p:nvSpPr>
          <p:cNvPr id="43" name="Text 40"/>
          <p:cNvSpPr txBox="1"/>
          <p:nvPr/>
        </p:nvSpPr>
        <p:spPr>
          <a:xfrm>
            <a:off x="8960891" y="5394960"/>
            <a:ext cx="2202104" cy="5029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Export the inventory and evidence at any time. No lock-in.</a:t>
            </a:r>
            <a:endParaRPr lang="en-US" sz="1050" dirty="0"/>
          </a:p>
        </p:txBody>
      </p:sp>
      <p:sp>
        <p:nvSpPr>
          <p:cNvPr id="44" name="Text 41"/>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Design principles of the platform as published on the Regulift website, section Inside-out, October 2026.</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How it works.</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Where the data goes.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Read-only, approved by the company</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Context leaves. The data stays</a:t>
            </a:r>
            <a:endParaRPr lang="en-US" sz="3000" dirty="0"/>
          </a:p>
        </p:txBody>
      </p:sp>
      <p:sp>
        <p:nvSpPr>
          <p:cNvPr id="6"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A collector reads inside the company and writes a report about what runs and where data flows, never the records themselves. One named representative approves it. Only then does it reach the platform.</a:t>
            </a:r>
            <a:endParaRPr lang="en-US" sz="1350" dirty="0"/>
          </a:p>
        </p:txBody>
      </p:sp>
      <p:pic>
        <p:nvPicPr>
          <p:cNvPr id="7" name="Image 0" descr="/tmp/claude-1000/-home-andi-Dokumente-Business-Simone-Business-Business/f0091365-0ba5-4f1f-bb2f-076089d549ad/scratchpad/deck/img/flow.png">    </p:cNvPr>
          <p:cNvPicPr>
            <a:picLocks noChangeAspect="1"/>
          </p:cNvPicPr>
          <p:nvPr/>
        </p:nvPicPr>
        <p:blipFill>
          <a:blip r:embed="rId1"/>
          <a:stretch>
            <a:fillRect/>
          </a:stretch>
        </p:blipFill>
        <p:spPr>
          <a:xfrm>
            <a:off x="1249528" y="2331720"/>
            <a:ext cx="9692640" cy="2514029"/>
          </a:xfrm>
          <a:prstGeom prst="rect">
            <a:avLst/>
          </a:prstGeom>
        </p:spPr>
      </p:pic>
      <p:sp>
        <p:nvSpPr>
          <p:cNvPr id="8" name="Shape 4"/>
          <p:cNvSpPr/>
          <p:nvPr/>
        </p:nvSpPr>
        <p:spPr>
          <a:xfrm>
            <a:off x="548640" y="4983480"/>
            <a:ext cx="3454298" cy="0"/>
          </a:xfrm>
          <a:prstGeom prst="line">
            <a:avLst/>
          </a:prstGeom>
          <a:noFill/>
          <a:ln w="9525">
            <a:solidFill>
              <a:srgbClr val="1C2B2F"/>
            </a:solidFill>
            <a:prstDash val="solid"/>
          </a:ln>
        </p:spPr>
      </p:sp>
      <p:sp>
        <p:nvSpPr>
          <p:cNvPr id="9" name="Text 5"/>
          <p:cNvSpPr txBox="1"/>
          <p:nvPr/>
        </p:nvSpPr>
        <p:spPr>
          <a:xfrm>
            <a:off x="548640" y="5102352"/>
            <a:ext cx="45720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01</a:t>
            </a:r>
            <a:endParaRPr lang="en-US" sz="1000" dirty="0"/>
          </a:p>
        </p:txBody>
      </p:sp>
      <p:sp>
        <p:nvSpPr>
          <p:cNvPr id="10" name="Text 6"/>
          <p:cNvSpPr txBox="1"/>
          <p:nvPr/>
        </p:nvSpPr>
        <p:spPr>
          <a:xfrm>
            <a:off x="914400" y="5074920"/>
            <a:ext cx="3088538" cy="292608"/>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Understand</a:t>
            </a:r>
            <a:endParaRPr lang="en-US" sz="1400" dirty="0"/>
          </a:p>
        </p:txBody>
      </p:sp>
      <p:sp>
        <p:nvSpPr>
          <p:cNvPr id="11" name="Text 7"/>
          <p:cNvSpPr txBox="1"/>
          <p:nvPr/>
        </p:nvSpPr>
        <p:spPr>
          <a:xfrm>
            <a:off x="548640" y="5394960"/>
            <a:ext cx="3454298" cy="59436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Regulift maps data flows, AI use and third parties from the approved report and builds the context for an assessment that fits the business.</a:t>
            </a:r>
            <a:endParaRPr lang="en-US" sz="1050" dirty="0"/>
          </a:p>
        </p:txBody>
      </p:sp>
      <p:sp>
        <p:nvSpPr>
          <p:cNvPr id="12" name="Shape 8"/>
          <p:cNvSpPr/>
          <p:nvPr/>
        </p:nvSpPr>
        <p:spPr>
          <a:xfrm>
            <a:off x="4368698" y="4983480"/>
            <a:ext cx="3454298" cy="0"/>
          </a:xfrm>
          <a:prstGeom prst="line">
            <a:avLst/>
          </a:prstGeom>
          <a:noFill/>
          <a:ln w="9525">
            <a:solidFill>
              <a:srgbClr val="1C2B2F"/>
            </a:solidFill>
            <a:prstDash val="solid"/>
          </a:ln>
        </p:spPr>
      </p:sp>
      <p:sp>
        <p:nvSpPr>
          <p:cNvPr id="13" name="Text 9"/>
          <p:cNvSpPr txBox="1"/>
          <p:nvPr/>
        </p:nvSpPr>
        <p:spPr>
          <a:xfrm>
            <a:off x="4368698" y="5102352"/>
            <a:ext cx="45720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02</a:t>
            </a:r>
            <a:endParaRPr lang="en-US" sz="1000" dirty="0"/>
          </a:p>
        </p:txBody>
      </p:sp>
      <p:sp>
        <p:nvSpPr>
          <p:cNvPr id="14" name="Text 10"/>
          <p:cNvSpPr txBox="1"/>
          <p:nvPr/>
        </p:nvSpPr>
        <p:spPr>
          <a:xfrm>
            <a:off x="4734458" y="5074920"/>
            <a:ext cx="3088538" cy="292608"/>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Improve</a:t>
            </a:r>
            <a:endParaRPr lang="en-US" sz="1400" dirty="0"/>
          </a:p>
        </p:txBody>
      </p:sp>
      <p:sp>
        <p:nvSpPr>
          <p:cNvPr id="15" name="Text 11"/>
          <p:cNvSpPr txBox="1"/>
          <p:nvPr/>
        </p:nvSpPr>
        <p:spPr>
          <a:xfrm>
            <a:off x="4368698" y="5394960"/>
            <a:ext cx="3454298" cy="59436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Every missing piece of evidence becomes a ranked action. Most close without a lawyer: a processing agreement, a retention schedule, an incident playbook.</a:t>
            </a:r>
            <a:endParaRPr lang="en-US" sz="1050" dirty="0"/>
          </a:p>
        </p:txBody>
      </p:sp>
      <p:sp>
        <p:nvSpPr>
          <p:cNvPr id="16" name="Shape 12"/>
          <p:cNvSpPr/>
          <p:nvPr/>
        </p:nvSpPr>
        <p:spPr>
          <a:xfrm>
            <a:off x="8188757" y="4983480"/>
            <a:ext cx="3454298" cy="0"/>
          </a:xfrm>
          <a:prstGeom prst="line">
            <a:avLst/>
          </a:prstGeom>
          <a:noFill/>
          <a:ln w="9525">
            <a:solidFill>
              <a:srgbClr val="1C2B2F"/>
            </a:solidFill>
            <a:prstDash val="solid"/>
          </a:ln>
        </p:spPr>
      </p:sp>
      <p:sp>
        <p:nvSpPr>
          <p:cNvPr id="17" name="Text 13"/>
          <p:cNvSpPr txBox="1"/>
          <p:nvPr/>
        </p:nvSpPr>
        <p:spPr>
          <a:xfrm>
            <a:off x="8188757" y="5102352"/>
            <a:ext cx="45720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03</a:t>
            </a:r>
            <a:endParaRPr lang="en-US" sz="1000" dirty="0"/>
          </a:p>
        </p:txBody>
      </p:sp>
      <p:sp>
        <p:nvSpPr>
          <p:cNvPr id="18" name="Text 14"/>
          <p:cNvSpPr txBox="1"/>
          <p:nvPr/>
        </p:nvSpPr>
        <p:spPr>
          <a:xfrm>
            <a:off x="8554517" y="5074920"/>
            <a:ext cx="3088538" cy="292608"/>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Review</a:t>
            </a:r>
            <a:endParaRPr lang="en-US" sz="1400" dirty="0"/>
          </a:p>
        </p:txBody>
      </p:sp>
      <p:sp>
        <p:nvSpPr>
          <p:cNvPr id="19" name="Text 15"/>
          <p:cNvSpPr txBox="1"/>
          <p:nvPr/>
        </p:nvSpPr>
        <p:spPr>
          <a:xfrm>
            <a:off x="8188757" y="5394960"/>
            <a:ext cx="3454298" cy="59436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Partner lawyers open the same workspace, with inventory, evidence and open items in place, and confirm compliance in writing.</a:t>
            </a:r>
            <a:endParaRPr lang="en-US" sz="1050" dirty="0"/>
          </a:p>
        </p:txBody>
      </p:sp>
      <p:sp>
        <p:nvSpPr>
          <p:cNvPr id="20"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Diagram from the Regulift website. The approval step is a product rule, not an option. No records, no file contents, no credentials leave the company.</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Why AI is central.</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Two layers, one safe harbour.</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Centrality, novelty, defensibility</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AI does the groundwork. People make the call</a:t>
            </a:r>
            <a:endParaRPr lang="en-US" sz="3000" dirty="0"/>
          </a:p>
        </p:txBody>
      </p:sp>
      <p:sp>
        <p:nvSpPr>
          <p:cNvPr id="6"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The AI is not a chat window on top of a checklist. Without agents that read systems at scale there is no inside-out product. A deterministic layer written by lawyers keeps it on the right side of the law.</a:t>
            </a:r>
            <a:endParaRPr lang="en-US" sz="1350" dirty="0"/>
          </a:p>
        </p:txBody>
      </p:sp>
      <p:sp>
        <p:nvSpPr>
          <p:cNvPr id="7" name="Shape 4"/>
          <p:cNvSpPr/>
          <p:nvPr/>
        </p:nvSpPr>
        <p:spPr>
          <a:xfrm>
            <a:off x="548640" y="2468880"/>
            <a:ext cx="3515258" cy="2606040"/>
          </a:xfrm>
          <a:prstGeom prst="roundRect">
            <a:avLst>
              <a:gd name="adj" fmla="val 2807"/>
            </a:avLst>
          </a:prstGeom>
          <a:solidFill>
            <a:srgbClr val="FCFBF8"/>
          </a:solidFill>
          <a:ln w="9525">
            <a:solidFill>
              <a:srgbClr val="E3E0D7"/>
            </a:solidFill>
            <a:prstDash val="solid"/>
          </a:ln>
        </p:spPr>
      </p:sp>
      <p:sp>
        <p:nvSpPr>
          <p:cNvPr id="8" name="Text 5"/>
          <p:cNvSpPr txBox="1"/>
          <p:nvPr/>
        </p:nvSpPr>
        <p:spPr>
          <a:xfrm>
            <a:off x="777240" y="2615184"/>
            <a:ext cx="3058058"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Layer 1, deterministic</a:t>
            </a:r>
            <a:endParaRPr lang="en-US" sz="1000" dirty="0"/>
          </a:p>
        </p:txBody>
      </p:sp>
      <p:sp>
        <p:nvSpPr>
          <p:cNvPr id="9" name="Text 6"/>
          <p:cNvSpPr txBox="1"/>
          <p:nvPr/>
        </p:nvSpPr>
        <p:spPr>
          <a:xfrm>
            <a:off x="777240" y="2852928"/>
            <a:ext cx="3058058" cy="50292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Lawyer-authored applicability trees</a:t>
            </a:r>
            <a:endParaRPr lang="en-US" sz="1500" dirty="0"/>
          </a:p>
        </p:txBody>
      </p:sp>
      <p:sp>
        <p:nvSpPr>
          <p:cNvPr id="10" name="Text 7"/>
          <p:cNvSpPr txBox="1"/>
          <p:nvPr/>
        </p:nvSpPr>
        <p:spPr>
          <a:xfrm>
            <a:off x="777240" y="3383280"/>
            <a:ext cx="3058058" cy="164592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Partner law firms write the yes-or-no logic that decides which obligations apply: headcount, sector, role, data categories. Mechanical rules of this kind are what the German Federal Court protected in the Smartlaw ruling, so the platform never gives an individual legal opinion itself.</a:t>
            </a:r>
            <a:endParaRPr lang="en-US" sz="1100" dirty="0"/>
          </a:p>
        </p:txBody>
      </p:sp>
      <p:sp>
        <p:nvSpPr>
          <p:cNvPr id="11" name="Shape 8"/>
          <p:cNvSpPr/>
          <p:nvPr/>
        </p:nvSpPr>
        <p:spPr>
          <a:xfrm>
            <a:off x="4338218" y="2468880"/>
            <a:ext cx="3515258" cy="2606040"/>
          </a:xfrm>
          <a:prstGeom prst="roundRect">
            <a:avLst>
              <a:gd name="adj" fmla="val 2807"/>
            </a:avLst>
          </a:prstGeom>
          <a:solidFill>
            <a:srgbClr val="E7EDEC"/>
          </a:solidFill>
          <a:ln w="9525">
            <a:solidFill>
              <a:srgbClr val="E7EDEC"/>
            </a:solidFill>
            <a:prstDash val="solid"/>
          </a:ln>
        </p:spPr>
      </p:sp>
      <p:sp>
        <p:nvSpPr>
          <p:cNvPr id="12" name="Text 9"/>
          <p:cNvSpPr txBox="1"/>
          <p:nvPr/>
        </p:nvSpPr>
        <p:spPr>
          <a:xfrm>
            <a:off x="4566818" y="2615184"/>
            <a:ext cx="3058058"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Layer 2, agentic</a:t>
            </a:r>
            <a:endParaRPr lang="en-US" sz="1000" dirty="0"/>
          </a:p>
        </p:txBody>
      </p:sp>
      <p:sp>
        <p:nvSpPr>
          <p:cNvPr id="13" name="Text 10"/>
          <p:cNvSpPr txBox="1"/>
          <p:nvPr/>
        </p:nvSpPr>
        <p:spPr>
          <a:xfrm>
            <a:off x="4566818" y="2852928"/>
            <a:ext cx="3058058" cy="50292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A collector that reads systems through MCP</a:t>
            </a:r>
            <a:endParaRPr lang="en-US" sz="1500" dirty="0"/>
          </a:p>
        </p:txBody>
      </p:sp>
      <p:sp>
        <p:nvSpPr>
          <p:cNvPr id="14" name="Text 11"/>
          <p:cNvSpPr txBox="1"/>
          <p:nvPr/>
        </p:nvSpPr>
        <p:spPr>
          <a:xfrm>
            <a:off x="4566818" y="3383280"/>
            <a:ext cx="3058058" cy="164592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Agents connect to repositories, cloud accounts, HR and CRM tools through Model Context Protocol servers with read-only scopes. They identify services, models, processors and data flows and write the context report the representative approves. No questionnaire can do this.</a:t>
            </a:r>
            <a:endParaRPr lang="en-US" sz="1100" dirty="0"/>
          </a:p>
        </p:txBody>
      </p:sp>
      <p:sp>
        <p:nvSpPr>
          <p:cNvPr id="15" name="Shape 12"/>
          <p:cNvSpPr/>
          <p:nvPr/>
        </p:nvSpPr>
        <p:spPr>
          <a:xfrm>
            <a:off x="8127797" y="2468880"/>
            <a:ext cx="3515258" cy="2606040"/>
          </a:xfrm>
          <a:prstGeom prst="roundRect">
            <a:avLst>
              <a:gd name="adj" fmla="val 2807"/>
            </a:avLst>
          </a:prstGeom>
          <a:solidFill>
            <a:srgbClr val="FCFBF8"/>
          </a:solidFill>
          <a:ln w="9525">
            <a:solidFill>
              <a:srgbClr val="E3E0D7"/>
            </a:solidFill>
            <a:prstDash val="solid"/>
          </a:ln>
        </p:spPr>
      </p:sp>
      <p:sp>
        <p:nvSpPr>
          <p:cNvPr id="16" name="Text 13"/>
          <p:cNvSpPr txBox="1"/>
          <p:nvPr/>
        </p:nvSpPr>
        <p:spPr>
          <a:xfrm>
            <a:off x="8356397" y="2615184"/>
            <a:ext cx="3058058"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On top</a:t>
            </a:r>
            <a:endParaRPr lang="en-US" sz="1000" dirty="0"/>
          </a:p>
        </p:txBody>
      </p:sp>
      <p:sp>
        <p:nvSpPr>
          <p:cNvPr id="17" name="Text 14"/>
          <p:cNvSpPr txBox="1"/>
          <p:nvPr/>
        </p:nvSpPr>
        <p:spPr>
          <a:xfrm>
            <a:off x="8356397" y="2852928"/>
            <a:ext cx="3058058" cy="50292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Architecture-to-law mapping and evidence graph</a:t>
            </a:r>
            <a:endParaRPr lang="en-US" sz="1500" dirty="0"/>
          </a:p>
        </p:txBody>
      </p:sp>
      <p:sp>
        <p:nvSpPr>
          <p:cNvPr id="18" name="Text 15"/>
          <p:cNvSpPr txBox="1"/>
          <p:nvPr/>
        </p:nvSpPr>
        <p:spPr>
          <a:xfrm>
            <a:off x="8356397" y="3383280"/>
            <a:ext cx="3058058" cy="164592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Language models map the approved report onto obligations: which flow is a transfer, which model decides about people, which service is a supplier under NIS2 or DORA. Every finding links to its evidence. Grey-zone questions route to the partner lawyer, never to an autogenerated verdict.</a:t>
            </a:r>
            <a:endParaRPr lang="en-US" sz="1100" dirty="0"/>
          </a:p>
        </p:txBody>
      </p:sp>
      <p:sp>
        <p:nvSpPr>
          <p:cNvPr id="19" name="Shape 16"/>
          <p:cNvSpPr/>
          <p:nvPr/>
        </p:nvSpPr>
        <p:spPr>
          <a:xfrm>
            <a:off x="548640" y="5230368"/>
            <a:ext cx="11094415" cy="0"/>
          </a:xfrm>
          <a:prstGeom prst="line">
            <a:avLst/>
          </a:prstGeom>
          <a:noFill/>
          <a:ln w="9525">
            <a:solidFill>
              <a:srgbClr val="1C2B2F"/>
            </a:solidFill>
            <a:prstDash val="solid"/>
          </a:ln>
        </p:spPr>
      </p:sp>
      <p:sp>
        <p:nvSpPr>
          <p:cNvPr id="20" name="Text 17"/>
          <p:cNvSpPr txBox="1"/>
          <p:nvPr/>
        </p:nvSpPr>
        <p:spPr>
          <a:xfrm>
            <a:off x="548640" y="5340096"/>
            <a:ext cx="1828800" cy="274320"/>
          </a:xfrm>
          <a:prstGeom prst="rect">
            <a:avLst/>
          </a:prstGeom>
          <a:noFill/>
          <a:ln/>
        </p:spPr>
        <p:txBody>
          <a:bodyPr wrap="squar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What compounds</a:t>
            </a:r>
            <a:endParaRPr lang="en-US" sz="1300" dirty="0"/>
          </a:p>
        </p:txBody>
      </p:sp>
      <p:sp>
        <p:nvSpPr>
          <p:cNvPr id="21" name="Text 18"/>
          <p:cNvSpPr txBox="1"/>
          <p:nvPr/>
        </p:nvSpPr>
        <p:spPr>
          <a:xfrm>
            <a:off x="2560320" y="5340096"/>
            <a:ext cx="2798978" cy="640080"/>
          </a:xfrm>
          <a:prstGeom prst="rect">
            <a:avLst/>
          </a:prstGeom>
          <a:noFill/>
          <a:ln/>
        </p:spPr>
        <p:txBody>
          <a:bodyPr wrap="square" lIns="0" tIns="0" rIns="0" bIns="0" rtlCol="0" anchor="t"/>
          <a:lstStyle/>
          <a:p>
            <a:pPr indent="0" marL="0">
              <a:buNone/>
            </a:pPr>
            <a:r>
              <a:rPr lang="en-US" sz="1050" dirty="0">
                <a:solidFill>
                  <a:srgbClr val="1C2B2F"/>
                </a:solidFill>
                <a:latin typeface="Geist" pitchFamily="34" charset="0"/>
                <a:ea typeface="Geist" pitchFamily="34" charset="-122"/>
                <a:cs typeface="Geist" pitchFamily="34" charset="-120"/>
              </a:rPr>
              <a:t>● An evidence graph per company that grows with every connector and every review</a:t>
            </a:r>
            <a:endParaRPr lang="en-US" sz="1050" dirty="0"/>
          </a:p>
        </p:txBody>
      </p:sp>
      <p:sp>
        <p:nvSpPr>
          <p:cNvPr id="22" name="Text 19"/>
          <p:cNvSpPr txBox="1"/>
          <p:nvPr/>
        </p:nvSpPr>
        <p:spPr>
          <a:xfrm>
            <a:off x="5587898" y="5340096"/>
            <a:ext cx="2798978" cy="640080"/>
          </a:xfrm>
          <a:prstGeom prst="rect">
            <a:avLst/>
          </a:prstGeom>
          <a:noFill/>
          <a:ln/>
        </p:spPr>
        <p:txBody>
          <a:bodyPr wrap="square" lIns="0" tIns="0" rIns="0" bIns="0" rtlCol="0" anchor="t"/>
          <a:lstStyle/>
          <a:p>
            <a:pPr indent="0" marL="0">
              <a:buNone/>
            </a:pPr>
            <a:r>
              <a:rPr lang="en-US" sz="1050" dirty="0">
                <a:solidFill>
                  <a:srgbClr val="1C2B2F"/>
                </a:solidFill>
                <a:latin typeface="Geist" pitchFamily="34" charset="0"/>
                <a:ea typeface="Geist" pitchFamily="34" charset="-122"/>
                <a:cs typeface="Geist" pitchFamily="34" charset="-120"/>
              </a:rPr>
              <a:t>● A rule base per jurisdiction, authored and signed by partner firms under their own name</a:t>
            </a:r>
            <a:endParaRPr lang="en-US" sz="1050" dirty="0"/>
          </a:p>
        </p:txBody>
      </p:sp>
      <p:sp>
        <p:nvSpPr>
          <p:cNvPr id="23" name="Text 20"/>
          <p:cNvSpPr txBox="1"/>
          <p:nvPr/>
        </p:nvSpPr>
        <p:spPr>
          <a:xfrm>
            <a:off x="8615477" y="5340096"/>
            <a:ext cx="2798978" cy="640080"/>
          </a:xfrm>
          <a:prstGeom prst="rect">
            <a:avLst/>
          </a:prstGeom>
          <a:noFill/>
          <a:ln/>
        </p:spPr>
        <p:txBody>
          <a:bodyPr wrap="square" lIns="0" tIns="0" rIns="0" bIns="0" rtlCol="0" anchor="t"/>
          <a:lstStyle/>
          <a:p>
            <a:pPr indent="0" marL="0">
              <a:buNone/>
            </a:pPr>
            <a:r>
              <a:rPr lang="en-US" sz="1050" dirty="0">
                <a:solidFill>
                  <a:srgbClr val="1C2B2F"/>
                </a:solidFill>
                <a:latin typeface="Geist" pitchFamily="34" charset="0"/>
                <a:ea typeface="Geist" pitchFamily="34" charset="-122"/>
                <a:cs typeface="Geist" pitchFamily="34" charset="-120"/>
              </a:rPr>
              <a:t>● A network of law firms that refer clients because the platform sends them better work</a:t>
            </a:r>
            <a:endParaRPr lang="en-US" sz="1050" dirty="0"/>
          </a:p>
        </p:txBody>
      </p:sp>
      <p:sp>
        <p:nvSpPr>
          <p:cNvPr id="24" name="Text 21"/>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BGH, judgment of 9 Sep 2021, I ZR 113/20 (Smartlaw). Model Context Protocol specification, modelcontextprotocol.io. Regulation (EU) 2024/1689, Article 6 and Annex III.</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Market and competition.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How the market does it.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Public product descriptions, October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Every incumbent asks the company. None reads it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040880" cy="914400"/>
        </p:xfrm>
        <a:graphic>
          <a:graphicData uri="http://schemas.openxmlformats.org/drawingml/2006/table">
            <a:tbl>
              <a:tblPr/>
              <a:tblGrid>
                <a:gridCol w="2651760"/>
                <a:gridCol w="1005840"/>
                <a:gridCol w="1143000"/>
                <a:gridCol w="1143000"/>
                <a:gridCol w="1097280"/>
              </a:tblGrid>
              <a:tr h="0">
                <a:tc>
                  <a:txBody>
                    <a:bodyPr/>
                    <a:lstStyle/>
                    <a:p>
                      <a:pPr algn="l" indent="0" marL="0">
                        <a:buNone/>
                      </a:pPr>
                      <a:r>
                        <a:rPr lang="en-US" sz="1000" dirty="0">
                          <a:solidFill>
                            <a:srgbClr val="1C2B2F"/>
                          </a:solidFill>
                          <a:latin typeface="Geist Medium" pitchFamily="34" charset="0"/>
                          <a:ea typeface="Geist Medium" pitchFamily="34" charset="-122"/>
                          <a:cs typeface="Geist Medium" pitchFamily="34" charset="-120"/>
                        </a:rPr>
                        <a:t>What you get</a:t>
                      </a:r>
                      <a:endParaRPr lang="en-US" sz="1000" dirty="0">
                        <a:latin typeface="Geist Medium" charset="0"/>
                        <a:ea typeface="Geist Medium" charset="0"/>
                        <a:cs typeface="Geist Medium" charset="0"/>
                      </a:endParaRPr>
                    </a:p>
                  </a:txBody>
                  <a:tcPr marL="0" marR="50800" marT="50800" marB="635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latin typeface="Geist Medium" charset="0"/>
                        <a:ea typeface="Geist Medium" charset="0"/>
                        <a:cs typeface="Geist Medium" charset="0"/>
                      </a:endParaRPr>
                    </a:p>
                  </a:txBody>
                  <a:tcPr marL="0" marR="50800" marT="50800" marB="635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E7EDEC"/>
                    </a:solidFill>
                  </a:tcPr>
                </a:tc>
                <a:tc>
                  <a:txBody>
                    <a:bodyPr/>
                    <a:lstStyle/>
                    <a:p>
                      <a:pPr algn="ctr" indent="0" marL="0">
                        <a:buNone/>
                      </a:pPr>
                      <a:r>
                        <a:rPr lang="en-US" sz="1000" dirty="0">
                          <a:solidFill>
                            <a:srgbClr val="1C2B2F"/>
                          </a:solidFill>
                          <a:latin typeface="Geist Medium" pitchFamily="34" charset="0"/>
                          <a:ea typeface="Geist Medium" pitchFamily="34" charset="-122"/>
                          <a:cs typeface="Geist Medium" pitchFamily="34" charset="-120"/>
                        </a:rPr>
                        <a:t>Compliance consultancies</a:t>
                      </a:r>
                      <a:endParaRPr lang="en-US" sz="1000" dirty="0">
                        <a:latin typeface="Geist Medium" charset="0"/>
                        <a:ea typeface="Geist Medium" charset="0"/>
                        <a:cs typeface="Geist Medium" charset="0"/>
                      </a:endParaRPr>
                    </a:p>
                  </a:txBody>
                  <a:tcPr marL="0" marR="50800" marT="50800" marB="635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000" dirty="0">
                          <a:solidFill>
                            <a:srgbClr val="1C2B2F"/>
                          </a:solidFill>
                          <a:latin typeface="Geist Medium" pitchFamily="34" charset="0"/>
                          <a:ea typeface="Geist Medium" pitchFamily="34" charset="-122"/>
                          <a:cs typeface="Geist Medium" pitchFamily="34" charset="-120"/>
                        </a:rPr>
                        <a:t>Questionnaire platforms</a:t>
                      </a:r>
                      <a:endParaRPr lang="en-US" sz="1000" dirty="0">
                        <a:latin typeface="Geist Medium" charset="0"/>
                        <a:ea typeface="Geist Medium" charset="0"/>
                        <a:cs typeface="Geist Medium" charset="0"/>
                      </a:endParaRPr>
                    </a:p>
                  </a:txBody>
                  <a:tcPr marL="0" marR="50800" marT="50800" marB="635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000" dirty="0">
                          <a:solidFill>
                            <a:srgbClr val="1C2B2F"/>
                          </a:solidFill>
                          <a:latin typeface="Geist Medium" pitchFamily="34" charset="0"/>
                          <a:ea typeface="Geist Medium" pitchFamily="34" charset="-122"/>
                          <a:cs typeface="Geist Medium" pitchFamily="34" charset="-120"/>
                        </a:rPr>
                        <a:t>AI governance tools</a:t>
                      </a:r>
                      <a:endParaRPr lang="en-US" sz="1000" dirty="0">
                        <a:latin typeface="Geist Medium" charset="0"/>
                        <a:ea typeface="Geist Medium" charset="0"/>
                        <a:cs typeface="Geist Medium" charset="0"/>
                      </a:endParaRPr>
                    </a:p>
                  </a:txBody>
                  <a:tcPr marL="0" marR="50800" marT="50800" marB="635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r>
              <a:tr h="0">
                <a:tc>
                  <a:txBody>
                    <a:bodyPr/>
                    <a:lstStyle/>
                    <a:p>
                      <a:pPr algn="l" indent="0" marL="0">
                        <a:buNone/>
                      </a:pPr>
                      <a:endParaRPr lang="en-US" sz="800" dirty="0">
                        <a:latin typeface="Geist" charset="0"/>
                        <a:ea typeface="Geist" charset="0"/>
                        <a:cs typeface="Geist" charset="0"/>
                      </a:endParaRPr>
                    </a:p>
                  </a:txBody>
                  <a:tcPr marL="0" marR="50800" marT="38100" marB="508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00" dirty="0">
                          <a:solidFill>
                            <a:srgbClr val="8A9A9D"/>
                          </a:solidFill>
                          <a:latin typeface="Geist" pitchFamily="34" charset="0"/>
                          <a:ea typeface="Geist" pitchFamily="34" charset="-122"/>
                          <a:cs typeface="Geist" pitchFamily="34" charset="-120"/>
                        </a:rPr>
                        <a:t>inside-out, lawyers inside</a:t>
                      </a:r>
                      <a:endParaRPr lang="en-US" sz="800" dirty="0">
                        <a:latin typeface="Geist" charset="0"/>
                        <a:ea typeface="Geist" charset="0"/>
                        <a:cs typeface="Geist" charset="0"/>
                      </a:endParaRPr>
                    </a:p>
                  </a:txBody>
                  <a:tcPr marL="0" marR="50800" marT="38100" marB="508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800" dirty="0">
                          <a:solidFill>
                            <a:srgbClr val="8A9A9D"/>
                          </a:solidFill>
                          <a:latin typeface="Geist" pitchFamily="34" charset="0"/>
                          <a:ea typeface="Geist" pitchFamily="34" charset="-122"/>
                          <a:cs typeface="Geist" pitchFamily="34" charset="-120"/>
                        </a:rPr>
                        <a:t>DataGuard, heyData, Secjur</a:t>
                      </a:r>
                      <a:endParaRPr lang="en-US" sz="800" dirty="0">
                        <a:latin typeface="Geist" charset="0"/>
                        <a:ea typeface="Geist" charset="0"/>
                        <a:cs typeface="Geist" charset="0"/>
                      </a:endParaRPr>
                    </a:p>
                  </a:txBody>
                  <a:tcPr marL="0" marR="50800" marT="38100" marB="508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00" dirty="0">
                          <a:solidFill>
                            <a:srgbClr val="8A9A9D"/>
                          </a:solidFill>
                          <a:latin typeface="Geist" pitchFamily="34" charset="0"/>
                          <a:ea typeface="Geist" pitchFamily="34" charset="-122"/>
                          <a:cs typeface="Geist" pitchFamily="34" charset="-120"/>
                        </a:rPr>
                        <a:t>OneTrust, Vanta, Drata</a:t>
                      </a:r>
                      <a:endParaRPr lang="en-US" sz="800" dirty="0">
                        <a:latin typeface="Geist" charset="0"/>
                        <a:ea typeface="Geist" charset="0"/>
                        <a:cs typeface="Geist" charset="0"/>
                      </a:endParaRPr>
                    </a:p>
                  </a:txBody>
                  <a:tcPr marL="0" marR="50800" marT="38100" marB="508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00" dirty="0">
                          <a:solidFill>
                            <a:srgbClr val="8A9A9D"/>
                          </a:solidFill>
                          <a:latin typeface="Geist" pitchFamily="34" charset="0"/>
                          <a:ea typeface="Geist" pitchFamily="34" charset="-122"/>
                          <a:cs typeface="Geist" pitchFamily="34" charset="-120"/>
                        </a:rPr>
                        <a:t>Credo AI, Holistic AI, trail</a:t>
                      </a:r>
                      <a:endParaRPr lang="en-US" sz="800" dirty="0">
                        <a:latin typeface="Geist" charset="0"/>
                        <a:ea typeface="Geist" charset="0"/>
                        <a:cs typeface="Geist" charset="0"/>
                      </a:endParaRPr>
                    </a:p>
                  </a:txBody>
                  <a:tcPr marL="0" marR="50800" marT="38100" marB="508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100" dirty="0">
                          <a:solidFill>
                            <a:srgbClr val="1C2B2F"/>
                          </a:solidFill>
                          <a:latin typeface="Geist Medium" pitchFamily="34" charset="0"/>
                          <a:ea typeface="Geist Medium" pitchFamily="34" charset="-122"/>
                          <a:cs typeface="Geist Medium" pitchFamily="34" charset="-120"/>
                        </a:rPr>
                        <a:t>Starts from your real systems, not a form</a:t>
                      </a:r>
                      <a:endParaRPr lang="en-US" sz="1100" dirty="0">
                        <a:latin typeface="Geist Medium" charset="0"/>
                        <a:ea typeface="Geist Medium" charset="0"/>
                        <a:cs typeface="Geist Medium" charset="0"/>
                      </a:endParaRPr>
                    </a:p>
                  </a:txBody>
                  <a:tcPr marL="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100" dirty="0">
                          <a:solidFill>
                            <a:srgbClr val="1C2B2F"/>
                          </a:solidFill>
                          <a:latin typeface="Geist Medium" pitchFamily="34" charset="0"/>
                          <a:ea typeface="Geist Medium" pitchFamily="34" charset="-122"/>
                          <a:cs typeface="Geist Medium" pitchFamily="34" charset="-120"/>
                        </a:rPr>
                        <a:t>GDPR, AI Act, NIS2 and DORA in one view</a:t>
                      </a:r>
                      <a:endParaRPr lang="en-US" sz="1100" dirty="0">
                        <a:latin typeface="Geist Medium" charset="0"/>
                        <a:ea typeface="Geist Medium" charset="0"/>
                        <a:cs typeface="Geist Medium" charset="0"/>
                      </a:endParaRPr>
                    </a:p>
                  </a:txBody>
                  <a:tcPr marL="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100" dirty="0">
                          <a:solidFill>
                            <a:srgbClr val="1C2B2F"/>
                          </a:solidFill>
                          <a:latin typeface="Geist Medium" pitchFamily="34" charset="0"/>
                          <a:ea typeface="Geist Medium" pitchFamily="34" charset="-122"/>
                          <a:cs typeface="Geist Medium" pitchFamily="34" charset="-120"/>
                        </a:rPr>
                        <a:t>Lawyer review built into the journey</a:t>
                      </a:r>
                      <a:endParaRPr lang="en-US" sz="1100" dirty="0">
                        <a:latin typeface="Geist Medium" charset="0"/>
                        <a:ea typeface="Geist Medium" charset="0"/>
                        <a:cs typeface="Geist Medium" charset="0"/>
                      </a:endParaRPr>
                    </a:p>
                  </a:txBody>
                  <a:tcPr marL="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100" dirty="0">
                          <a:solidFill>
                            <a:srgbClr val="1C2B2F"/>
                          </a:solidFill>
                          <a:latin typeface="Geist Medium" pitchFamily="34" charset="0"/>
                          <a:ea typeface="Geist Medium" pitchFamily="34" charset="-122"/>
                          <a:cs typeface="Geist Medium" pitchFamily="34" charset="-120"/>
                        </a:rPr>
                        <a:t>Stays current after the first assessment</a:t>
                      </a:r>
                      <a:endParaRPr lang="en-US" sz="1100" dirty="0">
                        <a:latin typeface="Geist Medium" charset="0"/>
                        <a:ea typeface="Geist Medium" charset="0"/>
                        <a:cs typeface="Geist Medium" charset="0"/>
                      </a:endParaRPr>
                    </a:p>
                  </a:txBody>
                  <a:tcPr marL="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100" dirty="0">
                          <a:solidFill>
                            <a:srgbClr val="1C2B2F"/>
                          </a:solidFill>
                          <a:latin typeface="Geist Medium" pitchFamily="34" charset="0"/>
                          <a:ea typeface="Geist Medium" pitchFamily="34" charset="-122"/>
                          <a:cs typeface="Geist Medium" pitchFamily="34" charset="-120"/>
                        </a:rPr>
                        <a:t>Built to lower your legal bill</a:t>
                      </a:r>
                      <a:endParaRPr lang="en-US" sz="1100" dirty="0">
                        <a:latin typeface="Geist Medium" charset="0"/>
                        <a:ea typeface="Geist Medium" charset="0"/>
                        <a:cs typeface="Geist Medium" charset="0"/>
                      </a:endParaRPr>
                    </a:p>
                  </a:txBody>
                  <a:tcPr marL="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50800" marR="50800" marT="88900" marB="889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bl>
          </a:graphicData>
        </a:graphic>
      </p:graphicFrame>
      <p:sp>
        <p:nvSpPr>
          <p:cNvPr id="7" name="Text 3"/>
          <p:cNvSpPr txBox="1"/>
          <p:nvPr/>
        </p:nvSpPr>
        <p:spPr>
          <a:xfrm>
            <a:off x="548640" y="5257800"/>
            <a:ext cx="7040880" cy="548640"/>
          </a:xfrm>
          <a:prstGeom prst="rect">
            <a:avLst/>
          </a:prstGeom>
          <a:noFill/>
          <a:ln/>
        </p:spPr>
        <p:txBody>
          <a:bodyPr wrap="square" lIns="0" tIns="0" rIns="0" bIns="0" rtlCol="0" anchor="t"/>
          <a:lstStyle/>
          <a:p>
            <a:pPr indent="0" marL="0">
              <a:buNone/>
            </a:pPr>
            <a:r>
              <a:rPr lang="en-US" sz="950" dirty="0">
                <a:solidFill>
                  <a:srgbClr val="8A9A9D"/>
                </a:solidFill>
                <a:latin typeface="Geist" pitchFamily="34" charset="0"/>
                <a:ea typeface="Geist" pitchFamily="34" charset="-122"/>
                <a:cs typeface="Geist" pitchFamily="34" charset="-120"/>
              </a:rPr>
              <a:t>● Yes    ◐ Partly, or at extra cost    ○ Not the focus.  Twelve vendors reviewed. Closest single players: Justima (law-firm-backed monitoring), Norm Ai (US finance only).</a:t>
            </a:r>
            <a:endParaRPr lang="en-US" sz="950" dirty="0"/>
          </a:p>
        </p:txBody>
      </p:sp>
      <p:sp>
        <p:nvSpPr>
          <p:cNvPr id="8" name="Shape 4"/>
          <p:cNvSpPr/>
          <p:nvPr/>
        </p:nvSpPr>
        <p:spPr>
          <a:xfrm>
            <a:off x="8046720" y="1783080"/>
            <a:ext cx="3596335" cy="0"/>
          </a:xfrm>
          <a:prstGeom prst="line">
            <a:avLst/>
          </a:prstGeom>
          <a:noFill/>
          <a:ln w="9525">
            <a:solidFill>
              <a:srgbClr val="1C2B2F"/>
            </a:solidFill>
            <a:prstDash val="solid"/>
          </a:ln>
        </p:spPr>
      </p:sp>
      <p:sp>
        <p:nvSpPr>
          <p:cNvPr id="9" name="Text 5"/>
          <p:cNvSpPr txBox="1"/>
          <p:nvPr/>
        </p:nvSpPr>
        <p:spPr>
          <a:xfrm>
            <a:off x="8046720" y="1901952"/>
            <a:ext cx="3596335"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Who we build for first</a:t>
            </a:r>
            <a:endParaRPr lang="en-US" sz="1500" dirty="0"/>
          </a:p>
        </p:txBody>
      </p:sp>
      <p:sp>
        <p:nvSpPr>
          <p:cNvPr id="10" name="Text 6"/>
          <p:cNvSpPr txBox="1"/>
          <p:nvPr/>
        </p:nvSpPr>
        <p:spPr>
          <a:xfrm>
            <a:off x="8046720" y="2240280"/>
            <a:ext cx="3596335" cy="96012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B2B software and SaaS companies and managed IT providers with 20 to 249 staff. They sell to regulated customers, run on cloud and code we can read, and rarely have a compliance department.</a:t>
            </a:r>
            <a:endParaRPr lang="en-US" sz="1150" dirty="0"/>
          </a:p>
        </p:txBody>
      </p:sp>
      <p:sp>
        <p:nvSpPr>
          <p:cNvPr id="11" name="Shape 7"/>
          <p:cNvSpPr/>
          <p:nvPr/>
        </p:nvSpPr>
        <p:spPr>
          <a:xfrm>
            <a:off x="8046720" y="3291840"/>
            <a:ext cx="3596335" cy="0"/>
          </a:xfrm>
          <a:prstGeom prst="line">
            <a:avLst/>
          </a:prstGeom>
          <a:noFill/>
          <a:ln w="9525">
            <a:solidFill>
              <a:srgbClr val="E3E0D7"/>
            </a:solidFill>
            <a:prstDash val="solid"/>
          </a:ln>
        </p:spPr>
      </p:sp>
      <p:sp>
        <p:nvSpPr>
          <p:cNvPr id="12" name="Text 8"/>
          <p:cNvSpPr txBox="1"/>
          <p:nvPr/>
        </p:nvSpPr>
        <p:spPr>
          <a:xfrm>
            <a:off x="8046720" y="3383280"/>
            <a:ext cx="3596335" cy="36576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23,370</a:t>
            </a:r>
            <a:endParaRPr lang="en-US" sz="2200" dirty="0"/>
          </a:p>
        </p:txBody>
      </p:sp>
      <p:sp>
        <p:nvSpPr>
          <p:cNvPr id="13" name="Text 9"/>
          <p:cNvSpPr txBox="1"/>
          <p:nvPr/>
        </p:nvSpPr>
        <p:spPr>
          <a:xfrm>
            <a:off x="8046720" y="3749040"/>
            <a:ext cx="3596335" cy="38404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EU software firms with 20 to 249 staff (Eurostat, NACE J62, 2024)</a:t>
            </a:r>
            <a:endParaRPr lang="en-US" sz="1000" dirty="0"/>
          </a:p>
        </p:txBody>
      </p:sp>
      <p:sp>
        <p:nvSpPr>
          <p:cNvPr id="14" name="Shape 10"/>
          <p:cNvSpPr/>
          <p:nvPr/>
        </p:nvSpPr>
        <p:spPr>
          <a:xfrm>
            <a:off x="8046720" y="4160520"/>
            <a:ext cx="3596335" cy="0"/>
          </a:xfrm>
          <a:prstGeom prst="line">
            <a:avLst/>
          </a:prstGeom>
          <a:noFill/>
          <a:ln w="9525">
            <a:solidFill>
              <a:srgbClr val="E3E0D7"/>
            </a:solidFill>
            <a:prstDash val="solid"/>
          </a:ln>
        </p:spPr>
      </p:sp>
      <p:sp>
        <p:nvSpPr>
          <p:cNvPr id="15" name="Text 11"/>
          <p:cNvSpPr txBox="1"/>
          <p:nvPr/>
        </p:nvSpPr>
        <p:spPr>
          <a:xfrm>
            <a:off x="8046720" y="4251960"/>
            <a:ext cx="3596335" cy="36576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119,784</a:t>
            </a:r>
            <a:endParaRPr lang="en-US" sz="2200" dirty="0"/>
          </a:p>
        </p:txBody>
      </p:sp>
      <p:sp>
        <p:nvSpPr>
          <p:cNvPr id="16" name="Text 12"/>
          <p:cNvSpPr txBox="1"/>
          <p:nvPr/>
        </p:nvSpPr>
        <p:spPr>
          <a:xfrm>
            <a:off x="8046720" y="4617720"/>
            <a:ext cx="3596335" cy="38404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enterprises with 50 or more staff in Austria, Germany and Italy, our first three markets</a:t>
            </a:r>
            <a:endParaRPr lang="en-US" sz="1000" dirty="0"/>
          </a:p>
        </p:txBody>
      </p:sp>
      <p:sp>
        <p:nvSpPr>
          <p:cNvPr id="17" name="Shape 13"/>
          <p:cNvSpPr/>
          <p:nvPr/>
        </p:nvSpPr>
        <p:spPr>
          <a:xfrm>
            <a:off x="8046720" y="5029200"/>
            <a:ext cx="3596335" cy="0"/>
          </a:xfrm>
          <a:prstGeom prst="line">
            <a:avLst/>
          </a:prstGeom>
          <a:noFill/>
          <a:ln w="9525">
            <a:solidFill>
              <a:srgbClr val="E3E0D7"/>
            </a:solidFill>
            <a:prstDash val="solid"/>
          </a:ln>
        </p:spPr>
      </p:sp>
      <p:sp>
        <p:nvSpPr>
          <p:cNvPr id="18" name="Text 14"/>
          <p:cNvSpPr txBox="1"/>
          <p:nvPr/>
        </p:nvSpPr>
        <p:spPr>
          <a:xfrm>
            <a:off x="8046720" y="5120640"/>
            <a:ext cx="3596335" cy="36576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USD 20,000</a:t>
            </a:r>
            <a:endParaRPr lang="en-US" sz="2200" dirty="0"/>
          </a:p>
        </p:txBody>
      </p:sp>
      <p:sp>
        <p:nvSpPr>
          <p:cNvPr id="19" name="Text 15"/>
          <p:cNvSpPr txBox="1"/>
          <p:nvPr/>
        </p:nvSpPr>
        <p:spPr>
          <a:xfrm>
            <a:off x="8046720" y="5486400"/>
            <a:ext cx="3596335" cy="38404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median yearly spend on Vanta, usually for one framework (Vendr, 374 purchases)</a:t>
            </a:r>
            <a:endParaRPr lang="en-US" sz="1000" dirty="0"/>
          </a:p>
        </p:txBody>
      </p:sp>
      <p:sp>
        <p:nvSpPr>
          <p:cNvPr id="20"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Regulift market scan of public product pages and funding announcements, 14 Oct 2026. Eurostat sbs_sc_ovw 2024. Vendr marketplace data, Feb 2026. Vendor names are examples per category.</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Go to market.</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Start narrow.</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Legal texts and national gazettes checked 18 October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Three laws, one country, one channel</a:t>
            </a:r>
            <a:endParaRPr lang="en-US" sz="3000" dirty="0"/>
          </a:p>
        </p:txBody>
      </p:sp>
      <p:sp>
        <p:nvSpPr>
          <p:cNvPr id="6" name="Text 3"/>
          <p:cNvSpPr txBox="1"/>
          <p:nvPr/>
        </p:nvSpPr>
        <p:spPr>
          <a:xfrm>
            <a:off x="548640" y="1783080"/>
            <a:ext cx="11094415" cy="36576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Start where the evidence says the pain is, with a structure that is lawful in every market we plan to enter.</a:t>
            </a:r>
            <a:endParaRPr lang="en-US" sz="1350" dirty="0"/>
          </a:p>
        </p:txBody>
      </p:sp>
      <p:sp>
        <p:nvSpPr>
          <p:cNvPr id="7" name="Shape 4"/>
          <p:cNvSpPr/>
          <p:nvPr/>
        </p:nvSpPr>
        <p:spPr>
          <a:xfrm>
            <a:off x="548640" y="2286000"/>
            <a:ext cx="3454298" cy="0"/>
          </a:xfrm>
          <a:prstGeom prst="line">
            <a:avLst/>
          </a:prstGeom>
          <a:noFill/>
          <a:ln w="9525">
            <a:solidFill>
              <a:srgbClr val="1C2B2F"/>
            </a:solidFill>
            <a:prstDash val="solid"/>
          </a:ln>
        </p:spPr>
      </p:sp>
      <p:sp>
        <p:nvSpPr>
          <p:cNvPr id="8" name="Text 5"/>
          <p:cNvSpPr txBox="1"/>
          <p:nvPr/>
        </p:nvSpPr>
        <p:spPr>
          <a:xfrm>
            <a:off x="548640" y="241401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Which laws first</a:t>
            </a:r>
            <a:endParaRPr lang="en-US" sz="1000" dirty="0"/>
          </a:p>
        </p:txBody>
      </p:sp>
      <p:sp>
        <p:nvSpPr>
          <p:cNvPr id="9" name="Text 6"/>
          <p:cNvSpPr txBox="1"/>
          <p:nvPr/>
        </p:nvSpPr>
        <p:spPr>
          <a:xfrm>
            <a:off x="548640" y="2706624"/>
            <a:ext cx="3454298"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GDPR, NIS2, AI Act</a:t>
            </a:r>
            <a:endParaRPr lang="en-US" sz="1700" dirty="0"/>
          </a:p>
        </p:txBody>
      </p:sp>
      <p:sp>
        <p:nvSpPr>
          <p:cNvPr id="10" name="Text 7"/>
          <p:cNvSpPr txBox="1"/>
          <p:nvPr/>
        </p:nvSpPr>
        <p:spPr>
          <a:xfrm>
            <a:off x="548640" y="3200400"/>
            <a:ext cx="3454298" cy="27432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GDPR applies to every company that handles personal data; the inventory comes straight from the collector</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NIS2 reaches small suppliers through their customers: 63% of covered organisations require security standards from suppliers</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AI Act high-risk duties apply from 2 Dec 2027, so the inventory work starts now</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Next, in this order: CRA, DORA as a supplier module, Data Act for SaaS. CSRD dropped</a:t>
            </a:r>
            <a:endParaRPr lang="en-US" sz="1100" dirty="0"/>
          </a:p>
        </p:txBody>
      </p:sp>
      <p:sp>
        <p:nvSpPr>
          <p:cNvPr id="11" name="Shape 8"/>
          <p:cNvSpPr/>
          <p:nvPr/>
        </p:nvSpPr>
        <p:spPr>
          <a:xfrm>
            <a:off x="4368698" y="2286000"/>
            <a:ext cx="3454298" cy="0"/>
          </a:xfrm>
          <a:prstGeom prst="line">
            <a:avLst/>
          </a:prstGeom>
          <a:noFill/>
          <a:ln w="9525">
            <a:solidFill>
              <a:srgbClr val="1C2B2F"/>
            </a:solidFill>
            <a:prstDash val="solid"/>
          </a:ln>
        </p:spPr>
      </p:sp>
      <p:sp>
        <p:nvSpPr>
          <p:cNvPr id="12" name="Text 9"/>
          <p:cNvSpPr txBox="1"/>
          <p:nvPr/>
        </p:nvSpPr>
        <p:spPr>
          <a:xfrm>
            <a:off x="4368698" y="241401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Which country first</a:t>
            </a:r>
            <a:endParaRPr lang="en-US" sz="1000" dirty="0"/>
          </a:p>
        </p:txBody>
      </p:sp>
      <p:sp>
        <p:nvSpPr>
          <p:cNvPr id="13" name="Text 10"/>
          <p:cNvSpPr txBox="1"/>
          <p:nvPr/>
        </p:nvSpPr>
        <p:spPr>
          <a:xfrm>
            <a:off x="4368698" y="2706624"/>
            <a:ext cx="3454298"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Austria, then Germany, then Italy</a:t>
            </a:r>
            <a:endParaRPr lang="en-US" sz="1700" dirty="0"/>
          </a:p>
        </p:txBody>
      </p:sp>
      <p:sp>
        <p:nvSpPr>
          <p:cNvPr id="14" name="Text 11"/>
          <p:cNvSpPr txBox="1"/>
          <p:nvPr/>
        </p:nvSpPr>
        <p:spPr>
          <a:xfrm>
            <a:off x="4368698" y="3200400"/>
            <a:ext cx="3454298" cy="27432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Austria: NIS2 law in force since 1 Oct 2026, registration due within three months, the freshest trigger of any candidate</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861 firms with 50 or more staff per million inhabitants against an EU average of 680; legal spend about €441 per head a year</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One founder is Austrian; Vienna is under three hours from Budapest, where pilots start</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Germany is the biggest prize (80,043 firms with 50 or more staff); Italy adds a native-speaking founder</a:t>
            </a:r>
            <a:endParaRPr lang="en-US" sz="1100" dirty="0"/>
          </a:p>
        </p:txBody>
      </p:sp>
      <p:sp>
        <p:nvSpPr>
          <p:cNvPr id="15" name="Shape 12"/>
          <p:cNvSpPr/>
          <p:nvPr/>
        </p:nvSpPr>
        <p:spPr>
          <a:xfrm>
            <a:off x="8188757" y="2286000"/>
            <a:ext cx="3454298" cy="0"/>
          </a:xfrm>
          <a:prstGeom prst="line">
            <a:avLst/>
          </a:prstGeom>
          <a:noFill/>
          <a:ln w="9525">
            <a:solidFill>
              <a:srgbClr val="1C2B2F"/>
            </a:solidFill>
            <a:prstDash val="solid"/>
          </a:ln>
        </p:spPr>
      </p:sp>
      <p:sp>
        <p:nvSpPr>
          <p:cNvPr id="16" name="Text 13"/>
          <p:cNvSpPr txBox="1"/>
          <p:nvPr/>
        </p:nvSpPr>
        <p:spPr>
          <a:xfrm>
            <a:off x="8188757" y="241401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Through whom</a:t>
            </a:r>
            <a:endParaRPr lang="en-US" sz="1000" dirty="0"/>
          </a:p>
        </p:txBody>
      </p:sp>
      <p:sp>
        <p:nvSpPr>
          <p:cNvPr id="17" name="Text 14"/>
          <p:cNvSpPr txBox="1"/>
          <p:nvPr/>
        </p:nvSpPr>
        <p:spPr>
          <a:xfrm>
            <a:off x="8188757" y="2706624"/>
            <a:ext cx="3454298"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Partner law firms</a:t>
            </a:r>
            <a:endParaRPr lang="en-US" sz="1700" dirty="0"/>
          </a:p>
        </p:txBody>
      </p:sp>
      <p:sp>
        <p:nvSpPr>
          <p:cNvPr id="18" name="Text 15"/>
          <p:cNvSpPr txBox="1"/>
          <p:nvPr/>
        </p:nvSpPr>
        <p:spPr>
          <a:xfrm>
            <a:off x="8188757" y="3200400"/>
            <a:ext cx="3454298" cy="27432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Firms refer clients because the evidence pack removes the hours clients resent and leaves the advisory hours they value</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A partner firm authors the rules for its jurisdiction, reviews inside the platform and confirms compliance in writing</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The firm pays a flat yearly workspace fee, never a share of fees or a fee per mandate, which bar rules forbid in DE, AT, IT and FR</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The client picks the firm from a list and is billed by the firm directly</a:t>
            </a:r>
            <a:endParaRPr lang="en-US" sz="1100" dirty="0"/>
          </a:p>
        </p:txBody>
      </p:sp>
      <p:sp>
        <p:nvSpPr>
          <p:cNvPr id="19"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NIS2 Art. 2(1) and 21(2)(d); ENISA NIS Investments 2025, p. 26. RIS, BGBl. I Nr. 94/2025 (NISG 2026). Eurostat sbs_sc_ovw 2024, nama_10_co3_p3. BRAO §49b(3), BGH IX ZR 89/23, ÖRAK RL-BA §47(3), Italian CDF art. 37, French RIN art. 11.3. Full scoring of 15 countries in the research reports.</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Commercial model.</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Price architecture.</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Published price points, bar rules per country</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Platform, modules, and lawyers who bill their own work</a:t>
            </a:r>
            <a:endParaRPr lang="en-US" sz="3000" dirty="0"/>
          </a:p>
        </p:txBody>
      </p:sp>
      <p:sp>
        <p:nvSpPr>
          <p:cNvPr id="6" name="Shape 3"/>
          <p:cNvSpPr/>
          <p:nvPr/>
        </p:nvSpPr>
        <p:spPr>
          <a:xfrm>
            <a:off x="548640" y="1783080"/>
            <a:ext cx="5852160" cy="0"/>
          </a:xfrm>
          <a:prstGeom prst="line">
            <a:avLst/>
          </a:prstGeom>
          <a:noFill/>
          <a:ln w="9525">
            <a:solidFill>
              <a:srgbClr val="1C2B2F"/>
            </a:solidFill>
            <a:prstDash val="solid"/>
          </a:ln>
        </p:spPr>
      </p:sp>
      <p:sp>
        <p:nvSpPr>
          <p:cNvPr id="7" name="Text 4"/>
          <p:cNvSpPr txBox="1"/>
          <p:nvPr/>
        </p:nvSpPr>
        <p:spPr>
          <a:xfrm>
            <a:off x="548640" y="1892808"/>
            <a:ext cx="31089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Platform base, GDPR included</a:t>
            </a:r>
            <a:endParaRPr lang="en-US" sz="1000" dirty="0"/>
          </a:p>
        </p:txBody>
      </p:sp>
      <p:sp>
        <p:nvSpPr>
          <p:cNvPr id="8" name="Text 5"/>
          <p:cNvSpPr txBox="1"/>
          <p:nvPr/>
        </p:nvSpPr>
        <p:spPr>
          <a:xfrm>
            <a:off x="548640" y="2130552"/>
            <a:ext cx="3108960" cy="45720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€3,600 to €14,400</a:t>
            </a:r>
            <a:endParaRPr lang="en-US" sz="2200" dirty="0"/>
          </a:p>
        </p:txBody>
      </p:sp>
      <p:sp>
        <p:nvSpPr>
          <p:cNvPr id="9" name="Text 6"/>
          <p:cNvSpPr txBox="1"/>
          <p:nvPr/>
        </p:nvSpPr>
        <p:spPr>
          <a:xfrm>
            <a:off x="548640" y="2587752"/>
            <a:ext cx="310896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per year, by company size</a:t>
            </a:r>
            <a:endParaRPr lang="en-US" sz="1000" dirty="0"/>
          </a:p>
        </p:txBody>
      </p:sp>
      <p:sp>
        <p:nvSpPr>
          <p:cNvPr id="10" name="Text 7"/>
          <p:cNvSpPr txBox="1"/>
          <p:nvPr/>
        </p:nvSpPr>
        <p:spPr>
          <a:xfrm>
            <a:off x="3749040" y="1911096"/>
            <a:ext cx="2651760" cy="11887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Three bands: 10 to 49 staff €3,600, 50 to 249 staff €7,200, 250 to 1,000 staff €14,400. Read-only connectors, context report, inventory and the GDPR module.</a:t>
            </a:r>
            <a:endParaRPr lang="en-US" sz="1050" dirty="0"/>
          </a:p>
        </p:txBody>
      </p:sp>
      <p:sp>
        <p:nvSpPr>
          <p:cNvPr id="11" name="Shape 8"/>
          <p:cNvSpPr/>
          <p:nvPr/>
        </p:nvSpPr>
        <p:spPr>
          <a:xfrm>
            <a:off x="548640" y="3154680"/>
            <a:ext cx="5852160" cy="0"/>
          </a:xfrm>
          <a:prstGeom prst="line">
            <a:avLst/>
          </a:prstGeom>
          <a:noFill/>
          <a:ln w="9525">
            <a:solidFill>
              <a:srgbClr val="E3E0D7"/>
            </a:solidFill>
            <a:prstDash val="solid"/>
          </a:ln>
        </p:spPr>
      </p:sp>
      <p:sp>
        <p:nvSpPr>
          <p:cNvPr id="12" name="Text 9"/>
          <p:cNvSpPr txBox="1"/>
          <p:nvPr/>
        </p:nvSpPr>
        <p:spPr>
          <a:xfrm>
            <a:off x="548640" y="3264408"/>
            <a:ext cx="31089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Regulation modules</a:t>
            </a:r>
            <a:endParaRPr lang="en-US" sz="1000" dirty="0"/>
          </a:p>
        </p:txBody>
      </p:sp>
      <p:sp>
        <p:nvSpPr>
          <p:cNvPr id="13" name="Text 10"/>
          <p:cNvSpPr txBox="1"/>
          <p:nvPr/>
        </p:nvSpPr>
        <p:spPr>
          <a:xfrm>
            <a:off x="548640" y="3502152"/>
            <a:ext cx="3108960" cy="45720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€1,800 to €6,000</a:t>
            </a:r>
            <a:endParaRPr lang="en-US" sz="2200" dirty="0"/>
          </a:p>
        </p:txBody>
      </p:sp>
      <p:sp>
        <p:nvSpPr>
          <p:cNvPr id="14" name="Text 11"/>
          <p:cNvSpPr txBox="1"/>
          <p:nvPr/>
        </p:nvSpPr>
        <p:spPr>
          <a:xfrm>
            <a:off x="548640" y="3959352"/>
            <a:ext cx="310896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per regulation per year, by size</a:t>
            </a:r>
            <a:endParaRPr lang="en-US" sz="1000" dirty="0"/>
          </a:p>
        </p:txBody>
      </p:sp>
      <p:sp>
        <p:nvSpPr>
          <p:cNvPr id="15" name="Text 12"/>
          <p:cNvSpPr txBox="1"/>
          <p:nvPr/>
        </p:nvSpPr>
        <p:spPr>
          <a:xfrm>
            <a:off x="3749040" y="3282696"/>
            <a:ext cx="2651760" cy="11887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AI Act, NIS2 readiness, DORA for ICT suppliers, CRA. Each adds its gap list and evidence pack. A mid-sized company with three modules lands at €14,400 to €18,000 a year.</a:t>
            </a:r>
            <a:endParaRPr lang="en-US" sz="1050" dirty="0"/>
          </a:p>
        </p:txBody>
      </p:sp>
      <p:sp>
        <p:nvSpPr>
          <p:cNvPr id="16" name="Shape 13"/>
          <p:cNvSpPr/>
          <p:nvPr/>
        </p:nvSpPr>
        <p:spPr>
          <a:xfrm>
            <a:off x="548640" y="4526280"/>
            <a:ext cx="5852160" cy="0"/>
          </a:xfrm>
          <a:prstGeom prst="line">
            <a:avLst/>
          </a:prstGeom>
          <a:noFill/>
          <a:ln w="9525">
            <a:solidFill>
              <a:srgbClr val="E3E0D7"/>
            </a:solidFill>
            <a:prstDash val="solid"/>
          </a:ln>
        </p:spPr>
      </p:sp>
      <p:sp>
        <p:nvSpPr>
          <p:cNvPr id="17" name="Text 14"/>
          <p:cNvSpPr txBox="1"/>
          <p:nvPr/>
        </p:nvSpPr>
        <p:spPr>
          <a:xfrm>
            <a:off x="548640" y="4636008"/>
            <a:ext cx="31089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Partner law firms</a:t>
            </a:r>
            <a:endParaRPr lang="en-US" sz="1000" dirty="0"/>
          </a:p>
        </p:txBody>
      </p:sp>
      <p:sp>
        <p:nvSpPr>
          <p:cNvPr id="18" name="Text 15"/>
          <p:cNvSpPr txBox="1"/>
          <p:nvPr/>
        </p:nvSpPr>
        <p:spPr>
          <a:xfrm>
            <a:off x="548640" y="4873752"/>
            <a:ext cx="3108960" cy="457200"/>
          </a:xfrm>
          <a:prstGeom prst="rect">
            <a:avLst/>
          </a:prstGeom>
          <a:noFill/>
          <a:ln/>
        </p:spPr>
        <p:txBody>
          <a:bodyPr wrap="square" lIns="0" tIns="0" rIns="0" bIns="0" rtlCol="0" anchor="t"/>
          <a:lstStyle/>
          <a:p>
            <a:pPr indent="0" marL="0">
              <a:buNone/>
            </a:pPr>
            <a:r>
              <a:rPr lang="en-US" sz="2200" spc="-50" kern="0" dirty="0">
                <a:solidFill>
                  <a:srgbClr val="1C2B2F"/>
                </a:solidFill>
                <a:latin typeface="Geist Medium" pitchFamily="34" charset="0"/>
                <a:ea typeface="Geist Medium" pitchFamily="34" charset="-122"/>
                <a:cs typeface="Geist Medium" pitchFamily="34" charset="-120"/>
              </a:rPr>
              <a:t>Flat yearly fee</a:t>
            </a:r>
            <a:endParaRPr lang="en-US" sz="2200" dirty="0"/>
          </a:p>
        </p:txBody>
      </p:sp>
      <p:sp>
        <p:nvSpPr>
          <p:cNvPr id="19" name="Text 16"/>
          <p:cNvSpPr txBox="1"/>
          <p:nvPr/>
        </p:nvSpPr>
        <p:spPr>
          <a:xfrm>
            <a:off x="548640" y="5330952"/>
            <a:ext cx="310896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same for every firm, never per mandate</a:t>
            </a:r>
            <a:endParaRPr lang="en-US" sz="1000" dirty="0"/>
          </a:p>
        </p:txBody>
      </p:sp>
      <p:sp>
        <p:nvSpPr>
          <p:cNvPr id="20" name="Text 17"/>
          <p:cNvSpPr txBox="1"/>
          <p:nvPr/>
        </p:nvSpPr>
        <p:spPr>
          <a:xfrm>
            <a:off x="3749040" y="4654296"/>
            <a:ext cx="2651760" cy="118872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The firm bills its legal work directly to the client. Regulift takes no share and no fee per mandate or lead.</a:t>
            </a:r>
            <a:endParaRPr lang="en-US" sz="1050" dirty="0"/>
          </a:p>
        </p:txBody>
      </p:sp>
      <p:sp>
        <p:nvSpPr>
          <p:cNvPr id="21" name="Shape 18"/>
          <p:cNvSpPr/>
          <p:nvPr/>
        </p:nvSpPr>
        <p:spPr>
          <a:xfrm>
            <a:off x="6858000" y="1783080"/>
            <a:ext cx="4785055" cy="4114800"/>
          </a:xfrm>
          <a:prstGeom prst="roundRect">
            <a:avLst>
              <a:gd name="adj" fmla="val 1778"/>
            </a:avLst>
          </a:prstGeom>
          <a:solidFill>
            <a:srgbClr val="FCFBF8"/>
          </a:solidFill>
          <a:ln w="9525">
            <a:solidFill>
              <a:srgbClr val="E3E0D7"/>
            </a:solidFill>
            <a:prstDash val="solid"/>
          </a:ln>
        </p:spPr>
      </p:sp>
      <p:sp>
        <p:nvSpPr>
          <p:cNvPr id="22" name="Text 19"/>
          <p:cNvSpPr txBox="1"/>
          <p:nvPr/>
        </p:nvSpPr>
        <p:spPr>
          <a:xfrm>
            <a:off x="7086600" y="1938528"/>
            <a:ext cx="4327855"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Lawyer hours in our illustrative case</a:t>
            </a:r>
            <a:endParaRPr lang="en-US" sz="1000" dirty="0"/>
          </a:p>
        </p:txBody>
      </p:sp>
      <p:sp>
        <p:nvSpPr>
          <p:cNvPr id="23" name="Text 20"/>
          <p:cNvSpPr txBox="1"/>
          <p:nvPr/>
        </p:nvSpPr>
        <p:spPr>
          <a:xfrm>
            <a:off x="7086600" y="2157984"/>
            <a:ext cx="4327855" cy="411480"/>
          </a:xfrm>
          <a:prstGeom prst="rect">
            <a:avLst/>
          </a:prstGeom>
          <a:noFill/>
          <a:ln/>
        </p:spPr>
        <p:txBody>
          <a:bodyPr wrap="square" lIns="0" tIns="0" rIns="0" bIns="0" rtlCol="0" anchor="t"/>
          <a:lstStyle/>
          <a:p>
            <a:pPr indent="0" marL="0">
              <a:buNone/>
            </a:pPr>
            <a:r>
              <a:rPr lang="en-US" sz="950" dirty="0">
                <a:solidFill>
                  <a:srgbClr val="8A9A9D"/>
                </a:solidFill>
                <a:latin typeface="Geist" pitchFamily="34" charset="0"/>
                <a:ea typeface="Geist" pitchFamily="34" charset="-122"/>
                <a:cs typeface="Geist" pitchFamily="34" charset="-120"/>
              </a:rPr>
              <a:t>Forty hours quoted, sixteen as our target. Labelled a target until pilots are measured.</a:t>
            </a:r>
            <a:endParaRPr lang="en-US" sz="950" dirty="0"/>
          </a:p>
        </p:txBody>
      </p:sp>
      <p:graphicFrame>
        <p:nvGraphicFramePr>
          <p:cNvPr id="24" name="Chart 0" descr=""/>
          <p:cNvGraphicFramePr/>
          <p:nvPr/>
        </p:nvGraphicFramePr>
        <p:xfrm>
          <a:off x="6995160" y="2560320"/>
          <a:ext cx="4510735" cy="2514600"/>
        </p:xfrm>
        <a:graphic xmlns:a="http://schemas.openxmlformats.org/drawingml/2006/main">
          <a:graphicData uri="http://schemas.openxmlformats.org/drawingml/2006/chart">
            <c:chart xmlns:c="http://schemas.openxmlformats.org/drawingml/2006/chart" r:id="rId1"/>
          </a:graphicData>
        </a:graphic>
      </p:graphicFrame>
      <p:sp>
        <p:nvSpPr>
          <p:cNvPr id="25" name="Text 21"/>
          <p:cNvSpPr txBox="1"/>
          <p:nvPr/>
        </p:nvSpPr>
        <p:spPr>
          <a:xfrm>
            <a:off x="7086600" y="5120640"/>
            <a:ext cx="4327855" cy="7315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Target: a legal bill about 60% lower for a readiness review. Published trials measure about 20% when the lawyer keeps doing the discovery. We remove the discovery before the clock starts.</a:t>
            </a:r>
            <a:endParaRPr lang="en-US" sz="1000" dirty="0"/>
          </a:p>
        </p:txBody>
      </p:sp>
      <p:sp>
        <p:nvSpPr>
          <p:cNvPr id="26" name="Text 2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Vendr, Feb 2026. Vanta and Drata AWS Marketplace listings, Oct 2026. StartComply pricing, Oct 2026. BRAK STAR survey 2024 (€244 an hour average German rate). Schwarcz et al. 2025. Clio Legal Trends 2024. Tier prices are our proposal within the researched ranges; the 40-hour split is an assumption.</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Plan.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30, 60, 90 days, then the first year.</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Honest stage: concept with a validated design</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How we really build this</a:t>
            </a:r>
            <a:endParaRPr lang="en-US" sz="3000" dirty="0"/>
          </a:p>
        </p:txBody>
      </p:sp>
      <p:sp>
        <p:nvSpPr>
          <p:cNvPr id="6" name="Shape 3"/>
          <p:cNvSpPr/>
          <p:nvPr/>
        </p:nvSpPr>
        <p:spPr>
          <a:xfrm>
            <a:off x="548640" y="1783080"/>
            <a:ext cx="11094415" cy="960120"/>
          </a:xfrm>
          <a:prstGeom prst="roundRect">
            <a:avLst>
              <a:gd name="adj" fmla="val 7619"/>
            </a:avLst>
          </a:prstGeom>
          <a:solidFill>
            <a:srgbClr val="E7EDEC"/>
          </a:solidFill>
          <a:ln w="9525">
            <a:solidFill>
              <a:srgbClr val="E7EDEC"/>
            </a:solidFill>
            <a:prstDash val="solid"/>
          </a:ln>
        </p:spPr>
      </p:sp>
      <p:sp>
        <p:nvSpPr>
          <p:cNvPr id="7" name="Text 4"/>
          <p:cNvSpPr txBox="1"/>
          <p:nvPr/>
        </p:nvSpPr>
        <p:spPr>
          <a:xfrm>
            <a:off x="777240" y="1901952"/>
            <a:ext cx="2202104" cy="228600"/>
          </a:xfrm>
          <a:prstGeom prst="rect">
            <a:avLst/>
          </a:prstGeom>
          <a:noFill/>
          <a:ln/>
        </p:spPr>
        <p:txBody>
          <a:bodyPr wrap="square" lIns="0" tIns="0" rIns="0" bIns="0" rtlCol="0" anchor="t"/>
          <a:lstStyle/>
          <a:p>
            <a:pPr indent="0" marL="0">
              <a:buNone/>
            </a:pPr>
            <a:r>
              <a:rPr lang="en-US" sz="1100" dirty="0">
                <a:solidFill>
                  <a:srgbClr val="1C2B2F"/>
                </a:solidFill>
                <a:latin typeface="Geist Medium" pitchFamily="34" charset="0"/>
                <a:ea typeface="Geist Medium" pitchFamily="34" charset="-122"/>
                <a:cs typeface="Geist Medium" pitchFamily="34" charset="-120"/>
              </a:rPr>
              <a:t>Live</a:t>
            </a:r>
            <a:endParaRPr lang="en-US" sz="1100" dirty="0"/>
          </a:p>
        </p:txBody>
      </p:sp>
      <p:sp>
        <p:nvSpPr>
          <p:cNvPr id="8" name="Text 5"/>
          <p:cNvSpPr txBox="1"/>
          <p:nvPr/>
        </p:nvSpPr>
        <p:spPr>
          <a:xfrm>
            <a:off x="777240" y="2148840"/>
            <a:ext cx="2202104" cy="56692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Name, positioning and website with the inside-out model, data-flow design, comparison and FAQ</a:t>
            </a:r>
            <a:endParaRPr lang="en-US" sz="1000" dirty="0"/>
          </a:p>
        </p:txBody>
      </p:sp>
      <p:sp>
        <p:nvSpPr>
          <p:cNvPr id="9" name="Text 6"/>
          <p:cNvSpPr txBox="1"/>
          <p:nvPr/>
        </p:nvSpPr>
        <p:spPr>
          <a:xfrm>
            <a:off x="3505124" y="1901952"/>
            <a:ext cx="2202104" cy="228600"/>
          </a:xfrm>
          <a:prstGeom prst="rect">
            <a:avLst/>
          </a:prstGeom>
          <a:noFill/>
          <a:ln/>
        </p:spPr>
        <p:txBody>
          <a:bodyPr wrap="square" lIns="0" tIns="0" rIns="0" bIns="0" rtlCol="0" anchor="t"/>
          <a:lstStyle/>
          <a:p>
            <a:pPr indent="0" marL="0">
              <a:buNone/>
            </a:pPr>
            <a:r>
              <a:rPr lang="en-US" sz="1100" dirty="0">
                <a:solidFill>
                  <a:srgbClr val="1C2B2F"/>
                </a:solidFill>
                <a:latin typeface="Geist Medium" pitchFamily="34" charset="0"/>
                <a:ea typeface="Geist Medium" pitchFamily="34" charset="-122"/>
                <a:cs typeface="Geist Medium" pitchFamily="34" charset="-120"/>
              </a:rPr>
              <a:t>Designed</a:t>
            </a:r>
            <a:endParaRPr lang="en-US" sz="1100" dirty="0"/>
          </a:p>
        </p:txBody>
      </p:sp>
      <p:sp>
        <p:nvSpPr>
          <p:cNvPr id="10" name="Text 7"/>
          <p:cNvSpPr txBox="1"/>
          <p:nvPr/>
        </p:nvSpPr>
        <p:spPr>
          <a:xfrm>
            <a:off x="3505124" y="2148840"/>
            <a:ext cx="2202104" cy="56692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Collector architecture: read-only MCP connectors, context report, approval step, evidence graph</a:t>
            </a:r>
            <a:endParaRPr lang="en-US" sz="1000" dirty="0"/>
          </a:p>
        </p:txBody>
      </p:sp>
      <p:sp>
        <p:nvSpPr>
          <p:cNvPr id="11" name="Text 8"/>
          <p:cNvSpPr txBox="1"/>
          <p:nvPr/>
        </p:nvSpPr>
        <p:spPr>
          <a:xfrm>
            <a:off x="6233008" y="1901952"/>
            <a:ext cx="2202104" cy="228600"/>
          </a:xfrm>
          <a:prstGeom prst="rect">
            <a:avLst/>
          </a:prstGeom>
          <a:noFill/>
          <a:ln/>
        </p:spPr>
        <p:txBody>
          <a:bodyPr wrap="square" lIns="0" tIns="0" rIns="0" bIns="0" rtlCol="0" anchor="t"/>
          <a:lstStyle/>
          <a:p>
            <a:pPr indent="0" marL="0">
              <a:buNone/>
            </a:pPr>
            <a:r>
              <a:rPr lang="en-US" sz="1100" dirty="0">
                <a:solidFill>
                  <a:srgbClr val="1C2B2F"/>
                </a:solidFill>
                <a:latin typeface="Geist Medium" pitchFamily="34" charset="0"/>
                <a:ea typeface="Geist Medium" pitchFamily="34" charset="-122"/>
                <a:cs typeface="Geist Medium" pitchFamily="34" charset="-120"/>
              </a:rPr>
              <a:t>Researched</a:t>
            </a:r>
            <a:endParaRPr lang="en-US" sz="1100" dirty="0"/>
          </a:p>
        </p:txBody>
      </p:sp>
      <p:sp>
        <p:nvSpPr>
          <p:cNvPr id="12" name="Text 9"/>
          <p:cNvSpPr txBox="1"/>
          <p:nvPr/>
        </p:nvSpPr>
        <p:spPr>
          <a:xfrm>
            <a:off x="6233008" y="2148840"/>
            <a:ext cx="2202104" cy="56692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Twelve-vendor scan, source-checked figures, regulation, country and pricing decisions</a:t>
            </a:r>
            <a:endParaRPr lang="en-US" sz="1000" dirty="0"/>
          </a:p>
        </p:txBody>
      </p:sp>
      <p:sp>
        <p:nvSpPr>
          <p:cNvPr id="13" name="Text 10"/>
          <p:cNvSpPr txBox="1"/>
          <p:nvPr/>
        </p:nvSpPr>
        <p:spPr>
          <a:xfrm>
            <a:off x="8960891" y="1901952"/>
            <a:ext cx="2202104" cy="228600"/>
          </a:xfrm>
          <a:prstGeom prst="rect">
            <a:avLst/>
          </a:prstGeom>
          <a:noFill/>
          <a:ln/>
        </p:spPr>
        <p:txBody>
          <a:bodyPr wrap="square" lIns="0" tIns="0" rIns="0" bIns="0" rtlCol="0" anchor="t"/>
          <a:lstStyle/>
          <a:p>
            <a:pPr indent="0" marL="0">
              <a:buNone/>
            </a:pPr>
            <a:r>
              <a:rPr lang="en-US" sz="1100" dirty="0">
                <a:solidFill>
                  <a:srgbClr val="1C2B2F"/>
                </a:solidFill>
                <a:latin typeface="Geist Medium" pitchFamily="34" charset="0"/>
                <a:ea typeface="Geist Medium" pitchFamily="34" charset="-122"/>
                <a:cs typeface="Geist Medium" pitchFamily="34" charset="-120"/>
              </a:rPr>
              <a:t>Not yet</a:t>
            </a:r>
            <a:endParaRPr lang="en-US" sz="1100" dirty="0"/>
          </a:p>
        </p:txBody>
      </p:sp>
      <p:sp>
        <p:nvSpPr>
          <p:cNvPr id="14" name="Text 11"/>
          <p:cNvSpPr txBox="1"/>
          <p:nvPr/>
        </p:nvSpPr>
        <p:spPr>
          <a:xfrm>
            <a:off x="8960891" y="2148840"/>
            <a:ext cx="2202104" cy="56692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No customers and no signed law firm. The plan below is built to change that</a:t>
            </a:r>
            <a:endParaRPr lang="en-US" sz="1000" dirty="0"/>
          </a:p>
        </p:txBody>
      </p:sp>
      <p:sp>
        <p:nvSpPr>
          <p:cNvPr id="15" name="Shape 12"/>
          <p:cNvSpPr/>
          <p:nvPr/>
        </p:nvSpPr>
        <p:spPr>
          <a:xfrm>
            <a:off x="548640" y="3017520"/>
            <a:ext cx="2567864" cy="0"/>
          </a:xfrm>
          <a:prstGeom prst="line">
            <a:avLst/>
          </a:prstGeom>
          <a:noFill/>
          <a:ln w="9525">
            <a:solidFill>
              <a:srgbClr val="1C2B2F"/>
            </a:solidFill>
            <a:prstDash val="solid"/>
          </a:ln>
        </p:spPr>
      </p:sp>
      <p:sp>
        <p:nvSpPr>
          <p:cNvPr id="16" name="Text 13"/>
          <p:cNvSpPr txBox="1"/>
          <p:nvPr/>
        </p:nvSpPr>
        <p:spPr>
          <a:xfrm>
            <a:off x="548640" y="3145536"/>
            <a:ext cx="256786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1 to 30, the bootcamp weeks</a:t>
            </a:r>
            <a:endParaRPr lang="en-US" sz="1000" dirty="0"/>
          </a:p>
        </p:txBody>
      </p:sp>
      <p:sp>
        <p:nvSpPr>
          <p:cNvPr id="17" name="Text 14"/>
          <p:cNvSpPr txBox="1"/>
          <p:nvPr/>
        </p:nvSpPr>
        <p:spPr>
          <a:xfrm>
            <a:off x="548640" y="3438144"/>
            <a:ext cx="2567864"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Prove the pain</a:t>
            </a:r>
            <a:endParaRPr lang="en-US" sz="1700" dirty="0"/>
          </a:p>
        </p:txBody>
      </p:sp>
      <p:sp>
        <p:nvSpPr>
          <p:cNvPr id="18" name="Text 15"/>
          <p:cNvSpPr txBox="1"/>
          <p:nvPr/>
        </p:nvSpPr>
        <p:spPr>
          <a:xfrm>
            <a:off x="548640" y="3931920"/>
            <a:ext cx="2567864"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15 discovery interviews with CTOs and founders of 50 to 250 person software companies in Austria and Budapest</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Letter of intent from one Vienna law firm, model reviewed against Austrian bar rules</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Collector prototype: GitHub and one cloud provider, read-only, context report generated</a:t>
            </a:r>
            <a:endParaRPr lang="en-US" sz="1100" dirty="0"/>
          </a:p>
        </p:txBody>
      </p:sp>
      <p:sp>
        <p:nvSpPr>
          <p:cNvPr id="19" name="Shape 16"/>
          <p:cNvSpPr/>
          <p:nvPr/>
        </p:nvSpPr>
        <p:spPr>
          <a:xfrm>
            <a:off x="3390824" y="3017520"/>
            <a:ext cx="2567864" cy="0"/>
          </a:xfrm>
          <a:prstGeom prst="line">
            <a:avLst/>
          </a:prstGeom>
          <a:noFill/>
          <a:ln w="9525">
            <a:solidFill>
              <a:srgbClr val="1C2B2F"/>
            </a:solidFill>
            <a:prstDash val="solid"/>
          </a:ln>
        </p:spPr>
      </p:sp>
      <p:sp>
        <p:nvSpPr>
          <p:cNvPr id="20" name="Text 17"/>
          <p:cNvSpPr txBox="1"/>
          <p:nvPr/>
        </p:nvSpPr>
        <p:spPr>
          <a:xfrm>
            <a:off x="3390824" y="3145536"/>
            <a:ext cx="256786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31 to 60</a:t>
            </a:r>
            <a:endParaRPr lang="en-US" sz="1000" dirty="0"/>
          </a:p>
        </p:txBody>
      </p:sp>
      <p:sp>
        <p:nvSpPr>
          <p:cNvPr id="21" name="Text 18"/>
          <p:cNvSpPr txBox="1"/>
          <p:nvPr/>
        </p:nvSpPr>
        <p:spPr>
          <a:xfrm>
            <a:off x="3390824" y="3438144"/>
            <a:ext cx="2567864"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Prove the flow</a:t>
            </a:r>
            <a:endParaRPr lang="en-US" sz="1700" dirty="0"/>
          </a:p>
        </p:txBody>
      </p:sp>
      <p:sp>
        <p:nvSpPr>
          <p:cNvPr id="22" name="Text 19"/>
          <p:cNvSpPr txBox="1"/>
          <p:nvPr/>
        </p:nvSpPr>
        <p:spPr>
          <a:xfrm>
            <a:off x="3390824" y="3931920"/>
            <a:ext cx="2567864"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Two design partners connect real systems</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Representative approval and report sync working end to end</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First inventory and gap list reviewed by the partner firm</a:t>
            </a:r>
            <a:endParaRPr lang="en-US" sz="1100" dirty="0"/>
          </a:p>
        </p:txBody>
      </p:sp>
      <p:sp>
        <p:nvSpPr>
          <p:cNvPr id="23" name="Shape 20"/>
          <p:cNvSpPr/>
          <p:nvPr/>
        </p:nvSpPr>
        <p:spPr>
          <a:xfrm>
            <a:off x="6233008" y="3017520"/>
            <a:ext cx="2567864" cy="0"/>
          </a:xfrm>
          <a:prstGeom prst="line">
            <a:avLst/>
          </a:prstGeom>
          <a:noFill/>
          <a:ln w="9525">
            <a:solidFill>
              <a:srgbClr val="1C2B2F"/>
            </a:solidFill>
            <a:prstDash val="solid"/>
          </a:ln>
        </p:spPr>
      </p:sp>
      <p:sp>
        <p:nvSpPr>
          <p:cNvPr id="24" name="Text 21"/>
          <p:cNvSpPr txBox="1"/>
          <p:nvPr/>
        </p:nvSpPr>
        <p:spPr>
          <a:xfrm>
            <a:off x="6233008" y="3145536"/>
            <a:ext cx="256786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61 to 90</a:t>
            </a:r>
            <a:endParaRPr lang="en-US" sz="1000" dirty="0"/>
          </a:p>
        </p:txBody>
      </p:sp>
      <p:sp>
        <p:nvSpPr>
          <p:cNvPr id="25" name="Text 22"/>
          <p:cNvSpPr txBox="1"/>
          <p:nvPr/>
        </p:nvSpPr>
        <p:spPr>
          <a:xfrm>
            <a:off x="6233008" y="3438144"/>
            <a:ext cx="2567864"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Prove the value</a:t>
            </a:r>
            <a:endParaRPr lang="en-US" sz="1700" dirty="0"/>
          </a:p>
        </p:txBody>
      </p:sp>
      <p:sp>
        <p:nvSpPr>
          <p:cNvPr id="26" name="Text 23"/>
          <p:cNvSpPr txBox="1"/>
          <p:nvPr/>
        </p:nvSpPr>
        <p:spPr>
          <a:xfrm>
            <a:off x="6233008" y="3931920"/>
            <a:ext cx="2567864"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First evidence pack confirmed in writing by the partner firm</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Measured lawyer hours against the firm's own quote</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Pricing tested with both design partners; company incorporated</a:t>
            </a:r>
            <a:endParaRPr lang="en-US" sz="1100" dirty="0"/>
          </a:p>
        </p:txBody>
      </p:sp>
      <p:sp>
        <p:nvSpPr>
          <p:cNvPr id="27" name="Shape 24"/>
          <p:cNvSpPr/>
          <p:nvPr/>
        </p:nvSpPr>
        <p:spPr>
          <a:xfrm>
            <a:off x="9075191" y="3017520"/>
            <a:ext cx="2567864" cy="0"/>
          </a:xfrm>
          <a:prstGeom prst="line">
            <a:avLst/>
          </a:prstGeom>
          <a:noFill/>
          <a:ln w="9525">
            <a:solidFill>
              <a:srgbClr val="1C2B2F"/>
            </a:solidFill>
            <a:prstDash val="solid"/>
          </a:ln>
        </p:spPr>
      </p:sp>
      <p:sp>
        <p:nvSpPr>
          <p:cNvPr id="28" name="Text 25"/>
          <p:cNvSpPr txBox="1"/>
          <p:nvPr/>
        </p:nvSpPr>
        <p:spPr>
          <a:xfrm>
            <a:off x="9075191" y="3145536"/>
            <a:ext cx="256786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Months 4 to 12</a:t>
            </a:r>
            <a:endParaRPr lang="en-US" sz="1000" dirty="0"/>
          </a:p>
        </p:txBody>
      </p:sp>
      <p:sp>
        <p:nvSpPr>
          <p:cNvPr id="29" name="Text 26"/>
          <p:cNvSpPr txBox="1"/>
          <p:nvPr/>
        </p:nvSpPr>
        <p:spPr>
          <a:xfrm>
            <a:off x="9075191" y="3438144"/>
            <a:ext cx="2567864" cy="45720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Scale the loop</a:t>
            </a:r>
            <a:endParaRPr lang="en-US" sz="1700" dirty="0"/>
          </a:p>
        </p:txBody>
      </p:sp>
      <p:sp>
        <p:nvSpPr>
          <p:cNvPr id="30" name="Text 27"/>
          <p:cNvSpPr txBox="1"/>
          <p:nvPr/>
        </p:nvSpPr>
        <p:spPr>
          <a:xfrm>
            <a:off x="9075191" y="3931920"/>
            <a:ext cx="2567864"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HR and CRM connectors; NIS2 and AI Act modules live on top of GDPR</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Ten paying pilots in Austria, second law firm signed, aws Preseed application</a:t>
            </a:r>
            <a:endParaRPr lang="en-US" sz="1100" dirty="0"/>
          </a:p>
          <a:p>
            <a:pPr marL="342900" indent="-342900">
              <a:spcAft>
                <a:spcPts val="600"/>
              </a:spcAft>
              <a:buSzPct val="100000"/>
              <a:buChar char="●"/>
            </a:pPr>
            <a:r>
              <a:rPr lang="en-US" sz="1100" dirty="0">
                <a:solidFill>
                  <a:srgbClr val="55676B"/>
                </a:solidFill>
                <a:latin typeface="Geist" pitchFamily="34" charset="0"/>
                <a:ea typeface="Geist" pitchFamily="34" charset="-122"/>
                <a:cs typeface="Geist" pitchFamily="34" charset="-120"/>
              </a:rPr>
              <a:t>Germany opened through a partner firm; pre-seed round on measured pilot data</a:t>
            </a:r>
            <a:endParaRPr lang="en-US" sz="1100" dirty="0"/>
          </a:p>
        </p:txBody>
      </p:sp>
      <p:sp>
        <p:nvSpPr>
          <p:cNvPr id="31" name="Text 28"/>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Each block ends with evidence a jury can check: an interview count, a signed letter, a working connector, a paying pilot.</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The founders and the ask.</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EIT Digital Master School, 28DIGITAL, Budapest</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Two founders, one problem we have both touched</a:t>
            </a:r>
            <a:endParaRPr lang="en-US" sz="3000" dirty="0"/>
          </a:p>
        </p:txBody>
      </p:sp>
      <p:pic>
        <p:nvPicPr>
          <p:cNvPr id="6" name="Image 0" descr="/tmp/claude-1000/-home-andi-Dokumente-Business-Simone-Business-Business/f0091365-0ba5-4f1f-bb2f-076089d549ad/scratchpad/deck/img/simone-r.png">    </p:cNvPr>
          <p:cNvPicPr>
            <a:picLocks noChangeAspect="1"/>
          </p:cNvPicPr>
          <p:nvPr/>
        </p:nvPicPr>
        <p:blipFill>
          <a:blip r:embed="rId1"/>
          <a:stretch>
            <a:fillRect/>
          </a:stretch>
        </p:blipFill>
        <p:spPr>
          <a:xfrm>
            <a:off x="548640" y="1783080"/>
            <a:ext cx="1828800" cy="2286000"/>
          </a:xfrm>
          <a:prstGeom prst="rect">
            <a:avLst/>
          </a:prstGeom>
        </p:spPr>
      </p:pic>
      <p:sp>
        <p:nvSpPr>
          <p:cNvPr id="7" name="Text 3"/>
          <p:cNvSpPr txBox="1"/>
          <p:nvPr/>
        </p:nvSpPr>
        <p:spPr>
          <a:xfrm>
            <a:off x="548640" y="4178808"/>
            <a:ext cx="1828800" cy="274320"/>
          </a:xfrm>
          <a:prstGeom prst="rect">
            <a:avLst/>
          </a:prstGeom>
          <a:noFill/>
          <a:ln/>
        </p:spPr>
        <p:txBody>
          <a:bodyPr wrap="squar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Simone Mattioli</a:t>
            </a:r>
            <a:endParaRPr lang="en-US" sz="1300" dirty="0"/>
          </a:p>
        </p:txBody>
      </p:sp>
      <p:sp>
        <p:nvSpPr>
          <p:cNvPr id="8" name="Text 4"/>
          <p:cNvSpPr txBox="1"/>
          <p:nvPr/>
        </p:nvSpPr>
        <p:spPr>
          <a:xfrm>
            <a:off x="548640" y="4453128"/>
            <a:ext cx="1828800" cy="411480"/>
          </a:xfrm>
          <a:prstGeom prst="rect">
            <a:avLst/>
          </a:prstGeom>
          <a:noFill/>
          <a:ln/>
        </p:spPr>
        <p:txBody>
          <a:bodyPr wrap="square" lIns="0" tIns="0" rIns="0" bIns="0" rtlCol="0" anchor="t"/>
          <a:lstStyle/>
          <a:p>
            <a:pPr indent="0" marL="0">
              <a:buNone/>
            </a:pPr>
            <a:r>
              <a:rPr lang="en-US" sz="950" dirty="0">
                <a:solidFill>
                  <a:srgbClr val="55676B"/>
                </a:solidFill>
                <a:latin typeface="Geist" pitchFamily="34" charset="0"/>
                <a:ea typeface="Geist" pitchFamily="34" charset="-122"/>
                <a:cs typeface="Geist" pitchFamily="34" charset="-120"/>
              </a:rPr>
              <a:t>Co-founder. Customers, partners, programme</a:t>
            </a:r>
            <a:endParaRPr lang="en-US" sz="950" dirty="0"/>
          </a:p>
        </p:txBody>
      </p:sp>
      <p:sp>
        <p:nvSpPr>
          <p:cNvPr id="9" name="Text 5"/>
          <p:cNvSpPr txBox="1"/>
          <p:nvPr/>
        </p:nvSpPr>
        <p:spPr>
          <a:xfrm>
            <a:off x="548640" y="4818888"/>
            <a:ext cx="1828800" cy="1051560"/>
          </a:xfrm>
          <a:prstGeom prst="rect">
            <a:avLst/>
          </a:prstGeom>
          <a:noFill/>
          <a:ln/>
        </p:spPr>
        <p:txBody>
          <a:bodyPr wrap="square" lIns="0" tIns="0" rIns="0" bIns="0" rtlCol="0" anchor="t"/>
          <a:lstStyle/>
          <a:p>
            <a:pPr indent="0" marL="0">
              <a:buNone/>
            </a:pPr>
            <a:r>
              <a:rPr lang="en-US" sz="950" dirty="0">
                <a:solidFill>
                  <a:srgbClr val="55676B"/>
                </a:solidFill>
                <a:latin typeface="Geist" pitchFamily="34" charset="0"/>
                <a:ea typeface="Geist" pitchFamily="34" charset="-122"/>
                <a:cs typeface="Geist" pitchFamily="34" charset="-120"/>
              </a:rPr>
              <a:t>EIT Digital Master School, Autonomous Systems and Intelligent Robotics track. Leads discovery, partner law firms and the application.</a:t>
            </a:r>
            <a:endParaRPr lang="en-US" sz="950" dirty="0"/>
          </a:p>
        </p:txBody>
      </p:sp>
      <p:pic>
        <p:nvPicPr>
          <p:cNvPr id="10" name="Image 1" descr="/tmp/claude-1000/-home-andi-Dokumente-Business-Simone-Business-Business/f0091365-0ba5-4f1f-bb2f-076089d549ad/scratchpad/deck/img/andreas-r.png">    </p:cNvPr>
          <p:cNvPicPr>
            <a:picLocks noChangeAspect="1"/>
          </p:cNvPicPr>
          <p:nvPr/>
        </p:nvPicPr>
        <p:blipFill>
          <a:blip r:embed="rId2"/>
          <a:stretch>
            <a:fillRect/>
          </a:stretch>
        </p:blipFill>
        <p:spPr>
          <a:xfrm>
            <a:off x="2697480" y="1783080"/>
            <a:ext cx="1828800" cy="2286000"/>
          </a:xfrm>
          <a:prstGeom prst="rect">
            <a:avLst/>
          </a:prstGeom>
        </p:spPr>
      </p:pic>
      <p:sp>
        <p:nvSpPr>
          <p:cNvPr id="11" name="Text 6"/>
          <p:cNvSpPr txBox="1"/>
          <p:nvPr/>
        </p:nvSpPr>
        <p:spPr>
          <a:xfrm>
            <a:off x="2697480" y="4178808"/>
            <a:ext cx="1828800" cy="274320"/>
          </a:xfrm>
          <a:prstGeom prst="rect">
            <a:avLst/>
          </a:prstGeom>
          <a:noFill/>
          <a:ln/>
        </p:spPr>
        <p:txBody>
          <a:bodyPr wrap="squar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Andreas Herzinger</a:t>
            </a:r>
            <a:endParaRPr lang="en-US" sz="1300" dirty="0"/>
          </a:p>
        </p:txBody>
      </p:sp>
      <p:sp>
        <p:nvSpPr>
          <p:cNvPr id="12" name="Text 7"/>
          <p:cNvSpPr txBox="1"/>
          <p:nvPr/>
        </p:nvSpPr>
        <p:spPr>
          <a:xfrm>
            <a:off x="2697480" y="4453128"/>
            <a:ext cx="1828800" cy="411480"/>
          </a:xfrm>
          <a:prstGeom prst="rect">
            <a:avLst/>
          </a:prstGeom>
          <a:noFill/>
          <a:ln/>
        </p:spPr>
        <p:txBody>
          <a:bodyPr wrap="square" lIns="0" tIns="0" rIns="0" bIns="0" rtlCol="0" anchor="t"/>
          <a:lstStyle/>
          <a:p>
            <a:pPr indent="0" marL="0">
              <a:buNone/>
            </a:pPr>
            <a:r>
              <a:rPr lang="en-US" sz="950" dirty="0">
                <a:solidFill>
                  <a:srgbClr val="55676B"/>
                </a:solidFill>
                <a:latin typeface="Geist" pitchFamily="34" charset="0"/>
                <a:ea typeface="Geist" pitchFamily="34" charset="-122"/>
                <a:cs typeface="Geist" pitchFamily="34" charset="-120"/>
              </a:rPr>
              <a:t>Co-founder. Product and engineering</a:t>
            </a:r>
            <a:endParaRPr lang="en-US" sz="950" dirty="0"/>
          </a:p>
        </p:txBody>
      </p:sp>
      <p:sp>
        <p:nvSpPr>
          <p:cNvPr id="13" name="Text 8"/>
          <p:cNvSpPr txBox="1"/>
          <p:nvPr/>
        </p:nvSpPr>
        <p:spPr>
          <a:xfrm>
            <a:off x="2697480" y="4818888"/>
            <a:ext cx="1828800" cy="1051560"/>
          </a:xfrm>
          <a:prstGeom prst="rect">
            <a:avLst/>
          </a:prstGeom>
          <a:noFill/>
          <a:ln/>
        </p:spPr>
        <p:txBody>
          <a:bodyPr wrap="square" lIns="0" tIns="0" rIns="0" bIns="0" rtlCol="0" anchor="t"/>
          <a:lstStyle/>
          <a:p>
            <a:pPr indent="0" marL="0">
              <a:buNone/>
            </a:pPr>
            <a:r>
              <a:rPr lang="en-US" sz="950" dirty="0">
                <a:solidFill>
                  <a:srgbClr val="55676B"/>
                </a:solidFill>
                <a:latin typeface="Geist" pitchFamily="34" charset="0"/>
                <a:ea typeface="Geist" pitchFamily="34" charset="-122"/>
                <a:cs typeface="Geist" pitchFamily="34" charset="-120"/>
              </a:rPr>
              <a:t>EIT Digital Master School, Data Science. Freelance AI engineer: SME integrations, MCP servers, secure LLM data connections, RAG in production.</a:t>
            </a:r>
            <a:endParaRPr lang="en-US" sz="950" dirty="0"/>
          </a:p>
        </p:txBody>
      </p:sp>
      <p:sp>
        <p:nvSpPr>
          <p:cNvPr id="14" name="Shape 9"/>
          <p:cNvSpPr/>
          <p:nvPr/>
        </p:nvSpPr>
        <p:spPr>
          <a:xfrm>
            <a:off x="4983480" y="1783080"/>
            <a:ext cx="2651760" cy="0"/>
          </a:xfrm>
          <a:prstGeom prst="line">
            <a:avLst/>
          </a:prstGeom>
          <a:noFill/>
          <a:ln w="9525">
            <a:solidFill>
              <a:srgbClr val="1C2B2F"/>
            </a:solidFill>
            <a:prstDash val="solid"/>
          </a:ln>
        </p:spPr>
      </p:sp>
      <p:sp>
        <p:nvSpPr>
          <p:cNvPr id="15" name="Text 10"/>
          <p:cNvSpPr txBox="1"/>
          <p:nvPr/>
        </p:nvSpPr>
        <p:spPr>
          <a:xfrm>
            <a:off x="4983480" y="1901952"/>
            <a:ext cx="265176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Why us</a:t>
            </a:r>
            <a:endParaRPr lang="en-US" sz="1500" dirty="0"/>
          </a:p>
        </p:txBody>
      </p:sp>
      <p:sp>
        <p:nvSpPr>
          <p:cNvPr id="16" name="Text 11"/>
          <p:cNvSpPr txBox="1"/>
          <p:nvPr/>
        </p:nvSpPr>
        <p:spPr>
          <a:xfrm>
            <a:off x="4983480" y="2240280"/>
            <a:ext cx="2651760" cy="320040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The problem found us through Andreas's integration work: every SME project started with the same unanswered compliance questions, and every answer cost a lawyer's hours. The collector is the kind of system he already builds. Simone runs discovery and partners.</a:t>
            </a:r>
            <a:endParaRPr lang="en-US" sz="1150" dirty="0"/>
          </a:p>
        </p:txBody>
      </p:sp>
      <p:sp>
        <p:nvSpPr>
          <p:cNvPr id="17" name="Shape 12"/>
          <p:cNvSpPr/>
          <p:nvPr/>
        </p:nvSpPr>
        <p:spPr>
          <a:xfrm>
            <a:off x="8092440" y="1783080"/>
            <a:ext cx="3550615" cy="0"/>
          </a:xfrm>
          <a:prstGeom prst="line">
            <a:avLst/>
          </a:prstGeom>
          <a:noFill/>
          <a:ln w="9525">
            <a:solidFill>
              <a:srgbClr val="1C2B2F"/>
            </a:solidFill>
            <a:prstDash val="solid"/>
          </a:ln>
        </p:spPr>
      </p:sp>
      <p:sp>
        <p:nvSpPr>
          <p:cNvPr id="18" name="Text 13"/>
          <p:cNvSpPr txBox="1"/>
          <p:nvPr/>
        </p:nvSpPr>
        <p:spPr>
          <a:xfrm>
            <a:off x="8092440" y="1892808"/>
            <a:ext cx="3550615"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What we ask for</a:t>
            </a:r>
            <a:endParaRPr lang="en-US" sz="1500" dirty="0"/>
          </a:p>
        </p:txBody>
      </p:sp>
      <p:sp>
        <p:nvSpPr>
          <p:cNvPr id="19" name="Text 14"/>
          <p:cNvSpPr txBox="1"/>
          <p:nvPr/>
        </p:nvSpPr>
        <p:spPr>
          <a:xfrm>
            <a:off x="8092440" y="2221992"/>
            <a:ext cx="3550615" cy="82296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A place in the cohort. One week to test the inside-out model with customers, mentors and investors, and to meet partner law firms through the programme's network.</a:t>
            </a:r>
            <a:endParaRPr lang="en-US" sz="1100" dirty="0"/>
          </a:p>
        </p:txBody>
      </p:sp>
      <p:sp>
        <p:nvSpPr>
          <p:cNvPr id="20" name="Shape 15"/>
          <p:cNvSpPr/>
          <p:nvPr/>
        </p:nvSpPr>
        <p:spPr>
          <a:xfrm>
            <a:off x="8092440" y="3063240"/>
            <a:ext cx="3550615" cy="0"/>
          </a:xfrm>
          <a:prstGeom prst="line">
            <a:avLst/>
          </a:prstGeom>
          <a:noFill/>
          <a:ln w="9525">
            <a:solidFill>
              <a:srgbClr val="E3E0D7"/>
            </a:solidFill>
            <a:prstDash val="solid"/>
          </a:ln>
        </p:spPr>
      </p:sp>
      <p:sp>
        <p:nvSpPr>
          <p:cNvPr id="21" name="Text 16"/>
          <p:cNvSpPr txBox="1"/>
          <p:nvPr/>
        </p:nvSpPr>
        <p:spPr>
          <a:xfrm>
            <a:off x="8092440" y="3172968"/>
            <a:ext cx="3550615"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What the €10,000 award would buy</a:t>
            </a:r>
            <a:endParaRPr lang="en-US" sz="1500" dirty="0"/>
          </a:p>
        </p:txBody>
      </p:sp>
      <p:sp>
        <p:nvSpPr>
          <p:cNvPr id="22" name="Text 17"/>
          <p:cNvSpPr txBox="1"/>
          <p:nvPr/>
        </p:nvSpPr>
        <p:spPr>
          <a:xfrm>
            <a:off x="8092440" y="3502152"/>
            <a:ext cx="3550615" cy="82296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The legal review budget of the first two pilots, so a partner firm's hours are paid and the hour reduction is measured, plus the second and third collector connectors.</a:t>
            </a:r>
            <a:endParaRPr lang="en-US" sz="1100" dirty="0"/>
          </a:p>
        </p:txBody>
      </p:sp>
      <p:sp>
        <p:nvSpPr>
          <p:cNvPr id="23" name="Shape 18"/>
          <p:cNvSpPr/>
          <p:nvPr/>
        </p:nvSpPr>
        <p:spPr>
          <a:xfrm>
            <a:off x="8092440" y="4343400"/>
            <a:ext cx="3550615" cy="0"/>
          </a:xfrm>
          <a:prstGeom prst="line">
            <a:avLst/>
          </a:prstGeom>
          <a:noFill/>
          <a:ln w="9525">
            <a:solidFill>
              <a:srgbClr val="E3E0D7"/>
            </a:solidFill>
            <a:prstDash val="solid"/>
          </a:ln>
        </p:spPr>
      </p:sp>
      <p:sp>
        <p:nvSpPr>
          <p:cNvPr id="24" name="Text 19"/>
          <p:cNvSpPr txBox="1"/>
          <p:nvPr/>
        </p:nvSpPr>
        <p:spPr>
          <a:xfrm>
            <a:off x="8092440" y="4453128"/>
            <a:ext cx="3550615"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What you can check today</a:t>
            </a:r>
            <a:endParaRPr lang="en-US" sz="1500" dirty="0"/>
          </a:p>
        </p:txBody>
      </p:sp>
      <p:sp>
        <p:nvSpPr>
          <p:cNvPr id="25" name="Text 20"/>
          <p:cNvSpPr txBox="1"/>
          <p:nvPr/>
        </p:nvSpPr>
        <p:spPr>
          <a:xfrm>
            <a:off x="8092440" y="4782312"/>
            <a:ext cx="3550615" cy="82296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The live website, the source behind every number in this deck, and the research reports on regulations, countries and pricing.</a:t>
            </a:r>
            <a:endParaRPr lang="en-US" sz="1100" dirty="0"/>
          </a:p>
        </p:txBody>
      </p:sp>
      <p:sp>
        <p:nvSpPr>
          <p:cNvPr id="26" name="Shape 21"/>
          <p:cNvSpPr/>
          <p:nvPr/>
        </p:nvSpPr>
        <p:spPr>
          <a:xfrm>
            <a:off x="548640" y="5760720"/>
            <a:ext cx="11094415" cy="411480"/>
          </a:xfrm>
          <a:prstGeom prst="roundRect">
            <a:avLst>
              <a:gd name="adj" fmla="val 17778"/>
            </a:avLst>
          </a:prstGeom>
          <a:solidFill>
            <a:srgbClr val="E7EDEC"/>
          </a:solidFill>
          <a:ln w="9525">
            <a:solidFill>
              <a:srgbClr val="E7EDEC"/>
            </a:solidFill>
            <a:prstDash val="solid"/>
          </a:ln>
        </p:spPr>
      </p:sp>
      <p:sp>
        <p:nvSpPr>
          <p:cNvPr id="27" name="Text 22"/>
          <p:cNvSpPr txBox="1"/>
          <p:nvPr/>
        </p:nvSpPr>
        <p:spPr>
          <a:xfrm>
            <a:off x="822960" y="5852160"/>
            <a:ext cx="10545775" cy="274320"/>
          </a:xfrm>
          <a:prstGeom prst="rect">
            <a:avLst/>
          </a:prstGeom>
          <a:noFill/>
          <a:ln/>
        </p:spPr>
        <p:txBody>
          <a:bodyPr wrap="square" lIns="0" tIns="0" rIns="0" bIns="0" rtlCol="0" anchor="t"/>
          <a:lstStyle/>
          <a:p>
            <a:pPr algn="ctr" indent="0" marL="0">
              <a:buNone/>
            </a:pPr>
            <a:r>
              <a:rPr lang="en-US" sz="1150" dirty="0">
                <a:solidFill>
                  <a:srgbClr val="1C2B2F"/>
                </a:solidFill>
                <a:latin typeface="Geist" pitchFamily="34" charset="0"/>
                <a:ea typeface="Geist" pitchFamily="34" charset="-122"/>
                <a:cs typeface="Geist" pitchFamily="34" charset="-120"/>
              </a:rPr>
              <a:t>simo-hue.github.io/Business   |   Simone Mattioli and Andreas Herzinger, EIT Digital Master School, Budapest</a:t>
            </a:r>
            <a:endParaRPr lang="en-US" sz="115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Regulift">
  <a:themeElements>
    <a:clrScheme name="Regulift">
      <a:dk1>
        <a:srgbClr val="1C2B2F"/>
      </a:dk1>
      <a:lt1>
        <a:srgbClr val="F6F4EE"/>
      </a:lt1>
      <a:dk2>
        <a:srgbClr val="55676B"/>
      </a:dk2>
      <a:lt2>
        <a:srgbClr val="E7EDEC"/>
      </a:lt2>
      <a:accent1>
        <a:srgbClr val="3E6670"/>
      </a:accent1>
      <a:accent2>
        <a:srgbClr val="8A9A9D"/>
      </a:accent2>
      <a:accent3>
        <a:srgbClr val="E3E0D7"/>
      </a:accent3>
      <a:accent4>
        <a:srgbClr val="CFD6D3"/>
      </a:accent4>
      <a:accent5>
        <a:srgbClr val="FCFBF8"/>
      </a:accent5>
      <a:accent6>
        <a:srgbClr val="4F8A6A"/>
      </a:accent6>
      <a:hlink>
        <a:srgbClr val="3E6670"/>
      </a:hlink>
      <a:folHlink>
        <a:srgbClr val="55676B"/>
      </a:folHlink>
    </a:clrScheme>
    <a:fontScheme name="Regulif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Regulation, lifted.</dc:title>
  <dc:subject>PptxGenJS Presentation</dc:subject>
  <dc:creator>Simone Mattioli, Andreas Herzinger</dc:creator>
  <cp:lastModifiedBy>Simone Mattioli, Andreas Herzinger</cp:lastModifiedBy>
  <cp:revision>1</cp:revision>
  <dcterms:created xsi:type="dcterms:W3CDTF">2026-10-18T09:46:30Z</dcterms:created>
  <dcterms:modified xsi:type="dcterms:W3CDTF">2026-10-18T09:46:30Z</dcterms:modified>
</cp:coreProperties>
</file>