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in one loop. Steps one and two are the inside-out part: read-only connectors and a context report that one named person approves before anything leaves the company. The brain in the middle holds the evidence graph and the adviser: it knows what the company runs and answers what applies and where the company stands. Step five is the loop: fix, upload, re-read, until the gaps close. Step six is the partner lawyer, who reviews in the same workspace and signs where the law reserves the verdict. The next slide asks where the adviser may speak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1143000" y="9857232"/>
            <a:ext cx="2743200" cy="320040"/>
          </a:xfrm>
          <a:prstGeom prst="rect">
            <a:avLst/>
          </a:prstGeom>
          <a:noFill/>
          <a:ln/>
        </p:spPr>
        <p:txBody>
          <a:bodyPr wrap="square" lIns="0" tIns="0" rIns="0" bIns="0" rtlCol="0" anchor="ctr"/>
          <a:lstStyle/>
          <a:p>
            <a:pPr indent="0" marL="0">
              <a:buNone/>
            </a:pPr>
            <a:r>
              <a:rPr lang="en-US" sz="1500" dirty="0">
                <a:solidFill>
                  <a:srgbClr val="1C2B2F"/>
                </a:solidFill>
                <a:latin typeface="Geist Medium" pitchFamily="34" charset="0"/>
                <a:ea typeface="Geist Medium" pitchFamily="34" charset="-122"/>
                <a:cs typeface="Geist Medium" pitchFamily="34" charset="-120"/>
              </a:rPr>
              <a:t>regulift</a:t>
            </a:r>
            <a:endParaRPr lang="en-US" sz="1500" dirty="0"/>
          </a:p>
        </p:txBody>
      </p:sp>
      <p:sp>
        <p:nvSpPr>
          <p:cNvPr id="3" name="Text 1"/>
          <p:cNvSpPr txBox="1"/>
          <p:nvPr/>
        </p:nvSpPr>
        <p:spPr>
          <a:xfrm>
            <a:off x="2468880" y="9857232"/>
            <a:ext cx="3657600" cy="320040"/>
          </a:xfrm>
          <a:prstGeom prst="rect">
            <a:avLst/>
          </a:prstGeom>
          <a:noFill/>
          <a:ln/>
        </p:spPr>
        <p:txBody>
          <a:bodyPr wrap="square" lIns="0" tIns="0" rIns="0" bIns="0" rtlCol="0" anchor="ctr"/>
          <a:lstStyle/>
          <a:p>
            <a:pPr indent="0" marL="0">
              <a:buNone/>
            </a:pPr>
            <a:r>
              <a:rPr lang="en-US" sz="1200" dirty="0">
                <a:solidFill>
                  <a:srgbClr val="8A9A9D"/>
                </a:solidFill>
                <a:latin typeface="Geist" pitchFamily="34" charset="0"/>
                <a:ea typeface="Geist" pitchFamily="34" charset="-122"/>
                <a:cs typeface="Geist" pitchFamily="34" charset="-120"/>
              </a:rPr>
              <a:t>Regulation, lifted.</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143000" y="777240"/>
            <a:ext cx="8229600" cy="365760"/>
          </a:xfrm>
          <a:prstGeom prst="rect">
            <a:avLst/>
          </a:prstGeom>
          <a:noFill/>
          <a:ln/>
        </p:spPr>
        <p:txBody>
          <a:bodyPr wrap="square" lIns="0" tIns="0" rIns="0" bIns="0" rtlCol="0" anchor="t"/>
          <a:lstStyle/>
          <a:p>
            <a:pPr indent="0" marL="0">
              <a:buNone/>
            </a:pPr>
            <a:r>
              <a:rPr lang="en-US" sz="1500" dirty="0">
                <a:solidFill>
                  <a:srgbClr val="55676B"/>
                </a:solidFill>
                <a:latin typeface="Geist" pitchFamily="34" charset="0"/>
                <a:ea typeface="Geist" pitchFamily="34" charset="-122"/>
                <a:cs typeface="Geist" pitchFamily="34" charset="-120"/>
              </a:rPr>
              <a:t>The product. Inside-out, with an adviser.</a:t>
            </a:r>
            <a:endParaRPr lang="en-US" sz="1500" dirty="0"/>
          </a:p>
        </p:txBody>
      </p:sp>
      <p:sp>
        <p:nvSpPr>
          <p:cNvPr id="3" name="Text 1"/>
          <p:cNvSpPr txBox="1"/>
          <p:nvPr/>
        </p:nvSpPr>
        <p:spPr>
          <a:xfrm>
            <a:off x="8915400" y="777240"/>
            <a:ext cx="8229600" cy="365760"/>
          </a:xfrm>
          <a:prstGeom prst="rect">
            <a:avLst/>
          </a:prstGeom>
          <a:noFill/>
          <a:ln/>
        </p:spPr>
        <p:txBody>
          <a:bodyPr wrap="square" lIns="0" tIns="0" rIns="0" bIns="0" rtlCol="0" anchor="t"/>
          <a:lstStyle/>
          <a:p>
            <a:pPr algn="r" indent="0" marL="0">
              <a:buNone/>
            </a:pPr>
            <a:r>
              <a:rPr lang="en-US" sz="1500" dirty="0">
                <a:solidFill>
                  <a:srgbClr val="55676B"/>
                </a:solidFill>
                <a:latin typeface="Geist" pitchFamily="34" charset="0"/>
                <a:ea typeface="Geist" pitchFamily="34" charset="-122"/>
                <a:cs typeface="Geist" pitchFamily="34" charset="-120"/>
              </a:rPr>
              <a:t>One evidence graph, one adviser, partner lawyers in the workspace</a:t>
            </a:r>
            <a:endParaRPr lang="en-US" sz="1500" dirty="0"/>
          </a:p>
        </p:txBody>
      </p:sp>
      <p:sp>
        <p:nvSpPr>
          <p:cNvPr id="4" name="Shape 2"/>
          <p:cNvSpPr/>
          <p:nvPr/>
        </p:nvSpPr>
        <p:spPr>
          <a:xfrm>
            <a:off x="1143000" y="1234440"/>
            <a:ext cx="16002000" cy="0"/>
          </a:xfrm>
          <a:prstGeom prst="line">
            <a:avLst/>
          </a:prstGeom>
          <a:noFill/>
          <a:ln w="9525">
            <a:solidFill>
              <a:srgbClr val="E3E0D7"/>
            </a:solidFill>
            <a:prstDash val="solid"/>
          </a:ln>
        </p:spPr>
      </p:sp>
      <p:sp>
        <p:nvSpPr>
          <p:cNvPr id="5" name="Text 3"/>
          <p:cNvSpPr txBox="1"/>
          <p:nvPr/>
        </p:nvSpPr>
        <p:spPr>
          <a:xfrm>
            <a:off x="1143000" y="1463040"/>
            <a:ext cx="16002000" cy="960120"/>
          </a:xfrm>
          <a:prstGeom prst="rect">
            <a:avLst/>
          </a:prstGeom>
          <a:noFill/>
          <a:ln/>
        </p:spPr>
        <p:txBody>
          <a:bodyPr wrap="square" lIns="0" tIns="0" rIns="0" bIns="0" rtlCol="0" anchor="t"/>
          <a:lstStyle/>
          <a:p>
            <a:pPr indent="0" marL="0">
              <a:buNone/>
            </a:pPr>
            <a:r>
              <a:rPr lang="en-US" sz="5400" spc="-150" kern="0" dirty="0">
                <a:solidFill>
                  <a:srgbClr val="1C2B2F"/>
                </a:solidFill>
                <a:latin typeface="Geist Medium" pitchFamily="34" charset="0"/>
                <a:ea typeface="Geist Medium" pitchFamily="34" charset="-122"/>
                <a:cs typeface="Geist Medium" pitchFamily="34" charset="-120"/>
              </a:rPr>
              <a:t>Reads. Advises. Loops until a lawyer signs.</a:t>
            </a:r>
            <a:endParaRPr lang="en-US" sz="5400" dirty="0"/>
          </a:p>
        </p:txBody>
      </p:sp>
      <p:sp>
        <p:nvSpPr>
          <p:cNvPr id="7" name="Shape 4"/>
          <p:cNvSpPr/>
          <p:nvPr/>
        </p:nvSpPr>
        <p:spPr>
          <a:xfrm>
            <a:off x="1143000" y="2880360"/>
            <a:ext cx="6309360" cy="4846320"/>
          </a:xfrm>
          <a:prstGeom prst="roundRect">
            <a:avLst>
              <a:gd name="adj" fmla="val 3396"/>
            </a:avLst>
          </a:prstGeom>
          <a:solidFill>
            <a:srgbClr val="E7EDEC"/>
          </a:solidFill>
          <a:ln w="9525">
            <a:solidFill>
              <a:srgbClr val="E7EDEC"/>
            </a:solidFill>
            <a:prstDash val="solid"/>
          </a:ln>
        </p:spPr>
      </p:sp>
      <p:sp>
        <p:nvSpPr>
          <p:cNvPr id="8" name="Shape 5"/>
          <p:cNvSpPr/>
          <p:nvPr/>
        </p:nvSpPr>
        <p:spPr>
          <a:xfrm>
            <a:off x="8641080" y="2880360"/>
            <a:ext cx="8503920" cy="4846320"/>
          </a:xfrm>
          <a:prstGeom prst="roundRect">
            <a:avLst>
              <a:gd name="adj" fmla="val 3396"/>
            </a:avLst>
          </a:prstGeom>
          <a:solidFill>
            <a:srgbClr val="1C2B2F"/>
          </a:solidFill>
          <a:ln w="9525">
            <a:solidFill>
              <a:srgbClr val="1C2B2F"/>
            </a:solidFill>
            <a:prstDash val="solid"/>
          </a:ln>
        </p:spPr>
      </p:sp>
      <p:sp>
        <p:nvSpPr>
          <p:cNvPr id="9" name="Text 6"/>
          <p:cNvSpPr txBox="1"/>
          <p:nvPr/>
        </p:nvSpPr>
        <p:spPr>
          <a:xfrm>
            <a:off x="1600200" y="3200400"/>
            <a:ext cx="5394960" cy="320040"/>
          </a:xfrm>
          <a:prstGeom prst="rect">
            <a:avLst/>
          </a:prstGeom>
          <a:noFill/>
          <a:ln/>
        </p:spPr>
        <p:txBody>
          <a:bodyPr wrap="square" lIns="0" tIns="0" rIns="0" bIns="0" rtlCol="0" anchor="t"/>
          <a:lstStyle/>
          <a:p>
            <a:pPr indent="0" marL="0">
              <a:buNone/>
            </a:pPr>
            <a:r>
              <a:rPr lang="en-US" sz="1400" dirty="0">
                <a:solidFill>
                  <a:srgbClr val="55676B"/>
                </a:solidFill>
                <a:latin typeface="Geist" pitchFamily="34" charset="0"/>
                <a:ea typeface="Geist" pitchFamily="34" charset="-122"/>
                <a:cs typeface="Geist" pitchFamily="34" charset="-120"/>
              </a:rPr>
              <a:t>Inside the company</a:t>
            </a:r>
            <a:endParaRPr lang="en-US" sz="1400" dirty="0"/>
          </a:p>
        </p:txBody>
      </p:sp>
      <p:sp>
        <p:nvSpPr>
          <p:cNvPr id="10" name="Text 7"/>
          <p:cNvSpPr txBox="1"/>
          <p:nvPr/>
        </p:nvSpPr>
        <p:spPr>
          <a:xfrm>
            <a:off x="9098280" y="3200400"/>
            <a:ext cx="7589520" cy="320040"/>
          </a:xfrm>
          <a:prstGeom prst="rect">
            <a:avLst/>
          </a:prstGeom>
          <a:noFill/>
          <a:ln/>
        </p:spPr>
        <p:txBody>
          <a:bodyPr wrap="square" lIns="0" tIns="0" rIns="0" bIns="0" rtlCol="0" anchor="t"/>
          <a:lstStyle/>
          <a:p>
            <a:pPr indent="0" marL="0">
              <a:buNone/>
            </a:pPr>
            <a:r>
              <a:rPr lang="en-US" sz="1400" dirty="0">
                <a:solidFill>
                  <a:srgbClr val="8FA3A8"/>
                </a:solidFill>
                <a:latin typeface="Geist" pitchFamily="34" charset="0"/>
                <a:ea typeface="Geist" pitchFamily="34" charset="-122"/>
                <a:cs typeface="Geist" pitchFamily="34" charset="-120"/>
              </a:rPr>
              <a:t>Inside Regulift</a:t>
            </a:r>
            <a:endParaRPr lang="en-US" sz="1400" dirty="0"/>
          </a:p>
        </p:txBody>
      </p:sp>
      <p:sp>
        <p:nvSpPr>
          <p:cNvPr id="11" name="Shape 8"/>
          <p:cNvSpPr/>
          <p:nvPr/>
        </p:nvSpPr>
        <p:spPr>
          <a:xfrm>
            <a:off x="1600200" y="3794760"/>
            <a:ext cx="2468880" cy="0"/>
          </a:xfrm>
          <a:prstGeom prst="line">
            <a:avLst/>
          </a:prstGeom>
          <a:noFill/>
          <a:ln w="9525">
            <a:solidFill>
              <a:srgbClr val="1C2B2F"/>
            </a:solidFill>
            <a:prstDash val="solid"/>
          </a:ln>
        </p:spPr>
      </p:sp>
      <p:sp>
        <p:nvSpPr>
          <p:cNvPr id="12" name="Text 9"/>
          <p:cNvSpPr txBox="1"/>
          <p:nvPr/>
        </p:nvSpPr>
        <p:spPr>
          <a:xfrm>
            <a:off x="1600200" y="3941064"/>
            <a:ext cx="73152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01</a:t>
            </a:r>
            <a:endParaRPr lang="en-US" sz="1300" dirty="0"/>
          </a:p>
        </p:txBody>
      </p:sp>
      <p:sp>
        <p:nvSpPr>
          <p:cNvPr id="13" name="Text 10"/>
          <p:cNvSpPr txBox="1"/>
          <p:nvPr/>
        </p:nvSpPr>
        <p:spPr>
          <a:xfrm>
            <a:off x="1600200" y="4197096"/>
            <a:ext cx="2468880" cy="411480"/>
          </a:xfrm>
          <a:prstGeom prst="rect">
            <a:avLst/>
          </a:prstGeom>
          <a:noFill/>
          <a:ln/>
        </p:spPr>
        <p:txBody>
          <a:bodyPr wrap="square" lIns="0" tIns="0" rIns="0" bIns="0" rtlCol="0" anchor="t"/>
          <a:lstStyle/>
          <a:p>
            <a:pPr indent="0" marL="0">
              <a:buNone/>
            </a:pPr>
            <a:r>
              <a:rPr lang="en-US" sz="2400" dirty="0">
                <a:solidFill>
                  <a:srgbClr val="1C2B2F"/>
                </a:solidFill>
                <a:latin typeface="Geist Medium" pitchFamily="34" charset="0"/>
                <a:ea typeface="Geist Medium" pitchFamily="34" charset="-122"/>
                <a:cs typeface="Geist Medium" pitchFamily="34" charset="-120"/>
              </a:rPr>
              <a:t>Connect</a:t>
            </a:r>
            <a:endParaRPr lang="en-US" sz="2400" dirty="0"/>
          </a:p>
        </p:txBody>
      </p:sp>
      <p:sp>
        <p:nvSpPr>
          <p:cNvPr id="14" name="Text 11"/>
          <p:cNvSpPr txBox="1"/>
          <p:nvPr/>
        </p:nvSpPr>
        <p:spPr>
          <a:xfrm>
            <a:off x="1600200" y="4663440"/>
            <a:ext cx="2468880" cy="73152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Read-only. Repositories, cloud, HR, CRM.</a:t>
            </a:r>
            <a:endParaRPr lang="en-US" sz="1350" dirty="0"/>
          </a:p>
        </p:txBody>
      </p:sp>
      <p:sp>
        <p:nvSpPr>
          <p:cNvPr id="15" name="Shape 12"/>
          <p:cNvSpPr/>
          <p:nvPr/>
        </p:nvSpPr>
        <p:spPr>
          <a:xfrm>
            <a:off x="4526280" y="3794760"/>
            <a:ext cx="2468880" cy="0"/>
          </a:xfrm>
          <a:prstGeom prst="line">
            <a:avLst/>
          </a:prstGeom>
          <a:noFill/>
          <a:ln w="9525">
            <a:solidFill>
              <a:srgbClr val="1C2B2F"/>
            </a:solidFill>
            <a:prstDash val="solid"/>
          </a:ln>
        </p:spPr>
      </p:sp>
      <p:sp>
        <p:nvSpPr>
          <p:cNvPr id="16" name="Text 13"/>
          <p:cNvSpPr txBox="1"/>
          <p:nvPr/>
        </p:nvSpPr>
        <p:spPr>
          <a:xfrm>
            <a:off x="4526280" y="3941064"/>
            <a:ext cx="73152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02</a:t>
            </a:r>
            <a:endParaRPr lang="en-US" sz="1300" dirty="0"/>
          </a:p>
        </p:txBody>
      </p:sp>
      <p:sp>
        <p:nvSpPr>
          <p:cNvPr id="17" name="Text 14"/>
          <p:cNvSpPr txBox="1"/>
          <p:nvPr/>
        </p:nvSpPr>
        <p:spPr>
          <a:xfrm>
            <a:off x="4526280" y="4197096"/>
            <a:ext cx="2468880" cy="411480"/>
          </a:xfrm>
          <a:prstGeom prst="rect">
            <a:avLst/>
          </a:prstGeom>
          <a:noFill/>
          <a:ln/>
        </p:spPr>
        <p:txBody>
          <a:bodyPr wrap="square" lIns="0" tIns="0" rIns="0" bIns="0" rtlCol="0" anchor="t"/>
          <a:lstStyle/>
          <a:p>
            <a:pPr indent="0" marL="0">
              <a:buNone/>
            </a:pPr>
            <a:r>
              <a:rPr lang="en-US" sz="2400" dirty="0">
                <a:solidFill>
                  <a:srgbClr val="1C2B2F"/>
                </a:solidFill>
                <a:latin typeface="Geist Medium" pitchFamily="34" charset="0"/>
                <a:ea typeface="Geist Medium" pitchFamily="34" charset="-122"/>
                <a:cs typeface="Geist Medium" pitchFamily="34" charset="-120"/>
              </a:rPr>
              <a:t>Approve</a:t>
            </a:r>
            <a:endParaRPr lang="en-US" sz="2400" dirty="0"/>
          </a:p>
        </p:txBody>
      </p:sp>
      <p:sp>
        <p:nvSpPr>
          <p:cNvPr id="18" name="Text 15"/>
          <p:cNvSpPr txBox="1"/>
          <p:nvPr/>
        </p:nvSpPr>
        <p:spPr>
          <a:xfrm>
            <a:off x="4526280" y="4663440"/>
            <a:ext cx="2468880" cy="73152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One named person releases the context report.</a:t>
            </a:r>
            <a:endParaRPr lang="en-US" sz="1350" dirty="0"/>
          </a:p>
        </p:txBody>
      </p:sp>
      <p:sp>
        <p:nvSpPr>
          <p:cNvPr id="19" name="Shape 16"/>
          <p:cNvSpPr/>
          <p:nvPr/>
        </p:nvSpPr>
        <p:spPr>
          <a:xfrm>
            <a:off x="4526280" y="5852160"/>
            <a:ext cx="2468880" cy="0"/>
          </a:xfrm>
          <a:prstGeom prst="line">
            <a:avLst/>
          </a:prstGeom>
          <a:noFill/>
          <a:ln w="9525">
            <a:solidFill>
              <a:srgbClr val="1C2B2F"/>
            </a:solidFill>
            <a:prstDash val="solid"/>
          </a:ln>
        </p:spPr>
      </p:sp>
      <p:sp>
        <p:nvSpPr>
          <p:cNvPr id="20" name="Text 17"/>
          <p:cNvSpPr txBox="1"/>
          <p:nvPr/>
        </p:nvSpPr>
        <p:spPr>
          <a:xfrm>
            <a:off x="4526280" y="5998464"/>
            <a:ext cx="73152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05</a:t>
            </a:r>
            <a:endParaRPr lang="en-US" sz="1300" dirty="0"/>
          </a:p>
        </p:txBody>
      </p:sp>
      <p:sp>
        <p:nvSpPr>
          <p:cNvPr id="21" name="Text 18"/>
          <p:cNvSpPr txBox="1"/>
          <p:nvPr/>
        </p:nvSpPr>
        <p:spPr>
          <a:xfrm>
            <a:off x="4526280" y="6254496"/>
            <a:ext cx="2468880" cy="411480"/>
          </a:xfrm>
          <a:prstGeom prst="rect">
            <a:avLst/>
          </a:prstGeom>
          <a:noFill/>
          <a:ln/>
        </p:spPr>
        <p:txBody>
          <a:bodyPr wrap="square" lIns="0" tIns="0" rIns="0" bIns="0" rtlCol="0" anchor="t"/>
          <a:lstStyle/>
          <a:p>
            <a:pPr indent="0" marL="0">
              <a:buNone/>
            </a:pPr>
            <a:r>
              <a:rPr lang="en-US" sz="2400" dirty="0">
                <a:solidFill>
                  <a:srgbClr val="1C2B2F"/>
                </a:solidFill>
                <a:latin typeface="Geist Medium" pitchFamily="34" charset="0"/>
                <a:ea typeface="Geist Medium" pitchFamily="34" charset="-122"/>
                <a:cs typeface="Geist Medium" pitchFamily="34" charset="-120"/>
              </a:rPr>
              <a:t>Fix</a:t>
            </a:r>
            <a:endParaRPr lang="en-US" sz="2400" dirty="0"/>
          </a:p>
        </p:txBody>
      </p:sp>
      <p:sp>
        <p:nvSpPr>
          <p:cNvPr id="22" name="Text 19"/>
          <p:cNvSpPr txBox="1"/>
          <p:nvPr/>
        </p:nvSpPr>
        <p:spPr>
          <a:xfrm>
            <a:off x="4526280" y="6720840"/>
            <a:ext cx="2468880" cy="73152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Steps and templates. Upload, re-read, repeat.</a:t>
            </a:r>
            <a:endParaRPr lang="en-US" sz="1350" dirty="0"/>
          </a:p>
        </p:txBody>
      </p:sp>
      <p:pic>
        <p:nvPicPr>
          <p:cNvPr id="23" name="Image 0" descr="/home/andi/deckbuild/img/brain-paper.png">    </p:cNvPr>
          <p:cNvPicPr>
            <a:picLocks noChangeAspect="1"/>
          </p:cNvPicPr>
          <p:nvPr/>
        </p:nvPicPr>
        <p:blipFill>
          <a:blip r:embed="rId1"/>
          <a:stretch>
            <a:fillRect/>
          </a:stretch>
        </p:blipFill>
        <p:spPr>
          <a:xfrm>
            <a:off x="9098280" y="3749040"/>
            <a:ext cx="822960" cy="822960"/>
          </a:xfrm>
          <a:prstGeom prst="rect">
            <a:avLst/>
          </a:prstGeom>
        </p:spPr>
      </p:pic>
      <p:sp>
        <p:nvSpPr>
          <p:cNvPr id="24" name="Text 20"/>
          <p:cNvSpPr txBox="1"/>
          <p:nvPr/>
        </p:nvSpPr>
        <p:spPr>
          <a:xfrm>
            <a:off x="10104120" y="3995928"/>
            <a:ext cx="2743200" cy="365760"/>
          </a:xfrm>
          <a:prstGeom prst="rect">
            <a:avLst/>
          </a:prstGeom>
          <a:noFill/>
          <a:ln/>
        </p:spPr>
        <p:txBody>
          <a:bodyPr wrap="square" lIns="0" tIns="0" rIns="0" bIns="0" rtlCol="0" anchor="t"/>
          <a:lstStyle/>
          <a:p>
            <a:pPr indent="0" marL="0">
              <a:buNone/>
            </a:pPr>
            <a:r>
              <a:rPr lang="en-US" sz="1500" dirty="0">
                <a:solidFill>
                  <a:srgbClr val="8FA3A8"/>
                </a:solidFill>
                <a:latin typeface="Geist" pitchFamily="34" charset="0"/>
                <a:ea typeface="Geist" pitchFamily="34" charset="-122"/>
                <a:cs typeface="Geist" pitchFamily="34" charset="-120"/>
              </a:rPr>
              <a:t>The brain</a:t>
            </a:r>
            <a:endParaRPr lang="en-US" sz="1500" dirty="0"/>
          </a:p>
        </p:txBody>
      </p:sp>
      <p:sp>
        <p:nvSpPr>
          <p:cNvPr id="25" name="Shape 21"/>
          <p:cNvSpPr/>
          <p:nvPr/>
        </p:nvSpPr>
        <p:spPr>
          <a:xfrm>
            <a:off x="9098280" y="4983480"/>
            <a:ext cx="2331720" cy="0"/>
          </a:xfrm>
          <a:prstGeom prst="line">
            <a:avLst/>
          </a:prstGeom>
          <a:noFill/>
          <a:ln w="9525">
            <a:solidFill>
              <a:srgbClr val="4A5E64"/>
            </a:solidFill>
            <a:prstDash val="solid"/>
          </a:ln>
        </p:spPr>
      </p:sp>
      <p:sp>
        <p:nvSpPr>
          <p:cNvPr id="26" name="Text 22"/>
          <p:cNvSpPr txBox="1"/>
          <p:nvPr/>
        </p:nvSpPr>
        <p:spPr>
          <a:xfrm>
            <a:off x="9098280" y="5129784"/>
            <a:ext cx="731520" cy="274320"/>
          </a:xfrm>
          <a:prstGeom prst="rect">
            <a:avLst/>
          </a:prstGeom>
          <a:noFill/>
          <a:ln/>
        </p:spPr>
        <p:txBody>
          <a:bodyPr wrap="square" lIns="0" tIns="0" rIns="0" bIns="0" rtlCol="0" anchor="t"/>
          <a:lstStyle/>
          <a:p>
            <a:pPr indent="0" marL="0">
              <a:buNone/>
            </a:pPr>
            <a:r>
              <a:rPr lang="en-US" sz="1300" dirty="0">
                <a:solidFill>
                  <a:srgbClr val="8FA3A8"/>
                </a:solidFill>
                <a:latin typeface="Geist" pitchFamily="34" charset="0"/>
                <a:ea typeface="Geist" pitchFamily="34" charset="-122"/>
                <a:cs typeface="Geist" pitchFamily="34" charset="-120"/>
              </a:rPr>
              <a:t>03</a:t>
            </a:r>
            <a:endParaRPr lang="en-US" sz="1300" dirty="0"/>
          </a:p>
        </p:txBody>
      </p:sp>
      <p:sp>
        <p:nvSpPr>
          <p:cNvPr id="27" name="Text 23"/>
          <p:cNvSpPr txBox="1"/>
          <p:nvPr/>
        </p:nvSpPr>
        <p:spPr>
          <a:xfrm>
            <a:off x="9098280" y="5385816"/>
            <a:ext cx="2331720" cy="411480"/>
          </a:xfrm>
          <a:prstGeom prst="rect">
            <a:avLst/>
          </a:prstGeom>
          <a:noFill/>
          <a:ln/>
        </p:spPr>
        <p:txBody>
          <a:bodyPr wrap="square" lIns="0" tIns="0" rIns="0" bIns="0" rtlCol="0" anchor="t"/>
          <a:lstStyle/>
          <a:p>
            <a:pPr indent="0" marL="0">
              <a:buNone/>
            </a:pPr>
            <a:r>
              <a:rPr lang="en-US" sz="2400" dirty="0">
                <a:solidFill>
                  <a:srgbClr val="F6F4EE"/>
                </a:solidFill>
                <a:latin typeface="Geist Medium" pitchFamily="34" charset="0"/>
                <a:ea typeface="Geist Medium" pitchFamily="34" charset="-122"/>
                <a:cs typeface="Geist Medium" pitchFamily="34" charset="-120"/>
              </a:rPr>
              <a:t>Evidence</a:t>
            </a:r>
            <a:endParaRPr lang="en-US" sz="2400" dirty="0"/>
          </a:p>
        </p:txBody>
      </p:sp>
      <p:sp>
        <p:nvSpPr>
          <p:cNvPr id="28" name="Text 24"/>
          <p:cNvSpPr txBox="1"/>
          <p:nvPr/>
        </p:nvSpPr>
        <p:spPr>
          <a:xfrm>
            <a:off x="9098280" y="5852160"/>
            <a:ext cx="2331720" cy="731520"/>
          </a:xfrm>
          <a:prstGeom prst="rect">
            <a:avLst/>
          </a:prstGeom>
          <a:noFill/>
          <a:ln/>
        </p:spPr>
        <p:txBody>
          <a:bodyPr wrap="square" lIns="0" tIns="0" rIns="0" bIns="0" rtlCol="0" anchor="t"/>
          <a:lstStyle/>
          <a:p>
            <a:pPr indent="0" marL="0">
              <a:buNone/>
            </a:pPr>
            <a:r>
              <a:rPr lang="en-US" sz="1350" dirty="0">
                <a:solidFill>
                  <a:srgbClr val="B7C4C7"/>
                </a:solidFill>
                <a:latin typeface="Geist" pitchFamily="34" charset="0"/>
                <a:ea typeface="Geist" pitchFamily="34" charset="-122"/>
                <a:cs typeface="Geist" pitchFamily="34" charset="-120"/>
              </a:rPr>
              <a:t>Inventory, data flows, evidence graph.</a:t>
            </a:r>
            <a:endParaRPr lang="en-US" sz="1350" dirty="0"/>
          </a:p>
        </p:txBody>
      </p:sp>
      <p:sp>
        <p:nvSpPr>
          <p:cNvPr id="29" name="Shape 25"/>
          <p:cNvSpPr/>
          <p:nvPr/>
        </p:nvSpPr>
        <p:spPr>
          <a:xfrm>
            <a:off x="11887200" y="4983480"/>
            <a:ext cx="2331720" cy="0"/>
          </a:xfrm>
          <a:prstGeom prst="line">
            <a:avLst/>
          </a:prstGeom>
          <a:noFill/>
          <a:ln w="9525">
            <a:solidFill>
              <a:srgbClr val="4A5E64"/>
            </a:solidFill>
            <a:prstDash val="solid"/>
          </a:ln>
        </p:spPr>
      </p:sp>
      <p:sp>
        <p:nvSpPr>
          <p:cNvPr id="30" name="Text 26"/>
          <p:cNvSpPr txBox="1"/>
          <p:nvPr/>
        </p:nvSpPr>
        <p:spPr>
          <a:xfrm>
            <a:off x="11887200" y="5129784"/>
            <a:ext cx="731520" cy="274320"/>
          </a:xfrm>
          <a:prstGeom prst="rect">
            <a:avLst/>
          </a:prstGeom>
          <a:noFill/>
          <a:ln/>
        </p:spPr>
        <p:txBody>
          <a:bodyPr wrap="square" lIns="0" tIns="0" rIns="0" bIns="0" rtlCol="0" anchor="t"/>
          <a:lstStyle/>
          <a:p>
            <a:pPr indent="0" marL="0">
              <a:buNone/>
            </a:pPr>
            <a:r>
              <a:rPr lang="en-US" sz="1300" dirty="0">
                <a:solidFill>
                  <a:srgbClr val="8FA3A8"/>
                </a:solidFill>
                <a:latin typeface="Geist" pitchFamily="34" charset="0"/>
                <a:ea typeface="Geist" pitchFamily="34" charset="-122"/>
                <a:cs typeface="Geist" pitchFamily="34" charset="-120"/>
              </a:rPr>
              <a:t>04</a:t>
            </a:r>
            <a:endParaRPr lang="en-US" sz="1300" dirty="0"/>
          </a:p>
        </p:txBody>
      </p:sp>
      <p:sp>
        <p:nvSpPr>
          <p:cNvPr id="31" name="Text 27"/>
          <p:cNvSpPr txBox="1"/>
          <p:nvPr/>
        </p:nvSpPr>
        <p:spPr>
          <a:xfrm>
            <a:off x="11887200" y="5385816"/>
            <a:ext cx="2331720" cy="411480"/>
          </a:xfrm>
          <a:prstGeom prst="rect">
            <a:avLst/>
          </a:prstGeom>
          <a:noFill/>
          <a:ln/>
        </p:spPr>
        <p:txBody>
          <a:bodyPr wrap="square" lIns="0" tIns="0" rIns="0" bIns="0" rtlCol="0" anchor="t"/>
          <a:lstStyle/>
          <a:p>
            <a:pPr indent="0" marL="0">
              <a:buNone/>
            </a:pPr>
            <a:r>
              <a:rPr lang="en-US" sz="2400" dirty="0">
                <a:solidFill>
                  <a:srgbClr val="F6F4EE"/>
                </a:solidFill>
                <a:latin typeface="Geist Medium" pitchFamily="34" charset="0"/>
                <a:ea typeface="Geist Medium" pitchFamily="34" charset="-122"/>
                <a:cs typeface="Geist Medium" pitchFamily="34" charset="-120"/>
              </a:rPr>
              <a:t>Advise</a:t>
            </a:r>
            <a:endParaRPr lang="en-US" sz="2400" dirty="0"/>
          </a:p>
        </p:txBody>
      </p:sp>
      <p:sp>
        <p:nvSpPr>
          <p:cNvPr id="32" name="Text 28"/>
          <p:cNvSpPr txBox="1"/>
          <p:nvPr/>
        </p:nvSpPr>
        <p:spPr>
          <a:xfrm>
            <a:off x="11887200" y="5852160"/>
            <a:ext cx="2331720" cy="731520"/>
          </a:xfrm>
          <a:prstGeom prst="rect">
            <a:avLst/>
          </a:prstGeom>
          <a:noFill/>
          <a:ln/>
        </p:spPr>
        <p:txBody>
          <a:bodyPr wrap="square" lIns="0" tIns="0" rIns="0" bIns="0" rtlCol="0" anchor="t"/>
          <a:lstStyle/>
          <a:p>
            <a:pPr indent="0" marL="0">
              <a:buNone/>
            </a:pPr>
            <a:r>
              <a:rPr lang="en-US" sz="1350" dirty="0">
                <a:solidFill>
                  <a:srgbClr val="B7C4C7"/>
                </a:solidFill>
                <a:latin typeface="Geist" pitchFamily="34" charset="0"/>
                <a:ea typeface="Geist" pitchFamily="34" charset="-122"/>
                <a:cs typeface="Geist" pitchFamily="34" charset="-120"/>
              </a:rPr>
              <a:t>What applies, where you stand, gaps ranked.</a:t>
            </a:r>
            <a:endParaRPr lang="en-US" sz="1350" dirty="0"/>
          </a:p>
        </p:txBody>
      </p:sp>
      <p:sp>
        <p:nvSpPr>
          <p:cNvPr id="33" name="Shape 29"/>
          <p:cNvSpPr/>
          <p:nvPr/>
        </p:nvSpPr>
        <p:spPr>
          <a:xfrm>
            <a:off x="14630400" y="3794760"/>
            <a:ext cx="0" cy="3474720"/>
          </a:xfrm>
          <a:prstGeom prst="line">
            <a:avLst/>
          </a:prstGeom>
          <a:noFill/>
          <a:ln w="9525">
            <a:solidFill>
              <a:srgbClr val="4A5E64"/>
            </a:solidFill>
            <a:prstDash val="solid"/>
          </a:ln>
        </p:spPr>
      </p:sp>
      <p:sp>
        <p:nvSpPr>
          <p:cNvPr id="34" name="Shape 30"/>
          <p:cNvSpPr/>
          <p:nvPr/>
        </p:nvSpPr>
        <p:spPr>
          <a:xfrm>
            <a:off x="15041880" y="4983480"/>
            <a:ext cx="1645920" cy="0"/>
          </a:xfrm>
          <a:prstGeom prst="line">
            <a:avLst/>
          </a:prstGeom>
          <a:noFill/>
          <a:ln w="9525">
            <a:solidFill>
              <a:srgbClr val="4A5E64"/>
            </a:solidFill>
            <a:prstDash val="solid"/>
          </a:ln>
        </p:spPr>
      </p:sp>
      <p:sp>
        <p:nvSpPr>
          <p:cNvPr id="35" name="Text 31"/>
          <p:cNvSpPr txBox="1"/>
          <p:nvPr/>
        </p:nvSpPr>
        <p:spPr>
          <a:xfrm>
            <a:off x="15041880" y="5129784"/>
            <a:ext cx="731520" cy="274320"/>
          </a:xfrm>
          <a:prstGeom prst="rect">
            <a:avLst/>
          </a:prstGeom>
          <a:noFill/>
          <a:ln/>
        </p:spPr>
        <p:txBody>
          <a:bodyPr wrap="square" lIns="0" tIns="0" rIns="0" bIns="0" rtlCol="0" anchor="t"/>
          <a:lstStyle/>
          <a:p>
            <a:pPr indent="0" marL="0">
              <a:buNone/>
            </a:pPr>
            <a:r>
              <a:rPr lang="en-US" sz="1300" dirty="0">
                <a:solidFill>
                  <a:srgbClr val="8FA3A8"/>
                </a:solidFill>
                <a:latin typeface="Geist" pitchFamily="34" charset="0"/>
                <a:ea typeface="Geist" pitchFamily="34" charset="-122"/>
                <a:cs typeface="Geist" pitchFamily="34" charset="-120"/>
              </a:rPr>
              <a:t>06</a:t>
            </a:r>
            <a:endParaRPr lang="en-US" sz="1300" dirty="0"/>
          </a:p>
        </p:txBody>
      </p:sp>
      <p:sp>
        <p:nvSpPr>
          <p:cNvPr id="36" name="Text 32"/>
          <p:cNvSpPr txBox="1"/>
          <p:nvPr/>
        </p:nvSpPr>
        <p:spPr>
          <a:xfrm>
            <a:off x="15041880" y="5385816"/>
            <a:ext cx="1645920" cy="411480"/>
          </a:xfrm>
          <a:prstGeom prst="rect">
            <a:avLst/>
          </a:prstGeom>
          <a:noFill/>
          <a:ln/>
        </p:spPr>
        <p:txBody>
          <a:bodyPr wrap="square" lIns="0" tIns="0" rIns="0" bIns="0" rtlCol="0" anchor="t"/>
          <a:lstStyle/>
          <a:p>
            <a:pPr indent="0" marL="0">
              <a:buNone/>
            </a:pPr>
            <a:r>
              <a:rPr lang="en-US" sz="2400" dirty="0">
                <a:solidFill>
                  <a:srgbClr val="F6F4EE"/>
                </a:solidFill>
                <a:latin typeface="Geist Medium" pitchFamily="34" charset="0"/>
                <a:ea typeface="Geist Medium" pitchFamily="34" charset="-122"/>
                <a:cs typeface="Geist Medium" pitchFamily="34" charset="-120"/>
              </a:rPr>
              <a:t>Confirm</a:t>
            </a:r>
            <a:endParaRPr lang="en-US" sz="2400" dirty="0"/>
          </a:p>
        </p:txBody>
      </p:sp>
      <p:sp>
        <p:nvSpPr>
          <p:cNvPr id="37" name="Text 33"/>
          <p:cNvSpPr txBox="1"/>
          <p:nvPr/>
        </p:nvSpPr>
        <p:spPr>
          <a:xfrm>
            <a:off x="15041880" y="5852160"/>
            <a:ext cx="1645920" cy="731520"/>
          </a:xfrm>
          <a:prstGeom prst="rect">
            <a:avLst/>
          </a:prstGeom>
          <a:noFill/>
          <a:ln/>
        </p:spPr>
        <p:txBody>
          <a:bodyPr wrap="square" lIns="0" tIns="0" rIns="0" bIns="0" rtlCol="0" anchor="t"/>
          <a:lstStyle/>
          <a:p>
            <a:pPr indent="0" marL="0">
              <a:buNone/>
            </a:pPr>
            <a:r>
              <a:rPr lang="en-US" sz="1350" dirty="0">
                <a:solidFill>
                  <a:srgbClr val="B7C4C7"/>
                </a:solidFill>
                <a:latin typeface="Geist" pitchFamily="34" charset="0"/>
                <a:ea typeface="Geist" pitchFamily="34" charset="-122"/>
                <a:cs typeface="Geist" pitchFamily="34" charset="-120"/>
              </a:rPr>
              <a:t>The partner lawyer signs in writing.</a:t>
            </a:r>
            <a:endParaRPr lang="en-US" sz="1350" dirty="0"/>
          </a:p>
        </p:txBody>
      </p:sp>
      <p:sp>
        <p:nvSpPr>
          <p:cNvPr id="38" name="Shape 34"/>
          <p:cNvSpPr/>
          <p:nvPr/>
        </p:nvSpPr>
        <p:spPr>
          <a:xfrm>
            <a:off x="7589520" y="4343400"/>
            <a:ext cx="914400" cy="0"/>
          </a:xfrm>
          <a:prstGeom prst="line">
            <a:avLst/>
          </a:prstGeom>
          <a:noFill/>
          <a:ln w="15875">
            <a:solidFill>
              <a:srgbClr val="55676B"/>
            </a:solidFill>
            <a:prstDash val="solid"/>
            <a:tailEnd type="triangle"/>
          </a:ln>
        </p:spPr>
      </p:sp>
      <p:sp>
        <p:nvSpPr>
          <p:cNvPr id="39" name="Text 35"/>
          <p:cNvSpPr txBox="1"/>
          <p:nvPr/>
        </p:nvSpPr>
        <p:spPr>
          <a:xfrm>
            <a:off x="7452360" y="3959352"/>
            <a:ext cx="1188720" cy="274320"/>
          </a:xfrm>
          <a:prstGeom prst="rect">
            <a:avLst/>
          </a:prstGeom>
          <a:noFill/>
          <a:ln/>
        </p:spPr>
        <p:txBody>
          <a:bodyPr wrap="square" lIns="0" tIns="0" rIns="0" bIns="0" rtlCol="0" anchor="t"/>
          <a:lstStyle/>
          <a:p>
            <a:pPr algn="ctr" indent="0" marL="0">
              <a:buNone/>
            </a:pPr>
            <a:r>
              <a:rPr lang="en-US" sz="1150" dirty="0">
                <a:solidFill>
                  <a:srgbClr val="55676B"/>
                </a:solidFill>
                <a:latin typeface="Geist" pitchFamily="34" charset="0"/>
                <a:ea typeface="Geist" pitchFamily="34" charset="-122"/>
                <a:cs typeface="Geist" pitchFamily="34" charset="-120"/>
              </a:rPr>
              <a:t>report</a:t>
            </a:r>
            <a:endParaRPr lang="en-US" sz="1150" dirty="0"/>
          </a:p>
        </p:txBody>
      </p:sp>
      <p:sp>
        <p:nvSpPr>
          <p:cNvPr id="40" name="Shape 36"/>
          <p:cNvSpPr/>
          <p:nvPr/>
        </p:nvSpPr>
        <p:spPr>
          <a:xfrm>
            <a:off x="7589520" y="6400800"/>
            <a:ext cx="914400" cy="0"/>
          </a:xfrm>
          <a:prstGeom prst="line">
            <a:avLst/>
          </a:prstGeom>
          <a:noFill/>
          <a:ln w="15875">
            <a:solidFill>
              <a:srgbClr val="55676B"/>
            </a:solidFill>
            <a:prstDash val="solid"/>
            <a:headEnd type="triangle"/>
            <a:tailEnd type="triangle"/>
          </a:ln>
        </p:spPr>
      </p:sp>
      <p:sp>
        <p:nvSpPr>
          <p:cNvPr id="41" name="Text 37"/>
          <p:cNvSpPr txBox="1"/>
          <p:nvPr/>
        </p:nvSpPr>
        <p:spPr>
          <a:xfrm>
            <a:off x="7452360" y="6016752"/>
            <a:ext cx="1188720" cy="274320"/>
          </a:xfrm>
          <a:prstGeom prst="rect">
            <a:avLst/>
          </a:prstGeom>
          <a:noFill/>
          <a:ln/>
        </p:spPr>
        <p:txBody>
          <a:bodyPr wrap="square" lIns="0" tIns="0" rIns="0" bIns="0" rtlCol="0" anchor="t"/>
          <a:lstStyle/>
          <a:p>
            <a:pPr algn="ctr" indent="0" marL="0">
              <a:buNone/>
            </a:pPr>
            <a:r>
              <a:rPr lang="en-US" sz="1150" dirty="0">
                <a:solidFill>
                  <a:srgbClr val="55676B"/>
                </a:solidFill>
                <a:latin typeface="Geist" pitchFamily="34" charset="0"/>
                <a:ea typeface="Geist" pitchFamily="34" charset="-122"/>
                <a:cs typeface="Geist" pitchFamily="34" charset="-120"/>
              </a:rPr>
              <a:t>gaps</a:t>
            </a:r>
            <a:endParaRPr lang="en-US" sz="1150" dirty="0"/>
          </a:p>
        </p:txBody>
      </p:sp>
      <p:sp>
        <p:nvSpPr>
          <p:cNvPr id="42" name="Text 38"/>
          <p:cNvSpPr txBox="1"/>
          <p:nvPr/>
        </p:nvSpPr>
        <p:spPr>
          <a:xfrm>
            <a:off x="7452360" y="6492240"/>
            <a:ext cx="1188720" cy="274320"/>
          </a:xfrm>
          <a:prstGeom prst="rect">
            <a:avLst/>
          </a:prstGeom>
          <a:noFill/>
          <a:ln/>
        </p:spPr>
        <p:txBody>
          <a:bodyPr wrap="square" lIns="0" tIns="0" rIns="0" bIns="0" rtlCol="0" anchor="t"/>
          <a:lstStyle/>
          <a:p>
            <a:pPr algn="ctr" indent="0" marL="0">
              <a:buNone/>
            </a:pPr>
            <a:r>
              <a:rPr lang="en-US" sz="1150" dirty="0">
                <a:solidFill>
                  <a:srgbClr val="55676B"/>
                </a:solidFill>
                <a:latin typeface="Geist" pitchFamily="34" charset="0"/>
                <a:ea typeface="Geist" pitchFamily="34" charset="-122"/>
                <a:cs typeface="Geist" pitchFamily="34" charset="-120"/>
              </a:rPr>
              <a:t>evidence</a:t>
            </a:r>
            <a:endParaRPr lang="en-US" sz="1150" dirty="0"/>
          </a:p>
        </p:txBody>
      </p:sp>
      <p:sp>
        <p:nvSpPr>
          <p:cNvPr id="43" name="Text 39"/>
          <p:cNvSpPr txBox="1"/>
          <p:nvPr/>
        </p:nvSpPr>
        <p:spPr>
          <a:xfrm>
            <a:off x="1143000" y="8138160"/>
            <a:ext cx="4968240" cy="36576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Nothing leaves before one person approves</a:t>
            </a:r>
            <a:endParaRPr lang="en-US" sz="1300" dirty="0"/>
          </a:p>
        </p:txBody>
      </p:sp>
      <p:sp>
        <p:nvSpPr>
          <p:cNvPr id="44" name="Text 40"/>
          <p:cNvSpPr txBox="1"/>
          <p:nvPr/>
        </p:nvSpPr>
        <p:spPr>
          <a:xfrm>
            <a:off x="6477000" y="8138160"/>
            <a:ext cx="4968240" cy="36576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Every answer cites its article and its evidence</a:t>
            </a:r>
            <a:endParaRPr lang="en-US" sz="1300" dirty="0"/>
          </a:p>
        </p:txBody>
      </p:sp>
      <p:sp>
        <p:nvSpPr>
          <p:cNvPr id="45" name="Text 41"/>
          <p:cNvSpPr txBox="1"/>
          <p:nvPr/>
        </p:nvSpPr>
        <p:spPr>
          <a:xfrm>
            <a:off x="11811000" y="8138160"/>
            <a:ext cx="4968240" cy="36576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A lawyer signs where the law reserves the verdict</a:t>
            </a:r>
            <a:endParaRPr lang="en-US" sz="1300" dirty="0"/>
          </a:p>
        </p:txBody>
      </p:sp>
    </p:spTree>
  </p:cSld>
  <p:clrMapOvr>
    <a:masterClrMapping/>
  </p:clrMapOvr>
</p:sld>
</file>

<file path=ppt/theme/theme1.xml><?xml version="1.0" encoding="utf-8"?>
<a:theme xmlns:a="http://schemas.openxmlformats.org/drawingml/2006/main" name="Regulift">
  <a:themeElements>
    <a:clrScheme name="Regulift">
      <a:dk1>
        <a:srgbClr val="1C2B2F"/>
      </a:dk1>
      <a:lt1>
        <a:srgbClr val="F6F4EE"/>
      </a:lt1>
      <a:dk2>
        <a:srgbClr val="55676B"/>
      </a:dk2>
      <a:lt2>
        <a:srgbClr val="E7EDEC"/>
      </a:lt2>
      <a:accent1>
        <a:srgbClr val="3E6670"/>
      </a:accent1>
      <a:accent2>
        <a:srgbClr val="8A9A9D"/>
      </a:accent2>
      <a:accent3>
        <a:srgbClr val="E3E0D7"/>
      </a:accent3>
      <a:accent4>
        <a:srgbClr val="CFD6D3"/>
      </a:accent4>
      <a:accent5>
        <a:srgbClr val="FCFBF8"/>
      </a:accent5>
      <a:accent6>
        <a:srgbClr val="3E6670"/>
      </a:accent6>
      <a:hlink>
        <a:srgbClr val="3E6670"/>
      </a:hlink>
      <a:folHlink>
        <a:srgbClr val="55676B"/>
      </a:folHlink>
    </a:clrScheme>
    <a:fontScheme name="Regulift">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Regulift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Regulift. The product.</dc:title>
  <dc:subject>PptxGenJS Presentation</dc:subject>
  <dc:creator>Simone Mattioli, Andreas Herzinger</dc:creator>
  <cp:lastModifiedBy>Simone Mattioli, Andreas Herzinger</cp:lastModifiedBy>
  <cp:revision>1</cp:revision>
  <dcterms:created xsi:type="dcterms:W3CDTF">2026-10-18T14:12:46Z</dcterms:created>
  <dcterms:modified xsi:type="dcterms:W3CDTF">2026-10-18T14:12:46Z</dcterms:modified>
</cp:coreProperties>
</file>