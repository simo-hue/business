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candidate markets, four criteria scored one to five on sourced facts. The first column is the gate: may software give a company its legal answer? Grey rows fail it. Sources: FILES/research-countries.md and FILES/research-legal-*.md.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Germany is the destination from day one. Starting there would force a gated product before anyone knows whether the ungated one sells. So the full adviser is built and proven where it may speak, and Germany arrives as an upgrade our Dutch customers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ten countries from the analysis are coloured. Black: software may advise. Teal: the adviser prepares and a lawyer signs. Grey: firm-led. Orange: our path, the Netherlands first, the open markets next, Germany as the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are proposed, inside the researched ranges. The lawyer column is illustrative: 40 hours at the German standard rate of 244 euro (BRAK STAR 2024). One NIS2 applicability opinion alone sells for 3,900 euro fixed. The country pack at 600 euro is a proposal, a third of a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Founder-problem fit: Andreas builds the kind of system the product is; Simone owns customers and partners, which is what year one needs. Stage: live website, designed collector, researched legal map, legal model under verification, no customer yet, no firm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B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etten.overheid.nl/BWBR0002093/2026-01-01" TargetMode="External"/><Relationship Id="rId2" Type="http://schemas.openxmlformats.org/officeDocument/2006/relationships/hyperlink" Target="https://www.riksdagen.se/sv/dokument-och-lagar/dokument/svensk-forfattningssamling/lag-1985354-om-forbud-mot-juridiskt-eller_sfs-1985-354/" TargetMode="External"/><Relationship Id="rId3" Type="http://schemas.openxmlformats.org/officeDocument/2006/relationships/hyperlink" Target="https://www.retsinformation.dk/eli/lta/2025/1298/pdf" TargetMode="External"/><Relationship Id="rId4" Type="http://schemas.openxmlformats.org/officeDocument/2006/relationships/hyperlink" Target="https://opendata.finlex.fi/finlex/avoindata/v1/akn/fi/act/statute-consolidated/1958/496/fin@20250543" TargetMode="External"/><Relationship Id="rId5" Type="http://schemas.openxmlformats.org/officeDocument/2006/relationships/hyperlink" Target="https://api.sejm.gov.pl/eli/acts/DU/2026/1290/text.pdf" TargetMode="External"/><Relationship Id="rId6" Type="http://schemas.openxmlformats.org/officeDocument/2006/relationships/hyperlink" Target="https://www.ejustice.just.fgov.be/eli/loi/1967/10/10/1967101053/justel" TargetMode="External"/><Relationship Id="rId7" Type="http://schemas.openxmlformats.org/officeDocument/2006/relationships/hyperlink" Target="https://www.fedlex.admin.ch/eli/cc/2002/153/de" TargetMode="External"/><Relationship Id="rId8" Type="http://schemas.openxmlformats.org/officeDocument/2006/relationships/hyperlink" Target="https://www.gesetze-im-internet.de/rdg/" TargetMode="External"/><Relationship Id="rId9" Type="http://schemas.openxmlformats.org/officeDocument/2006/relationships/hyperlink" Target="https://www.bundesgerichtshof.de/SharedDocs/Pressemitteilungen/DE/2021/2021171.html" TargetMode="External"/><Relationship Id="rId10" Type="http://schemas.openxmlformats.org/officeDocument/2006/relationships/hyperlink" Target="https://www.normattiva.it/uri-res/N2Ls?urn:nir:stato:legge:2012-12-31;247~art2" TargetMode="External"/><Relationship Id="rId11" Type="http://schemas.openxmlformats.org/officeDocument/2006/relationships/hyperlink" Target="https://www.ris.bka.gv.at/NormDokument.wxe?Abfrage=Bundesnormen&amp;Gesetzesnummer=10001673&amp;Paragraf=8" TargetMode="External"/><Relationship Id="rId12" Type="http://schemas.openxmlformats.org/officeDocument/2006/relationships/hyperlink" Target="https://ec.europa.eu/eurostat/databrowser/view/sbs_sc_ovw/default/table" TargetMode="External"/><Relationship Id="rId13" Type="http://schemas.openxmlformats.org/officeDocument/2006/relationships/hyperlink" Target="https://dam-api.bfs.admin.ch/hub/api/dam/assets/36734571/master" TargetMode="External"/><Relationship Id="rId14" Type="http://schemas.openxmlformats.org/officeDocument/2006/relationships/hyperlink" Target="https://ec.europa.eu/eurostat/databrowser/view/sbs_ovw_act/default/table" TargetMode="External"/><Relationship Id="rId15" Type="http://schemas.openxmlformats.org/officeDocument/2006/relationships/hyperlink" Target="https://e-justice.europa.eu/topics/taking-legal-action/where-and-how/costs_en" TargetMode="External"/><Relationship Id="rId16" Type="http://schemas.openxmlformats.org/officeDocument/2006/relationships/hyperlink" Target="https://www.rdi.nl/actueel/nieuws/2026/08/15/de-cyberbeveiligingswet-treedt-in-werking" TargetMode="External"/><Relationship Id="rId17" Type="http://schemas.openxmlformats.org/officeDocument/2006/relationships/hyperlink" Target="https://www.riksdagen.se/sv/dokument-och-lagar/dokument/svensk-forfattningssamling/cybersakerhetslag-20251506_sfs-2025-1506/" TargetMode="External"/><Relationship Id="rId18" Type="http://schemas.openxmlformats.org/officeDocument/2006/relationships/hyperlink" Target="https://www.retsinformation.dk/eli/lta/2025/434" TargetMode="External"/><Relationship Id="rId19" Type="http://schemas.openxmlformats.org/officeDocument/2006/relationships/hyperlink" Target="https://www.finlex.fi/fi/lainsaadanto/2025/124" TargetMode="External"/><Relationship Id="rId20" Type="http://schemas.openxmlformats.org/officeDocument/2006/relationships/hyperlink" Target="https://api.sejm.gov.pl/eli/acts/DU/2026/252" TargetMode="External"/><Relationship Id="rId21" Type="http://schemas.openxmlformats.org/officeDocument/2006/relationships/hyperlink" Target="https://www.bsi.bund.de/DE/Service-Navi/Presse/Pressemitteilungen/Presse2025/251205_NIS-2-Umsetzungsgesetz_in_Kraft.html" TargetMode="External"/><Relationship Id="rId22" Type="http://schemas.openxmlformats.org/officeDocument/2006/relationships/hyperlink" Target="https://www.gazzettaufficiale.it/eli/id/2024/10/01/24G00155/sg" TargetMode="External"/><Relationship Id="rId23" Type="http://schemas.openxmlformats.org/officeDocument/2006/relationships/hyperlink" Target="https://www.ris.bka.gv.at/Dokumente/Bundesnormen/NOR40273890/NOR40273890.pdf" TargetMode="External"/><Relationship Id="rId24" Type="http://schemas.openxmlformats.org/officeDocument/2006/relationships/hyperlink" Target="https://digital-strategy.ec.europa.eu/en/policies/nis-transposition" TargetMode="External"/><Relationship Id="rId25" Type="http://schemas.openxmlformats.org/officeDocument/2006/relationships/slideLayout" Target="../slideLayouts/slideLayout2.xml"/><Relationship Id="rId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bundesgerichtshof.de/SharedDocs/Pressemitteilungen/DE/2021/2021171.html"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etten.overheid.nl/BWBR0002093/2026-01-01" TargetMode="External"/><Relationship Id="rId3" Type="http://schemas.openxmlformats.org/officeDocument/2006/relationships/hyperlink" Target="https://www.gesetze-im-internet.de/rdg/" TargetMode="External"/><Relationship Id="rId4" Type="http://schemas.openxmlformats.org/officeDocument/2006/relationships/hyperlink" Target="https://www.ris.bka.gv.at/NormDokument.wxe?Abfrage=Bundesnormen&amp;Gesetzesnummer=10001673&amp;Paragraf=8" TargetMode="External"/><Relationship Id="rId5" Type="http://schemas.openxmlformats.org/officeDocument/2006/relationships/hyperlink" Target="https://www.rdi.nl/actueel/nieuws/2026/08/15/de-cyberbeveiligingswet-treedt-in-werking" TargetMode="External"/><Relationship Id="rId6" Type="http://schemas.openxmlformats.org/officeDocument/2006/relationships/hyperlink" Target="https://www.nctv.nl/onderwerpen/c/cyberbeveiligingswet/vragen-en-antwoorden" TargetMode="External"/><Relationship Id="rId1" Type="http://schemas.openxmlformats.org/officeDocument/2006/relationships/image" Target="../media/image-3-1.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beck-aktuell.de/rechtsbranche/anwaltschaft/brak-star-umfrage-statistik-anwaltschaft-maenner-frauen-unterschiede-einkommen-2026-02-10" TargetMode="External"/><Relationship Id="rId2" Type="http://schemas.openxmlformats.org/officeDocument/2006/relationships/hyperlink" Target="https://www.srd-rechtsanwaelte.de/nis2-anwendbarkeit-pruefen" TargetMode="External"/><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069848" y="1993392"/>
            <a:ext cx="9144000" cy="347472"/>
          </a:xfrm>
          <a:prstGeom prst="rect">
            <a:avLst/>
          </a:prstGeom>
          <a:noFill/>
          <a:ln/>
        </p:spPr>
        <p:txBody>
          <a:bodyPr wrap="square" lIns="0" tIns="0" rIns="0" bIns="0" rtlCol="0" anchor="t"/>
          <a:lstStyle/>
          <a:p>
            <a:pPr indent="0" marL="0">
              <a:buNone/>
            </a:pPr>
            <a:r>
              <a:rPr lang="en-US" sz="1700" b="1" spc="100" kern="0" dirty="0">
                <a:solidFill>
                  <a:srgbClr val="497078"/>
                </a:solidFill>
                <a:latin typeface="Poppins" pitchFamily="34" charset="0"/>
                <a:ea typeface="Poppins" pitchFamily="34" charset="-122"/>
                <a:cs typeface="Poppins" pitchFamily="34" charset="-120"/>
              </a:rPr>
              <a:t>MARKET ANALYSIS</a:t>
            </a:r>
            <a:endParaRPr lang="en-US" sz="1700" dirty="0"/>
          </a:p>
        </p:txBody>
      </p:sp>
      <p:sp>
        <p:nvSpPr>
          <p:cNvPr id="3" name="Text 1"/>
          <p:cNvSpPr txBox="1"/>
          <p:nvPr/>
        </p:nvSpPr>
        <p:spPr>
          <a:xfrm>
            <a:off x="1042416" y="2496312"/>
            <a:ext cx="16203168" cy="868680"/>
          </a:xfrm>
          <a:prstGeom prst="rect">
            <a:avLst/>
          </a:prstGeom>
          <a:noFill/>
          <a:ln/>
        </p:spPr>
        <p:txBody>
          <a:bodyPr wrap="square" lIns="0" tIns="0" rIns="0" bIns="0" rtlCol="0" anchor="t"/>
          <a:lstStyle/>
          <a:p>
            <a:pPr indent="0" marL="0">
              <a:buNone/>
            </a:pPr>
            <a:r>
              <a:rPr lang="en-US" sz="5300" b="1" spc="-100" kern="0" dirty="0">
                <a:solidFill>
                  <a:srgbClr val="171717"/>
                </a:solidFill>
                <a:latin typeface="Poppins" pitchFamily="34" charset="0"/>
                <a:ea typeface="Poppins" pitchFamily="34" charset="-122"/>
                <a:cs typeface="Poppins" pitchFamily="34" charset="-120"/>
              </a:rPr>
              <a:t>FOUR CRITERIA. </a:t>
            </a:r>
            <a:pPr indent="0" marL="0">
              <a:buNone/>
            </a:pPr>
            <a:r>
              <a:rPr lang="en-US" sz="5300" b="1" spc="-100" kern="0" dirty="0">
                <a:solidFill>
                  <a:srgbClr val="497078"/>
                </a:solidFill>
                <a:latin typeface="Poppins" pitchFamily="34" charset="0"/>
                <a:ea typeface="Poppins" pitchFamily="34" charset="-122"/>
                <a:cs typeface="Poppins" pitchFamily="34" charset="-120"/>
              </a:rPr>
              <a:t>ONE IS A GATE.</a:t>
            </a:r>
            <a:endParaRPr lang="en-US" sz="5300" dirty="0"/>
          </a:p>
        </p:txBody>
      </p:sp>
      <p:sp>
        <p:nvSpPr>
          <p:cNvPr id="5" name="Shape 2"/>
          <p:cNvSpPr/>
          <p:nvPr/>
        </p:nvSpPr>
        <p:spPr>
          <a:xfrm>
            <a:off x="11695176" y="2651760"/>
            <a:ext cx="502920" cy="219456"/>
          </a:xfrm>
          <a:prstGeom prst="roundRect">
            <a:avLst>
              <a:gd name="adj" fmla="val 20833"/>
            </a:avLst>
          </a:prstGeom>
          <a:solidFill>
            <a:srgbClr val="FFFFFF"/>
          </a:solidFill>
          <a:ln w="9525">
            <a:solidFill>
              <a:srgbClr val="DADBD6"/>
            </a:solidFill>
            <a:prstDash val="solid"/>
          </a:ln>
        </p:spPr>
      </p:sp>
      <p:sp>
        <p:nvSpPr>
          <p:cNvPr id="6" name="Shape 3"/>
          <p:cNvSpPr/>
          <p:nvPr/>
        </p:nvSpPr>
        <p:spPr>
          <a:xfrm>
            <a:off x="11786616" y="2711196"/>
            <a:ext cx="100584" cy="100584"/>
          </a:xfrm>
          <a:prstGeom prst="ellipse">
            <a:avLst/>
          </a:prstGeom>
          <a:solidFill>
            <a:srgbClr val="687075"/>
          </a:solidFill>
          <a:ln w="12700">
            <a:solidFill>
              <a:srgbClr val="687075"/>
            </a:solidFill>
            <a:prstDash val="solid"/>
          </a:ln>
        </p:spPr>
      </p:sp>
      <p:sp>
        <p:nvSpPr>
          <p:cNvPr id="7" name="Shape 4"/>
          <p:cNvSpPr/>
          <p:nvPr/>
        </p:nvSpPr>
        <p:spPr>
          <a:xfrm>
            <a:off x="11914632" y="2711196"/>
            <a:ext cx="100584" cy="100584"/>
          </a:xfrm>
          <a:prstGeom prst="ellipse">
            <a:avLst/>
          </a:prstGeom>
          <a:solidFill>
            <a:srgbClr val="687075"/>
          </a:solidFill>
          <a:ln w="12700">
            <a:solidFill>
              <a:srgbClr val="687075"/>
            </a:solidFill>
            <a:prstDash val="solid"/>
          </a:ln>
        </p:spPr>
      </p:sp>
      <p:sp>
        <p:nvSpPr>
          <p:cNvPr id="8" name="Shape 5"/>
          <p:cNvSpPr/>
          <p:nvPr/>
        </p:nvSpPr>
        <p:spPr>
          <a:xfrm>
            <a:off x="12042648" y="2711196"/>
            <a:ext cx="100584" cy="100584"/>
          </a:xfrm>
          <a:prstGeom prst="ellipse">
            <a:avLst/>
          </a:prstGeom>
          <a:solidFill>
            <a:srgbClr val="DADBD6"/>
          </a:solidFill>
          <a:ln w="12700">
            <a:solidFill>
              <a:srgbClr val="DADBD6"/>
            </a:solidFill>
            <a:prstDash val="solid"/>
          </a:ln>
        </p:spPr>
      </p:sp>
      <p:sp>
        <p:nvSpPr>
          <p:cNvPr id="9" name="Text 6"/>
          <p:cNvSpPr txBox="1"/>
          <p:nvPr/>
        </p:nvSpPr>
        <p:spPr>
          <a:xfrm>
            <a:off x="12380976" y="2606040"/>
            <a:ext cx="4937760" cy="365760"/>
          </a:xfrm>
          <a:prstGeom prst="rect">
            <a:avLst/>
          </a:prstGeom>
          <a:noFill/>
          <a:ln/>
        </p:spPr>
        <p:txBody>
          <a:bodyPr wrap="square" lIns="0" tIns="0" rIns="0" bIns="0" rtlCol="0" anchor="t"/>
          <a:lstStyle/>
          <a:p>
            <a:pPr indent="0" marL="0">
              <a:buNone/>
            </a:pPr>
            <a:r>
              <a:rPr lang="en-US" sz="1250" b="1" dirty="0">
                <a:solidFill>
                  <a:srgbClr val="171717"/>
                </a:solidFill>
                <a:latin typeface="Poppins" pitchFamily="34" charset="0"/>
                <a:ea typeface="Poppins" pitchFamily="34" charset="-122"/>
                <a:cs typeface="Poppins" pitchFamily="34" charset="-120"/>
              </a:rPr>
              <a:t>Grey rows </a:t>
            </a:r>
            <a:pPr indent="0" marL="0">
              <a:buNone/>
            </a:pPr>
            <a:r>
              <a:rPr lang="en-US" sz="1250" dirty="0">
                <a:solidFill>
                  <a:srgbClr val="3B3E3C"/>
                </a:solidFill>
                <a:latin typeface="Poppins" pitchFamily="34" charset="0"/>
                <a:ea typeface="Poppins" pitchFamily="34" charset="-122"/>
                <a:cs typeface="Poppins" pitchFamily="34" charset="-120"/>
              </a:rPr>
              <a:t>fail the gate.</a:t>
            </a:r>
            <a:endParaRPr lang="en-US" sz="1250" dirty="0"/>
          </a:p>
        </p:txBody>
      </p:sp>
      <p:sp>
        <p:nvSpPr>
          <p:cNvPr id="10" name="Shape 7"/>
          <p:cNvSpPr/>
          <p:nvPr/>
        </p:nvSpPr>
        <p:spPr>
          <a:xfrm>
            <a:off x="11695176" y="3108960"/>
            <a:ext cx="502920" cy="219456"/>
          </a:xfrm>
          <a:prstGeom prst="roundRect">
            <a:avLst>
              <a:gd name="adj" fmla="val 20833"/>
            </a:avLst>
          </a:prstGeom>
          <a:solidFill>
            <a:srgbClr val="FFFFFF"/>
          </a:solidFill>
          <a:ln w="9525">
            <a:solidFill>
              <a:srgbClr val="DADBD6"/>
            </a:solidFill>
            <a:prstDash val="solid"/>
          </a:ln>
        </p:spPr>
      </p:sp>
      <p:sp>
        <p:nvSpPr>
          <p:cNvPr id="11" name="Shape 8"/>
          <p:cNvSpPr/>
          <p:nvPr/>
        </p:nvSpPr>
        <p:spPr>
          <a:xfrm>
            <a:off x="11786616" y="3168396"/>
            <a:ext cx="100584" cy="100584"/>
          </a:xfrm>
          <a:prstGeom prst="ellipse">
            <a:avLst/>
          </a:prstGeom>
          <a:solidFill>
            <a:srgbClr val="171717"/>
          </a:solidFill>
          <a:ln w="12700">
            <a:solidFill>
              <a:srgbClr val="171717"/>
            </a:solidFill>
            <a:prstDash val="solid"/>
          </a:ln>
        </p:spPr>
      </p:sp>
      <p:sp>
        <p:nvSpPr>
          <p:cNvPr id="12" name="Shape 9"/>
          <p:cNvSpPr/>
          <p:nvPr/>
        </p:nvSpPr>
        <p:spPr>
          <a:xfrm>
            <a:off x="11914632" y="3168396"/>
            <a:ext cx="100584" cy="100584"/>
          </a:xfrm>
          <a:prstGeom prst="ellipse">
            <a:avLst/>
          </a:prstGeom>
          <a:solidFill>
            <a:srgbClr val="171717"/>
          </a:solidFill>
          <a:ln w="12700">
            <a:solidFill>
              <a:srgbClr val="171717"/>
            </a:solidFill>
            <a:prstDash val="solid"/>
          </a:ln>
        </p:spPr>
      </p:sp>
      <p:sp>
        <p:nvSpPr>
          <p:cNvPr id="13" name="Shape 10"/>
          <p:cNvSpPr/>
          <p:nvPr/>
        </p:nvSpPr>
        <p:spPr>
          <a:xfrm>
            <a:off x="12042648" y="3168396"/>
            <a:ext cx="100584" cy="100584"/>
          </a:xfrm>
          <a:prstGeom prst="ellipse">
            <a:avLst/>
          </a:prstGeom>
          <a:solidFill>
            <a:srgbClr val="171717"/>
          </a:solidFill>
          <a:ln w="12700">
            <a:solidFill>
              <a:srgbClr val="171717"/>
            </a:solidFill>
            <a:prstDash val="solid"/>
          </a:ln>
        </p:spPr>
      </p:sp>
      <p:sp>
        <p:nvSpPr>
          <p:cNvPr id="14" name="Text 11"/>
          <p:cNvSpPr txBox="1"/>
          <p:nvPr/>
        </p:nvSpPr>
        <p:spPr>
          <a:xfrm>
            <a:off x="12380976" y="3063240"/>
            <a:ext cx="4937760" cy="365760"/>
          </a:xfrm>
          <a:prstGeom prst="rect">
            <a:avLst/>
          </a:prstGeom>
          <a:noFill/>
          <a:ln/>
        </p:spPr>
        <p:txBody>
          <a:bodyPr wrap="square" lIns="0" tIns="0" rIns="0" bIns="0" rtlCol="0" anchor="t"/>
          <a:lstStyle/>
          <a:p>
            <a:pPr indent="0" marL="0">
              <a:buNone/>
            </a:pPr>
            <a:r>
              <a:rPr lang="en-US" sz="1250" b="1" dirty="0">
                <a:solidFill>
                  <a:srgbClr val="171717"/>
                </a:solidFill>
                <a:latin typeface="Poppins" pitchFamily="34" charset="0"/>
                <a:ea typeface="Poppins" pitchFamily="34" charset="-122"/>
                <a:cs typeface="Poppins" pitchFamily="34" charset="-120"/>
              </a:rPr>
              <a:t>Black rows </a:t>
            </a:r>
            <a:pPr indent="0" marL="0">
              <a:buNone/>
            </a:pPr>
            <a:r>
              <a:rPr lang="en-US" sz="1250" dirty="0">
                <a:solidFill>
                  <a:srgbClr val="3B3E3C"/>
                </a:solidFill>
                <a:latin typeface="Poppins" pitchFamily="34" charset="0"/>
                <a:ea typeface="Poppins" pitchFamily="34" charset="-122"/>
                <a:cs typeface="Poppins" pitchFamily="34" charset="-120"/>
              </a:rPr>
              <a:t>pass the gate.</a:t>
            </a:r>
            <a:endParaRPr lang="en-US" sz="1250" dirty="0"/>
          </a:p>
        </p:txBody>
      </p:sp>
      <p:sp>
        <p:nvSpPr>
          <p:cNvPr id="15" name="Shape 12"/>
          <p:cNvSpPr/>
          <p:nvPr/>
        </p:nvSpPr>
        <p:spPr>
          <a:xfrm>
            <a:off x="4224528" y="3776472"/>
            <a:ext cx="2423160" cy="5280660"/>
          </a:xfrm>
          <a:prstGeom prst="roundRect">
            <a:avLst>
              <a:gd name="adj" fmla="val 3774"/>
            </a:avLst>
          </a:prstGeom>
          <a:solidFill>
            <a:srgbClr val="E8F2F2"/>
          </a:solidFill>
          <a:ln w="12700">
            <a:solidFill>
              <a:srgbClr val="E8F2F2"/>
            </a:solidFill>
            <a:prstDash val="solid"/>
          </a:ln>
        </p:spPr>
      </p:sp>
      <p:sp>
        <p:nvSpPr>
          <p:cNvPr id="16" name="Shape 13"/>
          <p:cNvSpPr/>
          <p:nvPr/>
        </p:nvSpPr>
        <p:spPr>
          <a:xfrm>
            <a:off x="6720840" y="3776472"/>
            <a:ext cx="0" cy="5280660"/>
          </a:xfrm>
          <a:prstGeom prst="line">
            <a:avLst/>
          </a:prstGeom>
          <a:noFill/>
          <a:ln w="9525">
            <a:solidFill>
              <a:srgbClr val="DADBD6"/>
            </a:solidFill>
            <a:prstDash val="solid"/>
          </a:ln>
        </p:spPr>
      </p:sp>
      <p:sp>
        <p:nvSpPr>
          <p:cNvPr id="17" name="Text 14"/>
          <p:cNvSpPr txBox="1"/>
          <p:nvPr/>
        </p:nvSpPr>
        <p:spPr>
          <a:xfrm>
            <a:off x="4361688" y="3831336"/>
            <a:ext cx="1737360" cy="274320"/>
          </a:xfrm>
          <a:prstGeom prst="rect">
            <a:avLst/>
          </a:prstGeom>
          <a:noFill/>
          <a:ln/>
        </p:spPr>
        <p:txBody>
          <a:bodyPr wrap="square" lIns="0" tIns="0" rIns="0" bIns="0" rtlCol="0" anchor="t"/>
          <a:lstStyle/>
          <a:p>
            <a:pPr indent="0" marL="0">
              <a:buNone/>
            </a:pPr>
            <a:r>
              <a:rPr lang="en-US" sz="1150" b="1" dirty="0">
                <a:solidFill>
                  <a:srgbClr val="171717"/>
                </a:solidFill>
                <a:latin typeface="Poppins" pitchFamily="34" charset="0"/>
                <a:ea typeface="Poppins" pitchFamily="34" charset="-122"/>
                <a:cs typeface="Poppins" pitchFamily="34" charset="-120"/>
              </a:rPr>
              <a:t>The gate</a:t>
            </a:r>
            <a:endParaRPr lang="en-US" sz="1150" dirty="0"/>
          </a:p>
        </p:txBody>
      </p:sp>
      <p:sp>
        <p:nvSpPr>
          <p:cNvPr id="18" name="Text 15"/>
          <p:cNvSpPr txBox="1"/>
          <p:nvPr/>
        </p:nvSpPr>
        <p:spPr>
          <a:xfrm>
            <a:off x="7013448" y="3831336"/>
            <a:ext cx="3657600" cy="274320"/>
          </a:xfrm>
          <a:prstGeom prst="rect">
            <a:avLst/>
          </a:prstGeom>
          <a:noFill/>
          <a:ln/>
        </p:spPr>
        <p:txBody>
          <a:bodyPr wrap="square" lIns="0" tIns="0" rIns="0" bIns="0" rtlCol="0" anchor="t"/>
          <a:lstStyle/>
          <a:p>
            <a:pPr indent="0" marL="0">
              <a:buNone/>
            </a:pPr>
            <a:r>
              <a:rPr lang="en-US" sz="1150" dirty="0">
                <a:solidFill>
                  <a:srgbClr val="687075"/>
                </a:solidFill>
                <a:latin typeface="Poppins" pitchFamily="34" charset="0"/>
                <a:ea typeface="Poppins" pitchFamily="34" charset="-122"/>
                <a:cs typeface="Poppins" pitchFamily="34" charset="-120"/>
              </a:rPr>
              <a:t>Ranking criteria</a:t>
            </a:r>
            <a:endParaRPr lang="en-US" sz="1150" dirty="0"/>
          </a:p>
        </p:txBody>
      </p:sp>
      <p:sp>
        <p:nvSpPr>
          <p:cNvPr id="19" name="Text 16"/>
          <p:cNvSpPr txBox="1"/>
          <p:nvPr/>
        </p:nvSpPr>
        <p:spPr>
          <a:xfrm>
            <a:off x="1344168" y="4160520"/>
            <a:ext cx="2743200" cy="320040"/>
          </a:xfrm>
          <a:prstGeom prst="rect">
            <a:avLst/>
          </a:prstGeom>
          <a:noFill/>
          <a:ln/>
        </p:spPr>
        <p:txBody>
          <a:bodyPr wrap="square" lIns="0" tIns="0" rIns="0" bIns="0" rtlCol="0" anchor="t"/>
          <a:lstStyle/>
          <a:p>
            <a:pPr indent="0" marL="0">
              <a:buNone/>
            </a:pPr>
            <a:r>
              <a:rPr lang="en-US" sz="1300" b="1" dirty="0">
                <a:solidFill>
                  <a:srgbClr val="171717"/>
                </a:solidFill>
                <a:latin typeface="Poppins" pitchFamily="34" charset="0"/>
                <a:ea typeface="Poppins" pitchFamily="34" charset="-122"/>
                <a:cs typeface="Poppins" pitchFamily="34" charset="-120"/>
              </a:rPr>
              <a:t>Country</a:t>
            </a:r>
            <a:endParaRPr lang="en-US" sz="1300" dirty="0"/>
          </a:p>
        </p:txBody>
      </p:sp>
      <p:sp>
        <p:nvSpPr>
          <p:cNvPr id="20" name="Text 17"/>
          <p:cNvSpPr txBox="1"/>
          <p:nvPr/>
        </p:nvSpPr>
        <p:spPr>
          <a:xfrm>
            <a:off x="4361688" y="4160520"/>
            <a:ext cx="2606040" cy="320040"/>
          </a:xfrm>
          <a:prstGeom prst="rect">
            <a:avLst/>
          </a:prstGeom>
          <a:noFill/>
          <a:ln/>
        </p:spPr>
        <p:txBody>
          <a:bodyPr wrap="none" lIns="0" tIns="0" rIns="0" bIns="0" rtlCol="0" anchor="t"/>
          <a:lstStyle/>
          <a:p>
            <a:pPr indent="0" marL="0">
              <a:buNone/>
            </a:pPr>
            <a:r>
              <a:rPr lang="en-US" sz="1300" b="1" dirty="0">
                <a:solidFill>
                  <a:srgbClr val="171717"/>
                </a:solidFill>
                <a:latin typeface="Poppins" pitchFamily="34" charset="0"/>
                <a:ea typeface="Poppins" pitchFamily="34" charset="-122"/>
                <a:cs typeface="Poppins" pitchFamily="34" charset="-120"/>
              </a:rPr>
              <a:t>AI may advise </a:t>
            </a:r>
            <a:pPr indent="0" marL="0">
              <a:buNone/>
            </a:pPr>
            <a:r>
              <a:rPr lang="en-US" sz="1300" b="1" baseline="30000" dirty="0">
                <a:solidFill>
                  <a:srgbClr val="687075"/>
                </a:solidFill>
                <a:latin typeface="Poppins" pitchFamily="34" charset="0"/>
                <a:ea typeface="Poppins" pitchFamily="34" charset="-122"/>
                <a:cs typeface="Poppins" pitchFamily="34" charset="-120"/>
              </a:rPr>
              <a:t>1</a:t>
            </a:r>
            <a:endParaRPr lang="en-US" sz="1300" dirty="0"/>
          </a:p>
        </p:txBody>
      </p:sp>
      <p:sp>
        <p:nvSpPr>
          <p:cNvPr id="21" name="Text 18"/>
          <p:cNvSpPr txBox="1"/>
          <p:nvPr/>
        </p:nvSpPr>
        <p:spPr>
          <a:xfrm>
            <a:off x="4361688" y="4462272"/>
            <a:ext cx="2606040" cy="274320"/>
          </a:xfrm>
          <a:prstGeom prst="rect">
            <a:avLst/>
          </a:prstGeom>
          <a:noFill/>
          <a:ln/>
        </p:spPr>
        <p:txBody>
          <a:bodyPr wrap="square" lIns="0" tIns="0" rIns="0" bIns="0" rtlCol="0" anchor="t"/>
          <a:lstStyle/>
          <a:p>
            <a:pPr indent="0" marL="0">
              <a:buNone/>
            </a:pPr>
            <a:r>
              <a:rPr lang="en-US" sz="1100" dirty="0">
                <a:solidFill>
                  <a:srgbClr val="687075"/>
                </a:solidFill>
                <a:latin typeface="Poppins" pitchFamily="34" charset="0"/>
                <a:ea typeface="Poppins" pitchFamily="34" charset="-122"/>
                <a:cs typeface="Poppins" pitchFamily="34" charset="-120"/>
              </a:rPr>
              <a:t>legal without a lawyer signing</a:t>
            </a:r>
            <a:endParaRPr lang="en-US" sz="1100" dirty="0"/>
          </a:p>
        </p:txBody>
      </p:sp>
      <p:sp>
        <p:nvSpPr>
          <p:cNvPr id="22" name="Text 19"/>
          <p:cNvSpPr txBox="1"/>
          <p:nvPr/>
        </p:nvSpPr>
        <p:spPr>
          <a:xfrm>
            <a:off x="7013448" y="4160520"/>
            <a:ext cx="2606040" cy="320040"/>
          </a:xfrm>
          <a:prstGeom prst="rect">
            <a:avLst/>
          </a:prstGeom>
          <a:noFill/>
          <a:ln/>
        </p:spPr>
        <p:txBody>
          <a:bodyPr wrap="none" lIns="0" tIns="0" rIns="0" bIns="0" rtlCol="0" anchor="t"/>
          <a:lstStyle/>
          <a:p>
            <a:pPr indent="0" marL="0">
              <a:buNone/>
            </a:pPr>
            <a:r>
              <a:rPr lang="en-US" sz="1300" b="1" dirty="0">
                <a:solidFill>
                  <a:srgbClr val="171717"/>
                </a:solidFill>
                <a:latin typeface="Poppins" pitchFamily="34" charset="0"/>
                <a:ea typeface="Poppins" pitchFamily="34" charset="-122"/>
                <a:cs typeface="Poppins" pitchFamily="34" charset="-120"/>
              </a:rPr>
              <a:t>Market size </a:t>
            </a:r>
            <a:pPr indent="0" marL="0">
              <a:buNone/>
            </a:pPr>
            <a:r>
              <a:rPr lang="en-US" sz="1300" b="1" baseline="30000" dirty="0">
                <a:solidFill>
                  <a:srgbClr val="687075"/>
                </a:solidFill>
                <a:latin typeface="Poppins" pitchFamily="34" charset="0"/>
                <a:ea typeface="Poppins" pitchFamily="34" charset="-122"/>
                <a:cs typeface="Poppins" pitchFamily="34" charset="-120"/>
              </a:rPr>
              <a:t>2</a:t>
            </a:r>
            <a:endParaRPr lang="en-US" sz="1300" dirty="0"/>
          </a:p>
        </p:txBody>
      </p:sp>
      <p:sp>
        <p:nvSpPr>
          <p:cNvPr id="23" name="Text 20"/>
          <p:cNvSpPr txBox="1"/>
          <p:nvPr/>
        </p:nvSpPr>
        <p:spPr>
          <a:xfrm>
            <a:off x="7013448" y="4462272"/>
            <a:ext cx="2606040" cy="274320"/>
          </a:xfrm>
          <a:prstGeom prst="rect">
            <a:avLst/>
          </a:prstGeom>
          <a:noFill/>
          <a:ln/>
        </p:spPr>
        <p:txBody>
          <a:bodyPr wrap="square" lIns="0" tIns="0" rIns="0" bIns="0" rtlCol="0" anchor="t"/>
          <a:lstStyle/>
          <a:p>
            <a:pPr indent="0" marL="0">
              <a:buNone/>
            </a:pPr>
            <a:r>
              <a:rPr lang="en-US" sz="1100" dirty="0">
                <a:solidFill>
                  <a:srgbClr val="687075"/>
                </a:solidFill>
                <a:latin typeface="Poppins" pitchFamily="34" charset="0"/>
                <a:ea typeface="Poppins" pitchFamily="34" charset="-122"/>
                <a:cs typeface="Poppins" pitchFamily="34" charset="-120"/>
              </a:rPr>
              <a:t>firms with 50 or more staff</a:t>
            </a:r>
            <a:endParaRPr lang="en-US" sz="1100" dirty="0"/>
          </a:p>
        </p:txBody>
      </p:sp>
      <p:sp>
        <p:nvSpPr>
          <p:cNvPr id="24" name="Text 21"/>
          <p:cNvSpPr txBox="1"/>
          <p:nvPr/>
        </p:nvSpPr>
        <p:spPr>
          <a:xfrm>
            <a:off x="9665208" y="4160520"/>
            <a:ext cx="2606040" cy="320040"/>
          </a:xfrm>
          <a:prstGeom prst="rect">
            <a:avLst/>
          </a:prstGeom>
          <a:noFill/>
          <a:ln/>
        </p:spPr>
        <p:txBody>
          <a:bodyPr wrap="none" lIns="0" tIns="0" rIns="0" bIns="0" rtlCol="0" anchor="t"/>
          <a:lstStyle/>
          <a:p>
            <a:pPr indent="0" marL="0">
              <a:buNone/>
            </a:pPr>
            <a:r>
              <a:rPr lang="en-US" sz="1300" b="1" dirty="0">
                <a:solidFill>
                  <a:srgbClr val="171717"/>
                </a:solidFill>
                <a:latin typeface="Poppins" pitchFamily="34" charset="0"/>
                <a:ea typeface="Poppins" pitchFamily="34" charset="-122"/>
                <a:cs typeface="Poppins" pitchFamily="34" charset="-120"/>
              </a:rPr>
              <a:t>Savings potential </a:t>
            </a:r>
            <a:pPr indent="0" marL="0">
              <a:buNone/>
            </a:pPr>
            <a:r>
              <a:rPr lang="en-US" sz="1300" b="1" baseline="30000" dirty="0">
                <a:solidFill>
                  <a:srgbClr val="687075"/>
                </a:solidFill>
                <a:latin typeface="Poppins" pitchFamily="34" charset="0"/>
                <a:ea typeface="Poppins" pitchFamily="34" charset="-122"/>
                <a:cs typeface="Poppins" pitchFamily="34" charset="-120"/>
              </a:rPr>
              <a:t>3</a:t>
            </a:r>
            <a:endParaRPr lang="en-US" sz="1300" dirty="0"/>
          </a:p>
        </p:txBody>
      </p:sp>
      <p:sp>
        <p:nvSpPr>
          <p:cNvPr id="25" name="Text 22"/>
          <p:cNvSpPr txBox="1"/>
          <p:nvPr/>
        </p:nvSpPr>
        <p:spPr>
          <a:xfrm>
            <a:off x="9665208" y="4462272"/>
            <a:ext cx="2606040" cy="274320"/>
          </a:xfrm>
          <a:prstGeom prst="rect">
            <a:avLst/>
          </a:prstGeom>
          <a:noFill/>
          <a:ln/>
        </p:spPr>
        <p:txBody>
          <a:bodyPr wrap="square" lIns="0" tIns="0" rIns="0" bIns="0" rtlCol="0" anchor="t"/>
          <a:lstStyle/>
          <a:p>
            <a:pPr indent="0" marL="0">
              <a:buNone/>
            </a:pPr>
            <a:r>
              <a:rPr lang="en-US" sz="1100" dirty="0">
                <a:solidFill>
                  <a:srgbClr val="687075"/>
                </a:solidFill>
                <a:latin typeface="Poppins" pitchFamily="34" charset="0"/>
                <a:ea typeface="Poppins" pitchFamily="34" charset="-122"/>
                <a:cs typeface="Poppins" pitchFamily="34" charset="-120"/>
              </a:rPr>
              <a:t>on lawyer cost</a:t>
            </a:r>
            <a:endParaRPr lang="en-US" sz="1100" dirty="0"/>
          </a:p>
        </p:txBody>
      </p:sp>
      <p:sp>
        <p:nvSpPr>
          <p:cNvPr id="26" name="Text 23"/>
          <p:cNvSpPr txBox="1"/>
          <p:nvPr/>
        </p:nvSpPr>
        <p:spPr>
          <a:xfrm>
            <a:off x="12316968" y="4160520"/>
            <a:ext cx="2606040" cy="320040"/>
          </a:xfrm>
          <a:prstGeom prst="rect">
            <a:avLst/>
          </a:prstGeom>
          <a:noFill/>
          <a:ln/>
        </p:spPr>
        <p:txBody>
          <a:bodyPr wrap="none" lIns="0" tIns="0" rIns="0" bIns="0" rtlCol="0" anchor="t"/>
          <a:lstStyle/>
          <a:p>
            <a:pPr indent="0" marL="0">
              <a:buNone/>
            </a:pPr>
            <a:r>
              <a:rPr lang="en-US" sz="1300" b="1" dirty="0">
                <a:solidFill>
                  <a:srgbClr val="171717"/>
                </a:solidFill>
                <a:latin typeface="Poppins" pitchFamily="34" charset="0"/>
                <a:ea typeface="Poppins" pitchFamily="34" charset="-122"/>
                <a:cs typeface="Poppins" pitchFamily="34" charset="-120"/>
              </a:rPr>
              <a:t>New regulation enforcement </a:t>
            </a:r>
            <a:pPr indent="0" marL="0">
              <a:buNone/>
            </a:pPr>
            <a:r>
              <a:rPr lang="en-US" sz="1300" b="1" baseline="30000" dirty="0">
                <a:solidFill>
                  <a:srgbClr val="687075"/>
                </a:solidFill>
                <a:latin typeface="Poppins" pitchFamily="34" charset="0"/>
                <a:ea typeface="Poppins" pitchFamily="34" charset="-122"/>
                <a:cs typeface="Poppins" pitchFamily="34" charset="-120"/>
              </a:rPr>
              <a:t>4</a:t>
            </a:r>
            <a:endParaRPr lang="en-US" sz="1300" dirty="0"/>
          </a:p>
        </p:txBody>
      </p:sp>
      <p:sp>
        <p:nvSpPr>
          <p:cNvPr id="27" name="Text 24"/>
          <p:cNvSpPr txBox="1"/>
          <p:nvPr/>
        </p:nvSpPr>
        <p:spPr>
          <a:xfrm>
            <a:off x="12316968" y="4462272"/>
            <a:ext cx="2606040" cy="274320"/>
          </a:xfrm>
          <a:prstGeom prst="rect">
            <a:avLst/>
          </a:prstGeom>
          <a:noFill/>
          <a:ln/>
        </p:spPr>
        <p:txBody>
          <a:bodyPr wrap="square" lIns="0" tIns="0" rIns="0" bIns="0" rtlCol="0" anchor="t"/>
          <a:lstStyle/>
          <a:p>
            <a:pPr indent="0" marL="0">
              <a:buNone/>
            </a:pPr>
            <a:r>
              <a:rPr lang="en-US" sz="1100" dirty="0">
                <a:solidFill>
                  <a:srgbClr val="687075"/>
                </a:solidFill>
                <a:latin typeface="Poppins" pitchFamily="34" charset="0"/>
                <a:ea typeface="Poppins" pitchFamily="34" charset="-122"/>
                <a:cs typeface="Poppins" pitchFamily="34" charset="-120"/>
              </a:rPr>
              <a:t>deadline live, fines starting</a:t>
            </a:r>
            <a:endParaRPr lang="en-US" sz="1100" dirty="0"/>
          </a:p>
        </p:txBody>
      </p:sp>
      <p:sp>
        <p:nvSpPr>
          <p:cNvPr id="28" name="Text 25"/>
          <p:cNvSpPr txBox="1"/>
          <p:nvPr/>
        </p:nvSpPr>
        <p:spPr>
          <a:xfrm>
            <a:off x="15060168" y="4160520"/>
            <a:ext cx="2194560" cy="320040"/>
          </a:xfrm>
          <a:prstGeom prst="rect">
            <a:avLst/>
          </a:prstGeom>
          <a:noFill/>
          <a:ln/>
        </p:spPr>
        <p:txBody>
          <a:bodyPr wrap="square" lIns="0" tIns="0" rIns="0" bIns="0" rtlCol="0" anchor="t"/>
          <a:lstStyle/>
          <a:p>
            <a:pPr indent="0" marL="0">
              <a:buNone/>
            </a:pPr>
            <a:r>
              <a:rPr lang="en-US" sz="1300" b="1" dirty="0">
                <a:solidFill>
                  <a:srgbClr val="171717"/>
                </a:solidFill>
                <a:latin typeface="Poppins" pitchFamily="34" charset="0"/>
                <a:ea typeface="Poppins" pitchFamily="34" charset="-122"/>
                <a:cs typeface="Poppins" pitchFamily="34" charset="-120"/>
              </a:rPr>
              <a:t>Total</a:t>
            </a:r>
            <a:endParaRPr lang="en-US" sz="1300" dirty="0"/>
          </a:p>
        </p:txBody>
      </p:sp>
      <p:sp>
        <p:nvSpPr>
          <p:cNvPr id="29" name="Text 26"/>
          <p:cNvSpPr txBox="1"/>
          <p:nvPr/>
        </p:nvSpPr>
        <p:spPr>
          <a:xfrm>
            <a:off x="15060168" y="4462272"/>
            <a:ext cx="2194560" cy="274320"/>
          </a:xfrm>
          <a:prstGeom prst="rect">
            <a:avLst/>
          </a:prstGeom>
          <a:noFill/>
          <a:ln/>
        </p:spPr>
        <p:txBody>
          <a:bodyPr wrap="square" lIns="0" tIns="0" rIns="0" bIns="0" rtlCol="0" anchor="t"/>
          <a:lstStyle/>
          <a:p>
            <a:pPr indent="0" marL="0">
              <a:buNone/>
            </a:pPr>
            <a:r>
              <a:rPr lang="en-US" sz="1100" dirty="0">
                <a:solidFill>
                  <a:srgbClr val="687075"/>
                </a:solidFill>
                <a:latin typeface="Poppins" pitchFamily="34" charset="0"/>
                <a:ea typeface="Poppins" pitchFamily="34" charset="-122"/>
                <a:cs typeface="Poppins" pitchFamily="34" charset="-120"/>
              </a:rPr>
              <a:t>of 20</a:t>
            </a:r>
            <a:endParaRPr lang="en-US" sz="1100" dirty="0"/>
          </a:p>
        </p:txBody>
      </p:sp>
      <p:sp>
        <p:nvSpPr>
          <p:cNvPr id="30" name="Shape 27"/>
          <p:cNvSpPr/>
          <p:nvPr/>
        </p:nvSpPr>
        <p:spPr>
          <a:xfrm>
            <a:off x="1069848" y="4818888"/>
            <a:ext cx="16203168" cy="0"/>
          </a:xfrm>
          <a:prstGeom prst="line">
            <a:avLst/>
          </a:prstGeom>
          <a:noFill/>
          <a:ln w="9525">
            <a:solidFill>
              <a:srgbClr val="171717"/>
            </a:solidFill>
            <a:prstDash val="solid"/>
          </a:ln>
        </p:spPr>
      </p:sp>
      <p:sp>
        <p:nvSpPr>
          <p:cNvPr id="31" name="Shape 28"/>
          <p:cNvSpPr/>
          <p:nvPr/>
        </p:nvSpPr>
        <p:spPr>
          <a:xfrm>
            <a:off x="1069848" y="4937760"/>
            <a:ext cx="16203168" cy="365760"/>
          </a:xfrm>
          <a:prstGeom prst="roundRect">
            <a:avLst>
              <a:gd name="adj" fmla="val 25000"/>
            </a:avLst>
          </a:prstGeom>
          <a:solidFill>
            <a:srgbClr val="171717"/>
          </a:solidFill>
          <a:ln w="9525">
            <a:solidFill>
              <a:srgbClr val="171717"/>
            </a:solidFill>
            <a:prstDash val="solid"/>
          </a:ln>
        </p:spPr>
      </p:sp>
      <p:sp>
        <p:nvSpPr>
          <p:cNvPr id="32" name="Shape 29"/>
          <p:cNvSpPr/>
          <p:nvPr/>
        </p:nvSpPr>
        <p:spPr>
          <a:xfrm>
            <a:off x="4224528" y="4937760"/>
            <a:ext cx="2423160" cy="365760"/>
          </a:xfrm>
          <a:prstGeom prst="rect">
            <a:avLst/>
          </a:prstGeom>
          <a:solidFill>
            <a:srgbClr val="2E3F42"/>
          </a:solidFill>
          <a:ln w="12700">
            <a:solidFill>
              <a:srgbClr val="2E3F42"/>
            </a:solidFill>
            <a:prstDash val="solid"/>
          </a:ln>
        </p:spPr>
      </p:sp>
      <p:sp>
        <p:nvSpPr>
          <p:cNvPr id="33" name="Text 30"/>
          <p:cNvSpPr txBox="1"/>
          <p:nvPr/>
        </p:nvSpPr>
        <p:spPr>
          <a:xfrm>
            <a:off x="1344168" y="5020056"/>
            <a:ext cx="457200" cy="274320"/>
          </a:xfrm>
          <a:prstGeom prst="rect">
            <a:avLst/>
          </a:prstGeom>
          <a:noFill/>
          <a:ln/>
        </p:spPr>
        <p:txBody>
          <a:bodyPr wrap="square" lIns="0" tIns="0" rIns="0" bIns="0" rtlCol="0" anchor="t"/>
          <a:lstStyle/>
          <a:p>
            <a:pPr indent="0" marL="0">
              <a:buNone/>
            </a:pPr>
            <a:r>
              <a:rPr lang="en-US" sz="1350" dirty="0">
                <a:solidFill>
                  <a:srgbClr val="8FA3A8"/>
                </a:solidFill>
                <a:latin typeface="Poppins" pitchFamily="34" charset="0"/>
                <a:ea typeface="Poppins" pitchFamily="34" charset="-122"/>
                <a:cs typeface="Poppins" pitchFamily="34" charset="-120"/>
              </a:rPr>
              <a:t>1.</a:t>
            </a:r>
            <a:endParaRPr lang="en-US" sz="1350" dirty="0"/>
          </a:p>
        </p:txBody>
      </p:sp>
      <p:sp>
        <p:nvSpPr>
          <p:cNvPr id="34" name="Text 31"/>
          <p:cNvSpPr txBox="1"/>
          <p:nvPr/>
        </p:nvSpPr>
        <p:spPr>
          <a:xfrm>
            <a:off x="1755648" y="5001768"/>
            <a:ext cx="1828800" cy="292608"/>
          </a:xfrm>
          <a:prstGeom prst="rect">
            <a:avLst/>
          </a:prstGeom>
          <a:noFill/>
          <a:ln/>
        </p:spPr>
        <p:txBody>
          <a:bodyPr wrap="square" lIns="0" tIns="0" rIns="0" bIns="0" rtlCol="0" anchor="t"/>
          <a:lstStyle/>
          <a:p>
            <a:pPr indent="0" marL="0">
              <a:buNone/>
            </a:pPr>
            <a:r>
              <a:rPr lang="en-US" sz="1550" b="1" dirty="0">
                <a:solidFill>
                  <a:srgbClr val="FBFBFB"/>
                </a:solidFill>
                <a:latin typeface="Poppins" pitchFamily="34" charset="0"/>
                <a:ea typeface="Poppins" pitchFamily="34" charset="-122"/>
                <a:cs typeface="Poppins" pitchFamily="34" charset="-120"/>
              </a:rPr>
              <a:t>Netherlands</a:t>
            </a:r>
            <a:endParaRPr lang="en-US" sz="1550" dirty="0"/>
          </a:p>
        </p:txBody>
      </p:sp>
      <p:sp>
        <p:nvSpPr>
          <p:cNvPr id="35" name="Text 32"/>
          <p:cNvSpPr txBox="1"/>
          <p:nvPr/>
        </p:nvSpPr>
        <p:spPr>
          <a:xfrm>
            <a:off x="4361688" y="4992624"/>
            <a:ext cx="365760" cy="310896"/>
          </a:xfrm>
          <a:prstGeom prst="rect">
            <a:avLst/>
          </a:prstGeom>
          <a:noFill/>
          <a:ln/>
        </p:spPr>
        <p:txBody>
          <a:bodyPr wrap="square" lIns="0" tIns="0" rIns="0" bIns="0" rtlCol="0" anchor="t"/>
          <a:lstStyle/>
          <a:p>
            <a:pPr indent="0" marL="0">
              <a:buNone/>
            </a:pPr>
            <a:r>
              <a:rPr lang="en-US" sz="1650" b="1" dirty="0">
                <a:solidFill>
                  <a:srgbClr val="FBFBFB"/>
                </a:solidFill>
                <a:latin typeface="Poppins" pitchFamily="34" charset="0"/>
                <a:ea typeface="Poppins" pitchFamily="34" charset="-122"/>
                <a:cs typeface="Poppins" pitchFamily="34" charset="-120"/>
              </a:rPr>
              <a:t>5</a:t>
            </a:r>
            <a:endParaRPr lang="en-US" sz="1650" dirty="0"/>
          </a:p>
        </p:txBody>
      </p:sp>
      <p:sp>
        <p:nvSpPr>
          <p:cNvPr id="36" name="Shape 33"/>
          <p:cNvSpPr/>
          <p:nvPr/>
        </p:nvSpPr>
        <p:spPr>
          <a:xfrm>
            <a:off x="4818888" y="5084064"/>
            <a:ext cx="100584" cy="100584"/>
          </a:xfrm>
          <a:prstGeom prst="ellipse">
            <a:avLst/>
          </a:prstGeom>
          <a:solidFill>
            <a:srgbClr val="FBFBFB"/>
          </a:solidFill>
          <a:ln w="12700">
            <a:solidFill>
              <a:srgbClr val="FBFBFB"/>
            </a:solidFill>
            <a:prstDash val="solid"/>
          </a:ln>
        </p:spPr>
      </p:sp>
      <p:sp>
        <p:nvSpPr>
          <p:cNvPr id="37" name="Shape 34"/>
          <p:cNvSpPr/>
          <p:nvPr/>
        </p:nvSpPr>
        <p:spPr>
          <a:xfrm>
            <a:off x="5001768" y="5084064"/>
            <a:ext cx="100584" cy="100584"/>
          </a:xfrm>
          <a:prstGeom prst="ellipse">
            <a:avLst/>
          </a:prstGeom>
          <a:solidFill>
            <a:srgbClr val="FBFBFB"/>
          </a:solidFill>
          <a:ln w="12700">
            <a:solidFill>
              <a:srgbClr val="FBFBFB"/>
            </a:solidFill>
            <a:prstDash val="solid"/>
          </a:ln>
        </p:spPr>
      </p:sp>
      <p:sp>
        <p:nvSpPr>
          <p:cNvPr id="38" name="Shape 35"/>
          <p:cNvSpPr/>
          <p:nvPr/>
        </p:nvSpPr>
        <p:spPr>
          <a:xfrm>
            <a:off x="5184648" y="5084064"/>
            <a:ext cx="100584" cy="100584"/>
          </a:xfrm>
          <a:prstGeom prst="ellipse">
            <a:avLst/>
          </a:prstGeom>
          <a:solidFill>
            <a:srgbClr val="FBFBFB"/>
          </a:solidFill>
          <a:ln w="12700">
            <a:solidFill>
              <a:srgbClr val="FBFBFB"/>
            </a:solidFill>
            <a:prstDash val="solid"/>
          </a:ln>
        </p:spPr>
      </p:sp>
      <p:sp>
        <p:nvSpPr>
          <p:cNvPr id="39" name="Shape 36"/>
          <p:cNvSpPr/>
          <p:nvPr/>
        </p:nvSpPr>
        <p:spPr>
          <a:xfrm>
            <a:off x="5367528" y="5084064"/>
            <a:ext cx="100584" cy="100584"/>
          </a:xfrm>
          <a:prstGeom prst="ellipse">
            <a:avLst/>
          </a:prstGeom>
          <a:solidFill>
            <a:srgbClr val="FBFBFB"/>
          </a:solidFill>
          <a:ln w="12700">
            <a:solidFill>
              <a:srgbClr val="FBFBFB"/>
            </a:solidFill>
            <a:prstDash val="solid"/>
          </a:ln>
        </p:spPr>
      </p:sp>
      <p:sp>
        <p:nvSpPr>
          <p:cNvPr id="40" name="Shape 37"/>
          <p:cNvSpPr/>
          <p:nvPr/>
        </p:nvSpPr>
        <p:spPr>
          <a:xfrm>
            <a:off x="5550408" y="5084064"/>
            <a:ext cx="100584" cy="100584"/>
          </a:xfrm>
          <a:prstGeom prst="ellipse">
            <a:avLst/>
          </a:prstGeom>
          <a:solidFill>
            <a:srgbClr val="FBFBFB"/>
          </a:solidFill>
          <a:ln w="12700">
            <a:solidFill>
              <a:srgbClr val="FBFBFB"/>
            </a:solidFill>
            <a:prstDash val="solid"/>
          </a:ln>
        </p:spPr>
      </p:sp>
      <p:sp>
        <p:nvSpPr>
          <p:cNvPr id="41" name="Text 38"/>
          <p:cNvSpPr txBox="1"/>
          <p:nvPr/>
        </p:nvSpPr>
        <p:spPr>
          <a:xfrm>
            <a:off x="7013448" y="4992624"/>
            <a:ext cx="365760" cy="310896"/>
          </a:xfrm>
          <a:prstGeom prst="rect">
            <a:avLst/>
          </a:prstGeom>
          <a:noFill/>
          <a:ln/>
        </p:spPr>
        <p:txBody>
          <a:bodyPr wrap="square" lIns="0" tIns="0" rIns="0" bIns="0" rtlCol="0" anchor="t"/>
          <a:lstStyle/>
          <a:p>
            <a:pPr indent="0" marL="0">
              <a:buNone/>
            </a:pPr>
            <a:r>
              <a:rPr lang="en-US" sz="1650" b="1" dirty="0">
                <a:solidFill>
                  <a:srgbClr val="FBFBFB"/>
                </a:solidFill>
                <a:latin typeface="Poppins" pitchFamily="34" charset="0"/>
                <a:ea typeface="Poppins" pitchFamily="34" charset="-122"/>
                <a:cs typeface="Poppins" pitchFamily="34" charset="-120"/>
              </a:rPr>
              <a:t>4</a:t>
            </a:r>
            <a:endParaRPr lang="en-US" sz="1650" dirty="0"/>
          </a:p>
        </p:txBody>
      </p:sp>
      <p:sp>
        <p:nvSpPr>
          <p:cNvPr id="42" name="Shape 39"/>
          <p:cNvSpPr/>
          <p:nvPr/>
        </p:nvSpPr>
        <p:spPr>
          <a:xfrm>
            <a:off x="7470648" y="5084064"/>
            <a:ext cx="100584" cy="100584"/>
          </a:xfrm>
          <a:prstGeom prst="ellipse">
            <a:avLst/>
          </a:prstGeom>
          <a:solidFill>
            <a:srgbClr val="FBFBFB"/>
          </a:solidFill>
          <a:ln w="12700">
            <a:solidFill>
              <a:srgbClr val="FBFBFB"/>
            </a:solidFill>
            <a:prstDash val="solid"/>
          </a:ln>
        </p:spPr>
      </p:sp>
      <p:sp>
        <p:nvSpPr>
          <p:cNvPr id="43" name="Shape 40"/>
          <p:cNvSpPr/>
          <p:nvPr/>
        </p:nvSpPr>
        <p:spPr>
          <a:xfrm>
            <a:off x="7653528" y="5084064"/>
            <a:ext cx="100584" cy="100584"/>
          </a:xfrm>
          <a:prstGeom prst="ellipse">
            <a:avLst/>
          </a:prstGeom>
          <a:solidFill>
            <a:srgbClr val="FBFBFB"/>
          </a:solidFill>
          <a:ln w="12700">
            <a:solidFill>
              <a:srgbClr val="FBFBFB"/>
            </a:solidFill>
            <a:prstDash val="solid"/>
          </a:ln>
        </p:spPr>
      </p:sp>
      <p:sp>
        <p:nvSpPr>
          <p:cNvPr id="44" name="Shape 41"/>
          <p:cNvSpPr/>
          <p:nvPr/>
        </p:nvSpPr>
        <p:spPr>
          <a:xfrm>
            <a:off x="7836408" y="5084064"/>
            <a:ext cx="100584" cy="100584"/>
          </a:xfrm>
          <a:prstGeom prst="ellipse">
            <a:avLst/>
          </a:prstGeom>
          <a:solidFill>
            <a:srgbClr val="FBFBFB"/>
          </a:solidFill>
          <a:ln w="12700">
            <a:solidFill>
              <a:srgbClr val="FBFBFB"/>
            </a:solidFill>
            <a:prstDash val="solid"/>
          </a:ln>
        </p:spPr>
      </p:sp>
      <p:sp>
        <p:nvSpPr>
          <p:cNvPr id="45" name="Shape 42"/>
          <p:cNvSpPr/>
          <p:nvPr/>
        </p:nvSpPr>
        <p:spPr>
          <a:xfrm>
            <a:off x="8019288" y="5084064"/>
            <a:ext cx="100584" cy="100584"/>
          </a:xfrm>
          <a:prstGeom prst="ellipse">
            <a:avLst/>
          </a:prstGeom>
          <a:solidFill>
            <a:srgbClr val="FBFBFB"/>
          </a:solidFill>
          <a:ln w="12700">
            <a:solidFill>
              <a:srgbClr val="FBFBFB"/>
            </a:solidFill>
            <a:prstDash val="solid"/>
          </a:ln>
        </p:spPr>
      </p:sp>
      <p:sp>
        <p:nvSpPr>
          <p:cNvPr id="46" name="Shape 43"/>
          <p:cNvSpPr/>
          <p:nvPr/>
        </p:nvSpPr>
        <p:spPr>
          <a:xfrm>
            <a:off x="8202168" y="5084064"/>
            <a:ext cx="100584" cy="100584"/>
          </a:xfrm>
          <a:prstGeom prst="ellipse">
            <a:avLst/>
          </a:prstGeom>
          <a:solidFill>
            <a:srgbClr val="3A4D53"/>
          </a:solidFill>
          <a:ln w="12700">
            <a:solidFill>
              <a:srgbClr val="3A4D53"/>
            </a:solidFill>
            <a:prstDash val="solid"/>
          </a:ln>
        </p:spPr>
      </p:sp>
      <p:sp>
        <p:nvSpPr>
          <p:cNvPr id="47" name="Text 44"/>
          <p:cNvSpPr txBox="1"/>
          <p:nvPr/>
        </p:nvSpPr>
        <p:spPr>
          <a:xfrm>
            <a:off x="9665208" y="4992624"/>
            <a:ext cx="365760" cy="310896"/>
          </a:xfrm>
          <a:prstGeom prst="rect">
            <a:avLst/>
          </a:prstGeom>
          <a:noFill/>
          <a:ln/>
        </p:spPr>
        <p:txBody>
          <a:bodyPr wrap="square" lIns="0" tIns="0" rIns="0" bIns="0" rtlCol="0" anchor="t"/>
          <a:lstStyle/>
          <a:p>
            <a:pPr indent="0" marL="0">
              <a:buNone/>
            </a:pPr>
            <a:r>
              <a:rPr lang="en-US" sz="1650" b="1" dirty="0">
                <a:solidFill>
                  <a:srgbClr val="FBFBFB"/>
                </a:solidFill>
                <a:latin typeface="Poppins" pitchFamily="34" charset="0"/>
                <a:ea typeface="Poppins" pitchFamily="34" charset="-122"/>
                <a:cs typeface="Poppins" pitchFamily="34" charset="-120"/>
              </a:rPr>
              <a:t>4</a:t>
            </a:r>
            <a:endParaRPr lang="en-US" sz="1650" dirty="0"/>
          </a:p>
        </p:txBody>
      </p:sp>
      <p:sp>
        <p:nvSpPr>
          <p:cNvPr id="48" name="Shape 45"/>
          <p:cNvSpPr/>
          <p:nvPr/>
        </p:nvSpPr>
        <p:spPr>
          <a:xfrm>
            <a:off x="10122408" y="5084064"/>
            <a:ext cx="100584" cy="100584"/>
          </a:xfrm>
          <a:prstGeom prst="ellipse">
            <a:avLst/>
          </a:prstGeom>
          <a:solidFill>
            <a:srgbClr val="FBFBFB"/>
          </a:solidFill>
          <a:ln w="12700">
            <a:solidFill>
              <a:srgbClr val="FBFBFB"/>
            </a:solidFill>
            <a:prstDash val="solid"/>
          </a:ln>
        </p:spPr>
      </p:sp>
      <p:sp>
        <p:nvSpPr>
          <p:cNvPr id="49" name="Shape 46"/>
          <p:cNvSpPr/>
          <p:nvPr/>
        </p:nvSpPr>
        <p:spPr>
          <a:xfrm>
            <a:off x="10305288" y="5084064"/>
            <a:ext cx="100584" cy="100584"/>
          </a:xfrm>
          <a:prstGeom prst="ellipse">
            <a:avLst/>
          </a:prstGeom>
          <a:solidFill>
            <a:srgbClr val="FBFBFB"/>
          </a:solidFill>
          <a:ln w="12700">
            <a:solidFill>
              <a:srgbClr val="FBFBFB"/>
            </a:solidFill>
            <a:prstDash val="solid"/>
          </a:ln>
        </p:spPr>
      </p:sp>
      <p:sp>
        <p:nvSpPr>
          <p:cNvPr id="50" name="Shape 47"/>
          <p:cNvSpPr/>
          <p:nvPr/>
        </p:nvSpPr>
        <p:spPr>
          <a:xfrm>
            <a:off x="10488168" y="5084064"/>
            <a:ext cx="100584" cy="100584"/>
          </a:xfrm>
          <a:prstGeom prst="ellipse">
            <a:avLst/>
          </a:prstGeom>
          <a:solidFill>
            <a:srgbClr val="FBFBFB"/>
          </a:solidFill>
          <a:ln w="12700">
            <a:solidFill>
              <a:srgbClr val="FBFBFB"/>
            </a:solidFill>
            <a:prstDash val="solid"/>
          </a:ln>
        </p:spPr>
      </p:sp>
      <p:sp>
        <p:nvSpPr>
          <p:cNvPr id="51" name="Shape 48"/>
          <p:cNvSpPr/>
          <p:nvPr/>
        </p:nvSpPr>
        <p:spPr>
          <a:xfrm>
            <a:off x="10671048" y="5084064"/>
            <a:ext cx="100584" cy="100584"/>
          </a:xfrm>
          <a:prstGeom prst="ellipse">
            <a:avLst/>
          </a:prstGeom>
          <a:solidFill>
            <a:srgbClr val="FBFBFB"/>
          </a:solidFill>
          <a:ln w="12700">
            <a:solidFill>
              <a:srgbClr val="FBFBFB"/>
            </a:solidFill>
            <a:prstDash val="solid"/>
          </a:ln>
        </p:spPr>
      </p:sp>
      <p:sp>
        <p:nvSpPr>
          <p:cNvPr id="52" name="Shape 49"/>
          <p:cNvSpPr/>
          <p:nvPr/>
        </p:nvSpPr>
        <p:spPr>
          <a:xfrm>
            <a:off x="10853928" y="5084064"/>
            <a:ext cx="100584" cy="100584"/>
          </a:xfrm>
          <a:prstGeom prst="ellipse">
            <a:avLst/>
          </a:prstGeom>
          <a:solidFill>
            <a:srgbClr val="3A4D53"/>
          </a:solidFill>
          <a:ln w="12700">
            <a:solidFill>
              <a:srgbClr val="3A4D53"/>
            </a:solidFill>
            <a:prstDash val="solid"/>
          </a:ln>
        </p:spPr>
      </p:sp>
      <p:sp>
        <p:nvSpPr>
          <p:cNvPr id="53" name="Text 50"/>
          <p:cNvSpPr txBox="1"/>
          <p:nvPr/>
        </p:nvSpPr>
        <p:spPr>
          <a:xfrm>
            <a:off x="12316968" y="4992624"/>
            <a:ext cx="365760" cy="310896"/>
          </a:xfrm>
          <a:prstGeom prst="rect">
            <a:avLst/>
          </a:prstGeom>
          <a:noFill/>
          <a:ln/>
        </p:spPr>
        <p:txBody>
          <a:bodyPr wrap="square" lIns="0" tIns="0" rIns="0" bIns="0" rtlCol="0" anchor="t"/>
          <a:lstStyle/>
          <a:p>
            <a:pPr indent="0" marL="0">
              <a:buNone/>
            </a:pPr>
            <a:r>
              <a:rPr lang="en-US" sz="1650" b="1" dirty="0">
                <a:solidFill>
                  <a:srgbClr val="FBFBFB"/>
                </a:solidFill>
                <a:latin typeface="Poppins" pitchFamily="34" charset="0"/>
                <a:ea typeface="Poppins" pitchFamily="34" charset="-122"/>
                <a:cs typeface="Poppins" pitchFamily="34" charset="-120"/>
              </a:rPr>
              <a:t>5</a:t>
            </a:r>
            <a:endParaRPr lang="en-US" sz="1650" dirty="0"/>
          </a:p>
        </p:txBody>
      </p:sp>
      <p:sp>
        <p:nvSpPr>
          <p:cNvPr id="54" name="Shape 51"/>
          <p:cNvSpPr/>
          <p:nvPr/>
        </p:nvSpPr>
        <p:spPr>
          <a:xfrm>
            <a:off x="12774168" y="5084064"/>
            <a:ext cx="100584" cy="100584"/>
          </a:xfrm>
          <a:prstGeom prst="ellipse">
            <a:avLst/>
          </a:prstGeom>
          <a:solidFill>
            <a:srgbClr val="FBFBFB"/>
          </a:solidFill>
          <a:ln w="12700">
            <a:solidFill>
              <a:srgbClr val="FBFBFB"/>
            </a:solidFill>
            <a:prstDash val="solid"/>
          </a:ln>
        </p:spPr>
      </p:sp>
      <p:sp>
        <p:nvSpPr>
          <p:cNvPr id="55" name="Shape 52"/>
          <p:cNvSpPr/>
          <p:nvPr/>
        </p:nvSpPr>
        <p:spPr>
          <a:xfrm>
            <a:off x="12957048" y="5084064"/>
            <a:ext cx="100584" cy="100584"/>
          </a:xfrm>
          <a:prstGeom prst="ellipse">
            <a:avLst/>
          </a:prstGeom>
          <a:solidFill>
            <a:srgbClr val="FBFBFB"/>
          </a:solidFill>
          <a:ln w="12700">
            <a:solidFill>
              <a:srgbClr val="FBFBFB"/>
            </a:solidFill>
            <a:prstDash val="solid"/>
          </a:ln>
        </p:spPr>
      </p:sp>
      <p:sp>
        <p:nvSpPr>
          <p:cNvPr id="56" name="Shape 53"/>
          <p:cNvSpPr/>
          <p:nvPr/>
        </p:nvSpPr>
        <p:spPr>
          <a:xfrm>
            <a:off x="13139928" y="5084064"/>
            <a:ext cx="100584" cy="100584"/>
          </a:xfrm>
          <a:prstGeom prst="ellipse">
            <a:avLst/>
          </a:prstGeom>
          <a:solidFill>
            <a:srgbClr val="FBFBFB"/>
          </a:solidFill>
          <a:ln w="12700">
            <a:solidFill>
              <a:srgbClr val="FBFBFB"/>
            </a:solidFill>
            <a:prstDash val="solid"/>
          </a:ln>
        </p:spPr>
      </p:sp>
      <p:sp>
        <p:nvSpPr>
          <p:cNvPr id="57" name="Shape 54"/>
          <p:cNvSpPr/>
          <p:nvPr/>
        </p:nvSpPr>
        <p:spPr>
          <a:xfrm>
            <a:off x="13322808" y="5084064"/>
            <a:ext cx="100584" cy="100584"/>
          </a:xfrm>
          <a:prstGeom prst="ellipse">
            <a:avLst/>
          </a:prstGeom>
          <a:solidFill>
            <a:srgbClr val="FBFBFB"/>
          </a:solidFill>
          <a:ln w="12700">
            <a:solidFill>
              <a:srgbClr val="FBFBFB"/>
            </a:solidFill>
            <a:prstDash val="solid"/>
          </a:ln>
        </p:spPr>
      </p:sp>
      <p:sp>
        <p:nvSpPr>
          <p:cNvPr id="58" name="Shape 55"/>
          <p:cNvSpPr/>
          <p:nvPr/>
        </p:nvSpPr>
        <p:spPr>
          <a:xfrm>
            <a:off x="13505688" y="5084064"/>
            <a:ext cx="100584" cy="100584"/>
          </a:xfrm>
          <a:prstGeom prst="ellipse">
            <a:avLst/>
          </a:prstGeom>
          <a:solidFill>
            <a:srgbClr val="FBFBFB"/>
          </a:solidFill>
          <a:ln w="12700">
            <a:solidFill>
              <a:srgbClr val="FBFBFB"/>
            </a:solidFill>
            <a:prstDash val="solid"/>
          </a:ln>
        </p:spPr>
      </p:sp>
      <p:sp>
        <p:nvSpPr>
          <p:cNvPr id="59" name="Text 56"/>
          <p:cNvSpPr txBox="1"/>
          <p:nvPr/>
        </p:nvSpPr>
        <p:spPr>
          <a:xfrm>
            <a:off x="15060168" y="4983480"/>
            <a:ext cx="548640" cy="329184"/>
          </a:xfrm>
          <a:prstGeom prst="rect">
            <a:avLst/>
          </a:prstGeom>
          <a:noFill/>
          <a:ln/>
        </p:spPr>
        <p:txBody>
          <a:bodyPr wrap="square" lIns="0" tIns="0" rIns="0" bIns="0" rtlCol="0" anchor="t"/>
          <a:lstStyle/>
          <a:p>
            <a:pPr indent="0" marL="0">
              <a:buNone/>
            </a:pPr>
            <a:r>
              <a:rPr lang="en-US" sz="1800" b="1" dirty="0">
                <a:solidFill>
                  <a:srgbClr val="FBFBFB"/>
                </a:solidFill>
                <a:latin typeface="Poppins" pitchFamily="34" charset="0"/>
                <a:ea typeface="Poppins" pitchFamily="34" charset="-122"/>
                <a:cs typeface="Poppins" pitchFamily="34" charset="-120"/>
              </a:rPr>
              <a:t>18</a:t>
            </a:r>
            <a:endParaRPr lang="en-US" sz="1800" dirty="0"/>
          </a:p>
        </p:txBody>
      </p:sp>
      <p:sp>
        <p:nvSpPr>
          <p:cNvPr id="60" name="Shape 57"/>
          <p:cNvSpPr/>
          <p:nvPr/>
        </p:nvSpPr>
        <p:spPr>
          <a:xfrm>
            <a:off x="15745968" y="5093208"/>
            <a:ext cx="1371600" cy="82296"/>
          </a:xfrm>
          <a:prstGeom prst="roundRect">
            <a:avLst>
              <a:gd name="adj" fmla="val 44444"/>
            </a:avLst>
          </a:prstGeom>
          <a:solidFill>
            <a:srgbClr val="3A4D53"/>
          </a:solidFill>
          <a:ln w="12700">
            <a:solidFill>
              <a:srgbClr val="3A4D53"/>
            </a:solidFill>
            <a:prstDash val="solid"/>
          </a:ln>
        </p:spPr>
      </p:sp>
      <p:sp>
        <p:nvSpPr>
          <p:cNvPr id="61" name="Shape 58"/>
          <p:cNvSpPr/>
          <p:nvPr/>
        </p:nvSpPr>
        <p:spPr>
          <a:xfrm>
            <a:off x="15745968" y="5093208"/>
            <a:ext cx="1234440" cy="82296"/>
          </a:xfrm>
          <a:prstGeom prst="roundRect">
            <a:avLst>
              <a:gd name="adj" fmla="val 44444"/>
            </a:avLst>
          </a:prstGeom>
          <a:solidFill>
            <a:srgbClr val="FBFBFB"/>
          </a:solidFill>
          <a:ln w="12700">
            <a:solidFill>
              <a:srgbClr val="FBFBFB"/>
            </a:solidFill>
            <a:prstDash val="solid"/>
          </a:ln>
        </p:spPr>
      </p:sp>
      <p:sp>
        <p:nvSpPr>
          <p:cNvPr id="62" name="Shape 59"/>
          <p:cNvSpPr/>
          <p:nvPr/>
        </p:nvSpPr>
        <p:spPr>
          <a:xfrm>
            <a:off x="1069848" y="5344668"/>
            <a:ext cx="16203168" cy="365760"/>
          </a:xfrm>
          <a:prstGeom prst="roundRect">
            <a:avLst>
              <a:gd name="adj" fmla="val 25000"/>
            </a:avLst>
          </a:prstGeom>
          <a:solidFill>
            <a:srgbClr val="FFFFFF"/>
          </a:solidFill>
          <a:ln w="9525">
            <a:solidFill>
              <a:srgbClr val="DADBD6"/>
            </a:solidFill>
            <a:prstDash val="solid"/>
          </a:ln>
        </p:spPr>
      </p:sp>
      <p:sp>
        <p:nvSpPr>
          <p:cNvPr id="63" name="Shape 60"/>
          <p:cNvSpPr/>
          <p:nvPr/>
        </p:nvSpPr>
        <p:spPr>
          <a:xfrm>
            <a:off x="4224528" y="5344668"/>
            <a:ext cx="2423160" cy="365760"/>
          </a:xfrm>
          <a:prstGeom prst="rect">
            <a:avLst/>
          </a:prstGeom>
          <a:solidFill>
            <a:srgbClr val="E8F2F2"/>
          </a:solidFill>
          <a:ln w="12700">
            <a:solidFill>
              <a:srgbClr val="E8F2F2"/>
            </a:solidFill>
            <a:prstDash val="solid"/>
          </a:ln>
        </p:spPr>
      </p:sp>
      <p:sp>
        <p:nvSpPr>
          <p:cNvPr id="64" name="Text 61"/>
          <p:cNvSpPr txBox="1"/>
          <p:nvPr/>
        </p:nvSpPr>
        <p:spPr>
          <a:xfrm>
            <a:off x="1344168" y="5426964"/>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2.</a:t>
            </a:r>
            <a:endParaRPr lang="en-US" sz="1350" dirty="0"/>
          </a:p>
        </p:txBody>
      </p:sp>
      <p:sp>
        <p:nvSpPr>
          <p:cNvPr id="65" name="Text 62"/>
          <p:cNvSpPr txBox="1"/>
          <p:nvPr/>
        </p:nvSpPr>
        <p:spPr>
          <a:xfrm>
            <a:off x="1755648" y="5408676"/>
            <a:ext cx="1828800" cy="292608"/>
          </a:xfrm>
          <a:prstGeom prst="rect">
            <a:avLst/>
          </a:prstGeom>
          <a:noFill/>
          <a:ln/>
        </p:spPr>
        <p:txBody>
          <a:bodyPr wrap="square" lIns="0" tIns="0" rIns="0" bIns="0" rtlCol="0" anchor="t"/>
          <a:lstStyle/>
          <a:p>
            <a:pPr indent="0" marL="0">
              <a:buNone/>
            </a:pPr>
            <a:r>
              <a:rPr lang="en-US" sz="1550" b="1" dirty="0">
                <a:solidFill>
                  <a:srgbClr val="171717"/>
                </a:solidFill>
                <a:latin typeface="Poppins" pitchFamily="34" charset="0"/>
                <a:ea typeface="Poppins" pitchFamily="34" charset="-122"/>
                <a:cs typeface="Poppins" pitchFamily="34" charset="-120"/>
              </a:rPr>
              <a:t>Sweden</a:t>
            </a:r>
            <a:endParaRPr lang="en-US" sz="1550" dirty="0"/>
          </a:p>
        </p:txBody>
      </p:sp>
      <p:sp>
        <p:nvSpPr>
          <p:cNvPr id="66" name="Text 63"/>
          <p:cNvSpPr txBox="1"/>
          <p:nvPr/>
        </p:nvSpPr>
        <p:spPr>
          <a:xfrm>
            <a:off x="4361688" y="539953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67" name="Shape 64"/>
          <p:cNvSpPr/>
          <p:nvPr/>
        </p:nvSpPr>
        <p:spPr>
          <a:xfrm>
            <a:off x="4818888" y="5490972"/>
            <a:ext cx="100584" cy="100584"/>
          </a:xfrm>
          <a:prstGeom prst="ellipse">
            <a:avLst/>
          </a:prstGeom>
          <a:solidFill>
            <a:srgbClr val="171717"/>
          </a:solidFill>
          <a:ln w="12700">
            <a:solidFill>
              <a:srgbClr val="171717"/>
            </a:solidFill>
            <a:prstDash val="solid"/>
          </a:ln>
        </p:spPr>
      </p:sp>
      <p:sp>
        <p:nvSpPr>
          <p:cNvPr id="68" name="Shape 65"/>
          <p:cNvSpPr/>
          <p:nvPr/>
        </p:nvSpPr>
        <p:spPr>
          <a:xfrm>
            <a:off x="5001768" y="5490972"/>
            <a:ext cx="100584" cy="100584"/>
          </a:xfrm>
          <a:prstGeom prst="ellipse">
            <a:avLst/>
          </a:prstGeom>
          <a:solidFill>
            <a:srgbClr val="171717"/>
          </a:solidFill>
          <a:ln w="12700">
            <a:solidFill>
              <a:srgbClr val="171717"/>
            </a:solidFill>
            <a:prstDash val="solid"/>
          </a:ln>
        </p:spPr>
      </p:sp>
      <p:sp>
        <p:nvSpPr>
          <p:cNvPr id="69" name="Shape 66"/>
          <p:cNvSpPr/>
          <p:nvPr/>
        </p:nvSpPr>
        <p:spPr>
          <a:xfrm>
            <a:off x="5184648" y="5490972"/>
            <a:ext cx="100584" cy="100584"/>
          </a:xfrm>
          <a:prstGeom prst="ellipse">
            <a:avLst/>
          </a:prstGeom>
          <a:solidFill>
            <a:srgbClr val="171717"/>
          </a:solidFill>
          <a:ln w="12700">
            <a:solidFill>
              <a:srgbClr val="171717"/>
            </a:solidFill>
            <a:prstDash val="solid"/>
          </a:ln>
        </p:spPr>
      </p:sp>
      <p:sp>
        <p:nvSpPr>
          <p:cNvPr id="70" name="Shape 67"/>
          <p:cNvSpPr/>
          <p:nvPr/>
        </p:nvSpPr>
        <p:spPr>
          <a:xfrm>
            <a:off x="5367528" y="5490972"/>
            <a:ext cx="100584" cy="100584"/>
          </a:xfrm>
          <a:prstGeom prst="ellipse">
            <a:avLst/>
          </a:prstGeom>
          <a:solidFill>
            <a:srgbClr val="171717"/>
          </a:solidFill>
          <a:ln w="12700">
            <a:solidFill>
              <a:srgbClr val="171717"/>
            </a:solidFill>
            <a:prstDash val="solid"/>
          </a:ln>
        </p:spPr>
      </p:sp>
      <p:sp>
        <p:nvSpPr>
          <p:cNvPr id="71" name="Shape 68"/>
          <p:cNvSpPr/>
          <p:nvPr/>
        </p:nvSpPr>
        <p:spPr>
          <a:xfrm>
            <a:off x="5550408" y="5490972"/>
            <a:ext cx="100584" cy="100584"/>
          </a:xfrm>
          <a:prstGeom prst="ellipse">
            <a:avLst/>
          </a:prstGeom>
          <a:solidFill>
            <a:srgbClr val="171717"/>
          </a:solidFill>
          <a:ln w="12700">
            <a:solidFill>
              <a:srgbClr val="171717"/>
            </a:solidFill>
            <a:prstDash val="solid"/>
          </a:ln>
        </p:spPr>
      </p:sp>
      <p:sp>
        <p:nvSpPr>
          <p:cNvPr id="72" name="Text 69"/>
          <p:cNvSpPr txBox="1"/>
          <p:nvPr/>
        </p:nvSpPr>
        <p:spPr>
          <a:xfrm>
            <a:off x="7013448" y="539953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73" name="Shape 70"/>
          <p:cNvSpPr/>
          <p:nvPr/>
        </p:nvSpPr>
        <p:spPr>
          <a:xfrm>
            <a:off x="7470648" y="5490972"/>
            <a:ext cx="100584" cy="100584"/>
          </a:xfrm>
          <a:prstGeom prst="ellipse">
            <a:avLst/>
          </a:prstGeom>
          <a:solidFill>
            <a:srgbClr val="171717"/>
          </a:solidFill>
          <a:ln w="12700">
            <a:solidFill>
              <a:srgbClr val="171717"/>
            </a:solidFill>
            <a:prstDash val="solid"/>
          </a:ln>
        </p:spPr>
      </p:sp>
      <p:sp>
        <p:nvSpPr>
          <p:cNvPr id="74" name="Shape 71"/>
          <p:cNvSpPr/>
          <p:nvPr/>
        </p:nvSpPr>
        <p:spPr>
          <a:xfrm>
            <a:off x="7653528" y="5490972"/>
            <a:ext cx="100584" cy="100584"/>
          </a:xfrm>
          <a:prstGeom prst="ellipse">
            <a:avLst/>
          </a:prstGeom>
          <a:solidFill>
            <a:srgbClr val="171717"/>
          </a:solidFill>
          <a:ln w="12700">
            <a:solidFill>
              <a:srgbClr val="171717"/>
            </a:solidFill>
            <a:prstDash val="solid"/>
          </a:ln>
        </p:spPr>
      </p:sp>
      <p:sp>
        <p:nvSpPr>
          <p:cNvPr id="75" name="Shape 72"/>
          <p:cNvSpPr/>
          <p:nvPr/>
        </p:nvSpPr>
        <p:spPr>
          <a:xfrm>
            <a:off x="7836408" y="5490972"/>
            <a:ext cx="100584" cy="100584"/>
          </a:xfrm>
          <a:prstGeom prst="ellipse">
            <a:avLst/>
          </a:prstGeom>
          <a:solidFill>
            <a:srgbClr val="171717"/>
          </a:solidFill>
          <a:ln w="12700">
            <a:solidFill>
              <a:srgbClr val="171717"/>
            </a:solidFill>
            <a:prstDash val="solid"/>
          </a:ln>
        </p:spPr>
      </p:sp>
      <p:sp>
        <p:nvSpPr>
          <p:cNvPr id="76" name="Shape 73"/>
          <p:cNvSpPr/>
          <p:nvPr/>
        </p:nvSpPr>
        <p:spPr>
          <a:xfrm>
            <a:off x="8019288" y="5490972"/>
            <a:ext cx="100584" cy="100584"/>
          </a:xfrm>
          <a:prstGeom prst="ellipse">
            <a:avLst/>
          </a:prstGeom>
          <a:solidFill>
            <a:srgbClr val="DADBD6"/>
          </a:solidFill>
          <a:ln w="12700">
            <a:solidFill>
              <a:srgbClr val="DADBD6"/>
            </a:solidFill>
            <a:prstDash val="solid"/>
          </a:ln>
        </p:spPr>
      </p:sp>
      <p:sp>
        <p:nvSpPr>
          <p:cNvPr id="77" name="Shape 74"/>
          <p:cNvSpPr/>
          <p:nvPr/>
        </p:nvSpPr>
        <p:spPr>
          <a:xfrm>
            <a:off x="8202168" y="5490972"/>
            <a:ext cx="100584" cy="100584"/>
          </a:xfrm>
          <a:prstGeom prst="ellipse">
            <a:avLst/>
          </a:prstGeom>
          <a:solidFill>
            <a:srgbClr val="DADBD6"/>
          </a:solidFill>
          <a:ln w="12700">
            <a:solidFill>
              <a:srgbClr val="DADBD6"/>
            </a:solidFill>
            <a:prstDash val="solid"/>
          </a:ln>
        </p:spPr>
      </p:sp>
      <p:sp>
        <p:nvSpPr>
          <p:cNvPr id="78" name="Text 75"/>
          <p:cNvSpPr txBox="1"/>
          <p:nvPr/>
        </p:nvSpPr>
        <p:spPr>
          <a:xfrm>
            <a:off x="9665208" y="539953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79" name="Shape 76"/>
          <p:cNvSpPr/>
          <p:nvPr/>
        </p:nvSpPr>
        <p:spPr>
          <a:xfrm>
            <a:off x="10122408" y="5490972"/>
            <a:ext cx="100584" cy="100584"/>
          </a:xfrm>
          <a:prstGeom prst="ellipse">
            <a:avLst/>
          </a:prstGeom>
          <a:solidFill>
            <a:srgbClr val="171717"/>
          </a:solidFill>
          <a:ln w="12700">
            <a:solidFill>
              <a:srgbClr val="171717"/>
            </a:solidFill>
            <a:prstDash val="solid"/>
          </a:ln>
        </p:spPr>
      </p:sp>
      <p:sp>
        <p:nvSpPr>
          <p:cNvPr id="80" name="Shape 77"/>
          <p:cNvSpPr/>
          <p:nvPr/>
        </p:nvSpPr>
        <p:spPr>
          <a:xfrm>
            <a:off x="10305288" y="5490972"/>
            <a:ext cx="100584" cy="100584"/>
          </a:xfrm>
          <a:prstGeom prst="ellipse">
            <a:avLst/>
          </a:prstGeom>
          <a:solidFill>
            <a:srgbClr val="171717"/>
          </a:solidFill>
          <a:ln w="12700">
            <a:solidFill>
              <a:srgbClr val="171717"/>
            </a:solidFill>
            <a:prstDash val="solid"/>
          </a:ln>
        </p:spPr>
      </p:sp>
      <p:sp>
        <p:nvSpPr>
          <p:cNvPr id="81" name="Shape 78"/>
          <p:cNvSpPr/>
          <p:nvPr/>
        </p:nvSpPr>
        <p:spPr>
          <a:xfrm>
            <a:off x="10488168" y="5490972"/>
            <a:ext cx="100584" cy="100584"/>
          </a:xfrm>
          <a:prstGeom prst="ellipse">
            <a:avLst/>
          </a:prstGeom>
          <a:solidFill>
            <a:srgbClr val="171717"/>
          </a:solidFill>
          <a:ln w="12700">
            <a:solidFill>
              <a:srgbClr val="171717"/>
            </a:solidFill>
            <a:prstDash val="solid"/>
          </a:ln>
        </p:spPr>
      </p:sp>
      <p:sp>
        <p:nvSpPr>
          <p:cNvPr id="82" name="Shape 79"/>
          <p:cNvSpPr/>
          <p:nvPr/>
        </p:nvSpPr>
        <p:spPr>
          <a:xfrm>
            <a:off x="10671048" y="5490972"/>
            <a:ext cx="100584" cy="100584"/>
          </a:xfrm>
          <a:prstGeom prst="ellipse">
            <a:avLst/>
          </a:prstGeom>
          <a:solidFill>
            <a:srgbClr val="171717"/>
          </a:solidFill>
          <a:ln w="12700">
            <a:solidFill>
              <a:srgbClr val="171717"/>
            </a:solidFill>
            <a:prstDash val="solid"/>
          </a:ln>
        </p:spPr>
      </p:sp>
      <p:sp>
        <p:nvSpPr>
          <p:cNvPr id="83" name="Shape 80"/>
          <p:cNvSpPr/>
          <p:nvPr/>
        </p:nvSpPr>
        <p:spPr>
          <a:xfrm>
            <a:off x="10853928" y="5490972"/>
            <a:ext cx="100584" cy="100584"/>
          </a:xfrm>
          <a:prstGeom prst="ellipse">
            <a:avLst/>
          </a:prstGeom>
          <a:solidFill>
            <a:srgbClr val="171717"/>
          </a:solidFill>
          <a:ln w="12700">
            <a:solidFill>
              <a:srgbClr val="171717"/>
            </a:solidFill>
            <a:prstDash val="solid"/>
          </a:ln>
        </p:spPr>
      </p:sp>
      <p:sp>
        <p:nvSpPr>
          <p:cNvPr id="84" name="Text 81"/>
          <p:cNvSpPr txBox="1"/>
          <p:nvPr/>
        </p:nvSpPr>
        <p:spPr>
          <a:xfrm>
            <a:off x="12316968" y="539953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4</a:t>
            </a:r>
            <a:endParaRPr lang="en-US" sz="1650" dirty="0"/>
          </a:p>
        </p:txBody>
      </p:sp>
      <p:sp>
        <p:nvSpPr>
          <p:cNvPr id="85" name="Shape 82"/>
          <p:cNvSpPr/>
          <p:nvPr/>
        </p:nvSpPr>
        <p:spPr>
          <a:xfrm>
            <a:off x="12774168" y="5490972"/>
            <a:ext cx="100584" cy="100584"/>
          </a:xfrm>
          <a:prstGeom prst="ellipse">
            <a:avLst/>
          </a:prstGeom>
          <a:solidFill>
            <a:srgbClr val="171717"/>
          </a:solidFill>
          <a:ln w="12700">
            <a:solidFill>
              <a:srgbClr val="171717"/>
            </a:solidFill>
            <a:prstDash val="solid"/>
          </a:ln>
        </p:spPr>
      </p:sp>
      <p:sp>
        <p:nvSpPr>
          <p:cNvPr id="86" name="Shape 83"/>
          <p:cNvSpPr/>
          <p:nvPr/>
        </p:nvSpPr>
        <p:spPr>
          <a:xfrm>
            <a:off x="12957048" y="5490972"/>
            <a:ext cx="100584" cy="100584"/>
          </a:xfrm>
          <a:prstGeom prst="ellipse">
            <a:avLst/>
          </a:prstGeom>
          <a:solidFill>
            <a:srgbClr val="171717"/>
          </a:solidFill>
          <a:ln w="12700">
            <a:solidFill>
              <a:srgbClr val="171717"/>
            </a:solidFill>
            <a:prstDash val="solid"/>
          </a:ln>
        </p:spPr>
      </p:sp>
      <p:sp>
        <p:nvSpPr>
          <p:cNvPr id="87" name="Shape 84"/>
          <p:cNvSpPr/>
          <p:nvPr/>
        </p:nvSpPr>
        <p:spPr>
          <a:xfrm>
            <a:off x="13139928" y="5490972"/>
            <a:ext cx="100584" cy="100584"/>
          </a:xfrm>
          <a:prstGeom prst="ellipse">
            <a:avLst/>
          </a:prstGeom>
          <a:solidFill>
            <a:srgbClr val="171717"/>
          </a:solidFill>
          <a:ln w="12700">
            <a:solidFill>
              <a:srgbClr val="171717"/>
            </a:solidFill>
            <a:prstDash val="solid"/>
          </a:ln>
        </p:spPr>
      </p:sp>
      <p:sp>
        <p:nvSpPr>
          <p:cNvPr id="88" name="Shape 85"/>
          <p:cNvSpPr/>
          <p:nvPr/>
        </p:nvSpPr>
        <p:spPr>
          <a:xfrm>
            <a:off x="13322808" y="5490972"/>
            <a:ext cx="100584" cy="100584"/>
          </a:xfrm>
          <a:prstGeom prst="ellipse">
            <a:avLst/>
          </a:prstGeom>
          <a:solidFill>
            <a:srgbClr val="171717"/>
          </a:solidFill>
          <a:ln w="12700">
            <a:solidFill>
              <a:srgbClr val="171717"/>
            </a:solidFill>
            <a:prstDash val="solid"/>
          </a:ln>
        </p:spPr>
      </p:sp>
      <p:sp>
        <p:nvSpPr>
          <p:cNvPr id="89" name="Shape 86"/>
          <p:cNvSpPr/>
          <p:nvPr/>
        </p:nvSpPr>
        <p:spPr>
          <a:xfrm>
            <a:off x="13505688" y="5490972"/>
            <a:ext cx="100584" cy="100584"/>
          </a:xfrm>
          <a:prstGeom prst="ellipse">
            <a:avLst/>
          </a:prstGeom>
          <a:solidFill>
            <a:srgbClr val="DADBD6"/>
          </a:solidFill>
          <a:ln w="12700">
            <a:solidFill>
              <a:srgbClr val="DADBD6"/>
            </a:solidFill>
            <a:prstDash val="solid"/>
          </a:ln>
        </p:spPr>
      </p:sp>
      <p:sp>
        <p:nvSpPr>
          <p:cNvPr id="90" name="Text 87"/>
          <p:cNvSpPr txBox="1"/>
          <p:nvPr/>
        </p:nvSpPr>
        <p:spPr>
          <a:xfrm>
            <a:off x="15060168" y="5390388"/>
            <a:ext cx="548640" cy="329184"/>
          </a:xfrm>
          <a:prstGeom prst="rect">
            <a:avLst/>
          </a:prstGeom>
          <a:noFill/>
          <a:ln/>
        </p:spPr>
        <p:txBody>
          <a:bodyPr wrap="square" lIns="0" tIns="0" rIns="0" bIns="0" rtlCol="0" anchor="t"/>
          <a:lstStyle/>
          <a:p>
            <a:pPr indent="0" marL="0">
              <a:buNone/>
            </a:pPr>
            <a:r>
              <a:rPr lang="en-US" sz="1800" b="1" dirty="0">
                <a:solidFill>
                  <a:srgbClr val="171717"/>
                </a:solidFill>
                <a:latin typeface="Poppins" pitchFamily="34" charset="0"/>
                <a:ea typeface="Poppins" pitchFamily="34" charset="-122"/>
                <a:cs typeface="Poppins" pitchFamily="34" charset="-120"/>
              </a:rPr>
              <a:t>17</a:t>
            </a:r>
            <a:endParaRPr lang="en-US" sz="1800" dirty="0"/>
          </a:p>
        </p:txBody>
      </p:sp>
      <p:sp>
        <p:nvSpPr>
          <p:cNvPr id="91" name="Shape 88"/>
          <p:cNvSpPr/>
          <p:nvPr/>
        </p:nvSpPr>
        <p:spPr>
          <a:xfrm>
            <a:off x="15745968" y="5500116"/>
            <a:ext cx="1371600" cy="82296"/>
          </a:xfrm>
          <a:prstGeom prst="roundRect">
            <a:avLst>
              <a:gd name="adj" fmla="val 44444"/>
            </a:avLst>
          </a:prstGeom>
          <a:solidFill>
            <a:srgbClr val="DADBD6"/>
          </a:solidFill>
          <a:ln w="12700">
            <a:solidFill>
              <a:srgbClr val="DADBD6"/>
            </a:solidFill>
            <a:prstDash val="solid"/>
          </a:ln>
        </p:spPr>
      </p:sp>
      <p:sp>
        <p:nvSpPr>
          <p:cNvPr id="92" name="Shape 89"/>
          <p:cNvSpPr/>
          <p:nvPr/>
        </p:nvSpPr>
        <p:spPr>
          <a:xfrm>
            <a:off x="15745968" y="5500116"/>
            <a:ext cx="1165860" cy="82296"/>
          </a:xfrm>
          <a:prstGeom prst="roundRect">
            <a:avLst>
              <a:gd name="adj" fmla="val 44444"/>
            </a:avLst>
          </a:prstGeom>
          <a:solidFill>
            <a:srgbClr val="497078"/>
          </a:solidFill>
          <a:ln w="12700">
            <a:solidFill>
              <a:srgbClr val="497078"/>
            </a:solidFill>
            <a:prstDash val="solid"/>
          </a:ln>
        </p:spPr>
      </p:sp>
      <p:sp>
        <p:nvSpPr>
          <p:cNvPr id="93" name="Shape 90"/>
          <p:cNvSpPr/>
          <p:nvPr/>
        </p:nvSpPr>
        <p:spPr>
          <a:xfrm>
            <a:off x="1069848" y="5751576"/>
            <a:ext cx="16203168" cy="365760"/>
          </a:xfrm>
          <a:prstGeom prst="roundRect">
            <a:avLst>
              <a:gd name="adj" fmla="val 25000"/>
            </a:avLst>
          </a:prstGeom>
          <a:solidFill>
            <a:srgbClr val="FFFFFF"/>
          </a:solidFill>
          <a:ln w="9525">
            <a:solidFill>
              <a:srgbClr val="DADBD6"/>
            </a:solidFill>
            <a:prstDash val="solid"/>
          </a:ln>
        </p:spPr>
      </p:sp>
      <p:sp>
        <p:nvSpPr>
          <p:cNvPr id="94" name="Shape 91"/>
          <p:cNvSpPr/>
          <p:nvPr/>
        </p:nvSpPr>
        <p:spPr>
          <a:xfrm>
            <a:off x="4224528" y="5751576"/>
            <a:ext cx="2423160" cy="365760"/>
          </a:xfrm>
          <a:prstGeom prst="rect">
            <a:avLst/>
          </a:prstGeom>
          <a:solidFill>
            <a:srgbClr val="E8F2F2"/>
          </a:solidFill>
          <a:ln w="12700">
            <a:solidFill>
              <a:srgbClr val="E8F2F2"/>
            </a:solidFill>
            <a:prstDash val="solid"/>
          </a:ln>
        </p:spPr>
      </p:sp>
      <p:sp>
        <p:nvSpPr>
          <p:cNvPr id="95" name="Text 92"/>
          <p:cNvSpPr txBox="1"/>
          <p:nvPr/>
        </p:nvSpPr>
        <p:spPr>
          <a:xfrm>
            <a:off x="1344168" y="5833872"/>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3.</a:t>
            </a:r>
            <a:endParaRPr lang="en-US" sz="1350" dirty="0"/>
          </a:p>
        </p:txBody>
      </p:sp>
      <p:sp>
        <p:nvSpPr>
          <p:cNvPr id="96" name="Text 93"/>
          <p:cNvSpPr txBox="1"/>
          <p:nvPr/>
        </p:nvSpPr>
        <p:spPr>
          <a:xfrm>
            <a:off x="1755648" y="5815584"/>
            <a:ext cx="1828800" cy="292608"/>
          </a:xfrm>
          <a:prstGeom prst="rect">
            <a:avLst/>
          </a:prstGeom>
          <a:noFill/>
          <a:ln/>
        </p:spPr>
        <p:txBody>
          <a:bodyPr wrap="square" lIns="0" tIns="0" rIns="0" bIns="0" rtlCol="0" anchor="t"/>
          <a:lstStyle/>
          <a:p>
            <a:pPr indent="0" marL="0">
              <a:buNone/>
            </a:pPr>
            <a:r>
              <a:rPr lang="en-US" sz="1550" b="1" dirty="0">
                <a:solidFill>
                  <a:srgbClr val="687075"/>
                </a:solidFill>
                <a:latin typeface="Poppins" pitchFamily="34" charset="0"/>
                <a:ea typeface="Poppins" pitchFamily="34" charset="-122"/>
                <a:cs typeface="Poppins" pitchFamily="34" charset="-120"/>
              </a:rPr>
              <a:t>Germany</a:t>
            </a:r>
            <a:endParaRPr lang="en-US" sz="1550" dirty="0"/>
          </a:p>
        </p:txBody>
      </p:sp>
      <p:sp>
        <p:nvSpPr>
          <p:cNvPr id="97" name="Text 94"/>
          <p:cNvSpPr txBox="1"/>
          <p:nvPr/>
        </p:nvSpPr>
        <p:spPr>
          <a:xfrm>
            <a:off x="4361688" y="5806440"/>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2</a:t>
            </a:r>
            <a:endParaRPr lang="en-US" sz="1650" dirty="0"/>
          </a:p>
        </p:txBody>
      </p:sp>
      <p:sp>
        <p:nvSpPr>
          <p:cNvPr id="98" name="Shape 95"/>
          <p:cNvSpPr/>
          <p:nvPr/>
        </p:nvSpPr>
        <p:spPr>
          <a:xfrm>
            <a:off x="4818888" y="5897880"/>
            <a:ext cx="100584" cy="100584"/>
          </a:xfrm>
          <a:prstGeom prst="ellipse">
            <a:avLst/>
          </a:prstGeom>
          <a:solidFill>
            <a:srgbClr val="687075"/>
          </a:solidFill>
          <a:ln w="12700">
            <a:solidFill>
              <a:srgbClr val="687075"/>
            </a:solidFill>
            <a:prstDash val="solid"/>
          </a:ln>
        </p:spPr>
      </p:sp>
      <p:sp>
        <p:nvSpPr>
          <p:cNvPr id="99" name="Shape 96"/>
          <p:cNvSpPr/>
          <p:nvPr/>
        </p:nvSpPr>
        <p:spPr>
          <a:xfrm>
            <a:off x="5001768" y="5897880"/>
            <a:ext cx="100584" cy="100584"/>
          </a:xfrm>
          <a:prstGeom prst="ellipse">
            <a:avLst/>
          </a:prstGeom>
          <a:solidFill>
            <a:srgbClr val="687075"/>
          </a:solidFill>
          <a:ln w="12700">
            <a:solidFill>
              <a:srgbClr val="687075"/>
            </a:solidFill>
            <a:prstDash val="solid"/>
          </a:ln>
        </p:spPr>
      </p:sp>
      <p:sp>
        <p:nvSpPr>
          <p:cNvPr id="100" name="Shape 97"/>
          <p:cNvSpPr/>
          <p:nvPr/>
        </p:nvSpPr>
        <p:spPr>
          <a:xfrm>
            <a:off x="5184648" y="5897880"/>
            <a:ext cx="100584" cy="100584"/>
          </a:xfrm>
          <a:prstGeom prst="ellipse">
            <a:avLst/>
          </a:prstGeom>
          <a:solidFill>
            <a:srgbClr val="DADBD6"/>
          </a:solidFill>
          <a:ln w="12700">
            <a:solidFill>
              <a:srgbClr val="DADBD6"/>
            </a:solidFill>
            <a:prstDash val="solid"/>
          </a:ln>
        </p:spPr>
      </p:sp>
      <p:sp>
        <p:nvSpPr>
          <p:cNvPr id="101" name="Shape 98"/>
          <p:cNvSpPr/>
          <p:nvPr/>
        </p:nvSpPr>
        <p:spPr>
          <a:xfrm>
            <a:off x="5367528" y="5897880"/>
            <a:ext cx="100584" cy="100584"/>
          </a:xfrm>
          <a:prstGeom prst="ellipse">
            <a:avLst/>
          </a:prstGeom>
          <a:solidFill>
            <a:srgbClr val="DADBD6"/>
          </a:solidFill>
          <a:ln w="12700">
            <a:solidFill>
              <a:srgbClr val="DADBD6"/>
            </a:solidFill>
            <a:prstDash val="solid"/>
          </a:ln>
        </p:spPr>
      </p:sp>
      <p:sp>
        <p:nvSpPr>
          <p:cNvPr id="102" name="Shape 99"/>
          <p:cNvSpPr/>
          <p:nvPr/>
        </p:nvSpPr>
        <p:spPr>
          <a:xfrm>
            <a:off x="5550408" y="5897880"/>
            <a:ext cx="100584" cy="100584"/>
          </a:xfrm>
          <a:prstGeom prst="ellipse">
            <a:avLst/>
          </a:prstGeom>
          <a:solidFill>
            <a:srgbClr val="DADBD6"/>
          </a:solidFill>
          <a:ln w="12700">
            <a:solidFill>
              <a:srgbClr val="DADBD6"/>
            </a:solidFill>
            <a:prstDash val="solid"/>
          </a:ln>
        </p:spPr>
      </p:sp>
      <p:sp>
        <p:nvSpPr>
          <p:cNvPr id="103" name="Text 100"/>
          <p:cNvSpPr txBox="1"/>
          <p:nvPr/>
        </p:nvSpPr>
        <p:spPr>
          <a:xfrm>
            <a:off x="7013448" y="5806440"/>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5</a:t>
            </a:r>
            <a:endParaRPr lang="en-US" sz="1650" dirty="0"/>
          </a:p>
        </p:txBody>
      </p:sp>
      <p:sp>
        <p:nvSpPr>
          <p:cNvPr id="104" name="Shape 101"/>
          <p:cNvSpPr/>
          <p:nvPr/>
        </p:nvSpPr>
        <p:spPr>
          <a:xfrm>
            <a:off x="7470648" y="5897880"/>
            <a:ext cx="100584" cy="100584"/>
          </a:xfrm>
          <a:prstGeom prst="ellipse">
            <a:avLst/>
          </a:prstGeom>
          <a:solidFill>
            <a:srgbClr val="687075"/>
          </a:solidFill>
          <a:ln w="12700">
            <a:solidFill>
              <a:srgbClr val="687075"/>
            </a:solidFill>
            <a:prstDash val="solid"/>
          </a:ln>
        </p:spPr>
      </p:sp>
      <p:sp>
        <p:nvSpPr>
          <p:cNvPr id="105" name="Shape 102"/>
          <p:cNvSpPr/>
          <p:nvPr/>
        </p:nvSpPr>
        <p:spPr>
          <a:xfrm>
            <a:off x="7653528" y="5897880"/>
            <a:ext cx="100584" cy="100584"/>
          </a:xfrm>
          <a:prstGeom prst="ellipse">
            <a:avLst/>
          </a:prstGeom>
          <a:solidFill>
            <a:srgbClr val="687075"/>
          </a:solidFill>
          <a:ln w="12700">
            <a:solidFill>
              <a:srgbClr val="687075"/>
            </a:solidFill>
            <a:prstDash val="solid"/>
          </a:ln>
        </p:spPr>
      </p:sp>
      <p:sp>
        <p:nvSpPr>
          <p:cNvPr id="106" name="Shape 103"/>
          <p:cNvSpPr/>
          <p:nvPr/>
        </p:nvSpPr>
        <p:spPr>
          <a:xfrm>
            <a:off x="7836408" y="5897880"/>
            <a:ext cx="100584" cy="100584"/>
          </a:xfrm>
          <a:prstGeom prst="ellipse">
            <a:avLst/>
          </a:prstGeom>
          <a:solidFill>
            <a:srgbClr val="687075"/>
          </a:solidFill>
          <a:ln w="12700">
            <a:solidFill>
              <a:srgbClr val="687075"/>
            </a:solidFill>
            <a:prstDash val="solid"/>
          </a:ln>
        </p:spPr>
      </p:sp>
      <p:sp>
        <p:nvSpPr>
          <p:cNvPr id="107" name="Shape 104"/>
          <p:cNvSpPr/>
          <p:nvPr/>
        </p:nvSpPr>
        <p:spPr>
          <a:xfrm>
            <a:off x="8019288" y="5897880"/>
            <a:ext cx="100584" cy="100584"/>
          </a:xfrm>
          <a:prstGeom prst="ellipse">
            <a:avLst/>
          </a:prstGeom>
          <a:solidFill>
            <a:srgbClr val="687075"/>
          </a:solidFill>
          <a:ln w="12700">
            <a:solidFill>
              <a:srgbClr val="687075"/>
            </a:solidFill>
            <a:prstDash val="solid"/>
          </a:ln>
        </p:spPr>
      </p:sp>
      <p:sp>
        <p:nvSpPr>
          <p:cNvPr id="108" name="Shape 105"/>
          <p:cNvSpPr/>
          <p:nvPr/>
        </p:nvSpPr>
        <p:spPr>
          <a:xfrm>
            <a:off x="8202168" y="5897880"/>
            <a:ext cx="100584" cy="100584"/>
          </a:xfrm>
          <a:prstGeom prst="ellipse">
            <a:avLst/>
          </a:prstGeom>
          <a:solidFill>
            <a:srgbClr val="687075"/>
          </a:solidFill>
          <a:ln w="12700">
            <a:solidFill>
              <a:srgbClr val="687075"/>
            </a:solidFill>
            <a:prstDash val="solid"/>
          </a:ln>
        </p:spPr>
      </p:sp>
      <p:sp>
        <p:nvSpPr>
          <p:cNvPr id="109" name="Text 106"/>
          <p:cNvSpPr txBox="1"/>
          <p:nvPr/>
        </p:nvSpPr>
        <p:spPr>
          <a:xfrm>
            <a:off x="9665208" y="5806440"/>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4</a:t>
            </a:r>
            <a:endParaRPr lang="en-US" sz="1650" dirty="0"/>
          </a:p>
        </p:txBody>
      </p:sp>
      <p:sp>
        <p:nvSpPr>
          <p:cNvPr id="110" name="Shape 107"/>
          <p:cNvSpPr/>
          <p:nvPr/>
        </p:nvSpPr>
        <p:spPr>
          <a:xfrm>
            <a:off x="10122408" y="5897880"/>
            <a:ext cx="100584" cy="100584"/>
          </a:xfrm>
          <a:prstGeom prst="ellipse">
            <a:avLst/>
          </a:prstGeom>
          <a:solidFill>
            <a:srgbClr val="687075"/>
          </a:solidFill>
          <a:ln w="12700">
            <a:solidFill>
              <a:srgbClr val="687075"/>
            </a:solidFill>
            <a:prstDash val="solid"/>
          </a:ln>
        </p:spPr>
      </p:sp>
      <p:sp>
        <p:nvSpPr>
          <p:cNvPr id="111" name="Shape 108"/>
          <p:cNvSpPr/>
          <p:nvPr/>
        </p:nvSpPr>
        <p:spPr>
          <a:xfrm>
            <a:off x="10305288" y="5897880"/>
            <a:ext cx="100584" cy="100584"/>
          </a:xfrm>
          <a:prstGeom prst="ellipse">
            <a:avLst/>
          </a:prstGeom>
          <a:solidFill>
            <a:srgbClr val="687075"/>
          </a:solidFill>
          <a:ln w="12700">
            <a:solidFill>
              <a:srgbClr val="687075"/>
            </a:solidFill>
            <a:prstDash val="solid"/>
          </a:ln>
        </p:spPr>
      </p:sp>
      <p:sp>
        <p:nvSpPr>
          <p:cNvPr id="112" name="Shape 109"/>
          <p:cNvSpPr/>
          <p:nvPr/>
        </p:nvSpPr>
        <p:spPr>
          <a:xfrm>
            <a:off x="10488168" y="5897880"/>
            <a:ext cx="100584" cy="100584"/>
          </a:xfrm>
          <a:prstGeom prst="ellipse">
            <a:avLst/>
          </a:prstGeom>
          <a:solidFill>
            <a:srgbClr val="687075"/>
          </a:solidFill>
          <a:ln w="12700">
            <a:solidFill>
              <a:srgbClr val="687075"/>
            </a:solidFill>
            <a:prstDash val="solid"/>
          </a:ln>
        </p:spPr>
      </p:sp>
      <p:sp>
        <p:nvSpPr>
          <p:cNvPr id="113" name="Shape 110"/>
          <p:cNvSpPr/>
          <p:nvPr/>
        </p:nvSpPr>
        <p:spPr>
          <a:xfrm>
            <a:off x="10671048" y="5897880"/>
            <a:ext cx="100584" cy="100584"/>
          </a:xfrm>
          <a:prstGeom prst="ellipse">
            <a:avLst/>
          </a:prstGeom>
          <a:solidFill>
            <a:srgbClr val="687075"/>
          </a:solidFill>
          <a:ln w="12700">
            <a:solidFill>
              <a:srgbClr val="687075"/>
            </a:solidFill>
            <a:prstDash val="solid"/>
          </a:ln>
        </p:spPr>
      </p:sp>
      <p:sp>
        <p:nvSpPr>
          <p:cNvPr id="114" name="Shape 111"/>
          <p:cNvSpPr/>
          <p:nvPr/>
        </p:nvSpPr>
        <p:spPr>
          <a:xfrm>
            <a:off x="10853928" y="5897880"/>
            <a:ext cx="100584" cy="100584"/>
          </a:xfrm>
          <a:prstGeom prst="ellipse">
            <a:avLst/>
          </a:prstGeom>
          <a:solidFill>
            <a:srgbClr val="DADBD6"/>
          </a:solidFill>
          <a:ln w="12700">
            <a:solidFill>
              <a:srgbClr val="DADBD6"/>
            </a:solidFill>
            <a:prstDash val="solid"/>
          </a:ln>
        </p:spPr>
      </p:sp>
      <p:sp>
        <p:nvSpPr>
          <p:cNvPr id="115" name="Text 112"/>
          <p:cNvSpPr txBox="1"/>
          <p:nvPr/>
        </p:nvSpPr>
        <p:spPr>
          <a:xfrm>
            <a:off x="12316968" y="5806440"/>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4</a:t>
            </a:r>
            <a:endParaRPr lang="en-US" sz="1650" dirty="0"/>
          </a:p>
        </p:txBody>
      </p:sp>
      <p:sp>
        <p:nvSpPr>
          <p:cNvPr id="116" name="Shape 113"/>
          <p:cNvSpPr/>
          <p:nvPr/>
        </p:nvSpPr>
        <p:spPr>
          <a:xfrm>
            <a:off x="12774168" y="5897880"/>
            <a:ext cx="100584" cy="100584"/>
          </a:xfrm>
          <a:prstGeom prst="ellipse">
            <a:avLst/>
          </a:prstGeom>
          <a:solidFill>
            <a:srgbClr val="687075"/>
          </a:solidFill>
          <a:ln w="12700">
            <a:solidFill>
              <a:srgbClr val="687075"/>
            </a:solidFill>
            <a:prstDash val="solid"/>
          </a:ln>
        </p:spPr>
      </p:sp>
      <p:sp>
        <p:nvSpPr>
          <p:cNvPr id="117" name="Shape 114"/>
          <p:cNvSpPr/>
          <p:nvPr/>
        </p:nvSpPr>
        <p:spPr>
          <a:xfrm>
            <a:off x="12957048" y="5897880"/>
            <a:ext cx="100584" cy="100584"/>
          </a:xfrm>
          <a:prstGeom prst="ellipse">
            <a:avLst/>
          </a:prstGeom>
          <a:solidFill>
            <a:srgbClr val="687075"/>
          </a:solidFill>
          <a:ln w="12700">
            <a:solidFill>
              <a:srgbClr val="687075"/>
            </a:solidFill>
            <a:prstDash val="solid"/>
          </a:ln>
        </p:spPr>
      </p:sp>
      <p:sp>
        <p:nvSpPr>
          <p:cNvPr id="118" name="Shape 115"/>
          <p:cNvSpPr/>
          <p:nvPr/>
        </p:nvSpPr>
        <p:spPr>
          <a:xfrm>
            <a:off x="13139928" y="5897880"/>
            <a:ext cx="100584" cy="100584"/>
          </a:xfrm>
          <a:prstGeom prst="ellipse">
            <a:avLst/>
          </a:prstGeom>
          <a:solidFill>
            <a:srgbClr val="687075"/>
          </a:solidFill>
          <a:ln w="12700">
            <a:solidFill>
              <a:srgbClr val="687075"/>
            </a:solidFill>
            <a:prstDash val="solid"/>
          </a:ln>
        </p:spPr>
      </p:sp>
      <p:sp>
        <p:nvSpPr>
          <p:cNvPr id="119" name="Shape 116"/>
          <p:cNvSpPr/>
          <p:nvPr/>
        </p:nvSpPr>
        <p:spPr>
          <a:xfrm>
            <a:off x="13322808" y="5897880"/>
            <a:ext cx="100584" cy="100584"/>
          </a:xfrm>
          <a:prstGeom prst="ellipse">
            <a:avLst/>
          </a:prstGeom>
          <a:solidFill>
            <a:srgbClr val="687075"/>
          </a:solidFill>
          <a:ln w="12700">
            <a:solidFill>
              <a:srgbClr val="687075"/>
            </a:solidFill>
            <a:prstDash val="solid"/>
          </a:ln>
        </p:spPr>
      </p:sp>
      <p:sp>
        <p:nvSpPr>
          <p:cNvPr id="120" name="Shape 117"/>
          <p:cNvSpPr/>
          <p:nvPr/>
        </p:nvSpPr>
        <p:spPr>
          <a:xfrm>
            <a:off x="13505688" y="5897880"/>
            <a:ext cx="100584" cy="100584"/>
          </a:xfrm>
          <a:prstGeom prst="ellipse">
            <a:avLst/>
          </a:prstGeom>
          <a:solidFill>
            <a:srgbClr val="DADBD6"/>
          </a:solidFill>
          <a:ln w="12700">
            <a:solidFill>
              <a:srgbClr val="DADBD6"/>
            </a:solidFill>
            <a:prstDash val="solid"/>
          </a:ln>
        </p:spPr>
      </p:sp>
      <p:sp>
        <p:nvSpPr>
          <p:cNvPr id="121" name="Text 118"/>
          <p:cNvSpPr txBox="1"/>
          <p:nvPr/>
        </p:nvSpPr>
        <p:spPr>
          <a:xfrm>
            <a:off x="15060168" y="5797296"/>
            <a:ext cx="548640" cy="329184"/>
          </a:xfrm>
          <a:prstGeom prst="rect">
            <a:avLst/>
          </a:prstGeom>
          <a:noFill/>
          <a:ln/>
        </p:spPr>
        <p:txBody>
          <a:bodyPr wrap="square" lIns="0" tIns="0" rIns="0" bIns="0" rtlCol="0" anchor="t"/>
          <a:lstStyle/>
          <a:p>
            <a:pPr indent="0" marL="0">
              <a:buNone/>
            </a:pPr>
            <a:r>
              <a:rPr lang="en-US" sz="1800" b="1" dirty="0">
                <a:solidFill>
                  <a:srgbClr val="687075"/>
                </a:solidFill>
                <a:latin typeface="Poppins" pitchFamily="34" charset="0"/>
                <a:ea typeface="Poppins" pitchFamily="34" charset="-122"/>
                <a:cs typeface="Poppins" pitchFamily="34" charset="-120"/>
              </a:rPr>
              <a:t>15</a:t>
            </a:r>
            <a:endParaRPr lang="en-US" sz="1800" dirty="0"/>
          </a:p>
        </p:txBody>
      </p:sp>
      <p:sp>
        <p:nvSpPr>
          <p:cNvPr id="122" name="Shape 119"/>
          <p:cNvSpPr/>
          <p:nvPr/>
        </p:nvSpPr>
        <p:spPr>
          <a:xfrm>
            <a:off x="15745968" y="5907024"/>
            <a:ext cx="1371600" cy="82296"/>
          </a:xfrm>
          <a:prstGeom prst="roundRect">
            <a:avLst>
              <a:gd name="adj" fmla="val 44444"/>
            </a:avLst>
          </a:prstGeom>
          <a:solidFill>
            <a:srgbClr val="DADBD6"/>
          </a:solidFill>
          <a:ln w="12700">
            <a:solidFill>
              <a:srgbClr val="DADBD6"/>
            </a:solidFill>
            <a:prstDash val="solid"/>
          </a:ln>
        </p:spPr>
      </p:sp>
      <p:sp>
        <p:nvSpPr>
          <p:cNvPr id="123" name="Shape 120"/>
          <p:cNvSpPr/>
          <p:nvPr/>
        </p:nvSpPr>
        <p:spPr>
          <a:xfrm>
            <a:off x="15745968" y="5907024"/>
            <a:ext cx="1028700" cy="82296"/>
          </a:xfrm>
          <a:prstGeom prst="roundRect">
            <a:avLst>
              <a:gd name="adj" fmla="val 44444"/>
            </a:avLst>
          </a:prstGeom>
          <a:solidFill>
            <a:srgbClr val="DADBD6"/>
          </a:solidFill>
          <a:ln w="12700">
            <a:solidFill>
              <a:srgbClr val="DADBD6"/>
            </a:solidFill>
            <a:prstDash val="solid"/>
          </a:ln>
        </p:spPr>
      </p:sp>
      <p:sp>
        <p:nvSpPr>
          <p:cNvPr id="124" name="Shape 121"/>
          <p:cNvSpPr/>
          <p:nvPr/>
        </p:nvSpPr>
        <p:spPr>
          <a:xfrm>
            <a:off x="1069848" y="6158484"/>
            <a:ext cx="16203168" cy="365760"/>
          </a:xfrm>
          <a:prstGeom prst="roundRect">
            <a:avLst>
              <a:gd name="adj" fmla="val 25000"/>
            </a:avLst>
          </a:prstGeom>
          <a:solidFill>
            <a:srgbClr val="FFFFFF"/>
          </a:solidFill>
          <a:ln w="9525">
            <a:solidFill>
              <a:srgbClr val="DADBD6"/>
            </a:solidFill>
            <a:prstDash val="solid"/>
          </a:ln>
        </p:spPr>
      </p:sp>
      <p:sp>
        <p:nvSpPr>
          <p:cNvPr id="125" name="Shape 122"/>
          <p:cNvSpPr/>
          <p:nvPr/>
        </p:nvSpPr>
        <p:spPr>
          <a:xfrm>
            <a:off x="4224528" y="6158484"/>
            <a:ext cx="2423160" cy="365760"/>
          </a:xfrm>
          <a:prstGeom prst="rect">
            <a:avLst/>
          </a:prstGeom>
          <a:solidFill>
            <a:srgbClr val="E8F2F2"/>
          </a:solidFill>
          <a:ln w="12700">
            <a:solidFill>
              <a:srgbClr val="E8F2F2"/>
            </a:solidFill>
            <a:prstDash val="solid"/>
          </a:ln>
        </p:spPr>
      </p:sp>
      <p:sp>
        <p:nvSpPr>
          <p:cNvPr id="126" name="Text 123"/>
          <p:cNvSpPr txBox="1"/>
          <p:nvPr/>
        </p:nvSpPr>
        <p:spPr>
          <a:xfrm>
            <a:off x="1344168" y="6240780"/>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4.</a:t>
            </a:r>
            <a:endParaRPr lang="en-US" sz="1350" dirty="0"/>
          </a:p>
        </p:txBody>
      </p:sp>
      <p:sp>
        <p:nvSpPr>
          <p:cNvPr id="127" name="Text 124"/>
          <p:cNvSpPr txBox="1"/>
          <p:nvPr/>
        </p:nvSpPr>
        <p:spPr>
          <a:xfrm>
            <a:off x="1755648" y="6222492"/>
            <a:ext cx="1828800" cy="292608"/>
          </a:xfrm>
          <a:prstGeom prst="rect">
            <a:avLst/>
          </a:prstGeom>
          <a:noFill/>
          <a:ln/>
        </p:spPr>
        <p:txBody>
          <a:bodyPr wrap="square" lIns="0" tIns="0" rIns="0" bIns="0" rtlCol="0" anchor="t"/>
          <a:lstStyle/>
          <a:p>
            <a:pPr indent="0" marL="0">
              <a:buNone/>
            </a:pPr>
            <a:r>
              <a:rPr lang="en-US" sz="1550" b="1" dirty="0">
                <a:solidFill>
                  <a:srgbClr val="171717"/>
                </a:solidFill>
                <a:latin typeface="Poppins" pitchFamily="34" charset="0"/>
                <a:ea typeface="Poppins" pitchFamily="34" charset="-122"/>
                <a:cs typeface="Poppins" pitchFamily="34" charset="-120"/>
              </a:rPr>
              <a:t>Belgium</a:t>
            </a:r>
            <a:endParaRPr lang="en-US" sz="1550" dirty="0"/>
          </a:p>
        </p:txBody>
      </p:sp>
      <p:sp>
        <p:nvSpPr>
          <p:cNvPr id="128" name="Text 125"/>
          <p:cNvSpPr txBox="1"/>
          <p:nvPr/>
        </p:nvSpPr>
        <p:spPr>
          <a:xfrm>
            <a:off x="4361688" y="621334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129" name="Shape 126"/>
          <p:cNvSpPr/>
          <p:nvPr/>
        </p:nvSpPr>
        <p:spPr>
          <a:xfrm>
            <a:off x="4818888" y="6304788"/>
            <a:ext cx="100584" cy="100584"/>
          </a:xfrm>
          <a:prstGeom prst="ellipse">
            <a:avLst/>
          </a:prstGeom>
          <a:solidFill>
            <a:srgbClr val="171717"/>
          </a:solidFill>
          <a:ln w="12700">
            <a:solidFill>
              <a:srgbClr val="171717"/>
            </a:solidFill>
            <a:prstDash val="solid"/>
          </a:ln>
        </p:spPr>
      </p:sp>
      <p:sp>
        <p:nvSpPr>
          <p:cNvPr id="130" name="Shape 127"/>
          <p:cNvSpPr/>
          <p:nvPr/>
        </p:nvSpPr>
        <p:spPr>
          <a:xfrm>
            <a:off x="5001768" y="6304788"/>
            <a:ext cx="100584" cy="100584"/>
          </a:xfrm>
          <a:prstGeom prst="ellipse">
            <a:avLst/>
          </a:prstGeom>
          <a:solidFill>
            <a:srgbClr val="171717"/>
          </a:solidFill>
          <a:ln w="12700">
            <a:solidFill>
              <a:srgbClr val="171717"/>
            </a:solidFill>
            <a:prstDash val="solid"/>
          </a:ln>
        </p:spPr>
      </p:sp>
      <p:sp>
        <p:nvSpPr>
          <p:cNvPr id="131" name="Shape 128"/>
          <p:cNvSpPr/>
          <p:nvPr/>
        </p:nvSpPr>
        <p:spPr>
          <a:xfrm>
            <a:off x="5184648" y="6304788"/>
            <a:ext cx="100584" cy="100584"/>
          </a:xfrm>
          <a:prstGeom prst="ellipse">
            <a:avLst/>
          </a:prstGeom>
          <a:solidFill>
            <a:srgbClr val="171717"/>
          </a:solidFill>
          <a:ln w="12700">
            <a:solidFill>
              <a:srgbClr val="171717"/>
            </a:solidFill>
            <a:prstDash val="solid"/>
          </a:ln>
        </p:spPr>
      </p:sp>
      <p:sp>
        <p:nvSpPr>
          <p:cNvPr id="132" name="Shape 129"/>
          <p:cNvSpPr/>
          <p:nvPr/>
        </p:nvSpPr>
        <p:spPr>
          <a:xfrm>
            <a:off x="5367528" y="6304788"/>
            <a:ext cx="100584" cy="100584"/>
          </a:xfrm>
          <a:prstGeom prst="ellipse">
            <a:avLst/>
          </a:prstGeom>
          <a:solidFill>
            <a:srgbClr val="171717"/>
          </a:solidFill>
          <a:ln w="12700">
            <a:solidFill>
              <a:srgbClr val="171717"/>
            </a:solidFill>
            <a:prstDash val="solid"/>
          </a:ln>
        </p:spPr>
      </p:sp>
      <p:sp>
        <p:nvSpPr>
          <p:cNvPr id="133" name="Shape 130"/>
          <p:cNvSpPr/>
          <p:nvPr/>
        </p:nvSpPr>
        <p:spPr>
          <a:xfrm>
            <a:off x="5550408" y="6304788"/>
            <a:ext cx="100584" cy="100584"/>
          </a:xfrm>
          <a:prstGeom prst="ellipse">
            <a:avLst/>
          </a:prstGeom>
          <a:solidFill>
            <a:srgbClr val="171717"/>
          </a:solidFill>
          <a:ln w="12700">
            <a:solidFill>
              <a:srgbClr val="171717"/>
            </a:solidFill>
            <a:prstDash val="solid"/>
          </a:ln>
        </p:spPr>
      </p:sp>
      <p:sp>
        <p:nvSpPr>
          <p:cNvPr id="134" name="Text 131"/>
          <p:cNvSpPr txBox="1"/>
          <p:nvPr/>
        </p:nvSpPr>
        <p:spPr>
          <a:xfrm>
            <a:off x="7013448" y="621334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135" name="Shape 132"/>
          <p:cNvSpPr/>
          <p:nvPr/>
        </p:nvSpPr>
        <p:spPr>
          <a:xfrm>
            <a:off x="7470648" y="6304788"/>
            <a:ext cx="100584" cy="100584"/>
          </a:xfrm>
          <a:prstGeom prst="ellipse">
            <a:avLst/>
          </a:prstGeom>
          <a:solidFill>
            <a:srgbClr val="171717"/>
          </a:solidFill>
          <a:ln w="12700">
            <a:solidFill>
              <a:srgbClr val="171717"/>
            </a:solidFill>
            <a:prstDash val="solid"/>
          </a:ln>
        </p:spPr>
      </p:sp>
      <p:sp>
        <p:nvSpPr>
          <p:cNvPr id="136" name="Shape 133"/>
          <p:cNvSpPr/>
          <p:nvPr/>
        </p:nvSpPr>
        <p:spPr>
          <a:xfrm>
            <a:off x="7653528" y="6304788"/>
            <a:ext cx="100584" cy="100584"/>
          </a:xfrm>
          <a:prstGeom prst="ellipse">
            <a:avLst/>
          </a:prstGeom>
          <a:solidFill>
            <a:srgbClr val="171717"/>
          </a:solidFill>
          <a:ln w="12700">
            <a:solidFill>
              <a:srgbClr val="171717"/>
            </a:solidFill>
            <a:prstDash val="solid"/>
          </a:ln>
        </p:spPr>
      </p:sp>
      <p:sp>
        <p:nvSpPr>
          <p:cNvPr id="137" name="Shape 134"/>
          <p:cNvSpPr/>
          <p:nvPr/>
        </p:nvSpPr>
        <p:spPr>
          <a:xfrm>
            <a:off x="7836408" y="6304788"/>
            <a:ext cx="100584" cy="100584"/>
          </a:xfrm>
          <a:prstGeom prst="ellipse">
            <a:avLst/>
          </a:prstGeom>
          <a:solidFill>
            <a:srgbClr val="171717"/>
          </a:solidFill>
          <a:ln w="12700">
            <a:solidFill>
              <a:srgbClr val="171717"/>
            </a:solidFill>
            <a:prstDash val="solid"/>
          </a:ln>
        </p:spPr>
      </p:sp>
      <p:sp>
        <p:nvSpPr>
          <p:cNvPr id="138" name="Shape 135"/>
          <p:cNvSpPr/>
          <p:nvPr/>
        </p:nvSpPr>
        <p:spPr>
          <a:xfrm>
            <a:off x="8019288" y="6304788"/>
            <a:ext cx="100584" cy="100584"/>
          </a:xfrm>
          <a:prstGeom prst="ellipse">
            <a:avLst/>
          </a:prstGeom>
          <a:solidFill>
            <a:srgbClr val="DADBD6"/>
          </a:solidFill>
          <a:ln w="12700">
            <a:solidFill>
              <a:srgbClr val="DADBD6"/>
            </a:solidFill>
            <a:prstDash val="solid"/>
          </a:ln>
        </p:spPr>
      </p:sp>
      <p:sp>
        <p:nvSpPr>
          <p:cNvPr id="139" name="Shape 136"/>
          <p:cNvSpPr/>
          <p:nvPr/>
        </p:nvSpPr>
        <p:spPr>
          <a:xfrm>
            <a:off x="8202168" y="6304788"/>
            <a:ext cx="100584" cy="100584"/>
          </a:xfrm>
          <a:prstGeom prst="ellipse">
            <a:avLst/>
          </a:prstGeom>
          <a:solidFill>
            <a:srgbClr val="DADBD6"/>
          </a:solidFill>
          <a:ln w="12700">
            <a:solidFill>
              <a:srgbClr val="DADBD6"/>
            </a:solidFill>
            <a:prstDash val="solid"/>
          </a:ln>
        </p:spPr>
      </p:sp>
      <p:sp>
        <p:nvSpPr>
          <p:cNvPr id="140" name="Text 137"/>
          <p:cNvSpPr txBox="1"/>
          <p:nvPr/>
        </p:nvSpPr>
        <p:spPr>
          <a:xfrm>
            <a:off x="9665208" y="621334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141" name="Shape 138"/>
          <p:cNvSpPr/>
          <p:nvPr/>
        </p:nvSpPr>
        <p:spPr>
          <a:xfrm>
            <a:off x="10122408" y="6304788"/>
            <a:ext cx="100584" cy="100584"/>
          </a:xfrm>
          <a:prstGeom prst="ellipse">
            <a:avLst/>
          </a:prstGeom>
          <a:solidFill>
            <a:srgbClr val="171717"/>
          </a:solidFill>
          <a:ln w="12700">
            <a:solidFill>
              <a:srgbClr val="171717"/>
            </a:solidFill>
            <a:prstDash val="solid"/>
          </a:ln>
        </p:spPr>
      </p:sp>
      <p:sp>
        <p:nvSpPr>
          <p:cNvPr id="142" name="Shape 139"/>
          <p:cNvSpPr/>
          <p:nvPr/>
        </p:nvSpPr>
        <p:spPr>
          <a:xfrm>
            <a:off x="10305288" y="6304788"/>
            <a:ext cx="100584" cy="100584"/>
          </a:xfrm>
          <a:prstGeom prst="ellipse">
            <a:avLst/>
          </a:prstGeom>
          <a:solidFill>
            <a:srgbClr val="171717"/>
          </a:solidFill>
          <a:ln w="12700">
            <a:solidFill>
              <a:srgbClr val="171717"/>
            </a:solidFill>
            <a:prstDash val="solid"/>
          </a:ln>
        </p:spPr>
      </p:sp>
      <p:sp>
        <p:nvSpPr>
          <p:cNvPr id="143" name="Shape 140"/>
          <p:cNvSpPr/>
          <p:nvPr/>
        </p:nvSpPr>
        <p:spPr>
          <a:xfrm>
            <a:off x="10488168" y="6304788"/>
            <a:ext cx="100584" cy="100584"/>
          </a:xfrm>
          <a:prstGeom prst="ellipse">
            <a:avLst/>
          </a:prstGeom>
          <a:solidFill>
            <a:srgbClr val="171717"/>
          </a:solidFill>
          <a:ln w="12700">
            <a:solidFill>
              <a:srgbClr val="171717"/>
            </a:solidFill>
            <a:prstDash val="solid"/>
          </a:ln>
        </p:spPr>
      </p:sp>
      <p:sp>
        <p:nvSpPr>
          <p:cNvPr id="144" name="Shape 141"/>
          <p:cNvSpPr/>
          <p:nvPr/>
        </p:nvSpPr>
        <p:spPr>
          <a:xfrm>
            <a:off x="10671048" y="6304788"/>
            <a:ext cx="100584" cy="100584"/>
          </a:xfrm>
          <a:prstGeom prst="ellipse">
            <a:avLst/>
          </a:prstGeom>
          <a:solidFill>
            <a:srgbClr val="DADBD6"/>
          </a:solidFill>
          <a:ln w="12700">
            <a:solidFill>
              <a:srgbClr val="DADBD6"/>
            </a:solidFill>
            <a:prstDash val="solid"/>
          </a:ln>
        </p:spPr>
      </p:sp>
      <p:sp>
        <p:nvSpPr>
          <p:cNvPr id="145" name="Shape 142"/>
          <p:cNvSpPr/>
          <p:nvPr/>
        </p:nvSpPr>
        <p:spPr>
          <a:xfrm>
            <a:off x="10853928" y="6304788"/>
            <a:ext cx="100584" cy="100584"/>
          </a:xfrm>
          <a:prstGeom prst="ellipse">
            <a:avLst/>
          </a:prstGeom>
          <a:solidFill>
            <a:srgbClr val="DADBD6"/>
          </a:solidFill>
          <a:ln w="12700">
            <a:solidFill>
              <a:srgbClr val="DADBD6"/>
            </a:solidFill>
            <a:prstDash val="solid"/>
          </a:ln>
        </p:spPr>
      </p:sp>
      <p:sp>
        <p:nvSpPr>
          <p:cNvPr id="146" name="Text 143"/>
          <p:cNvSpPr txBox="1"/>
          <p:nvPr/>
        </p:nvSpPr>
        <p:spPr>
          <a:xfrm>
            <a:off x="12316968" y="621334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147" name="Shape 144"/>
          <p:cNvSpPr/>
          <p:nvPr/>
        </p:nvSpPr>
        <p:spPr>
          <a:xfrm>
            <a:off x="12774168" y="6304788"/>
            <a:ext cx="100584" cy="100584"/>
          </a:xfrm>
          <a:prstGeom prst="ellipse">
            <a:avLst/>
          </a:prstGeom>
          <a:solidFill>
            <a:srgbClr val="171717"/>
          </a:solidFill>
          <a:ln w="12700">
            <a:solidFill>
              <a:srgbClr val="171717"/>
            </a:solidFill>
            <a:prstDash val="solid"/>
          </a:ln>
        </p:spPr>
      </p:sp>
      <p:sp>
        <p:nvSpPr>
          <p:cNvPr id="148" name="Shape 145"/>
          <p:cNvSpPr/>
          <p:nvPr/>
        </p:nvSpPr>
        <p:spPr>
          <a:xfrm>
            <a:off x="12957048" y="6304788"/>
            <a:ext cx="100584" cy="100584"/>
          </a:xfrm>
          <a:prstGeom prst="ellipse">
            <a:avLst/>
          </a:prstGeom>
          <a:solidFill>
            <a:srgbClr val="171717"/>
          </a:solidFill>
          <a:ln w="12700">
            <a:solidFill>
              <a:srgbClr val="171717"/>
            </a:solidFill>
            <a:prstDash val="solid"/>
          </a:ln>
        </p:spPr>
      </p:sp>
      <p:sp>
        <p:nvSpPr>
          <p:cNvPr id="149" name="Shape 146"/>
          <p:cNvSpPr/>
          <p:nvPr/>
        </p:nvSpPr>
        <p:spPr>
          <a:xfrm>
            <a:off x="13139928" y="6304788"/>
            <a:ext cx="100584" cy="100584"/>
          </a:xfrm>
          <a:prstGeom prst="ellipse">
            <a:avLst/>
          </a:prstGeom>
          <a:solidFill>
            <a:srgbClr val="171717"/>
          </a:solidFill>
          <a:ln w="12700">
            <a:solidFill>
              <a:srgbClr val="171717"/>
            </a:solidFill>
            <a:prstDash val="solid"/>
          </a:ln>
        </p:spPr>
      </p:sp>
      <p:sp>
        <p:nvSpPr>
          <p:cNvPr id="150" name="Shape 147"/>
          <p:cNvSpPr/>
          <p:nvPr/>
        </p:nvSpPr>
        <p:spPr>
          <a:xfrm>
            <a:off x="13322808" y="6304788"/>
            <a:ext cx="100584" cy="100584"/>
          </a:xfrm>
          <a:prstGeom prst="ellipse">
            <a:avLst/>
          </a:prstGeom>
          <a:solidFill>
            <a:srgbClr val="DADBD6"/>
          </a:solidFill>
          <a:ln w="12700">
            <a:solidFill>
              <a:srgbClr val="DADBD6"/>
            </a:solidFill>
            <a:prstDash val="solid"/>
          </a:ln>
        </p:spPr>
      </p:sp>
      <p:sp>
        <p:nvSpPr>
          <p:cNvPr id="151" name="Shape 148"/>
          <p:cNvSpPr/>
          <p:nvPr/>
        </p:nvSpPr>
        <p:spPr>
          <a:xfrm>
            <a:off x="13505688" y="6304788"/>
            <a:ext cx="100584" cy="100584"/>
          </a:xfrm>
          <a:prstGeom prst="ellipse">
            <a:avLst/>
          </a:prstGeom>
          <a:solidFill>
            <a:srgbClr val="DADBD6"/>
          </a:solidFill>
          <a:ln w="12700">
            <a:solidFill>
              <a:srgbClr val="DADBD6"/>
            </a:solidFill>
            <a:prstDash val="solid"/>
          </a:ln>
        </p:spPr>
      </p:sp>
      <p:sp>
        <p:nvSpPr>
          <p:cNvPr id="152" name="Text 149"/>
          <p:cNvSpPr txBox="1"/>
          <p:nvPr/>
        </p:nvSpPr>
        <p:spPr>
          <a:xfrm>
            <a:off x="15060168" y="6204204"/>
            <a:ext cx="548640" cy="329184"/>
          </a:xfrm>
          <a:prstGeom prst="rect">
            <a:avLst/>
          </a:prstGeom>
          <a:noFill/>
          <a:ln/>
        </p:spPr>
        <p:txBody>
          <a:bodyPr wrap="square" lIns="0" tIns="0" rIns="0" bIns="0" rtlCol="0" anchor="t"/>
          <a:lstStyle/>
          <a:p>
            <a:pPr indent="0" marL="0">
              <a:buNone/>
            </a:pPr>
            <a:r>
              <a:rPr lang="en-US" sz="1800" b="1" dirty="0">
                <a:solidFill>
                  <a:srgbClr val="171717"/>
                </a:solidFill>
                <a:latin typeface="Poppins" pitchFamily="34" charset="0"/>
                <a:ea typeface="Poppins" pitchFamily="34" charset="-122"/>
                <a:cs typeface="Poppins" pitchFamily="34" charset="-120"/>
              </a:rPr>
              <a:t>14</a:t>
            </a:r>
            <a:endParaRPr lang="en-US" sz="1800" dirty="0"/>
          </a:p>
        </p:txBody>
      </p:sp>
      <p:sp>
        <p:nvSpPr>
          <p:cNvPr id="153" name="Shape 150"/>
          <p:cNvSpPr/>
          <p:nvPr/>
        </p:nvSpPr>
        <p:spPr>
          <a:xfrm>
            <a:off x="15745968" y="6313932"/>
            <a:ext cx="1371600" cy="82296"/>
          </a:xfrm>
          <a:prstGeom prst="roundRect">
            <a:avLst>
              <a:gd name="adj" fmla="val 44444"/>
            </a:avLst>
          </a:prstGeom>
          <a:solidFill>
            <a:srgbClr val="DADBD6"/>
          </a:solidFill>
          <a:ln w="12700">
            <a:solidFill>
              <a:srgbClr val="DADBD6"/>
            </a:solidFill>
            <a:prstDash val="solid"/>
          </a:ln>
        </p:spPr>
      </p:sp>
      <p:sp>
        <p:nvSpPr>
          <p:cNvPr id="154" name="Shape 151"/>
          <p:cNvSpPr/>
          <p:nvPr/>
        </p:nvSpPr>
        <p:spPr>
          <a:xfrm>
            <a:off x="15745968" y="6313932"/>
            <a:ext cx="960120" cy="82296"/>
          </a:xfrm>
          <a:prstGeom prst="roundRect">
            <a:avLst>
              <a:gd name="adj" fmla="val 44444"/>
            </a:avLst>
          </a:prstGeom>
          <a:solidFill>
            <a:srgbClr val="497078"/>
          </a:solidFill>
          <a:ln w="12700">
            <a:solidFill>
              <a:srgbClr val="497078"/>
            </a:solidFill>
            <a:prstDash val="solid"/>
          </a:ln>
        </p:spPr>
      </p:sp>
      <p:sp>
        <p:nvSpPr>
          <p:cNvPr id="155" name="Shape 152"/>
          <p:cNvSpPr/>
          <p:nvPr/>
        </p:nvSpPr>
        <p:spPr>
          <a:xfrm>
            <a:off x="1069848" y="6565392"/>
            <a:ext cx="16203168" cy="365760"/>
          </a:xfrm>
          <a:prstGeom prst="roundRect">
            <a:avLst>
              <a:gd name="adj" fmla="val 25000"/>
            </a:avLst>
          </a:prstGeom>
          <a:solidFill>
            <a:srgbClr val="FFFFFF"/>
          </a:solidFill>
          <a:ln w="9525">
            <a:solidFill>
              <a:srgbClr val="DADBD6"/>
            </a:solidFill>
            <a:prstDash val="solid"/>
          </a:ln>
        </p:spPr>
      </p:sp>
      <p:sp>
        <p:nvSpPr>
          <p:cNvPr id="156" name="Shape 153"/>
          <p:cNvSpPr/>
          <p:nvPr/>
        </p:nvSpPr>
        <p:spPr>
          <a:xfrm>
            <a:off x="4224528" y="6565392"/>
            <a:ext cx="2423160" cy="365760"/>
          </a:xfrm>
          <a:prstGeom prst="rect">
            <a:avLst/>
          </a:prstGeom>
          <a:solidFill>
            <a:srgbClr val="E8F2F2"/>
          </a:solidFill>
          <a:ln w="12700">
            <a:solidFill>
              <a:srgbClr val="E8F2F2"/>
            </a:solidFill>
            <a:prstDash val="solid"/>
          </a:ln>
        </p:spPr>
      </p:sp>
      <p:sp>
        <p:nvSpPr>
          <p:cNvPr id="157" name="Text 154"/>
          <p:cNvSpPr txBox="1"/>
          <p:nvPr/>
        </p:nvSpPr>
        <p:spPr>
          <a:xfrm>
            <a:off x="1344168" y="6647688"/>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5.</a:t>
            </a:r>
            <a:endParaRPr lang="en-US" sz="1350" dirty="0"/>
          </a:p>
        </p:txBody>
      </p:sp>
      <p:sp>
        <p:nvSpPr>
          <p:cNvPr id="158" name="Text 155"/>
          <p:cNvSpPr txBox="1"/>
          <p:nvPr/>
        </p:nvSpPr>
        <p:spPr>
          <a:xfrm>
            <a:off x="1755648" y="6629400"/>
            <a:ext cx="1828800" cy="292608"/>
          </a:xfrm>
          <a:prstGeom prst="rect">
            <a:avLst/>
          </a:prstGeom>
          <a:noFill/>
          <a:ln/>
        </p:spPr>
        <p:txBody>
          <a:bodyPr wrap="square" lIns="0" tIns="0" rIns="0" bIns="0" rtlCol="0" anchor="t"/>
          <a:lstStyle/>
          <a:p>
            <a:pPr indent="0" marL="0">
              <a:buNone/>
            </a:pPr>
            <a:r>
              <a:rPr lang="en-US" sz="1550" b="1" dirty="0">
                <a:solidFill>
                  <a:srgbClr val="171717"/>
                </a:solidFill>
                <a:latin typeface="Poppins" pitchFamily="34" charset="0"/>
                <a:ea typeface="Poppins" pitchFamily="34" charset="-122"/>
                <a:cs typeface="Poppins" pitchFamily="34" charset="-120"/>
              </a:rPr>
              <a:t>Italy</a:t>
            </a:r>
            <a:endParaRPr lang="en-US" sz="1550" dirty="0"/>
          </a:p>
        </p:txBody>
      </p:sp>
      <p:sp>
        <p:nvSpPr>
          <p:cNvPr id="159" name="Text 156"/>
          <p:cNvSpPr txBox="1"/>
          <p:nvPr/>
        </p:nvSpPr>
        <p:spPr>
          <a:xfrm>
            <a:off x="4361688" y="662025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160" name="Shape 157"/>
          <p:cNvSpPr/>
          <p:nvPr/>
        </p:nvSpPr>
        <p:spPr>
          <a:xfrm>
            <a:off x="4818888" y="6711696"/>
            <a:ext cx="100584" cy="100584"/>
          </a:xfrm>
          <a:prstGeom prst="ellipse">
            <a:avLst/>
          </a:prstGeom>
          <a:solidFill>
            <a:srgbClr val="171717"/>
          </a:solidFill>
          <a:ln w="12700">
            <a:solidFill>
              <a:srgbClr val="171717"/>
            </a:solidFill>
            <a:prstDash val="solid"/>
          </a:ln>
        </p:spPr>
      </p:sp>
      <p:sp>
        <p:nvSpPr>
          <p:cNvPr id="161" name="Shape 158"/>
          <p:cNvSpPr/>
          <p:nvPr/>
        </p:nvSpPr>
        <p:spPr>
          <a:xfrm>
            <a:off x="5001768" y="6711696"/>
            <a:ext cx="100584" cy="100584"/>
          </a:xfrm>
          <a:prstGeom prst="ellipse">
            <a:avLst/>
          </a:prstGeom>
          <a:solidFill>
            <a:srgbClr val="171717"/>
          </a:solidFill>
          <a:ln w="12700">
            <a:solidFill>
              <a:srgbClr val="171717"/>
            </a:solidFill>
            <a:prstDash val="solid"/>
          </a:ln>
        </p:spPr>
      </p:sp>
      <p:sp>
        <p:nvSpPr>
          <p:cNvPr id="162" name="Shape 159"/>
          <p:cNvSpPr/>
          <p:nvPr/>
        </p:nvSpPr>
        <p:spPr>
          <a:xfrm>
            <a:off x="5184648" y="6711696"/>
            <a:ext cx="100584" cy="100584"/>
          </a:xfrm>
          <a:prstGeom prst="ellipse">
            <a:avLst/>
          </a:prstGeom>
          <a:solidFill>
            <a:srgbClr val="171717"/>
          </a:solidFill>
          <a:ln w="12700">
            <a:solidFill>
              <a:srgbClr val="171717"/>
            </a:solidFill>
            <a:prstDash val="solid"/>
          </a:ln>
        </p:spPr>
      </p:sp>
      <p:sp>
        <p:nvSpPr>
          <p:cNvPr id="163" name="Shape 160"/>
          <p:cNvSpPr/>
          <p:nvPr/>
        </p:nvSpPr>
        <p:spPr>
          <a:xfrm>
            <a:off x="5367528" y="6711696"/>
            <a:ext cx="100584" cy="100584"/>
          </a:xfrm>
          <a:prstGeom prst="ellipse">
            <a:avLst/>
          </a:prstGeom>
          <a:solidFill>
            <a:srgbClr val="DADBD6"/>
          </a:solidFill>
          <a:ln w="12700">
            <a:solidFill>
              <a:srgbClr val="DADBD6"/>
            </a:solidFill>
            <a:prstDash val="solid"/>
          </a:ln>
        </p:spPr>
      </p:sp>
      <p:sp>
        <p:nvSpPr>
          <p:cNvPr id="164" name="Shape 161"/>
          <p:cNvSpPr/>
          <p:nvPr/>
        </p:nvSpPr>
        <p:spPr>
          <a:xfrm>
            <a:off x="5550408" y="6711696"/>
            <a:ext cx="100584" cy="100584"/>
          </a:xfrm>
          <a:prstGeom prst="ellipse">
            <a:avLst/>
          </a:prstGeom>
          <a:solidFill>
            <a:srgbClr val="DADBD6"/>
          </a:solidFill>
          <a:ln w="12700">
            <a:solidFill>
              <a:srgbClr val="DADBD6"/>
            </a:solidFill>
            <a:prstDash val="solid"/>
          </a:ln>
        </p:spPr>
      </p:sp>
      <p:sp>
        <p:nvSpPr>
          <p:cNvPr id="165" name="Text 162"/>
          <p:cNvSpPr txBox="1"/>
          <p:nvPr/>
        </p:nvSpPr>
        <p:spPr>
          <a:xfrm>
            <a:off x="7013448" y="662025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166" name="Shape 163"/>
          <p:cNvSpPr/>
          <p:nvPr/>
        </p:nvSpPr>
        <p:spPr>
          <a:xfrm>
            <a:off x="7470648" y="6711696"/>
            <a:ext cx="100584" cy="100584"/>
          </a:xfrm>
          <a:prstGeom prst="ellipse">
            <a:avLst/>
          </a:prstGeom>
          <a:solidFill>
            <a:srgbClr val="171717"/>
          </a:solidFill>
          <a:ln w="12700">
            <a:solidFill>
              <a:srgbClr val="171717"/>
            </a:solidFill>
            <a:prstDash val="solid"/>
          </a:ln>
        </p:spPr>
      </p:sp>
      <p:sp>
        <p:nvSpPr>
          <p:cNvPr id="167" name="Shape 164"/>
          <p:cNvSpPr/>
          <p:nvPr/>
        </p:nvSpPr>
        <p:spPr>
          <a:xfrm>
            <a:off x="7653528" y="6711696"/>
            <a:ext cx="100584" cy="100584"/>
          </a:xfrm>
          <a:prstGeom prst="ellipse">
            <a:avLst/>
          </a:prstGeom>
          <a:solidFill>
            <a:srgbClr val="171717"/>
          </a:solidFill>
          <a:ln w="12700">
            <a:solidFill>
              <a:srgbClr val="171717"/>
            </a:solidFill>
            <a:prstDash val="solid"/>
          </a:ln>
        </p:spPr>
      </p:sp>
      <p:sp>
        <p:nvSpPr>
          <p:cNvPr id="168" name="Shape 165"/>
          <p:cNvSpPr/>
          <p:nvPr/>
        </p:nvSpPr>
        <p:spPr>
          <a:xfrm>
            <a:off x="7836408" y="6711696"/>
            <a:ext cx="100584" cy="100584"/>
          </a:xfrm>
          <a:prstGeom prst="ellipse">
            <a:avLst/>
          </a:prstGeom>
          <a:solidFill>
            <a:srgbClr val="171717"/>
          </a:solidFill>
          <a:ln w="12700">
            <a:solidFill>
              <a:srgbClr val="171717"/>
            </a:solidFill>
            <a:prstDash val="solid"/>
          </a:ln>
        </p:spPr>
      </p:sp>
      <p:sp>
        <p:nvSpPr>
          <p:cNvPr id="169" name="Shape 166"/>
          <p:cNvSpPr/>
          <p:nvPr/>
        </p:nvSpPr>
        <p:spPr>
          <a:xfrm>
            <a:off x="8019288" y="6711696"/>
            <a:ext cx="100584" cy="100584"/>
          </a:xfrm>
          <a:prstGeom prst="ellipse">
            <a:avLst/>
          </a:prstGeom>
          <a:solidFill>
            <a:srgbClr val="171717"/>
          </a:solidFill>
          <a:ln w="12700">
            <a:solidFill>
              <a:srgbClr val="171717"/>
            </a:solidFill>
            <a:prstDash val="solid"/>
          </a:ln>
        </p:spPr>
      </p:sp>
      <p:sp>
        <p:nvSpPr>
          <p:cNvPr id="170" name="Shape 167"/>
          <p:cNvSpPr/>
          <p:nvPr/>
        </p:nvSpPr>
        <p:spPr>
          <a:xfrm>
            <a:off x="8202168" y="6711696"/>
            <a:ext cx="100584" cy="100584"/>
          </a:xfrm>
          <a:prstGeom prst="ellipse">
            <a:avLst/>
          </a:prstGeom>
          <a:solidFill>
            <a:srgbClr val="171717"/>
          </a:solidFill>
          <a:ln w="12700">
            <a:solidFill>
              <a:srgbClr val="171717"/>
            </a:solidFill>
            <a:prstDash val="solid"/>
          </a:ln>
        </p:spPr>
      </p:sp>
      <p:sp>
        <p:nvSpPr>
          <p:cNvPr id="171" name="Text 168"/>
          <p:cNvSpPr txBox="1"/>
          <p:nvPr/>
        </p:nvSpPr>
        <p:spPr>
          <a:xfrm>
            <a:off x="9665208" y="662025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2</a:t>
            </a:r>
            <a:endParaRPr lang="en-US" sz="1650" dirty="0"/>
          </a:p>
        </p:txBody>
      </p:sp>
      <p:sp>
        <p:nvSpPr>
          <p:cNvPr id="172" name="Shape 169"/>
          <p:cNvSpPr/>
          <p:nvPr/>
        </p:nvSpPr>
        <p:spPr>
          <a:xfrm>
            <a:off x="10122408" y="6711696"/>
            <a:ext cx="100584" cy="100584"/>
          </a:xfrm>
          <a:prstGeom prst="ellipse">
            <a:avLst/>
          </a:prstGeom>
          <a:solidFill>
            <a:srgbClr val="171717"/>
          </a:solidFill>
          <a:ln w="12700">
            <a:solidFill>
              <a:srgbClr val="171717"/>
            </a:solidFill>
            <a:prstDash val="solid"/>
          </a:ln>
        </p:spPr>
      </p:sp>
      <p:sp>
        <p:nvSpPr>
          <p:cNvPr id="173" name="Shape 170"/>
          <p:cNvSpPr/>
          <p:nvPr/>
        </p:nvSpPr>
        <p:spPr>
          <a:xfrm>
            <a:off x="10305288" y="6711696"/>
            <a:ext cx="100584" cy="100584"/>
          </a:xfrm>
          <a:prstGeom prst="ellipse">
            <a:avLst/>
          </a:prstGeom>
          <a:solidFill>
            <a:srgbClr val="171717"/>
          </a:solidFill>
          <a:ln w="12700">
            <a:solidFill>
              <a:srgbClr val="171717"/>
            </a:solidFill>
            <a:prstDash val="solid"/>
          </a:ln>
        </p:spPr>
      </p:sp>
      <p:sp>
        <p:nvSpPr>
          <p:cNvPr id="174" name="Shape 171"/>
          <p:cNvSpPr/>
          <p:nvPr/>
        </p:nvSpPr>
        <p:spPr>
          <a:xfrm>
            <a:off x="10488168" y="6711696"/>
            <a:ext cx="100584" cy="100584"/>
          </a:xfrm>
          <a:prstGeom prst="ellipse">
            <a:avLst/>
          </a:prstGeom>
          <a:solidFill>
            <a:srgbClr val="DADBD6"/>
          </a:solidFill>
          <a:ln w="12700">
            <a:solidFill>
              <a:srgbClr val="DADBD6"/>
            </a:solidFill>
            <a:prstDash val="solid"/>
          </a:ln>
        </p:spPr>
      </p:sp>
      <p:sp>
        <p:nvSpPr>
          <p:cNvPr id="175" name="Shape 172"/>
          <p:cNvSpPr/>
          <p:nvPr/>
        </p:nvSpPr>
        <p:spPr>
          <a:xfrm>
            <a:off x="10671048" y="6711696"/>
            <a:ext cx="100584" cy="100584"/>
          </a:xfrm>
          <a:prstGeom prst="ellipse">
            <a:avLst/>
          </a:prstGeom>
          <a:solidFill>
            <a:srgbClr val="DADBD6"/>
          </a:solidFill>
          <a:ln w="12700">
            <a:solidFill>
              <a:srgbClr val="DADBD6"/>
            </a:solidFill>
            <a:prstDash val="solid"/>
          </a:ln>
        </p:spPr>
      </p:sp>
      <p:sp>
        <p:nvSpPr>
          <p:cNvPr id="176" name="Shape 173"/>
          <p:cNvSpPr/>
          <p:nvPr/>
        </p:nvSpPr>
        <p:spPr>
          <a:xfrm>
            <a:off x="10853928" y="6711696"/>
            <a:ext cx="100584" cy="100584"/>
          </a:xfrm>
          <a:prstGeom prst="ellipse">
            <a:avLst/>
          </a:prstGeom>
          <a:solidFill>
            <a:srgbClr val="DADBD6"/>
          </a:solidFill>
          <a:ln w="12700">
            <a:solidFill>
              <a:srgbClr val="DADBD6"/>
            </a:solidFill>
            <a:prstDash val="solid"/>
          </a:ln>
        </p:spPr>
      </p:sp>
      <p:sp>
        <p:nvSpPr>
          <p:cNvPr id="177" name="Text 174"/>
          <p:cNvSpPr txBox="1"/>
          <p:nvPr/>
        </p:nvSpPr>
        <p:spPr>
          <a:xfrm>
            <a:off x="12316968" y="662025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4</a:t>
            </a:r>
            <a:endParaRPr lang="en-US" sz="1650" dirty="0"/>
          </a:p>
        </p:txBody>
      </p:sp>
      <p:sp>
        <p:nvSpPr>
          <p:cNvPr id="178" name="Shape 175"/>
          <p:cNvSpPr/>
          <p:nvPr/>
        </p:nvSpPr>
        <p:spPr>
          <a:xfrm>
            <a:off x="12774168" y="6711696"/>
            <a:ext cx="100584" cy="100584"/>
          </a:xfrm>
          <a:prstGeom prst="ellipse">
            <a:avLst/>
          </a:prstGeom>
          <a:solidFill>
            <a:srgbClr val="171717"/>
          </a:solidFill>
          <a:ln w="12700">
            <a:solidFill>
              <a:srgbClr val="171717"/>
            </a:solidFill>
            <a:prstDash val="solid"/>
          </a:ln>
        </p:spPr>
      </p:sp>
      <p:sp>
        <p:nvSpPr>
          <p:cNvPr id="179" name="Shape 176"/>
          <p:cNvSpPr/>
          <p:nvPr/>
        </p:nvSpPr>
        <p:spPr>
          <a:xfrm>
            <a:off x="12957048" y="6711696"/>
            <a:ext cx="100584" cy="100584"/>
          </a:xfrm>
          <a:prstGeom prst="ellipse">
            <a:avLst/>
          </a:prstGeom>
          <a:solidFill>
            <a:srgbClr val="171717"/>
          </a:solidFill>
          <a:ln w="12700">
            <a:solidFill>
              <a:srgbClr val="171717"/>
            </a:solidFill>
            <a:prstDash val="solid"/>
          </a:ln>
        </p:spPr>
      </p:sp>
      <p:sp>
        <p:nvSpPr>
          <p:cNvPr id="180" name="Shape 177"/>
          <p:cNvSpPr/>
          <p:nvPr/>
        </p:nvSpPr>
        <p:spPr>
          <a:xfrm>
            <a:off x="13139928" y="6711696"/>
            <a:ext cx="100584" cy="100584"/>
          </a:xfrm>
          <a:prstGeom prst="ellipse">
            <a:avLst/>
          </a:prstGeom>
          <a:solidFill>
            <a:srgbClr val="171717"/>
          </a:solidFill>
          <a:ln w="12700">
            <a:solidFill>
              <a:srgbClr val="171717"/>
            </a:solidFill>
            <a:prstDash val="solid"/>
          </a:ln>
        </p:spPr>
      </p:sp>
      <p:sp>
        <p:nvSpPr>
          <p:cNvPr id="181" name="Shape 178"/>
          <p:cNvSpPr/>
          <p:nvPr/>
        </p:nvSpPr>
        <p:spPr>
          <a:xfrm>
            <a:off x="13322808" y="6711696"/>
            <a:ext cx="100584" cy="100584"/>
          </a:xfrm>
          <a:prstGeom prst="ellipse">
            <a:avLst/>
          </a:prstGeom>
          <a:solidFill>
            <a:srgbClr val="171717"/>
          </a:solidFill>
          <a:ln w="12700">
            <a:solidFill>
              <a:srgbClr val="171717"/>
            </a:solidFill>
            <a:prstDash val="solid"/>
          </a:ln>
        </p:spPr>
      </p:sp>
      <p:sp>
        <p:nvSpPr>
          <p:cNvPr id="182" name="Shape 179"/>
          <p:cNvSpPr/>
          <p:nvPr/>
        </p:nvSpPr>
        <p:spPr>
          <a:xfrm>
            <a:off x="13505688" y="6711696"/>
            <a:ext cx="100584" cy="100584"/>
          </a:xfrm>
          <a:prstGeom prst="ellipse">
            <a:avLst/>
          </a:prstGeom>
          <a:solidFill>
            <a:srgbClr val="DADBD6"/>
          </a:solidFill>
          <a:ln w="12700">
            <a:solidFill>
              <a:srgbClr val="DADBD6"/>
            </a:solidFill>
            <a:prstDash val="solid"/>
          </a:ln>
        </p:spPr>
      </p:sp>
      <p:sp>
        <p:nvSpPr>
          <p:cNvPr id="183" name="Text 180"/>
          <p:cNvSpPr txBox="1"/>
          <p:nvPr/>
        </p:nvSpPr>
        <p:spPr>
          <a:xfrm>
            <a:off x="15060168" y="6611112"/>
            <a:ext cx="548640" cy="329184"/>
          </a:xfrm>
          <a:prstGeom prst="rect">
            <a:avLst/>
          </a:prstGeom>
          <a:noFill/>
          <a:ln/>
        </p:spPr>
        <p:txBody>
          <a:bodyPr wrap="square" lIns="0" tIns="0" rIns="0" bIns="0" rtlCol="0" anchor="t"/>
          <a:lstStyle/>
          <a:p>
            <a:pPr indent="0" marL="0">
              <a:buNone/>
            </a:pPr>
            <a:r>
              <a:rPr lang="en-US" sz="1800" b="1" dirty="0">
                <a:solidFill>
                  <a:srgbClr val="171717"/>
                </a:solidFill>
                <a:latin typeface="Poppins" pitchFamily="34" charset="0"/>
                <a:ea typeface="Poppins" pitchFamily="34" charset="-122"/>
                <a:cs typeface="Poppins" pitchFamily="34" charset="-120"/>
              </a:rPr>
              <a:t>14</a:t>
            </a:r>
            <a:endParaRPr lang="en-US" sz="1800" dirty="0"/>
          </a:p>
        </p:txBody>
      </p:sp>
      <p:sp>
        <p:nvSpPr>
          <p:cNvPr id="184" name="Shape 181"/>
          <p:cNvSpPr/>
          <p:nvPr/>
        </p:nvSpPr>
        <p:spPr>
          <a:xfrm>
            <a:off x="15745968" y="6720840"/>
            <a:ext cx="1371600" cy="82296"/>
          </a:xfrm>
          <a:prstGeom prst="roundRect">
            <a:avLst>
              <a:gd name="adj" fmla="val 44444"/>
            </a:avLst>
          </a:prstGeom>
          <a:solidFill>
            <a:srgbClr val="DADBD6"/>
          </a:solidFill>
          <a:ln w="12700">
            <a:solidFill>
              <a:srgbClr val="DADBD6"/>
            </a:solidFill>
            <a:prstDash val="solid"/>
          </a:ln>
        </p:spPr>
      </p:sp>
      <p:sp>
        <p:nvSpPr>
          <p:cNvPr id="185" name="Shape 182"/>
          <p:cNvSpPr/>
          <p:nvPr/>
        </p:nvSpPr>
        <p:spPr>
          <a:xfrm>
            <a:off x="15745968" y="6720840"/>
            <a:ext cx="960120" cy="82296"/>
          </a:xfrm>
          <a:prstGeom prst="roundRect">
            <a:avLst>
              <a:gd name="adj" fmla="val 44444"/>
            </a:avLst>
          </a:prstGeom>
          <a:solidFill>
            <a:srgbClr val="497078"/>
          </a:solidFill>
          <a:ln w="12700">
            <a:solidFill>
              <a:srgbClr val="497078"/>
            </a:solidFill>
            <a:prstDash val="solid"/>
          </a:ln>
        </p:spPr>
      </p:sp>
      <p:sp>
        <p:nvSpPr>
          <p:cNvPr id="186" name="Shape 183"/>
          <p:cNvSpPr/>
          <p:nvPr/>
        </p:nvSpPr>
        <p:spPr>
          <a:xfrm>
            <a:off x="1069848" y="6972300"/>
            <a:ext cx="16203168" cy="365760"/>
          </a:xfrm>
          <a:prstGeom prst="roundRect">
            <a:avLst>
              <a:gd name="adj" fmla="val 25000"/>
            </a:avLst>
          </a:prstGeom>
          <a:solidFill>
            <a:srgbClr val="FFFFFF"/>
          </a:solidFill>
          <a:ln w="9525">
            <a:solidFill>
              <a:srgbClr val="DADBD6"/>
            </a:solidFill>
            <a:prstDash val="solid"/>
          </a:ln>
        </p:spPr>
      </p:sp>
      <p:sp>
        <p:nvSpPr>
          <p:cNvPr id="187" name="Shape 184"/>
          <p:cNvSpPr/>
          <p:nvPr/>
        </p:nvSpPr>
        <p:spPr>
          <a:xfrm>
            <a:off x="4224528" y="6972300"/>
            <a:ext cx="2423160" cy="365760"/>
          </a:xfrm>
          <a:prstGeom prst="rect">
            <a:avLst/>
          </a:prstGeom>
          <a:solidFill>
            <a:srgbClr val="E8F2F2"/>
          </a:solidFill>
          <a:ln w="12700">
            <a:solidFill>
              <a:srgbClr val="E8F2F2"/>
            </a:solidFill>
            <a:prstDash val="solid"/>
          </a:ln>
        </p:spPr>
      </p:sp>
      <p:sp>
        <p:nvSpPr>
          <p:cNvPr id="188" name="Text 185"/>
          <p:cNvSpPr txBox="1"/>
          <p:nvPr/>
        </p:nvSpPr>
        <p:spPr>
          <a:xfrm>
            <a:off x="1344168" y="7054596"/>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6.</a:t>
            </a:r>
            <a:endParaRPr lang="en-US" sz="1350" dirty="0"/>
          </a:p>
        </p:txBody>
      </p:sp>
      <p:sp>
        <p:nvSpPr>
          <p:cNvPr id="189" name="Text 186"/>
          <p:cNvSpPr txBox="1"/>
          <p:nvPr/>
        </p:nvSpPr>
        <p:spPr>
          <a:xfrm>
            <a:off x="1755648" y="7036308"/>
            <a:ext cx="1828800" cy="292608"/>
          </a:xfrm>
          <a:prstGeom prst="rect">
            <a:avLst/>
          </a:prstGeom>
          <a:noFill/>
          <a:ln/>
        </p:spPr>
        <p:txBody>
          <a:bodyPr wrap="square" lIns="0" tIns="0" rIns="0" bIns="0" rtlCol="0" anchor="t"/>
          <a:lstStyle/>
          <a:p>
            <a:pPr indent="0" marL="0">
              <a:buNone/>
            </a:pPr>
            <a:r>
              <a:rPr lang="en-US" sz="1550" b="1" dirty="0">
                <a:solidFill>
                  <a:srgbClr val="687075"/>
                </a:solidFill>
                <a:latin typeface="Poppins" pitchFamily="34" charset="0"/>
                <a:ea typeface="Poppins" pitchFamily="34" charset="-122"/>
                <a:cs typeface="Poppins" pitchFamily="34" charset="-120"/>
              </a:rPr>
              <a:t>Austria</a:t>
            </a:r>
            <a:endParaRPr lang="en-US" sz="1550" dirty="0"/>
          </a:p>
        </p:txBody>
      </p:sp>
      <p:sp>
        <p:nvSpPr>
          <p:cNvPr id="190" name="Text 187"/>
          <p:cNvSpPr txBox="1"/>
          <p:nvPr/>
        </p:nvSpPr>
        <p:spPr>
          <a:xfrm>
            <a:off x="4361688" y="7027164"/>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1</a:t>
            </a:r>
            <a:endParaRPr lang="en-US" sz="1650" dirty="0"/>
          </a:p>
        </p:txBody>
      </p:sp>
      <p:sp>
        <p:nvSpPr>
          <p:cNvPr id="191" name="Shape 188"/>
          <p:cNvSpPr/>
          <p:nvPr/>
        </p:nvSpPr>
        <p:spPr>
          <a:xfrm>
            <a:off x="4818888" y="7118604"/>
            <a:ext cx="100584" cy="100584"/>
          </a:xfrm>
          <a:prstGeom prst="ellipse">
            <a:avLst/>
          </a:prstGeom>
          <a:solidFill>
            <a:srgbClr val="687075"/>
          </a:solidFill>
          <a:ln w="12700">
            <a:solidFill>
              <a:srgbClr val="687075"/>
            </a:solidFill>
            <a:prstDash val="solid"/>
          </a:ln>
        </p:spPr>
      </p:sp>
      <p:sp>
        <p:nvSpPr>
          <p:cNvPr id="192" name="Shape 189"/>
          <p:cNvSpPr/>
          <p:nvPr/>
        </p:nvSpPr>
        <p:spPr>
          <a:xfrm>
            <a:off x="5001768" y="7118604"/>
            <a:ext cx="100584" cy="100584"/>
          </a:xfrm>
          <a:prstGeom prst="ellipse">
            <a:avLst/>
          </a:prstGeom>
          <a:solidFill>
            <a:srgbClr val="DADBD6"/>
          </a:solidFill>
          <a:ln w="12700">
            <a:solidFill>
              <a:srgbClr val="DADBD6"/>
            </a:solidFill>
            <a:prstDash val="solid"/>
          </a:ln>
        </p:spPr>
      </p:sp>
      <p:sp>
        <p:nvSpPr>
          <p:cNvPr id="193" name="Shape 190"/>
          <p:cNvSpPr/>
          <p:nvPr/>
        </p:nvSpPr>
        <p:spPr>
          <a:xfrm>
            <a:off x="5184648" y="7118604"/>
            <a:ext cx="100584" cy="100584"/>
          </a:xfrm>
          <a:prstGeom prst="ellipse">
            <a:avLst/>
          </a:prstGeom>
          <a:solidFill>
            <a:srgbClr val="DADBD6"/>
          </a:solidFill>
          <a:ln w="12700">
            <a:solidFill>
              <a:srgbClr val="DADBD6"/>
            </a:solidFill>
            <a:prstDash val="solid"/>
          </a:ln>
        </p:spPr>
      </p:sp>
      <p:sp>
        <p:nvSpPr>
          <p:cNvPr id="194" name="Shape 191"/>
          <p:cNvSpPr/>
          <p:nvPr/>
        </p:nvSpPr>
        <p:spPr>
          <a:xfrm>
            <a:off x="5367528" y="7118604"/>
            <a:ext cx="100584" cy="100584"/>
          </a:xfrm>
          <a:prstGeom prst="ellipse">
            <a:avLst/>
          </a:prstGeom>
          <a:solidFill>
            <a:srgbClr val="DADBD6"/>
          </a:solidFill>
          <a:ln w="12700">
            <a:solidFill>
              <a:srgbClr val="DADBD6"/>
            </a:solidFill>
            <a:prstDash val="solid"/>
          </a:ln>
        </p:spPr>
      </p:sp>
      <p:sp>
        <p:nvSpPr>
          <p:cNvPr id="195" name="Shape 192"/>
          <p:cNvSpPr/>
          <p:nvPr/>
        </p:nvSpPr>
        <p:spPr>
          <a:xfrm>
            <a:off x="5550408" y="7118604"/>
            <a:ext cx="100584" cy="100584"/>
          </a:xfrm>
          <a:prstGeom prst="ellipse">
            <a:avLst/>
          </a:prstGeom>
          <a:solidFill>
            <a:srgbClr val="DADBD6"/>
          </a:solidFill>
          <a:ln w="12700">
            <a:solidFill>
              <a:srgbClr val="DADBD6"/>
            </a:solidFill>
            <a:prstDash val="solid"/>
          </a:ln>
        </p:spPr>
      </p:sp>
      <p:sp>
        <p:nvSpPr>
          <p:cNvPr id="196" name="Text 193"/>
          <p:cNvSpPr txBox="1"/>
          <p:nvPr/>
        </p:nvSpPr>
        <p:spPr>
          <a:xfrm>
            <a:off x="7013448" y="7027164"/>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3</a:t>
            </a:r>
            <a:endParaRPr lang="en-US" sz="1650" dirty="0"/>
          </a:p>
        </p:txBody>
      </p:sp>
      <p:sp>
        <p:nvSpPr>
          <p:cNvPr id="197" name="Shape 194"/>
          <p:cNvSpPr/>
          <p:nvPr/>
        </p:nvSpPr>
        <p:spPr>
          <a:xfrm>
            <a:off x="7470648" y="7118604"/>
            <a:ext cx="100584" cy="100584"/>
          </a:xfrm>
          <a:prstGeom prst="ellipse">
            <a:avLst/>
          </a:prstGeom>
          <a:solidFill>
            <a:srgbClr val="687075"/>
          </a:solidFill>
          <a:ln w="12700">
            <a:solidFill>
              <a:srgbClr val="687075"/>
            </a:solidFill>
            <a:prstDash val="solid"/>
          </a:ln>
        </p:spPr>
      </p:sp>
      <p:sp>
        <p:nvSpPr>
          <p:cNvPr id="198" name="Shape 195"/>
          <p:cNvSpPr/>
          <p:nvPr/>
        </p:nvSpPr>
        <p:spPr>
          <a:xfrm>
            <a:off x="7653528" y="7118604"/>
            <a:ext cx="100584" cy="100584"/>
          </a:xfrm>
          <a:prstGeom prst="ellipse">
            <a:avLst/>
          </a:prstGeom>
          <a:solidFill>
            <a:srgbClr val="687075"/>
          </a:solidFill>
          <a:ln w="12700">
            <a:solidFill>
              <a:srgbClr val="687075"/>
            </a:solidFill>
            <a:prstDash val="solid"/>
          </a:ln>
        </p:spPr>
      </p:sp>
      <p:sp>
        <p:nvSpPr>
          <p:cNvPr id="199" name="Shape 196"/>
          <p:cNvSpPr/>
          <p:nvPr/>
        </p:nvSpPr>
        <p:spPr>
          <a:xfrm>
            <a:off x="7836408" y="7118604"/>
            <a:ext cx="100584" cy="100584"/>
          </a:xfrm>
          <a:prstGeom prst="ellipse">
            <a:avLst/>
          </a:prstGeom>
          <a:solidFill>
            <a:srgbClr val="687075"/>
          </a:solidFill>
          <a:ln w="12700">
            <a:solidFill>
              <a:srgbClr val="687075"/>
            </a:solidFill>
            <a:prstDash val="solid"/>
          </a:ln>
        </p:spPr>
      </p:sp>
      <p:sp>
        <p:nvSpPr>
          <p:cNvPr id="200" name="Shape 197"/>
          <p:cNvSpPr/>
          <p:nvPr/>
        </p:nvSpPr>
        <p:spPr>
          <a:xfrm>
            <a:off x="8019288" y="7118604"/>
            <a:ext cx="100584" cy="100584"/>
          </a:xfrm>
          <a:prstGeom prst="ellipse">
            <a:avLst/>
          </a:prstGeom>
          <a:solidFill>
            <a:srgbClr val="DADBD6"/>
          </a:solidFill>
          <a:ln w="12700">
            <a:solidFill>
              <a:srgbClr val="DADBD6"/>
            </a:solidFill>
            <a:prstDash val="solid"/>
          </a:ln>
        </p:spPr>
      </p:sp>
      <p:sp>
        <p:nvSpPr>
          <p:cNvPr id="201" name="Shape 198"/>
          <p:cNvSpPr/>
          <p:nvPr/>
        </p:nvSpPr>
        <p:spPr>
          <a:xfrm>
            <a:off x="8202168" y="7118604"/>
            <a:ext cx="100584" cy="100584"/>
          </a:xfrm>
          <a:prstGeom prst="ellipse">
            <a:avLst/>
          </a:prstGeom>
          <a:solidFill>
            <a:srgbClr val="DADBD6"/>
          </a:solidFill>
          <a:ln w="12700">
            <a:solidFill>
              <a:srgbClr val="DADBD6"/>
            </a:solidFill>
            <a:prstDash val="solid"/>
          </a:ln>
        </p:spPr>
      </p:sp>
      <p:sp>
        <p:nvSpPr>
          <p:cNvPr id="202" name="Text 199"/>
          <p:cNvSpPr txBox="1"/>
          <p:nvPr/>
        </p:nvSpPr>
        <p:spPr>
          <a:xfrm>
            <a:off x="9665208" y="7027164"/>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5</a:t>
            </a:r>
            <a:endParaRPr lang="en-US" sz="1650" dirty="0"/>
          </a:p>
        </p:txBody>
      </p:sp>
      <p:sp>
        <p:nvSpPr>
          <p:cNvPr id="203" name="Shape 200"/>
          <p:cNvSpPr/>
          <p:nvPr/>
        </p:nvSpPr>
        <p:spPr>
          <a:xfrm>
            <a:off x="10122408" y="7118604"/>
            <a:ext cx="100584" cy="100584"/>
          </a:xfrm>
          <a:prstGeom prst="ellipse">
            <a:avLst/>
          </a:prstGeom>
          <a:solidFill>
            <a:srgbClr val="687075"/>
          </a:solidFill>
          <a:ln w="12700">
            <a:solidFill>
              <a:srgbClr val="687075"/>
            </a:solidFill>
            <a:prstDash val="solid"/>
          </a:ln>
        </p:spPr>
      </p:sp>
      <p:sp>
        <p:nvSpPr>
          <p:cNvPr id="204" name="Shape 201"/>
          <p:cNvSpPr/>
          <p:nvPr/>
        </p:nvSpPr>
        <p:spPr>
          <a:xfrm>
            <a:off x="10305288" y="7118604"/>
            <a:ext cx="100584" cy="100584"/>
          </a:xfrm>
          <a:prstGeom prst="ellipse">
            <a:avLst/>
          </a:prstGeom>
          <a:solidFill>
            <a:srgbClr val="687075"/>
          </a:solidFill>
          <a:ln w="12700">
            <a:solidFill>
              <a:srgbClr val="687075"/>
            </a:solidFill>
            <a:prstDash val="solid"/>
          </a:ln>
        </p:spPr>
      </p:sp>
      <p:sp>
        <p:nvSpPr>
          <p:cNvPr id="205" name="Shape 202"/>
          <p:cNvSpPr/>
          <p:nvPr/>
        </p:nvSpPr>
        <p:spPr>
          <a:xfrm>
            <a:off x="10488168" y="7118604"/>
            <a:ext cx="100584" cy="100584"/>
          </a:xfrm>
          <a:prstGeom prst="ellipse">
            <a:avLst/>
          </a:prstGeom>
          <a:solidFill>
            <a:srgbClr val="687075"/>
          </a:solidFill>
          <a:ln w="12700">
            <a:solidFill>
              <a:srgbClr val="687075"/>
            </a:solidFill>
            <a:prstDash val="solid"/>
          </a:ln>
        </p:spPr>
      </p:sp>
      <p:sp>
        <p:nvSpPr>
          <p:cNvPr id="206" name="Shape 203"/>
          <p:cNvSpPr/>
          <p:nvPr/>
        </p:nvSpPr>
        <p:spPr>
          <a:xfrm>
            <a:off x="10671048" y="7118604"/>
            <a:ext cx="100584" cy="100584"/>
          </a:xfrm>
          <a:prstGeom prst="ellipse">
            <a:avLst/>
          </a:prstGeom>
          <a:solidFill>
            <a:srgbClr val="687075"/>
          </a:solidFill>
          <a:ln w="12700">
            <a:solidFill>
              <a:srgbClr val="687075"/>
            </a:solidFill>
            <a:prstDash val="solid"/>
          </a:ln>
        </p:spPr>
      </p:sp>
      <p:sp>
        <p:nvSpPr>
          <p:cNvPr id="207" name="Shape 204"/>
          <p:cNvSpPr/>
          <p:nvPr/>
        </p:nvSpPr>
        <p:spPr>
          <a:xfrm>
            <a:off x="10853928" y="7118604"/>
            <a:ext cx="100584" cy="100584"/>
          </a:xfrm>
          <a:prstGeom prst="ellipse">
            <a:avLst/>
          </a:prstGeom>
          <a:solidFill>
            <a:srgbClr val="687075"/>
          </a:solidFill>
          <a:ln w="12700">
            <a:solidFill>
              <a:srgbClr val="687075"/>
            </a:solidFill>
            <a:prstDash val="solid"/>
          </a:ln>
        </p:spPr>
      </p:sp>
      <p:sp>
        <p:nvSpPr>
          <p:cNvPr id="208" name="Text 205"/>
          <p:cNvSpPr txBox="1"/>
          <p:nvPr/>
        </p:nvSpPr>
        <p:spPr>
          <a:xfrm>
            <a:off x="12316968" y="7027164"/>
            <a:ext cx="365760" cy="310896"/>
          </a:xfrm>
          <a:prstGeom prst="rect">
            <a:avLst/>
          </a:prstGeom>
          <a:noFill/>
          <a:ln/>
        </p:spPr>
        <p:txBody>
          <a:bodyPr wrap="square" lIns="0" tIns="0" rIns="0" bIns="0" rtlCol="0" anchor="t"/>
          <a:lstStyle/>
          <a:p>
            <a:pPr indent="0" marL="0">
              <a:buNone/>
            </a:pPr>
            <a:r>
              <a:rPr lang="en-US" sz="1650" b="1" dirty="0">
                <a:solidFill>
                  <a:srgbClr val="687075"/>
                </a:solidFill>
                <a:latin typeface="Poppins" pitchFamily="34" charset="0"/>
                <a:ea typeface="Poppins" pitchFamily="34" charset="-122"/>
                <a:cs typeface="Poppins" pitchFamily="34" charset="-120"/>
              </a:rPr>
              <a:t>5</a:t>
            </a:r>
            <a:endParaRPr lang="en-US" sz="1650" dirty="0"/>
          </a:p>
        </p:txBody>
      </p:sp>
      <p:sp>
        <p:nvSpPr>
          <p:cNvPr id="209" name="Shape 206"/>
          <p:cNvSpPr/>
          <p:nvPr/>
        </p:nvSpPr>
        <p:spPr>
          <a:xfrm>
            <a:off x="12774168" y="7118604"/>
            <a:ext cx="100584" cy="100584"/>
          </a:xfrm>
          <a:prstGeom prst="ellipse">
            <a:avLst/>
          </a:prstGeom>
          <a:solidFill>
            <a:srgbClr val="687075"/>
          </a:solidFill>
          <a:ln w="12700">
            <a:solidFill>
              <a:srgbClr val="687075"/>
            </a:solidFill>
            <a:prstDash val="solid"/>
          </a:ln>
        </p:spPr>
      </p:sp>
      <p:sp>
        <p:nvSpPr>
          <p:cNvPr id="210" name="Shape 207"/>
          <p:cNvSpPr/>
          <p:nvPr/>
        </p:nvSpPr>
        <p:spPr>
          <a:xfrm>
            <a:off x="12957048" y="7118604"/>
            <a:ext cx="100584" cy="100584"/>
          </a:xfrm>
          <a:prstGeom prst="ellipse">
            <a:avLst/>
          </a:prstGeom>
          <a:solidFill>
            <a:srgbClr val="687075"/>
          </a:solidFill>
          <a:ln w="12700">
            <a:solidFill>
              <a:srgbClr val="687075"/>
            </a:solidFill>
            <a:prstDash val="solid"/>
          </a:ln>
        </p:spPr>
      </p:sp>
      <p:sp>
        <p:nvSpPr>
          <p:cNvPr id="211" name="Shape 208"/>
          <p:cNvSpPr/>
          <p:nvPr/>
        </p:nvSpPr>
        <p:spPr>
          <a:xfrm>
            <a:off x="13139928" y="7118604"/>
            <a:ext cx="100584" cy="100584"/>
          </a:xfrm>
          <a:prstGeom prst="ellipse">
            <a:avLst/>
          </a:prstGeom>
          <a:solidFill>
            <a:srgbClr val="687075"/>
          </a:solidFill>
          <a:ln w="12700">
            <a:solidFill>
              <a:srgbClr val="687075"/>
            </a:solidFill>
            <a:prstDash val="solid"/>
          </a:ln>
        </p:spPr>
      </p:sp>
      <p:sp>
        <p:nvSpPr>
          <p:cNvPr id="212" name="Shape 209"/>
          <p:cNvSpPr/>
          <p:nvPr/>
        </p:nvSpPr>
        <p:spPr>
          <a:xfrm>
            <a:off x="13322808" y="7118604"/>
            <a:ext cx="100584" cy="100584"/>
          </a:xfrm>
          <a:prstGeom prst="ellipse">
            <a:avLst/>
          </a:prstGeom>
          <a:solidFill>
            <a:srgbClr val="687075"/>
          </a:solidFill>
          <a:ln w="12700">
            <a:solidFill>
              <a:srgbClr val="687075"/>
            </a:solidFill>
            <a:prstDash val="solid"/>
          </a:ln>
        </p:spPr>
      </p:sp>
      <p:sp>
        <p:nvSpPr>
          <p:cNvPr id="213" name="Shape 210"/>
          <p:cNvSpPr/>
          <p:nvPr/>
        </p:nvSpPr>
        <p:spPr>
          <a:xfrm>
            <a:off x="13505688" y="7118604"/>
            <a:ext cx="100584" cy="100584"/>
          </a:xfrm>
          <a:prstGeom prst="ellipse">
            <a:avLst/>
          </a:prstGeom>
          <a:solidFill>
            <a:srgbClr val="687075"/>
          </a:solidFill>
          <a:ln w="12700">
            <a:solidFill>
              <a:srgbClr val="687075"/>
            </a:solidFill>
            <a:prstDash val="solid"/>
          </a:ln>
        </p:spPr>
      </p:sp>
      <p:sp>
        <p:nvSpPr>
          <p:cNvPr id="214" name="Text 211"/>
          <p:cNvSpPr txBox="1"/>
          <p:nvPr/>
        </p:nvSpPr>
        <p:spPr>
          <a:xfrm>
            <a:off x="15060168" y="7018020"/>
            <a:ext cx="548640" cy="329184"/>
          </a:xfrm>
          <a:prstGeom prst="rect">
            <a:avLst/>
          </a:prstGeom>
          <a:noFill/>
          <a:ln/>
        </p:spPr>
        <p:txBody>
          <a:bodyPr wrap="square" lIns="0" tIns="0" rIns="0" bIns="0" rtlCol="0" anchor="t"/>
          <a:lstStyle/>
          <a:p>
            <a:pPr indent="0" marL="0">
              <a:buNone/>
            </a:pPr>
            <a:r>
              <a:rPr lang="en-US" sz="1800" b="1" dirty="0">
                <a:solidFill>
                  <a:srgbClr val="687075"/>
                </a:solidFill>
                <a:latin typeface="Poppins" pitchFamily="34" charset="0"/>
                <a:ea typeface="Poppins" pitchFamily="34" charset="-122"/>
                <a:cs typeface="Poppins" pitchFamily="34" charset="-120"/>
              </a:rPr>
              <a:t>14</a:t>
            </a:r>
            <a:endParaRPr lang="en-US" sz="1800" dirty="0"/>
          </a:p>
        </p:txBody>
      </p:sp>
      <p:sp>
        <p:nvSpPr>
          <p:cNvPr id="215" name="Shape 212"/>
          <p:cNvSpPr/>
          <p:nvPr/>
        </p:nvSpPr>
        <p:spPr>
          <a:xfrm>
            <a:off x="15745968" y="7127748"/>
            <a:ext cx="1371600" cy="82296"/>
          </a:xfrm>
          <a:prstGeom prst="roundRect">
            <a:avLst>
              <a:gd name="adj" fmla="val 44444"/>
            </a:avLst>
          </a:prstGeom>
          <a:solidFill>
            <a:srgbClr val="DADBD6"/>
          </a:solidFill>
          <a:ln w="12700">
            <a:solidFill>
              <a:srgbClr val="DADBD6"/>
            </a:solidFill>
            <a:prstDash val="solid"/>
          </a:ln>
        </p:spPr>
      </p:sp>
      <p:sp>
        <p:nvSpPr>
          <p:cNvPr id="216" name="Shape 213"/>
          <p:cNvSpPr/>
          <p:nvPr/>
        </p:nvSpPr>
        <p:spPr>
          <a:xfrm>
            <a:off x="15745968" y="7127748"/>
            <a:ext cx="960120" cy="82296"/>
          </a:xfrm>
          <a:prstGeom prst="roundRect">
            <a:avLst>
              <a:gd name="adj" fmla="val 44444"/>
            </a:avLst>
          </a:prstGeom>
          <a:solidFill>
            <a:srgbClr val="DADBD6"/>
          </a:solidFill>
          <a:ln w="12700">
            <a:solidFill>
              <a:srgbClr val="DADBD6"/>
            </a:solidFill>
            <a:prstDash val="solid"/>
          </a:ln>
        </p:spPr>
      </p:sp>
      <p:sp>
        <p:nvSpPr>
          <p:cNvPr id="217" name="Shape 214"/>
          <p:cNvSpPr/>
          <p:nvPr/>
        </p:nvSpPr>
        <p:spPr>
          <a:xfrm>
            <a:off x="1069848" y="7379208"/>
            <a:ext cx="16203168" cy="365760"/>
          </a:xfrm>
          <a:prstGeom prst="roundRect">
            <a:avLst>
              <a:gd name="adj" fmla="val 25000"/>
            </a:avLst>
          </a:prstGeom>
          <a:solidFill>
            <a:srgbClr val="FFFFFF"/>
          </a:solidFill>
          <a:ln w="9525">
            <a:solidFill>
              <a:srgbClr val="DADBD6"/>
            </a:solidFill>
            <a:prstDash val="solid"/>
          </a:ln>
        </p:spPr>
      </p:sp>
      <p:sp>
        <p:nvSpPr>
          <p:cNvPr id="218" name="Shape 215"/>
          <p:cNvSpPr/>
          <p:nvPr/>
        </p:nvSpPr>
        <p:spPr>
          <a:xfrm>
            <a:off x="4224528" y="7379208"/>
            <a:ext cx="2423160" cy="365760"/>
          </a:xfrm>
          <a:prstGeom prst="rect">
            <a:avLst/>
          </a:prstGeom>
          <a:solidFill>
            <a:srgbClr val="E8F2F2"/>
          </a:solidFill>
          <a:ln w="12700">
            <a:solidFill>
              <a:srgbClr val="E8F2F2"/>
            </a:solidFill>
            <a:prstDash val="solid"/>
          </a:ln>
        </p:spPr>
      </p:sp>
      <p:sp>
        <p:nvSpPr>
          <p:cNvPr id="219" name="Text 216"/>
          <p:cNvSpPr txBox="1"/>
          <p:nvPr/>
        </p:nvSpPr>
        <p:spPr>
          <a:xfrm>
            <a:off x="1344168" y="7461504"/>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7.</a:t>
            </a:r>
            <a:endParaRPr lang="en-US" sz="1350" dirty="0"/>
          </a:p>
        </p:txBody>
      </p:sp>
      <p:sp>
        <p:nvSpPr>
          <p:cNvPr id="220" name="Text 217"/>
          <p:cNvSpPr txBox="1"/>
          <p:nvPr/>
        </p:nvSpPr>
        <p:spPr>
          <a:xfrm>
            <a:off x="1755648" y="7443216"/>
            <a:ext cx="1828800" cy="292608"/>
          </a:xfrm>
          <a:prstGeom prst="rect">
            <a:avLst/>
          </a:prstGeom>
          <a:noFill/>
          <a:ln/>
        </p:spPr>
        <p:txBody>
          <a:bodyPr wrap="square" lIns="0" tIns="0" rIns="0" bIns="0" rtlCol="0" anchor="t"/>
          <a:lstStyle/>
          <a:p>
            <a:pPr indent="0" marL="0">
              <a:buNone/>
            </a:pPr>
            <a:r>
              <a:rPr lang="en-US" sz="1550" b="1" dirty="0">
                <a:solidFill>
                  <a:srgbClr val="171717"/>
                </a:solidFill>
                <a:latin typeface="Poppins" pitchFamily="34" charset="0"/>
                <a:ea typeface="Poppins" pitchFamily="34" charset="-122"/>
                <a:cs typeface="Poppins" pitchFamily="34" charset="-120"/>
              </a:rPr>
              <a:t>Denmark</a:t>
            </a:r>
            <a:endParaRPr lang="en-US" sz="1550" dirty="0"/>
          </a:p>
        </p:txBody>
      </p:sp>
      <p:sp>
        <p:nvSpPr>
          <p:cNvPr id="221" name="Text 218"/>
          <p:cNvSpPr txBox="1"/>
          <p:nvPr/>
        </p:nvSpPr>
        <p:spPr>
          <a:xfrm>
            <a:off x="4361688" y="743407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222" name="Shape 219"/>
          <p:cNvSpPr/>
          <p:nvPr/>
        </p:nvSpPr>
        <p:spPr>
          <a:xfrm>
            <a:off x="4818888" y="7525512"/>
            <a:ext cx="100584" cy="100584"/>
          </a:xfrm>
          <a:prstGeom prst="ellipse">
            <a:avLst/>
          </a:prstGeom>
          <a:solidFill>
            <a:srgbClr val="171717"/>
          </a:solidFill>
          <a:ln w="12700">
            <a:solidFill>
              <a:srgbClr val="171717"/>
            </a:solidFill>
            <a:prstDash val="solid"/>
          </a:ln>
        </p:spPr>
      </p:sp>
      <p:sp>
        <p:nvSpPr>
          <p:cNvPr id="223" name="Shape 220"/>
          <p:cNvSpPr/>
          <p:nvPr/>
        </p:nvSpPr>
        <p:spPr>
          <a:xfrm>
            <a:off x="5001768" y="7525512"/>
            <a:ext cx="100584" cy="100584"/>
          </a:xfrm>
          <a:prstGeom prst="ellipse">
            <a:avLst/>
          </a:prstGeom>
          <a:solidFill>
            <a:srgbClr val="171717"/>
          </a:solidFill>
          <a:ln w="12700">
            <a:solidFill>
              <a:srgbClr val="171717"/>
            </a:solidFill>
            <a:prstDash val="solid"/>
          </a:ln>
        </p:spPr>
      </p:sp>
      <p:sp>
        <p:nvSpPr>
          <p:cNvPr id="224" name="Shape 221"/>
          <p:cNvSpPr/>
          <p:nvPr/>
        </p:nvSpPr>
        <p:spPr>
          <a:xfrm>
            <a:off x="5184648" y="7525512"/>
            <a:ext cx="100584" cy="100584"/>
          </a:xfrm>
          <a:prstGeom prst="ellipse">
            <a:avLst/>
          </a:prstGeom>
          <a:solidFill>
            <a:srgbClr val="171717"/>
          </a:solidFill>
          <a:ln w="12700">
            <a:solidFill>
              <a:srgbClr val="171717"/>
            </a:solidFill>
            <a:prstDash val="solid"/>
          </a:ln>
        </p:spPr>
      </p:sp>
      <p:sp>
        <p:nvSpPr>
          <p:cNvPr id="225" name="Shape 222"/>
          <p:cNvSpPr/>
          <p:nvPr/>
        </p:nvSpPr>
        <p:spPr>
          <a:xfrm>
            <a:off x="5367528" y="7525512"/>
            <a:ext cx="100584" cy="100584"/>
          </a:xfrm>
          <a:prstGeom prst="ellipse">
            <a:avLst/>
          </a:prstGeom>
          <a:solidFill>
            <a:srgbClr val="171717"/>
          </a:solidFill>
          <a:ln w="12700">
            <a:solidFill>
              <a:srgbClr val="171717"/>
            </a:solidFill>
            <a:prstDash val="solid"/>
          </a:ln>
        </p:spPr>
      </p:sp>
      <p:sp>
        <p:nvSpPr>
          <p:cNvPr id="226" name="Shape 223"/>
          <p:cNvSpPr/>
          <p:nvPr/>
        </p:nvSpPr>
        <p:spPr>
          <a:xfrm>
            <a:off x="5550408" y="7525512"/>
            <a:ext cx="100584" cy="100584"/>
          </a:xfrm>
          <a:prstGeom prst="ellipse">
            <a:avLst/>
          </a:prstGeom>
          <a:solidFill>
            <a:srgbClr val="171717"/>
          </a:solidFill>
          <a:ln w="12700">
            <a:solidFill>
              <a:srgbClr val="171717"/>
            </a:solidFill>
            <a:prstDash val="solid"/>
          </a:ln>
        </p:spPr>
      </p:sp>
      <p:sp>
        <p:nvSpPr>
          <p:cNvPr id="227" name="Text 224"/>
          <p:cNvSpPr txBox="1"/>
          <p:nvPr/>
        </p:nvSpPr>
        <p:spPr>
          <a:xfrm>
            <a:off x="7013448" y="743407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2</a:t>
            </a:r>
            <a:endParaRPr lang="en-US" sz="1650" dirty="0"/>
          </a:p>
        </p:txBody>
      </p:sp>
      <p:sp>
        <p:nvSpPr>
          <p:cNvPr id="228" name="Shape 225"/>
          <p:cNvSpPr/>
          <p:nvPr/>
        </p:nvSpPr>
        <p:spPr>
          <a:xfrm>
            <a:off x="7470648" y="7525512"/>
            <a:ext cx="100584" cy="100584"/>
          </a:xfrm>
          <a:prstGeom prst="ellipse">
            <a:avLst/>
          </a:prstGeom>
          <a:solidFill>
            <a:srgbClr val="171717"/>
          </a:solidFill>
          <a:ln w="12700">
            <a:solidFill>
              <a:srgbClr val="171717"/>
            </a:solidFill>
            <a:prstDash val="solid"/>
          </a:ln>
        </p:spPr>
      </p:sp>
      <p:sp>
        <p:nvSpPr>
          <p:cNvPr id="229" name="Shape 226"/>
          <p:cNvSpPr/>
          <p:nvPr/>
        </p:nvSpPr>
        <p:spPr>
          <a:xfrm>
            <a:off x="7653528" y="7525512"/>
            <a:ext cx="100584" cy="100584"/>
          </a:xfrm>
          <a:prstGeom prst="ellipse">
            <a:avLst/>
          </a:prstGeom>
          <a:solidFill>
            <a:srgbClr val="171717"/>
          </a:solidFill>
          <a:ln w="12700">
            <a:solidFill>
              <a:srgbClr val="171717"/>
            </a:solidFill>
            <a:prstDash val="solid"/>
          </a:ln>
        </p:spPr>
      </p:sp>
      <p:sp>
        <p:nvSpPr>
          <p:cNvPr id="230" name="Shape 227"/>
          <p:cNvSpPr/>
          <p:nvPr/>
        </p:nvSpPr>
        <p:spPr>
          <a:xfrm>
            <a:off x="7836408" y="7525512"/>
            <a:ext cx="100584" cy="100584"/>
          </a:xfrm>
          <a:prstGeom prst="ellipse">
            <a:avLst/>
          </a:prstGeom>
          <a:solidFill>
            <a:srgbClr val="DADBD6"/>
          </a:solidFill>
          <a:ln w="12700">
            <a:solidFill>
              <a:srgbClr val="DADBD6"/>
            </a:solidFill>
            <a:prstDash val="solid"/>
          </a:ln>
        </p:spPr>
      </p:sp>
      <p:sp>
        <p:nvSpPr>
          <p:cNvPr id="231" name="Shape 228"/>
          <p:cNvSpPr/>
          <p:nvPr/>
        </p:nvSpPr>
        <p:spPr>
          <a:xfrm>
            <a:off x="8019288" y="7525512"/>
            <a:ext cx="100584" cy="100584"/>
          </a:xfrm>
          <a:prstGeom prst="ellipse">
            <a:avLst/>
          </a:prstGeom>
          <a:solidFill>
            <a:srgbClr val="DADBD6"/>
          </a:solidFill>
          <a:ln w="12700">
            <a:solidFill>
              <a:srgbClr val="DADBD6"/>
            </a:solidFill>
            <a:prstDash val="solid"/>
          </a:ln>
        </p:spPr>
      </p:sp>
      <p:sp>
        <p:nvSpPr>
          <p:cNvPr id="232" name="Shape 229"/>
          <p:cNvSpPr/>
          <p:nvPr/>
        </p:nvSpPr>
        <p:spPr>
          <a:xfrm>
            <a:off x="8202168" y="7525512"/>
            <a:ext cx="100584" cy="100584"/>
          </a:xfrm>
          <a:prstGeom prst="ellipse">
            <a:avLst/>
          </a:prstGeom>
          <a:solidFill>
            <a:srgbClr val="DADBD6"/>
          </a:solidFill>
          <a:ln w="12700">
            <a:solidFill>
              <a:srgbClr val="DADBD6"/>
            </a:solidFill>
            <a:prstDash val="solid"/>
          </a:ln>
        </p:spPr>
      </p:sp>
      <p:sp>
        <p:nvSpPr>
          <p:cNvPr id="233" name="Text 230"/>
          <p:cNvSpPr txBox="1"/>
          <p:nvPr/>
        </p:nvSpPr>
        <p:spPr>
          <a:xfrm>
            <a:off x="9665208" y="743407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234" name="Shape 231"/>
          <p:cNvSpPr/>
          <p:nvPr/>
        </p:nvSpPr>
        <p:spPr>
          <a:xfrm>
            <a:off x="10122408" y="7525512"/>
            <a:ext cx="100584" cy="100584"/>
          </a:xfrm>
          <a:prstGeom prst="ellipse">
            <a:avLst/>
          </a:prstGeom>
          <a:solidFill>
            <a:srgbClr val="171717"/>
          </a:solidFill>
          <a:ln w="12700">
            <a:solidFill>
              <a:srgbClr val="171717"/>
            </a:solidFill>
            <a:prstDash val="solid"/>
          </a:ln>
        </p:spPr>
      </p:sp>
      <p:sp>
        <p:nvSpPr>
          <p:cNvPr id="235" name="Shape 232"/>
          <p:cNvSpPr/>
          <p:nvPr/>
        </p:nvSpPr>
        <p:spPr>
          <a:xfrm>
            <a:off x="10305288" y="7525512"/>
            <a:ext cx="100584" cy="100584"/>
          </a:xfrm>
          <a:prstGeom prst="ellipse">
            <a:avLst/>
          </a:prstGeom>
          <a:solidFill>
            <a:srgbClr val="171717"/>
          </a:solidFill>
          <a:ln w="12700">
            <a:solidFill>
              <a:srgbClr val="171717"/>
            </a:solidFill>
            <a:prstDash val="solid"/>
          </a:ln>
        </p:spPr>
      </p:sp>
      <p:sp>
        <p:nvSpPr>
          <p:cNvPr id="236" name="Shape 233"/>
          <p:cNvSpPr/>
          <p:nvPr/>
        </p:nvSpPr>
        <p:spPr>
          <a:xfrm>
            <a:off x="10488168" y="7525512"/>
            <a:ext cx="100584" cy="100584"/>
          </a:xfrm>
          <a:prstGeom prst="ellipse">
            <a:avLst/>
          </a:prstGeom>
          <a:solidFill>
            <a:srgbClr val="171717"/>
          </a:solidFill>
          <a:ln w="12700">
            <a:solidFill>
              <a:srgbClr val="171717"/>
            </a:solidFill>
            <a:prstDash val="solid"/>
          </a:ln>
        </p:spPr>
      </p:sp>
      <p:sp>
        <p:nvSpPr>
          <p:cNvPr id="237" name="Shape 234"/>
          <p:cNvSpPr/>
          <p:nvPr/>
        </p:nvSpPr>
        <p:spPr>
          <a:xfrm>
            <a:off x="10671048" y="7525512"/>
            <a:ext cx="100584" cy="100584"/>
          </a:xfrm>
          <a:prstGeom prst="ellipse">
            <a:avLst/>
          </a:prstGeom>
          <a:solidFill>
            <a:srgbClr val="DADBD6"/>
          </a:solidFill>
          <a:ln w="12700">
            <a:solidFill>
              <a:srgbClr val="DADBD6"/>
            </a:solidFill>
            <a:prstDash val="solid"/>
          </a:ln>
        </p:spPr>
      </p:sp>
      <p:sp>
        <p:nvSpPr>
          <p:cNvPr id="238" name="Shape 235"/>
          <p:cNvSpPr/>
          <p:nvPr/>
        </p:nvSpPr>
        <p:spPr>
          <a:xfrm>
            <a:off x="10853928" y="7525512"/>
            <a:ext cx="100584" cy="100584"/>
          </a:xfrm>
          <a:prstGeom prst="ellipse">
            <a:avLst/>
          </a:prstGeom>
          <a:solidFill>
            <a:srgbClr val="DADBD6"/>
          </a:solidFill>
          <a:ln w="12700">
            <a:solidFill>
              <a:srgbClr val="DADBD6"/>
            </a:solidFill>
            <a:prstDash val="solid"/>
          </a:ln>
        </p:spPr>
      </p:sp>
      <p:sp>
        <p:nvSpPr>
          <p:cNvPr id="239" name="Text 236"/>
          <p:cNvSpPr txBox="1"/>
          <p:nvPr/>
        </p:nvSpPr>
        <p:spPr>
          <a:xfrm>
            <a:off x="12316968" y="7434072"/>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240" name="Shape 237"/>
          <p:cNvSpPr/>
          <p:nvPr/>
        </p:nvSpPr>
        <p:spPr>
          <a:xfrm>
            <a:off x="12774168" y="7525512"/>
            <a:ext cx="100584" cy="100584"/>
          </a:xfrm>
          <a:prstGeom prst="ellipse">
            <a:avLst/>
          </a:prstGeom>
          <a:solidFill>
            <a:srgbClr val="171717"/>
          </a:solidFill>
          <a:ln w="12700">
            <a:solidFill>
              <a:srgbClr val="171717"/>
            </a:solidFill>
            <a:prstDash val="solid"/>
          </a:ln>
        </p:spPr>
      </p:sp>
      <p:sp>
        <p:nvSpPr>
          <p:cNvPr id="241" name="Shape 238"/>
          <p:cNvSpPr/>
          <p:nvPr/>
        </p:nvSpPr>
        <p:spPr>
          <a:xfrm>
            <a:off x="12957048" y="7525512"/>
            <a:ext cx="100584" cy="100584"/>
          </a:xfrm>
          <a:prstGeom prst="ellipse">
            <a:avLst/>
          </a:prstGeom>
          <a:solidFill>
            <a:srgbClr val="171717"/>
          </a:solidFill>
          <a:ln w="12700">
            <a:solidFill>
              <a:srgbClr val="171717"/>
            </a:solidFill>
            <a:prstDash val="solid"/>
          </a:ln>
        </p:spPr>
      </p:sp>
      <p:sp>
        <p:nvSpPr>
          <p:cNvPr id="242" name="Shape 239"/>
          <p:cNvSpPr/>
          <p:nvPr/>
        </p:nvSpPr>
        <p:spPr>
          <a:xfrm>
            <a:off x="13139928" y="7525512"/>
            <a:ext cx="100584" cy="100584"/>
          </a:xfrm>
          <a:prstGeom prst="ellipse">
            <a:avLst/>
          </a:prstGeom>
          <a:solidFill>
            <a:srgbClr val="171717"/>
          </a:solidFill>
          <a:ln w="12700">
            <a:solidFill>
              <a:srgbClr val="171717"/>
            </a:solidFill>
            <a:prstDash val="solid"/>
          </a:ln>
        </p:spPr>
      </p:sp>
      <p:sp>
        <p:nvSpPr>
          <p:cNvPr id="243" name="Shape 240"/>
          <p:cNvSpPr/>
          <p:nvPr/>
        </p:nvSpPr>
        <p:spPr>
          <a:xfrm>
            <a:off x="13322808" y="7525512"/>
            <a:ext cx="100584" cy="100584"/>
          </a:xfrm>
          <a:prstGeom prst="ellipse">
            <a:avLst/>
          </a:prstGeom>
          <a:solidFill>
            <a:srgbClr val="DADBD6"/>
          </a:solidFill>
          <a:ln w="12700">
            <a:solidFill>
              <a:srgbClr val="DADBD6"/>
            </a:solidFill>
            <a:prstDash val="solid"/>
          </a:ln>
        </p:spPr>
      </p:sp>
      <p:sp>
        <p:nvSpPr>
          <p:cNvPr id="244" name="Shape 241"/>
          <p:cNvSpPr/>
          <p:nvPr/>
        </p:nvSpPr>
        <p:spPr>
          <a:xfrm>
            <a:off x="13505688" y="7525512"/>
            <a:ext cx="100584" cy="100584"/>
          </a:xfrm>
          <a:prstGeom prst="ellipse">
            <a:avLst/>
          </a:prstGeom>
          <a:solidFill>
            <a:srgbClr val="DADBD6"/>
          </a:solidFill>
          <a:ln w="12700">
            <a:solidFill>
              <a:srgbClr val="DADBD6"/>
            </a:solidFill>
            <a:prstDash val="solid"/>
          </a:ln>
        </p:spPr>
      </p:sp>
      <p:sp>
        <p:nvSpPr>
          <p:cNvPr id="245" name="Text 242"/>
          <p:cNvSpPr txBox="1"/>
          <p:nvPr/>
        </p:nvSpPr>
        <p:spPr>
          <a:xfrm>
            <a:off x="15060168" y="7424928"/>
            <a:ext cx="548640" cy="329184"/>
          </a:xfrm>
          <a:prstGeom prst="rect">
            <a:avLst/>
          </a:prstGeom>
          <a:noFill/>
          <a:ln/>
        </p:spPr>
        <p:txBody>
          <a:bodyPr wrap="square" lIns="0" tIns="0" rIns="0" bIns="0" rtlCol="0" anchor="t"/>
          <a:lstStyle/>
          <a:p>
            <a:pPr indent="0" marL="0">
              <a:buNone/>
            </a:pPr>
            <a:r>
              <a:rPr lang="en-US" sz="1800" b="1" dirty="0">
                <a:solidFill>
                  <a:srgbClr val="171717"/>
                </a:solidFill>
                <a:latin typeface="Poppins" pitchFamily="34" charset="0"/>
                <a:ea typeface="Poppins" pitchFamily="34" charset="-122"/>
                <a:cs typeface="Poppins" pitchFamily="34" charset="-120"/>
              </a:rPr>
              <a:t>13</a:t>
            </a:r>
            <a:endParaRPr lang="en-US" sz="1800" dirty="0"/>
          </a:p>
        </p:txBody>
      </p:sp>
      <p:sp>
        <p:nvSpPr>
          <p:cNvPr id="246" name="Shape 243"/>
          <p:cNvSpPr/>
          <p:nvPr/>
        </p:nvSpPr>
        <p:spPr>
          <a:xfrm>
            <a:off x="15745968" y="7534656"/>
            <a:ext cx="1371600" cy="82296"/>
          </a:xfrm>
          <a:prstGeom prst="roundRect">
            <a:avLst>
              <a:gd name="adj" fmla="val 44444"/>
            </a:avLst>
          </a:prstGeom>
          <a:solidFill>
            <a:srgbClr val="DADBD6"/>
          </a:solidFill>
          <a:ln w="12700">
            <a:solidFill>
              <a:srgbClr val="DADBD6"/>
            </a:solidFill>
            <a:prstDash val="solid"/>
          </a:ln>
        </p:spPr>
      </p:sp>
      <p:sp>
        <p:nvSpPr>
          <p:cNvPr id="247" name="Shape 244"/>
          <p:cNvSpPr/>
          <p:nvPr/>
        </p:nvSpPr>
        <p:spPr>
          <a:xfrm>
            <a:off x="15745968" y="7534656"/>
            <a:ext cx="891540" cy="82296"/>
          </a:xfrm>
          <a:prstGeom prst="roundRect">
            <a:avLst>
              <a:gd name="adj" fmla="val 44444"/>
            </a:avLst>
          </a:prstGeom>
          <a:solidFill>
            <a:srgbClr val="497078"/>
          </a:solidFill>
          <a:ln w="12700">
            <a:solidFill>
              <a:srgbClr val="497078"/>
            </a:solidFill>
            <a:prstDash val="solid"/>
          </a:ln>
        </p:spPr>
      </p:sp>
      <p:sp>
        <p:nvSpPr>
          <p:cNvPr id="248" name="Shape 245"/>
          <p:cNvSpPr/>
          <p:nvPr/>
        </p:nvSpPr>
        <p:spPr>
          <a:xfrm>
            <a:off x="1069848" y="7786116"/>
            <a:ext cx="16203168" cy="365760"/>
          </a:xfrm>
          <a:prstGeom prst="roundRect">
            <a:avLst>
              <a:gd name="adj" fmla="val 25000"/>
            </a:avLst>
          </a:prstGeom>
          <a:solidFill>
            <a:srgbClr val="FFFFFF"/>
          </a:solidFill>
          <a:ln w="9525">
            <a:solidFill>
              <a:srgbClr val="DADBD6"/>
            </a:solidFill>
            <a:prstDash val="solid"/>
          </a:ln>
        </p:spPr>
      </p:sp>
      <p:sp>
        <p:nvSpPr>
          <p:cNvPr id="249" name="Shape 246"/>
          <p:cNvSpPr/>
          <p:nvPr/>
        </p:nvSpPr>
        <p:spPr>
          <a:xfrm>
            <a:off x="4224528" y="7786116"/>
            <a:ext cx="2423160" cy="365760"/>
          </a:xfrm>
          <a:prstGeom prst="rect">
            <a:avLst/>
          </a:prstGeom>
          <a:solidFill>
            <a:srgbClr val="E8F2F2"/>
          </a:solidFill>
          <a:ln w="12700">
            <a:solidFill>
              <a:srgbClr val="E8F2F2"/>
            </a:solidFill>
            <a:prstDash val="solid"/>
          </a:ln>
        </p:spPr>
      </p:sp>
      <p:sp>
        <p:nvSpPr>
          <p:cNvPr id="250" name="Text 247"/>
          <p:cNvSpPr txBox="1"/>
          <p:nvPr/>
        </p:nvSpPr>
        <p:spPr>
          <a:xfrm>
            <a:off x="1344168" y="7868412"/>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8.</a:t>
            </a:r>
            <a:endParaRPr lang="en-US" sz="1350" dirty="0"/>
          </a:p>
        </p:txBody>
      </p:sp>
      <p:sp>
        <p:nvSpPr>
          <p:cNvPr id="251" name="Text 248"/>
          <p:cNvSpPr txBox="1"/>
          <p:nvPr/>
        </p:nvSpPr>
        <p:spPr>
          <a:xfrm>
            <a:off x="1755648" y="7850124"/>
            <a:ext cx="1828800" cy="292608"/>
          </a:xfrm>
          <a:prstGeom prst="rect">
            <a:avLst/>
          </a:prstGeom>
          <a:noFill/>
          <a:ln/>
        </p:spPr>
        <p:txBody>
          <a:bodyPr wrap="square" lIns="0" tIns="0" rIns="0" bIns="0" rtlCol="0" anchor="t"/>
          <a:lstStyle/>
          <a:p>
            <a:pPr indent="0" marL="0">
              <a:buNone/>
            </a:pPr>
            <a:r>
              <a:rPr lang="en-US" sz="1550" b="1" dirty="0">
                <a:solidFill>
                  <a:srgbClr val="171717"/>
                </a:solidFill>
                <a:latin typeface="Poppins" pitchFamily="34" charset="0"/>
                <a:ea typeface="Poppins" pitchFamily="34" charset="-122"/>
                <a:cs typeface="Poppins" pitchFamily="34" charset="-120"/>
              </a:rPr>
              <a:t>Finland</a:t>
            </a:r>
            <a:endParaRPr lang="en-US" sz="1550" dirty="0"/>
          </a:p>
        </p:txBody>
      </p:sp>
      <p:sp>
        <p:nvSpPr>
          <p:cNvPr id="252" name="Text 249"/>
          <p:cNvSpPr txBox="1"/>
          <p:nvPr/>
        </p:nvSpPr>
        <p:spPr>
          <a:xfrm>
            <a:off x="4361688" y="7840980"/>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253" name="Shape 250"/>
          <p:cNvSpPr/>
          <p:nvPr/>
        </p:nvSpPr>
        <p:spPr>
          <a:xfrm>
            <a:off x="4818888" y="7932420"/>
            <a:ext cx="100584" cy="100584"/>
          </a:xfrm>
          <a:prstGeom prst="ellipse">
            <a:avLst/>
          </a:prstGeom>
          <a:solidFill>
            <a:srgbClr val="171717"/>
          </a:solidFill>
          <a:ln w="12700">
            <a:solidFill>
              <a:srgbClr val="171717"/>
            </a:solidFill>
            <a:prstDash val="solid"/>
          </a:ln>
        </p:spPr>
      </p:sp>
      <p:sp>
        <p:nvSpPr>
          <p:cNvPr id="254" name="Shape 251"/>
          <p:cNvSpPr/>
          <p:nvPr/>
        </p:nvSpPr>
        <p:spPr>
          <a:xfrm>
            <a:off x="5001768" y="7932420"/>
            <a:ext cx="100584" cy="100584"/>
          </a:xfrm>
          <a:prstGeom prst="ellipse">
            <a:avLst/>
          </a:prstGeom>
          <a:solidFill>
            <a:srgbClr val="171717"/>
          </a:solidFill>
          <a:ln w="12700">
            <a:solidFill>
              <a:srgbClr val="171717"/>
            </a:solidFill>
            <a:prstDash val="solid"/>
          </a:ln>
        </p:spPr>
      </p:sp>
      <p:sp>
        <p:nvSpPr>
          <p:cNvPr id="255" name="Shape 252"/>
          <p:cNvSpPr/>
          <p:nvPr/>
        </p:nvSpPr>
        <p:spPr>
          <a:xfrm>
            <a:off x="5184648" y="7932420"/>
            <a:ext cx="100584" cy="100584"/>
          </a:xfrm>
          <a:prstGeom prst="ellipse">
            <a:avLst/>
          </a:prstGeom>
          <a:solidFill>
            <a:srgbClr val="171717"/>
          </a:solidFill>
          <a:ln w="12700">
            <a:solidFill>
              <a:srgbClr val="171717"/>
            </a:solidFill>
            <a:prstDash val="solid"/>
          </a:ln>
        </p:spPr>
      </p:sp>
      <p:sp>
        <p:nvSpPr>
          <p:cNvPr id="256" name="Shape 253"/>
          <p:cNvSpPr/>
          <p:nvPr/>
        </p:nvSpPr>
        <p:spPr>
          <a:xfrm>
            <a:off x="5367528" y="7932420"/>
            <a:ext cx="100584" cy="100584"/>
          </a:xfrm>
          <a:prstGeom prst="ellipse">
            <a:avLst/>
          </a:prstGeom>
          <a:solidFill>
            <a:srgbClr val="171717"/>
          </a:solidFill>
          <a:ln w="12700">
            <a:solidFill>
              <a:srgbClr val="171717"/>
            </a:solidFill>
            <a:prstDash val="solid"/>
          </a:ln>
        </p:spPr>
      </p:sp>
      <p:sp>
        <p:nvSpPr>
          <p:cNvPr id="257" name="Shape 254"/>
          <p:cNvSpPr/>
          <p:nvPr/>
        </p:nvSpPr>
        <p:spPr>
          <a:xfrm>
            <a:off x="5550408" y="7932420"/>
            <a:ext cx="100584" cy="100584"/>
          </a:xfrm>
          <a:prstGeom prst="ellipse">
            <a:avLst/>
          </a:prstGeom>
          <a:solidFill>
            <a:srgbClr val="171717"/>
          </a:solidFill>
          <a:ln w="12700">
            <a:solidFill>
              <a:srgbClr val="171717"/>
            </a:solidFill>
            <a:prstDash val="solid"/>
          </a:ln>
        </p:spPr>
      </p:sp>
      <p:sp>
        <p:nvSpPr>
          <p:cNvPr id="258" name="Text 255"/>
          <p:cNvSpPr txBox="1"/>
          <p:nvPr/>
        </p:nvSpPr>
        <p:spPr>
          <a:xfrm>
            <a:off x="7013448" y="7840980"/>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2</a:t>
            </a:r>
            <a:endParaRPr lang="en-US" sz="1650" dirty="0"/>
          </a:p>
        </p:txBody>
      </p:sp>
      <p:sp>
        <p:nvSpPr>
          <p:cNvPr id="259" name="Shape 256"/>
          <p:cNvSpPr/>
          <p:nvPr/>
        </p:nvSpPr>
        <p:spPr>
          <a:xfrm>
            <a:off x="7470648" y="7932420"/>
            <a:ext cx="100584" cy="100584"/>
          </a:xfrm>
          <a:prstGeom prst="ellipse">
            <a:avLst/>
          </a:prstGeom>
          <a:solidFill>
            <a:srgbClr val="171717"/>
          </a:solidFill>
          <a:ln w="12700">
            <a:solidFill>
              <a:srgbClr val="171717"/>
            </a:solidFill>
            <a:prstDash val="solid"/>
          </a:ln>
        </p:spPr>
      </p:sp>
      <p:sp>
        <p:nvSpPr>
          <p:cNvPr id="260" name="Shape 257"/>
          <p:cNvSpPr/>
          <p:nvPr/>
        </p:nvSpPr>
        <p:spPr>
          <a:xfrm>
            <a:off x="7653528" y="7932420"/>
            <a:ext cx="100584" cy="100584"/>
          </a:xfrm>
          <a:prstGeom prst="ellipse">
            <a:avLst/>
          </a:prstGeom>
          <a:solidFill>
            <a:srgbClr val="171717"/>
          </a:solidFill>
          <a:ln w="12700">
            <a:solidFill>
              <a:srgbClr val="171717"/>
            </a:solidFill>
            <a:prstDash val="solid"/>
          </a:ln>
        </p:spPr>
      </p:sp>
      <p:sp>
        <p:nvSpPr>
          <p:cNvPr id="261" name="Shape 258"/>
          <p:cNvSpPr/>
          <p:nvPr/>
        </p:nvSpPr>
        <p:spPr>
          <a:xfrm>
            <a:off x="7836408" y="7932420"/>
            <a:ext cx="100584" cy="100584"/>
          </a:xfrm>
          <a:prstGeom prst="ellipse">
            <a:avLst/>
          </a:prstGeom>
          <a:solidFill>
            <a:srgbClr val="DADBD6"/>
          </a:solidFill>
          <a:ln w="12700">
            <a:solidFill>
              <a:srgbClr val="DADBD6"/>
            </a:solidFill>
            <a:prstDash val="solid"/>
          </a:ln>
        </p:spPr>
      </p:sp>
      <p:sp>
        <p:nvSpPr>
          <p:cNvPr id="262" name="Shape 259"/>
          <p:cNvSpPr/>
          <p:nvPr/>
        </p:nvSpPr>
        <p:spPr>
          <a:xfrm>
            <a:off x="8019288" y="7932420"/>
            <a:ext cx="100584" cy="100584"/>
          </a:xfrm>
          <a:prstGeom prst="ellipse">
            <a:avLst/>
          </a:prstGeom>
          <a:solidFill>
            <a:srgbClr val="DADBD6"/>
          </a:solidFill>
          <a:ln w="12700">
            <a:solidFill>
              <a:srgbClr val="DADBD6"/>
            </a:solidFill>
            <a:prstDash val="solid"/>
          </a:ln>
        </p:spPr>
      </p:sp>
      <p:sp>
        <p:nvSpPr>
          <p:cNvPr id="263" name="Shape 260"/>
          <p:cNvSpPr/>
          <p:nvPr/>
        </p:nvSpPr>
        <p:spPr>
          <a:xfrm>
            <a:off x="8202168" y="7932420"/>
            <a:ext cx="100584" cy="100584"/>
          </a:xfrm>
          <a:prstGeom prst="ellipse">
            <a:avLst/>
          </a:prstGeom>
          <a:solidFill>
            <a:srgbClr val="DADBD6"/>
          </a:solidFill>
          <a:ln w="12700">
            <a:solidFill>
              <a:srgbClr val="DADBD6"/>
            </a:solidFill>
            <a:prstDash val="solid"/>
          </a:ln>
        </p:spPr>
      </p:sp>
      <p:sp>
        <p:nvSpPr>
          <p:cNvPr id="264" name="Text 261"/>
          <p:cNvSpPr txBox="1"/>
          <p:nvPr/>
        </p:nvSpPr>
        <p:spPr>
          <a:xfrm>
            <a:off x="9665208" y="7840980"/>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2</a:t>
            </a:r>
            <a:endParaRPr lang="en-US" sz="1650" dirty="0"/>
          </a:p>
        </p:txBody>
      </p:sp>
      <p:sp>
        <p:nvSpPr>
          <p:cNvPr id="265" name="Shape 262"/>
          <p:cNvSpPr/>
          <p:nvPr/>
        </p:nvSpPr>
        <p:spPr>
          <a:xfrm>
            <a:off x="10122408" y="7932420"/>
            <a:ext cx="100584" cy="100584"/>
          </a:xfrm>
          <a:prstGeom prst="ellipse">
            <a:avLst/>
          </a:prstGeom>
          <a:solidFill>
            <a:srgbClr val="171717"/>
          </a:solidFill>
          <a:ln w="12700">
            <a:solidFill>
              <a:srgbClr val="171717"/>
            </a:solidFill>
            <a:prstDash val="solid"/>
          </a:ln>
        </p:spPr>
      </p:sp>
      <p:sp>
        <p:nvSpPr>
          <p:cNvPr id="266" name="Shape 263"/>
          <p:cNvSpPr/>
          <p:nvPr/>
        </p:nvSpPr>
        <p:spPr>
          <a:xfrm>
            <a:off x="10305288" y="7932420"/>
            <a:ext cx="100584" cy="100584"/>
          </a:xfrm>
          <a:prstGeom prst="ellipse">
            <a:avLst/>
          </a:prstGeom>
          <a:solidFill>
            <a:srgbClr val="171717"/>
          </a:solidFill>
          <a:ln w="12700">
            <a:solidFill>
              <a:srgbClr val="171717"/>
            </a:solidFill>
            <a:prstDash val="solid"/>
          </a:ln>
        </p:spPr>
      </p:sp>
      <p:sp>
        <p:nvSpPr>
          <p:cNvPr id="267" name="Shape 264"/>
          <p:cNvSpPr/>
          <p:nvPr/>
        </p:nvSpPr>
        <p:spPr>
          <a:xfrm>
            <a:off x="10488168" y="7932420"/>
            <a:ext cx="100584" cy="100584"/>
          </a:xfrm>
          <a:prstGeom prst="ellipse">
            <a:avLst/>
          </a:prstGeom>
          <a:solidFill>
            <a:srgbClr val="DADBD6"/>
          </a:solidFill>
          <a:ln w="12700">
            <a:solidFill>
              <a:srgbClr val="DADBD6"/>
            </a:solidFill>
            <a:prstDash val="solid"/>
          </a:ln>
        </p:spPr>
      </p:sp>
      <p:sp>
        <p:nvSpPr>
          <p:cNvPr id="268" name="Shape 265"/>
          <p:cNvSpPr/>
          <p:nvPr/>
        </p:nvSpPr>
        <p:spPr>
          <a:xfrm>
            <a:off x="10671048" y="7932420"/>
            <a:ext cx="100584" cy="100584"/>
          </a:xfrm>
          <a:prstGeom prst="ellipse">
            <a:avLst/>
          </a:prstGeom>
          <a:solidFill>
            <a:srgbClr val="DADBD6"/>
          </a:solidFill>
          <a:ln w="12700">
            <a:solidFill>
              <a:srgbClr val="DADBD6"/>
            </a:solidFill>
            <a:prstDash val="solid"/>
          </a:ln>
        </p:spPr>
      </p:sp>
      <p:sp>
        <p:nvSpPr>
          <p:cNvPr id="269" name="Shape 266"/>
          <p:cNvSpPr/>
          <p:nvPr/>
        </p:nvSpPr>
        <p:spPr>
          <a:xfrm>
            <a:off x="10853928" y="7932420"/>
            <a:ext cx="100584" cy="100584"/>
          </a:xfrm>
          <a:prstGeom prst="ellipse">
            <a:avLst/>
          </a:prstGeom>
          <a:solidFill>
            <a:srgbClr val="DADBD6"/>
          </a:solidFill>
          <a:ln w="12700">
            <a:solidFill>
              <a:srgbClr val="DADBD6"/>
            </a:solidFill>
            <a:prstDash val="solid"/>
          </a:ln>
        </p:spPr>
      </p:sp>
      <p:sp>
        <p:nvSpPr>
          <p:cNvPr id="270" name="Text 267"/>
          <p:cNvSpPr txBox="1"/>
          <p:nvPr/>
        </p:nvSpPr>
        <p:spPr>
          <a:xfrm>
            <a:off x="12316968" y="7840980"/>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271" name="Shape 268"/>
          <p:cNvSpPr/>
          <p:nvPr/>
        </p:nvSpPr>
        <p:spPr>
          <a:xfrm>
            <a:off x="12774168" y="7932420"/>
            <a:ext cx="100584" cy="100584"/>
          </a:xfrm>
          <a:prstGeom prst="ellipse">
            <a:avLst/>
          </a:prstGeom>
          <a:solidFill>
            <a:srgbClr val="171717"/>
          </a:solidFill>
          <a:ln w="12700">
            <a:solidFill>
              <a:srgbClr val="171717"/>
            </a:solidFill>
            <a:prstDash val="solid"/>
          </a:ln>
        </p:spPr>
      </p:sp>
      <p:sp>
        <p:nvSpPr>
          <p:cNvPr id="272" name="Shape 269"/>
          <p:cNvSpPr/>
          <p:nvPr/>
        </p:nvSpPr>
        <p:spPr>
          <a:xfrm>
            <a:off x="12957048" y="7932420"/>
            <a:ext cx="100584" cy="100584"/>
          </a:xfrm>
          <a:prstGeom prst="ellipse">
            <a:avLst/>
          </a:prstGeom>
          <a:solidFill>
            <a:srgbClr val="171717"/>
          </a:solidFill>
          <a:ln w="12700">
            <a:solidFill>
              <a:srgbClr val="171717"/>
            </a:solidFill>
            <a:prstDash val="solid"/>
          </a:ln>
        </p:spPr>
      </p:sp>
      <p:sp>
        <p:nvSpPr>
          <p:cNvPr id="273" name="Shape 270"/>
          <p:cNvSpPr/>
          <p:nvPr/>
        </p:nvSpPr>
        <p:spPr>
          <a:xfrm>
            <a:off x="13139928" y="7932420"/>
            <a:ext cx="100584" cy="100584"/>
          </a:xfrm>
          <a:prstGeom prst="ellipse">
            <a:avLst/>
          </a:prstGeom>
          <a:solidFill>
            <a:srgbClr val="171717"/>
          </a:solidFill>
          <a:ln w="12700">
            <a:solidFill>
              <a:srgbClr val="171717"/>
            </a:solidFill>
            <a:prstDash val="solid"/>
          </a:ln>
        </p:spPr>
      </p:sp>
      <p:sp>
        <p:nvSpPr>
          <p:cNvPr id="274" name="Shape 271"/>
          <p:cNvSpPr/>
          <p:nvPr/>
        </p:nvSpPr>
        <p:spPr>
          <a:xfrm>
            <a:off x="13322808" y="7932420"/>
            <a:ext cx="100584" cy="100584"/>
          </a:xfrm>
          <a:prstGeom prst="ellipse">
            <a:avLst/>
          </a:prstGeom>
          <a:solidFill>
            <a:srgbClr val="DADBD6"/>
          </a:solidFill>
          <a:ln w="12700">
            <a:solidFill>
              <a:srgbClr val="DADBD6"/>
            </a:solidFill>
            <a:prstDash val="solid"/>
          </a:ln>
        </p:spPr>
      </p:sp>
      <p:sp>
        <p:nvSpPr>
          <p:cNvPr id="275" name="Shape 272"/>
          <p:cNvSpPr/>
          <p:nvPr/>
        </p:nvSpPr>
        <p:spPr>
          <a:xfrm>
            <a:off x="13505688" y="7932420"/>
            <a:ext cx="100584" cy="100584"/>
          </a:xfrm>
          <a:prstGeom prst="ellipse">
            <a:avLst/>
          </a:prstGeom>
          <a:solidFill>
            <a:srgbClr val="DADBD6"/>
          </a:solidFill>
          <a:ln w="12700">
            <a:solidFill>
              <a:srgbClr val="DADBD6"/>
            </a:solidFill>
            <a:prstDash val="solid"/>
          </a:ln>
        </p:spPr>
      </p:sp>
      <p:sp>
        <p:nvSpPr>
          <p:cNvPr id="276" name="Text 273"/>
          <p:cNvSpPr txBox="1"/>
          <p:nvPr/>
        </p:nvSpPr>
        <p:spPr>
          <a:xfrm>
            <a:off x="15060168" y="7831836"/>
            <a:ext cx="548640" cy="329184"/>
          </a:xfrm>
          <a:prstGeom prst="rect">
            <a:avLst/>
          </a:prstGeom>
          <a:noFill/>
          <a:ln/>
        </p:spPr>
        <p:txBody>
          <a:bodyPr wrap="square" lIns="0" tIns="0" rIns="0" bIns="0" rtlCol="0" anchor="t"/>
          <a:lstStyle/>
          <a:p>
            <a:pPr indent="0" marL="0">
              <a:buNone/>
            </a:pPr>
            <a:r>
              <a:rPr lang="en-US" sz="1800" b="1" dirty="0">
                <a:solidFill>
                  <a:srgbClr val="171717"/>
                </a:solidFill>
                <a:latin typeface="Poppins" pitchFamily="34" charset="0"/>
                <a:ea typeface="Poppins" pitchFamily="34" charset="-122"/>
                <a:cs typeface="Poppins" pitchFamily="34" charset="-120"/>
              </a:rPr>
              <a:t>12</a:t>
            </a:r>
            <a:endParaRPr lang="en-US" sz="1800" dirty="0"/>
          </a:p>
        </p:txBody>
      </p:sp>
      <p:sp>
        <p:nvSpPr>
          <p:cNvPr id="277" name="Shape 274"/>
          <p:cNvSpPr/>
          <p:nvPr/>
        </p:nvSpPr>
        <p:spPr>
          <a:xfrm>
            <a:off x="15745968" y="7941564"/>
            <a:ext cx="1371600" cy="82296"/>
          </a:xfrm>
          <a:prstGeom prst="roundRect">
            <a:avLst>
              <a:gd name="adj" fmla="val 44444"/>
            </a:avLst>
          </a:prstGeom>
          <a:solidFill>
            <a:srgbClr val="DADBD6"/>
          </a:solidFill>
          <a:ln w="12700">
            <a:solidFill>
              <a:srgbClr val="DADBD6"/>
            </a:solidFill>
            <a:prstDash val="solid"/>
          </a:ln>
        </p:spPr>
      </p:sp>
      <p:sp>
        <p:nvSpPr>
          <p:cNvPr id="278" name="Shape 275"/>
          <p:cNvSpPr/>
          <p:nvPr/>
        </p:nvSpPr>
        <p:spPr>
          <a:xfrm>
            <a:off x="15745968" y="7941564"/>
            <a:ext cx="822960" cy="82296"/>
          </a:xfrm>
          <a:prstGeom prst="roundRect">
            <a:avLst>
              <a:gd name="adj" fmla="val 44444"/>
            </a:avLst>
          </a:prstGeom>
          <a:solidFill>
            <a:srgbClr val="497078"/>
          </a:solidFill>
          <a:ln w="12700">
            <a:solidFill>
              <a:srgbClr val="497078"/>
            </a:solidFill>
            <a:prstDash val="solid"/>
          </a:ln>
        </p:spPr>
      </p:sp>
      <p:sp>
        <p:nvSpPr>
          <p:cNvPr id="279" name="Shape 276"/>
          <p:cNvSpPr/>
          <p:nvPr/>
        </p:nvSpPr>
        <p:spPr>
          <a:xfrm>
            <a:off x="1069848" y="8193024"/>
            <a:ext cx="16203168" cy="365760"/>
          </a:xfrm>
          <a:prstGeom prst="roundRect">
            <a:avLst>
              <a:gd name="adj" fmla="val 25000"/>
            </a:avLst>
          </a:prstGeom>
          <a:solidFill>
            <a:srgbClr val="FFFFFF"/>
          </a:solidFill>
          <a:ln w="9525">
            <a:solidFill>
              <a:srgbClr val="DADBD6"/>
            </a:solidFill>
            <a:prstDash val="solid"/>
          </a:ln>
        </p:spPr>
      </p:sp>
      <p:sp>
        <p:nvSpPr>
          <p:cNvPr id="280" name="Shape 277"/>
          <p:cNvSpPr/>
          <p:nvPr/>
        </p:nvSpPr>
        <p:spPr>
          <a:xfrm>
            <a:off x="4224528" y="8193024"/>
            <a:ext cx="2423160" cy="365760"/>
          </a:xfrm>
          <a:prstGeom prst="rect">
            <a:avLst/>
          </a:prstGeom>
          <a:solidFill>
            <a:srgbClr val="E8F2F2"/>
          </a:solidFill>
          <a:ln w="12700">
            <a:solidFill>
              <a:srgbClr val="E8F2F2"/>
            </a:solidFill>
            <a:prstDash val="solid"/>
          </a:ln>
        </p:spPr>
      </p:sp>
      <p:sp>
        <p:nvSpPr>
          <p:cNvPr id="281" name="Text 278"/>
          <p:cNvSpPr txBox="1"/>
          <p:nvPr/>
        </p:nvSpPr>
        <p:spPr>
          <a:xfrm>
            <a:off x="1344168" y="8275320"/>
            <a:ext cx="457200" cy="274320"/>
          </a:xfrm>
          <a:prstGeom prst="rect">
            <a:avLst/>
          </a:prstGeom>
          <a:noFill/>
          <a:ln/>
        </p:spPr>
        <p:txBody>
          <a:bodyPr wrap="square" lIns="0" tIns="0" rIns="0" bIns="0" rtlCol="0" anchor="t"/>
          <a:lstStyle/>
          <a:p>
            <a:pPr indent="0" marL="0">
              <a:buNone/>
            </a:pPr>
            <a:r>
              <a:rPr lang="en-US" sz="1350" dirty="0">
                <a:solidFill>
                  <a:srgbClr val="687075"/>
                </a:solidFill>
                <a:latin typeface="Poppins" pitchFamily="34" charset="0"/>
                <a:ea typeface="Poppins" pitchFamily="34" charset="-122"/>
                <a:cs typeface="Poppins" pitchFamily="34" charset="-120"/>
              </a:rPr>
              <a:t>9.</a:t>
            </a:r>
            <a:endParaRPr lang="en-US" sz="1350" dirty="0"/>
          </a:p>
        </p:txBody>
      </p:sp>
      <p:sp>
        <p:nvSpPr>
          <p:cNvPr id="282" name="Text 279"/>
          <p:cNvSpPr txBox="1"/>
          <p:nvPr/>
        </p:nvSpPr>
        <p:spPr>
          <a:xfrm>
            <a:off x="1755648" y="8257032"/>
            <a:ext cx="1828800" cy="292608"/>
          </a:xfrm>
          <a:prstGeom prst="rect">
            <a:avLst/>
          </a:prstGeom>
          <a:noFill/>
          <a:ln/>
        </p:spPr>
        <p:txBody>
          <a:bodyPr wrap="square" lIns="0" tIns="0" rIns="0" bIns="0" rtlCol="0" anchor="t"/>
          <a:lstStyle/>
          <a:p>
            <a:pPr indent="0" marL="0">
              <a:buNone/>
            </a:pPr>
            <a:r>
              <a:rPr lang="en-US" sz="1550" b="1" dirty="0">
                <a:solidFill>
                  <a:srgbClr val="171717"/>
                </a:solidFill>
                <a:latin typeface="Poppins" pitchFamily="34" charset="0"/>
                <a:ea typeface="Poppins" pitchFamily="34" charset="-122"/>
                <a:cs typeface="Poppins" pitchFamily="34" charset="-120"/>
              </a:rPr>
              <a:t>Poland</a:t>
            </a:r>
            <a:endParaRPr lang="en-US" sz="1550" dirty="0"/>
          </a:p>
        </p:txBody>
      </p:sp>
      <p:sp>
        <p:nvSpPr>
          <p:cNvPr id="283" name="Text 280"/>
          <p:cNvSpPr txBox="1"/>
          <p:nvPr/>
        </p:nvSpPr>
        <p:spPr>
          <a:xfrm>
            <a:off x="4361688" y="824788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284" name="Shape 281"/>
          <p:cNvSpPr/>
          <p:nvPr/>
        </p:nvSpPr>
        <p:spPr>
          <a:xfrm>
            <a:off x="4818888" y="8339328"/>
            <a:ext cx="100584" cy="100584"/>
          </a:xfrm>
          <a:prstGeom prst="ellipse">
            <a:avLst/>
          </a:prstGeom>
          <a:solidFill>
            <a:srgbClr val="171717"/>
          </a:solidFill>
          <a:ln w="12700">
            <a:solidFill>
              <a:srgbClr val="171717"/>
            </a:solidFill>
            <a:prstDash val="solid"/>
          </a:ln>
        </p:spPr>
      </p:sp>
      <p:sp>
        <p:nvSpPr>
          <p:cNvPr id="285" name="Shape 282"/>
          <p:cNvSpPr/>
          <p:nvPr/>
        </p:nvSpPr>
        <p:spPr>
          <a:xfrm>
            <a:off x="5001768" y="8339328"/>
            <a:ext cx="100584" cy="100584"/>
          </a:xfrm>
          <a:prstGeom prst="ellipse">
            <a:avLst/>
          </a:prstGeom>
          <a:solidFill>
            <a:srgbClr val="171717"/>
          </a:solidFill>
          <a:ln w="12700">
            <a:solidFill>
              <a:srgbClr val="171717"/>
            </a:solidFill>
            <a:prstDash val="solid"/>
          </a:ln>
        </p:spPr>
      </p:sp>
      <p:sp>
        <p:nvSpPr>
          <p:cNvPr id="286" name="Shape 283"/>
          <p:cNvSpPr/>
          <p:nvPr/>
        </p:nvSpPr>
        <p:spPr>
          <a:xfrm>
            <a:off x="5184648" y="8339328"/>
            <a:ext cx="100584" cy="100584"/>
          </a:xfrm>
          <a:prstGeom prst="ellipse">
            <a:avLst/>
          </a:prstGeom>
          <a:solidFill>
            <a:srgbClr val="171717"/>
          </a:solidFill>
          <a:ln w="12700">
            <a:solidFill>
              <a:srgbClr val="171717"/>
            </a:solidFill>
            <a:prstDash val="solid"/>
          </a:ln>
        </p:spPr>
      </p:sp>
      <p:sp>
        <p:nvSpPr>
          <p:cNvPr id="287" name="Shape 284"/>
          <p:cNvSpPr/>
          <p:nvPr/>
        </p:nvSpPr>
        <p:spPr>
          <a:xfrm>
            <a:off x="5367528" y="8339328"/>
            <a:ext cx="100584" cy="100584"/>
          </a:xfrm>
          <a:prstGeom prst="ellipse">
            <a:avLst/>
          </a:prstGeom>
          <a:solidFill>
            <a:srgbClr val="171717"/>
          </a:solidFill>
          <a:ln w="12700">
            <a:solidFill>
              <a:srgbClr val="171717"/>
            </a:solidFill>
            <a:prstDash val="solid"/>
          </a:ln>
        </p:spPr>
      </p:sp>
      <p:sp>
        <p:nvSpPr>
          <p:cNvPr id="288" name="Shape 285"/>
          <p:cNvSpPr/>
          <p:nvPr/>
        </p:nvSpPr>
        <p:spPr>
          <a:xfrm>
            <a:off x="5550408" y="8339328"/>
            <a:ext cx="100584" cy="100584"/>
          </a:xfrm>
          <a:prstGeom prst="ellipse">
            <a:avLst/>
          </a:prstGeom>
          <a:solidFill>
            <a:srgbClr val="171717"/>
          </a:solidFill>
          <a:ln w="12700">
            <a:solidFill>
              <a:srgbClr val="171717"/>
            </a:solidFill>
            <a:prstDash val="solid"/>
          </a:ln>
        </p:spPr>
      </p:sp>
      <p:sp>
        <p:nvSpPr>
          <p:cNvPr id="289" name="Text 286"/>
          <p:cNvSpPr txBox="1"/>
          <p:nvPr/>
        </p:nvSpPr>
        <p:spPr>
          <a:xfrm>
            <a:off x="7013448" y="824788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4</a:t>
            </a:r>
            <a:endParaRPr lang="en-US" sz="1650" dirty="0"/>
          </a:p>
        </p:txBody>
      </p:sp>
      <p:sp>
        <p:nvSpPr>
          <p:cNvPr id="290" name="Shape 287"/>
          <p:cNvSpPr/>
          <p:nvPr/>
        </p:nvSpPr>
        <p:spPr>
          <a:xfrm>
            <a:off x="7470648" y="8339328"/>
            <a:ext cx="100584" cy="100584"/>
          </a:xfrm>
          <a:prstGeom prst="ellipse">
            <a:avLst/>
          </a:prstGeom>
          <a:solidFill>
            <a:srgbClr val="171717"/>
          </a:solidFill>
          <a:ln w="12700">
            <a:solidFill>
              <a:srgbClr val="171717"/>
            </a:solidFill>
            <a:prstDash val="solid"/>
          </a:ln>
        </p:spPr>
      </p:sp>
      <p:sp>
        <p:nvSpPr>
          <p:cNvPr id="291" name="Shape 288"/>
          <p:cNvSpPr/>
          <p:nvPr/>
        </p:nvSpPr>
        <p:spPr>
          <a:xfrm>
            <a:off x="7653528" y="8339328"/>
            <a:ext cx="100584" cy="100584"/>
          </a:xfrm>
          <a:prstGeom prst="ellipse">
            <a:avLst/>
          </a:prstGeom>
          <a:solidFill>
            <a:srgbClr val="171717"/>
          </a:solidFill>
          <a:ln w="12700">
            <a:solidFill>
              <a:srgbClr val="171717"/>
            </a:solidFill>
            <a:prstDash val="solid"/>
          </a:ln>
        </p:spPr>
      </p:sp>
      <p:sp>
        <p:nvSpPr>
          <p:cNvPr id="292" name="Shape 289"/>
          <p:cNvSpPr/>
          <p:nvPr/>
        </p:nvSpPr>
        <p:spPr>
          <a:xfrm>
            <a:off x="7836408" y="8339328"/>
            <a:ext cx="100584" cy="100584"/>
          </a:xfrm>
          <a:prstGeom prst="ellipse">
            <a:avLst/>
          </a:prstGeom>
          <a:solidFill>
            <a:srgbClr val="171717"/>
          </a:solidFill>
          <a:ln w="12700">
            <a:solidFill>
              <a:srgbClr val="171717"/>
            </a:solidFill>
            <a:prstDash val="solid"/>
          </a:ln>
        </p:spPr>
      </p:sp>
      <p:sp>
        <p:nvSpPr>
          <p:cNvPr id="293" name="Shape 290"/>
          <p:cNvSpPr/>
          <p:nvPr/>
        </p:nvSpPr>
        <p:spPr>
          <a:xfrm>
            <a:off x="8019288" y="8339328"/>
            <a:ext cx="100584" cy="100584"/>
          </a:xfrm>
          <a:prstGeom prst="ellipse">
            <a:avLst/>
          </a:prstGeom>
          <a:solidFill>
            <a:srgbClr val="171717"/>
          </a:solidFill>
          <a:ln w="12700">
            <a:solidFill>
              <a:srgbClr val="171717"/>
            </a:solidFill>
            <a:prstDash val="solid"/>
          </a:ln>
        </p:spPr>
      </p:sp>
      <p:sp>
        <p:nvSpPr>
          <p:cNvPr id="294" name="Shape 291"/>
          <p:cNvSpPr/>
          <p:nvPr/>
        </p:nvSpPr>
        <p:spPr>
          <a:xfrm>
            <a:off x="8202168" y="8339328"/>
            <a:ext cx="100584" cy="100584"/>
          </a:xfrm>
          <a:prstGeom prst="ellipse">
            <a:avLst/>
          </a:prstGeom>
          <a:solidFill>
            <a:srgbClr val="DADBD6"/>
          </a:solidFill>
          <a:ln w="12700">
            <a:solidFill>
              <a:srgbClr val="DADBD6"/>
            </a:solidFill>
            <a:prstDash val="solid"/>
          </a:ln>
        </p:spPr>
      </p:sp>
      <p:sp>
        <p:nvSpPr>
          <p:cNvPr id="295" name="Text 292"/>
          <p:cNvSpPr txBox="1"/>
          <p:nvPr/>
        </p:nvSpPr>
        <p:spPr>
          <a:xfrm>
            <a:off x="9665208" y="824788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1</a:t>
            </a:r>
            <a:endParaRPr lang="en-US" sz="1650" dirty="0"/>
          </a:p>
        </p:txBody>
      </p:sp>
      <p:sp>
        <p:nvSpPr>
          <p:cNvPr id="296" name="Shape 293"/>
          <p:cNvSpPr/>
          <p:nvPr/>
        </p:nvSpPr>
        <p:spPr>
          <a:xfrm>
            <a:off x="10122408" y="8339328"/>
            <a:ext cx="100584" cy="100584"/>
          </a:xfrm>
          <a:prstGeom prst="ellipse">
            <a:avLst/>
          </a:prstGeom>
          <a:solidFill>
            <a:srgbClr val="171717"/>
          </a:solidFill>
          <a:ln w="12700">
            <a:solidFill>
              <a:srgbClr val="171717"/>
            </a:solidFill>
            <a:prstDash val="solid"/>
          </a:ln>
        </p:spPr>
      </p:sp>
      <p:sp>
        <p:nvSpPr>
          <p:cNvPr id="297" name="Shape 294"/>
          <p:cNvSpPr/>
          <p:nvPr/>
        </p:nvSpPr>
        <p:spPr>
          <a:xfrm>
            <a:off x="10305288" y="8339328"/>
            <a:ext cx="100584" cy="100584"/>
          </a:xfrm>
          <a:prstGeom prst="ellipse">
            <a:avLst/>
          </a:prstGeom>
          <a:solidFill>
            <a:srgbClr val="DADBD6"/>
          </a:solidFill>
          <a:ln w="12700">
            <a:solidFill>
              <a:srgbClr val="DADBD6"/>
            </a:solidFill>
            <a:prstDash val="solid"/>
          </a:ln>
        </p:spPr>
      </p:sp>
      <p:sp>
        <p:nvSpPr>
          <p:cNvPr id="298" name="Shape 295"/>
          <p:cNvSpPr/>
          <p:nvPr/>
        </p:nvSpPr>
        <p:spPr>
          <a:xfrm>
            <a:off x="10488168" y="8339328"/>
            <a:ext cx="100584" cy="100584"/>
          </a:xfrm>
          <a:prstGeom prst="ellipse">
            <a:avLst/>
          </a:prstGeom>
          <a:solidFill>
            <a:srgbClr val="DADBD6"/>
          </a:solidFill>
          <a:ln w="12700">
            <a:solidFill>
              <a:srgbClr val="DADBD6"/>
            </a:solidFill>
            <a:prstDash val="solid"/>
          </a:ln>
        </p:spPr>
      </p:sp>
      <p:sp>
        <p:nvSpPr>
          <p:cNvPr id="299" name="Shape 296"/>
          <p:cNvSpPr/>
          <p:nvPr/>
        </p:nvSpPr>
        <p:spPr>
          <a:xfrm>
            <a:off x="10671048" y="8339328"/>
            <a:ext cx="100584" cy="100584"/>
          </a:xfrm>
          <a:prstGeom prst="ellipse">
            <a:avLst/>
          </a:prstGeom>
          <a:solidFill>
            <a:srgbClr val="DADBD6"/>
          </a:solidFill>
          <a:ln w="12700">
            <a:solidFill>
              <a:srgbClr val="DADBD6"/>
            </a:solidFill>
            <a:prstDash val="solid"/>
          </a:ln>
        </p:spPr>
      </p:sp>
      <p:sp>
        <p:nvSpPr>
          <p:cNvPr id="300" name="Shape 297"/>
          <p:cNvSpPr/>
          <p:nvPr/>
        </p:nvSpPr>
        <p:spPr>
          <a:xfrm>
            <a:off x="10853928" y="8339328"/>
            <a:ext cx="100584" cy="100584"/>
          </a:xfrm>
          <a:prstGeom prst="ellipse">
            <a:avLst/>
          </a:prstGeom>
          <a:solidFill>
            <a:srgbClr val="DADBD6"/>
          </a:solidFill>
          <a:ln w="12700">
            <a:solidFill>
              <a:srgbClr val="DADBD6"/>
            </a:solidFill>
            <a:prstDash val="solid"/>
          </a:ln>
        </p:spPr>
      </p:sp>
      <p:sp>
        <p:nvSpPr>
          <p:cNvPr id="301" name="Text 298"/>
          <p:cNvSpPr txBox="1"/>
          <p:nvPr/>
        </p:nvSpPr>
        <p:spPr>
          <a:xfrm>
            <a:off x="12316968" y="8247888"/>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2</a:t>
            </a:r>
            <a:endParaRPr lang="en-US" sz="1650" dirty="0"/>
          </a:p>
        </p:txBody>
      </p:sp>
      <p:sp>
        <p:nvSpPr>
          <p:cNvPr id="302" name="Shape 299"/>
          <p:cNvSpPr/>
          <p:nvPr/>
        </p:nvSpPr>
        <p:spPr>
          <a:xfrm>
            <a:off x="12774168" y="8339328"/>
            <a:ext cx="100584" cy="100584"/>
          </a:xfrm>
          <a:prstGeom prst="ellipse">
            <a:avLst/>
          </a:prstGeom>
          <a:solidFill>
            <a:srgbClr val="171717"/>
          </a:solidFill>
          <a:ln w="12700">
            <a:solidFill>
              <a:srgbClr val="171717"/>
            </a:solidFill>
            <a:prstDash val="solid"/>
          </a:ln>
        </p:spPr>
      </p:sp>
      <p:sp>
        <p:nvSpPr>
          <p:cNvPr id="303" name="Shape 300"/>
          <p:cNvSpPr/>
          <p:nvPr/>
        </p:nvSpPr>
        <p:spPr>
          <a:xfrm>
            <a:off x="12957048" y="8339328"/>
            <a:ext cx="100584" cy="100584"/>
          </a:xfrm>
          <a:prstGeom prst="ellipse">
            <a:avLst/>
          </a:prstGeom>
          <a:solidFill>
            <a:srgbClr val="171717"/>
          </a:solidFill>
          <a:ln w="12700">
            <a:solidFill>
              <a:srgbClr val="171717"/>
            </a:solidFill>
            <a:prstDash val="solid"/>
          </a:ln>
        </p:spPr>
      </p:sp>
      <p:sp>
        <p:nvSpPr>
          <p:cNvPr id="304" name="Shape 301"/>
          <p:cNvSpPr/>
          <p:nvPr/>
        </p:nvSpPr>
        <p:spPr>
          <a:xfrm>
            <a:off x="13139928" y="8339328"/>
            <a:ext cx="100584" cy="100584"/>
          </a:xfrm>
          <a:prstGeom prst="ellipse">
            <a:avLst/>
          </a:prstGeom>
          <a:solidFill>
            <a:srgbClr val="DADBD6"/>
          </a:solidFill>
          <a:ln w="12700">
            <a:solidFill>
              <a:srgbClr val="DADBD6"/>
            </a:solidFill>
            <a:prstDash val="solid"/>
          </a:ln>
        </p:spPr>
      </p:sp>
      <p:sp>
        <p:nvSpPr>
          <p:cNvPr id="305" name="Shape 302"/>
          <p:cNvSpPr/>
          <p:nvPr/>
        </p:nvSpPr>
        <p:spPr>
          <a:xfrm>
            <a:off x="13322808" y="8339328"/>
            <a:ext cx="100584" cy="100584"/>
          </a:xfrm>
          <a:prstGeom prst="ellipse">
            <a:avLst/>
          </a:prstGeom>
          <a:solidFill>
            <a:srgbClr val="DADBD6"/>
          </a:solidFill>
          <a:ln w="12700">
            <a:solidFill>
              <a:srgbClr val="DADBD6"/>
            </a:solidFill>
            <a:prstDash val="solid"/>
          </a:ln>
        </p:spPr>
      </p:sp>
      <p:sp>
        <p:nvSpPr>
          <p:cNvPr id="306" name="Shape 303"/>
          <p:cNvSpPr/>
          <p:nvPr/>
        </p:nvSpPr>
        <p:spPr>
          <a:xfrm>
            <a:off x="13505688" y="8339328"/>
            <a:ext cx="100584" cy="100584"/>
          </a:xfrm>
          <a:prstGeom prst="ellipse">
            <a:avLst/>
          </a:prstGeom>
          <a:solidFill>
            <a:srgbClr val="DADBD6"/>
          </a:solidFill>
          <a:ln w="12700">
            <a:solidFill>
              <a:srgbClr val="DADBD6"/>
            </a:solidFill>
            <a:prstDash val="solid"/>
          </a:ln>
        </p:spPr>
      </p:sp>
      <p:sp>
        <p:nvSpPr>
          <p:cNvPr id="307" name="Text 304"/>
          <p:cNvSpPr txBox="1"/>
          <p:nvPr/>
        </p:nvSpPr>
        <p:spPr>
          <a:xfrm>
            <a:off x="15060168" y="8238744"/>
            <a:ext cx="548640" cy="329184"/>
          </a:xfrm>
          <a:prstGeom prst="rect">
            <a:avLst/>
          </a:prstGeom>
          <a:noFill/>
          <a:ln/>
        </p:spPr>
        <p:txBody>
          <a:bodyPr wrap="square" lIns="0" tIns="0" rIns="0" bIns="0" rtlCol="0" anchor="t"/>
          <a:lstStyle/>
          <a:p>
            <a:pPr indent="0" marL="0">
              <a:buNone/>
            </a:pPr>
            <a:r>
              <a:rPr lang="en-US" sz="1800" b="1" dirty="0">
                <a:solidFill>
                  <a:srgbClr val="171717"/>
                </a:solidFill>
                <a:latin typeface="Poppins" pitchFamily="34" charset="0"/>
                <a:ea typeface="Poppins" pitchFamily="34" charset="-122"/>
                <a:cs typeface="Poppins" pitchFamily="34" charset="-120"/>
              </a:rPr>
              <a:t>12</a:t>
            </a:r>
            <a:endParaRPr lang="en-US" sz="1800" dirty="0"/>
          </a:p>
        </p:txBody>
      </p:sp>
      <p:sp>
        <p:nvSpPr>
          <p:cNvPr id="308" name="Shape 305"/>
          <p:cNvSpPr/>
          <p:nvPr/>
        </p:nvSpPr>
        <p:spPr>
          <a:xfrm>
            <a:off x="15745968" y="8348472"/>
            <a:ext cx="1371600" cy="82296"/>
          </a:xfrm>
          <a:prstGeom prst="roundRect">
            <a:avLst>
              <a:gd name="adj" fmla="val 44444"/>
            </a:avLst>
          </a:prstGeom>
          <a:solidFill>
            <a:srgbClr val="DADBD6"/>
          </a:solidFill>
          <a:ln w="12700">
            <a:solidFill>
              <a:srgbClr val="DADBD6"/>
            </a:solidFill>
            <a:prstDash val="solid"/>
          </a:ln>
        </p:spPr>
      </p:sp>
      <p:sp>
        <p:nvSpPr>
          <p:cNvPr id="309" name="Shape 306"/>
          <p:cNvSpPr/>
          <p:nvPr/>
        </p:nvSpPr>
        <p:spPr>
          <a:xfrm>
            <a:off x="15745968" y="8348472"/>
            <a:ext cx="822960" cy="82296"/>
          </a:xfrm>
          <a:prstGeom prst="roundRect">
            <a:avLst>
              <a:gd name="adj" fmla="val 44444"/>
            </a:avLst>
          </a:prstGeom>
          <a:solidFill>
            <a:srgbClr val="497078"/>
          </a:solidFill>
          <a:ln w="12700">
            <a:solidFill>
              <a:srgbClr val="497078"/>
            </a:solidFill>
            <a:prstDash val="solid"/>
          </a:ln>
        </p:spPr>
      </p:sp>
      <p:sp>
        <p:nvSpPr>
          <p:cNvPr id="310" name="Shape 307"/>
          <p:cNvSpPr/>
          <p:nvPr/>
        </p:nvSpPr>
        <p:spPr>
          <a:xfrm>
            <a:off x="1069848" y="8599932"/>
            <a:ext cx="16203168" cy="365760"/>
          </a:xfrm>
          <a:prstGeom prst="roundRect">
            <a:avLst>
              <a:gd name="adj" fmla="val 25000"/>
            </a:avLst>
          </a:prstGeom>
          <a:solidFill>
            <a:srgbClr val="FFFFFF"/>
          </a:solidFill>
          <a:ln w="9525">
            <a:solidFill>
              <a:srgbClr val="DADBD6"/>
            </a:solidFill>
            <a:prstDash val="solid"/>
          </a:ln>
        </p:spPr>
      </p:sp>
      <p:sp>
        <p:nvSpPr>
          <p:cNvPr id="311" name="Shape 308"/>
          <p:cNvSpPr/>
          <p:nvPr/>
        </p:nvSpPr>
        <p:spPr>
          <a:xfrm>
            <a:off x="4224528" y="8599932"/>
            <a:ext cx="2423160" cy="365760"/>
          </a:xfrm>
          <a:prstGeom prst="rect">
            <a:avLst/>
          </a:prstGeom>
          <a:solidFill>
            <a:srgbClr val="E8F2F2"/>
          </a:solidFill>
          <a:ln w="12700">
            <a:solidFill>
              <a:srgbClr val="E8F2F2"/>
            </a:solidFill>
            <a:prstDash val="solid"/>
          </a:ln>
        </p:spPr>
      </p:sp>
      <p:sp>
        <p:nvSpPr>
          <p:cNvPr id="312" name="Text 309"/>
          <p:cNvSpPr txBox="1"/>
          <p:nvPr/>
        </p:nvSpPr>
        <p:spPr>
          <a:xfrm>
            <a:off x="1344168" y="8682228"/>
            <a:ext cx="457200" cy="274320"/>
          </a:xfrm>
          <a:prstGeom prst="rect">
            <a:avLst/>
          </a:prstGeom>
          <a:noFill/>
          <a:ln/>
        </p:spPr>
        <p:txBody>
          <a:bodyPr wrap="square" lIns="0" tIns="0" rIns="0" bIns="0" rtlCol="0" anchor="t"/>
          <a:lstStyle/>
          <a:p>
            <a:pPr indent="0" marL="0">
              <a:buNone/>
            </a:pPr>
            <a:endParaRPr lang="en-US" sz="1350" dirty="0"/>
          </a:p>
        </p:txBody>
      </p:sp>
      <p:sp>
        <p:nvSpPr>
          <p:cNvPr id="313" name="Text 310"/>
          <p:cNvSpPr txBox="1"/>
          <p:nvPr/>
        </p:nvSpPr>
        <p:spPr>
          <a:xfrm>
            <a:off x="1755648" y="8663940"/>
            <a:ext cx="1828800" cy="292608"/>
          </a:xfrm>
          <a:prstGeom prst="rect">
            <a:avLst/>
          </a:prstGeom>
          <a:noFill/>
          <a:ln/>
        </p:spPr>
        <p:txBody>
          <a:bodyPr wrap="square" lIns="0" tIns="0" rIns="0" bIns="0" rtlCol="0" anchor="t"/>
          <a:lstStyle/>
          <a:p>
            <a:pPr indent="0" marL="0">
              <a:buNone/>
            </a:pPr>
            <a:r>
              <a:rPr lang="en-US" sz="1550" b="1" dirty="0">
                <a:solidFill>
                  <a:srgbClr val="171717"/>
                </a:solidFill>
                <a:latin typeface="Poppins" pitchFamily="34" charset="0"/>
                <a:ea typeface="Poppins" pitchFamily="34" charset="-122"/>
                <a:cs typeface="Poppins" pitchFamily="34" charset="-120"/>
              </a:rPr>
              <a:t>Switzerland</a:t>
            </a:r>
            <a:endParaRPr lang="en-US" sz="1550" dirty="0"/>
          </a:p>
        </p:txBody>
      </p:sp>
      <p:sp>
        <p:nvSpPr>
          <p:cNvPr id="314" name="Text 311"/>
          <p:cNvSpPr txBox="1"/>
          <p:nvPr/>
        </p:nvSpPr>
        <p:spPr>
          <a:xfrm>
            <a:off x="3172968" y="8709660"/>
            <a:ext cx="1097280" cy="274320"/>
          </a:xfrm>
          <a:prstGeom prst="rect">
            <a:avLst/>
          </a:prstGeom>
          <a:noFill/>
          <a:ln/>
        </p:spPr>
        <p:txBody>
          <a:bodyPr wrap="square" lIns="0" tIns="0" rIns="0" bIns="0" rtlCol="0" anchor="t"/>
          <a:lstStyle/>
          <a:p>
            <a:pPr indent="0" marL="0">
              <a:buNone/>
            </a:pPr>
            <a:r>
              <a:rPr lang="en-US" sz="1100" dirty="0">
                <a:solidFill>
                  <a:srgbClr val="687075"/>
                </a:solidFill>
                <a:latin typeface="Poppins" pitchFamily="34" charset="0"/>
                <a:ea typeface="Poppins" pitchFamily="34" charset="-122"/>
                <a:cs typeface="Poppins" pitchFamily="34" charset="-120"/>
              </a:rPr>
              <a:t>outside EU</a:t>
            </a:r>
            <a:endParaRPr lang="en-US" sz="1100" dirty="0"/>
          </a:p>
        </p:txBody>
      </p:sp>
      <p:sp>
        <p:nvSpPr>
          <p:cNvPr id="315" name="Text 312"/>
          <p:cNvSpPr txBox="1"/>
          <p:nvPr/>
        </p:nvSpPr>
        <p:spPr>
          <a:xfrm>
            <a:off x="4361688" y="865479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316" name="Shape 313"/>
          <p:cNvSpPr/>
          <p:nvPr/>
        </p:nvSpPr>
        <p:spPr>
          <a:xfrm>
            <a:off x="4818888" y="8746236"/>
            <a:ext cx="100584" cy="100584"/>
          </a:xfrm>
          <a:prstGeom prst="ellipse">
            <a:avLst/>
          </a:prstGeom>
          <a:solidFill>
            <a:srgbClr val="171717"/>
          </a:solidFill>
          <a:ln w="12700">
            <a:solidFill>
              <a:srgbClr val="171717"/>
            </a:solidFill>
            <a:prstDash val="solid"/>
          </a:ln>
        </p:spPr>
      </p:sp>
      <p:sp>
        <p:nvSpPr>
          <p:cNvPr id="317" name="Shape 314"/>
          <p:cNvSpPr/>
          <p:nvPr/>
        </p:nvSpPr>
        <p:spPr>
          <a:xfrm>
            <a:off x="5001768" y="8746236"/>
            <a:ext cx="100584" cy="100584"/>
          </a:xfrm>
          <a:prstGeom prst="ellipse">
            <a:avLst/>
          </a:prstGeom>
          <a:solidFill>
            <a:srgbClr val="171717"/>
          </a:solidFill>
          <a:ln w="12700">
            <a:solidFill>
              <a:srgbClr val="171717"/>
            </a:solidFill>
            <a:prstDash val="solid"/>
          </a:ln>
        </p:spPr>
      </p:sp>
      <p:sp>
        <p:nvSpPr>
          <p:cNvPr id="318" name="Shape 315"/>
          <p:cNvSpPr/>
          <p:nvPr/>
        </p:nvSpPr>
        <p:spPr>
          <a:xfrm>
            <a:off x="5184648" y="8746236"/>
            <a:ext cx="100584" cy="100584"/>
          </a:xfrm>
          <a:prstGeom prst="ellipse">
            <a:avLst/>
          </a:prstGeom>
          <a:solidFill>
            <a:srgbClr val="171717"/>
          </a:solidFill>
          <a:ln w="12700">
            <a:solidFill>
              <a:srgbClr val="171717"/>
            </a:solidFill>
            <a:prstDash val="solid"/>
          </a:ln>
        </p:spPr>
      </p:sp>
      <p:sp>
        <p:nvSpPr>
          <p:cNvPr id="319" name="Shape 316"/>
          <p:cNvSpPr/>
          <p:nvPr/>
        </p:nvSpPr>
        <p:spPr>
          <a:xfrm>
            <a:off x="5367528" y="8746236"/>
            <a:ext cx="100584" cy="100584"/>
          </a:xfrm>
          <a:prstGeom prst="ellipse">
            <a:avLst/>
          </a:prstGeom>
          <a:solidFill>
            <a:srgbClr val="171717"/>
          </a:solidFill>
          <a:ln w="12700">
            <a:solidFill>
              <a:srgbClr val="171717"/>
            </a:solidFill>
            <a:prstDash val="solid"/>
          </a:ln>
        </p:spPr>
      </p:sp>
      <p:sp>
        <p:nvSpPr>
          <p:cNvPr id="320" name="Shape 317"/>
          <p:cNvSpPr/>
          <p:nvPr/>
        </p:nvSpPr>
        <p:spPr>
          <a:xfrm>
            <a:off x="5550408" y="8746236"/>
            <a:ext cx="100584" cy="100584"/>
          </a:xfrm>
          <a:prstGeom prst="ellipse">
            <a:avLst/>
          </a:prstGeom>
          <a:solidFill>
            <a:srgbClr val="171717"/>
          </a:solidFill>
          <a:ln w="12700">
            <a:solidFill>
              <a:srgbClr val="171717"/>
            </a:solidFill>
            <a:prstDash val="solid"/>
          </a:ln>
        </p:spPr>
      </p:sp>
      <p:sp>
        <p:nvSpPr>
          <p:cNvPr id="321" name="Text 318"/>
          <p:cNvSpPr txBox="1"/>
          <p:nvPr/>
        </p:nvSpPr>
        <p:spPr>
          <a:xfrm>
            <a:off x="7013448" y="865479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3</a:t>
            </a:r>
            <a:endParaRPr lang="en-US" sz="1650" dirty="0"/>
          </a:p>
        </p:txBody>
      </p:sp>
      <p:sp>
        <p:nvSpPr>
          <p:cNvPr id="322" name="Shape 319"/>
          <p:cNvSpPr/>
          <p:nvPr/>
        </p:nvSpPr>
        <p:spPr>
          <a:xfrm>
            <a:off x="7470648" y="8746236"/>
            <a:ext cx="100584" cy="100584"/>
          </a:xfrm>
          <a:prstGeom prst="ellipse">
            <a:avLst/>
          </a:prstGeom>
          <a:solidFill>
            <a:srgbClr val="171717"/>
          </a:solidFill>
          <a:ln w="12700">
            <a:solidFill>
              <a:srgbClr val="171717"/>
            </a:solidFill>
            <a:prstDash val="solid"/>
          </a:ln>
        </p:spPr>
      </p:sp>
      <p:sp>
        <p:nvSpPr>
          <p:cNvPr id="323" name="Shape 320"/>
          <p:cNvSpPr/>
          <p:nvPr/>
        </p:nvSpPr>
        <p:spPr>
          <a:xfrm>
            <a:off x="7653528" y="8746236"/>
            <a:ext cx="100584" cy="100584"/>
          </a:xfrm>
          <a:prstGeom prst="ellipse">
            <a:avLst/>
          </a:prstGeom>
          <a:solidFill>
            <a:srgbClr val="171717"/>
          </a:solidFill>
          <a:ln w="12700">
            <a:solidFill>
              <a:srgbClr val="171717"/>
            </a:solidFill>
            <a:prstDash val="solid"/>
          </a:ln>
        </p:spPr>
      </p:sp>
      <p:sp>
        <p:nvSpPr>
          <p:cNvPr id="324" name="Shape 321"/>
          <p:cNvSpPr/>
          <p:nvPr/>
        </p:nvSpPr>
        <p:spPr>
          <a:xfrm>
            <a:off x="7836408" y="8746236"/>
            <a:ext cx="100584" cy="100584"/>
          </a:xfrm>
          <a:prstGeom prst="ellipse">
            <a:avLst/>
          </a:prstGeom>
          <a:solidFill>
            <a:srgbClr val="171717"/>
          </a:solidFill>
          <a:ln w="12700">
            <a:solidFill>
              <a:srgbClr val="171717"/>
            </a:solidFill>
            <a:prstDash val="solid"/>
          </a:ln>
        </p:spPr>
      </p:sp>
      <p:sp>
        <p:nvSpPr>
          <p:cNvPr id="325" name="Shape 322"/>
          <p:cNvSpPr/>
          <p:nvPr/>
        </p:nvSpPr>
        <p:spPr>
          <a:xfrm>
            <a:off x="8019288" y="8746236"/>
            <a:ext cx="100584" cy="100584"/>
          </a:xfrm>
          <a:prstGeom prst="ellipse">
            <a:avLst/>
          </a:prstGeom>
          <a:solidFill>
            <a:srgbClr val="DADBD6"/>
          </a:solidFill>
          <a:ln w="12700">
            <a:solidFill>
              <a:srgbClr val="DADBD6"/>
            </a:solidFill>
            <a:prstDash val="solid"/>
          </a:ln>
        </p:spPr>
      </p:sp>
      <p:sp>
        <p:nvSpPr>
          <p:cNvPr id="326" name="Shape 323"/>
          <p:cNvSpPr/>
          <p:nvPr/>
        </p:nvSpPr>
        <p:spPr>
          <a:xfrm>
            <a:off x="8202168" y="8746236"/>
            <a:ext cx="100584" cy="100584"/>
          </a:xfrm>
          <a:prstGeom prst="ellipse">
            <a:avLst/>
          </a:prstGeom>
          <a:solidFill>
            <a:srgbClr val="DADBD6"/>
          </a:solidFill>
          <a:ln w="12700">
            <a:solidFill>
              <a:srgbClr val="DADBD6"/>
            </a:solidFill>
            <a:prstDash val="solid"/>
          </a:ln>
        </p:spPr>
      </p:sp>
      <p:sp>
        <p:nvSpPr>
          <p:cNvPr id="327" name="Text 324"/>
          <p:cNvSpPr txBox="1"/>
          <p:nvPr/>
        </p:nvSpPr>
        <p:spPr>
          <a:xfrm>
            <a:off x="9665208" y="865479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5</a:t>
            </a:r>
            <a:endParaRPr lang="en-US" sz="1650" dirty="0"/>
          </a:p>
        </p:txBody>
      </p:sp>
      <p:sp>
        <p:nvSpPr>
          <p:cNvPr id="328" name="Shape 325"/>
          <p:cNvSpPr/>
          <p:nvPr/>
        </p:nvSpPr>
        <p:spPr>
          <a:xfrm>
            <a:off x="10122408" y="8746236"/>
            <a:ext cx="100584" cy="100584"/>
          </a:xfrm>
          <a:prstGeom prst="ellipse">
            <a:avLst/>
          </a:prstGeom>
          <a:solidFill>
            <a:srgbClr val="171717"/>
          </a:solidFill>
          <a:ln w="12700">
            <a:solidFill>
              <a:srgbClr val="171717"/>
            </a:solidFill>
            <a:prstDash val="solid"/>
          </a:ln>
        </p:spPr>
      </p:sp>
      <p:sp>
        <p:nvSpPr>
          <p:cNvPr id="329" name="Shape 326"/>
          <p:cNvSpPr/>
          <p:nvPr/>
        </p:nvSpPr>
        <p:spPr>
          <a:xfrm>
            <a:off x="10305288" y="8746236"/>
            <a:ext cx="100584" cy="100584"/>
          </a:xfrm>
          <a:prstGeom prst="ellipse">
            <a:avLst/>
          </a:prstGeom>
          <a:solidFill>
            <a:srgbClr val="171717"/>
          </a:solidFill>
          <a:ln w="12700">
            <a:solidFill>
              <a:srgbClr val="171717"/>
            </a:solidFill>
            <a:prstDash val="solid"/>
          </a:ln>
        </p:spPr>
      </p:sp>
      <p:sp>
        <p:nvSpPr>
          <p:cNvPr id="330" name="Shape 327"/>
          <p:cNvSpPr/>
          <p:nvPr/>
        </p:nvSpPr>
        <p:spPr>
          <a:xfrm>
            <a:off x="10488168" y="8746236"/>
            <a:ext cx="100584" cy="100584"/>
          </a:xfrm>
          <a:prstGeom prst="ellipse">
            <a:avLst/>
          </a:prstGeom>
          <a:solidFill>
            <a:srgbClr val="171717"/>
          </a:solidFill>
          <a:ln w="12700">
            <a:solidFill>
              <a:srgbClr val="171717"/>
            </a:solidFill>
            <a:prstDash val="solid"/>
          </a:ln>
        </p:spPr>
      </p:sp>
      <p:sp>
        <p:nvSpPr>
          <p:cNvPr id="331" name="Shape 328"/>
          <p:cNvSpPr/>
          <p:nvPr/>
        </p:nvSpPr>
        <p:spPr>
          <a:xfrm>
            <a:off x="10671048" y="8746236"/>
            <a:ext cx="100584" cy="100584"/>
          </a:xfrm>
          <a:prstGeom prst="ellipse">
            <a:avLst/>
          </a:prstGeom>
          <a:solidFill>
            <a:srgbClr val="171717"/>
          </a:solidFill>
          <a:ln w="12700">
            <a:solidFill>
              <a:srgbClr val="171717"/>
            </a:solidFill>
            <a:prstDash val="solid"/>
          </a:ln>
        </p:spPr>
      </p:sp>
      <p:sp>
        <p:nvSpPr>
          <p:cNvPr id="332" name="Shape 329"/>
          <p:cNvSpPr/>
          <p:nvPr/>
        </p:nvSpPr>
        <p:spPr>
          <a:xfrm>
            <a:off x="10853928" y="8746236"/>
            <a:ext cx="100584" cy="100584"/>
          </a:xfrm>
          <a:prstGeom prst="ellipse">
            <a:avLst/>
          </a:prstGeom>
          <a:solidFill>
            <a:srgbClr val="171717"/>
          </a:solidFill>
          <a:ln w="12700">
            <a:solidFill>
              <a:srgbClr val="171717"/>
            </a:solidFill>
            <a:prstDash val="solid"/>
          </a:ln>
        </p:spPr>
      </p:sp>
      <p:sp>
        <p:nvSpPr>
          <p:cNvPr id="333" name="Text 330"/>
          <p:cNvSpPr txBox="1"/>
          <p:nvPr/>
        </p:nvSpPr>
        <p:spPr>
          <a:xfrm>
            <a:off x="12316968" y="8654796"/>
            <a:ext cx="365760" cy="310896"/>
          </a:xfrm>
          <a:prstGeom prst="rect">
            <a:avLst/>
          </a:prstGeom>
          <a:noFill/>
          <a:ln/>
        </p:spPr>
        <p:txBody>
          <a:bodyPr wrap="square" lIns="0" tIns="0" rIns="0" bIns="0" rtlCol="0" anchor="t"/>
          <a:lstStyle/>
          <a:p>
            <a:pPr indent="0" marL="0">
              <a:buNone/>
            </a:pPr>
            <a:r>
              <a:rPr lang="en-US" sz="1650" b="1" dirty="0">
                <a:solidFill>
                  <a:srgbClr val="171717"/>
                </a:solidFill>
                <a:latin typeface="Poppins" pitchFamily="34" charset="0"/>
                <a:ea typeface="Poppins" pitchFamily="34" charset="-122"/>
                <a:cs typeface="Poppins" pitchFamily="34" charset="-120"/>
              </a:rPr>
              <a:t>1</a:t>
            </a:r>
            <a:endParaRPr lang="en-US" sz="1650" dirty="0"/>
          </a:p>
        </p:txBody>
      </p:sp>
      <p:sp>
        <p:nvSpPr>
          <p:cNvPr id="334" name="Shape 331"/>
          <p:cNvSpPr/>
          <p:nvPr/>
        </p:nvSpPr>
        <p:spPr>
          <a:xfrm>
            <a:off x="12774168" y="8746236"/>
            <a:ext cx="100584" cy="100584"/>
          </a:xfrm>
          <a:prstGeom prst="ellipse">
            <a:avLst/>
          </a:prstGeom>
          <a:solidFill>
            <a:srgbClr val="171717"/>
          </a:solidFill>
          <a:ln w="12700">
            <a:solidFill>
              <a:srgbClr val="171717"/>
            </a:solidFill>
            <a:prstDash val="solid"/>
          </a:ln>
        </p:spPr>
      </p:sp>
      <p:sp>
        <p:nvSpPr>
          <p:cNvPr id="335" name="Shape 332"/>
          <p:cNvSpPr/>
          <p:nvPr/>
        </p:nvSpPr>
        <p:spPr>
          <a:xfrm>
            <a:off x="12957048" y="8746236"/>
            <a:ext cx="100584" cy="100584"/>
          </a:xfrm>
          <a:prstGeom prst="ellipse">
            <a:avLst/>
          </a:prstGeom>
          <a:solidFill>
            <a:srgbClr val="DADBD6"/>
          </a:solidFill>
          <a:ln w="12700">
            <a:solidFill>
              <a:srgbClr val="DADBD6"/>
            </a:solidFill>
            <a:prstDash val="solid"/>
          </a:ln>
        </p:spPr>
      </p:sp>
      <p:sp>
        <p:nvSpPr>
          <p:cNvPr id="336" name="Shape 333"/>
          <p:cNvSpPr/>
          <p:nvPr/>
        </p:nvSpPr>
        <p:spPr>
          <a:xfrm>
            <a:off x="13139928" y="8746236"/>
            <a:ext cx="100584" cy="100584"/>
          </a:xfrm>
          <a:prstGeom prst="ellipse">
            <a:avLst/>
          </a:prstGeom>
          <a:solidFill>
            <a:srgbClr val="DADBD6"/>
          </a:solidFill>
          <a:ln w="12700">
            <a:solidFill>
              <a:srgbClr val="DADBD6"/>
            </a:solidFill>
            <a:prstDash val="solid"/>
          </a:ln>
        </p:spPr>
      </p:sp>
      <p:sp>
        <p:nvSpPr>
          <p:cNvPr id="337" name="Shape 334"/>
          <p:cNvSpPr/>
          <p:nvPr/>
        </p:nvSpPr>
        <p:spPr>
          <a:xfrm>
            <a:off x="13322808" y="8746236"/>
            <a:ext cx="100584" cy="100584"/>
          </a:xfrm>
          <a:prstGeom prst="ellipse">
            <a:avLst/>
          </a:prstGeom>
          <a:solidFill>
            <a:srgbClr val="DADBD6"/>
          </a:solidFill>
          <a:ln w="12700">
            <a:solidFill>
              <a:srgbClr val="DADBD6"/>
            </a:solidFill>
            <a:prstDash val="solid"/>
          </a:ln>
        </p:spPr>
      </p:sp>
      <p:sp>
        <p:nvSpPr>
          <p:cNvPr id="338" name="Shape 335"/>
          <p:cNvSpPr/>
          <p:nvPr/>
        </p:nvSpPr>
        <p:spPr>
          <a:xfrm>
            <a:off x="13505688" y="8746236"/>
            <a:ext cx="100584" cy="100584"/>
          </a:xfrm>
          <a:prstGeom prst="ellipse">
            <a:avLst/>
          </a:prstGeom>
          <a:solidFill>
            <a:srgbClr val="DADBD6"/>
          </a:solidFill>
          <a:ln w="12700">
            <a:solidFill>
              <a:srgbClr val="DADBD6"/>
            </a:solidFill>
            <a:prstDash val="solid"/>
          </a:ln>
        </p:spPr>
      </p:sp>
      <p:sp>
        <p:nvSpPr>
          <p:cNvPr id="339" name="Text 336"/>
          <p:cNvSpPr txBox="1"/>
          <p:nvPr/>
        </p:nvSpPr>
        <p:spPr>
          <a:xfrm>
            <a:off x="15060168" y="8645652"/>
            <a:ext cx="548640" cy="329184"/>
          </a:xfrm>
          <a:prstGeom prst="rect">
            <a:avLst/>
          </a:prstGeom>
          <a:noFill/>
          <a:ln/>
        </p:spPr>
        <p:txBody>
          <a:bodyPr wrap="square" lIns="0" tIns="0" rIns="0" bIns="0" rtlCol="0" anchor="t"/>
          <a:lstStyle/>
          <a:p>
            <a:pPr indent="0" marL="0">
              <a:buNone/>
            </a:pPr>
            <a:r>
              <a:rPr lang="en-US" sz="1800" b="1" dirty="0">
                <a:solidFill>
                  <a:srgbClr val="171717"/>
                </a:solidFill>
                <a:latin typeface="Poppins" pitchFamily="34" charset="0"/>
                <a:ea typeface="Poppins" pitchFamily="34" charset="-122"/>
                <a:cs typeface="Poppins" pitchFamily="34" charset="-120"/>
              </a:rPr>
              <a:t>14</a:t>
            </a:r>
            <a:endParaRPr lang="en-US" sz="1800" dirty="0"/>
          </a:p>
        </p:txBody>
      </p:sp>
      <p:sp>
        <p:nvSpPr>
          <p:cNvPr id="340" name="Shape 337"/>
          <p:cNvSpPr/>
          <p:nvPr/>
        </p:nvSpPr>
        <p:spPr>
          <a:xfrm>
            <a:off x="15745968" y="8755380"/>
            <a:ext cx="1371600" cy="82296"/>
          </a:xfrm>
          <a:prstGeom prst="roundRect">
            <a:avLst>
              <a:gd name="adj" fmla="val 44444"/>
            </a:avLst>
          </a:prstGeom>
          <a:solidFill>
            <a:srgbClr val="DADBD6"/>
          </a:solidFill>
          <a:ln w="12700">
            <a:solidFill>
              <a:srgbClr val="DADBD6"/>
            </a:solidFill>
            <a:prstDash val="solid"/>
          </a:ln>
        </p:spPr>
      </p:sp>
      <p:sp>
        <p:nvSpPr>
          <p:cNvPr id="341" name="Shape 338"/>
          <p:cNvSpPr/>
          <p:nvPr/>
        </p:nvSpPr>
        <p:spPr>
          <a:xfrm>
            <a:off x="15745968" y="8755380"/>
            <a:ext cx="960120" cy="82296"/>
          </a:xfrm>
          <a:prstGeom prst="roundRect">
            <a:avLst>
              <a:gd name="adj" fmla="val 44444"/>
            </a:avLst>
          </a:prstGeom>
          <a:solidFill>
            <a:srgbClr val="497078"/>
          </a:solidFill>
          <a:ln w="12700">
            <a:solidFill>
              <a:srgbClr val="497078"/>
            </a:solidFill>
            <a:prstDash val="solid"/>
          </a:ln>
        </p:spPr>
      </p:sp>
      <p:sp>
        <p:nvSpPr>
          <p:cNvPr id="342" name="Text 339"/>
          <p:cNvSpPr txBox="1"/>
          <p:nvPr/>
        </p:nvSpPr>
        <p:spPr>
          <a:xfrm>
            <a:off x="1069848" y="9070848"/>
            <a:ext cx="14374368" cy="502920"/>
          </a:xfrm>
          <a:prstGeom prst="rect">
            <a:avLst/>
          </a:prstGeom>
          <a:noFill/>
          <a:ln/>
        </p:spPr>
        <p:txBody>
          <a:bodyPr wrap="square" lIns="0" tIns="0" rIns="0" bIns="0" rtlCol="0" anchor="t"/>
          <a:lstStyle/>
          <a:p>
            <a:pPr indent="0" marL="0">
              <a:spcAft>
                <a:spcPts val="100"/>
              </a:spcAft>
              <a:buNone/>
            </a:pPr>
            <a:r>
              <a:rPr lang="en-US" sz="800" b="1" dirty="0">
                <a:solidFill>
                  <a:srgbClr val="171717"/>
                </a:solidFill>
                <a:latin typeface="Poppins" pitchFamily="34" charset="0"/>
                <a:ea typeface="Poppins" pitchFamily="34" charset="-122"/>
                <a:cs typeface="Poppins" pitchFamily="34" charset="-120"/>
              </a:rPr>
              <a:t>1  AI may advise  </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NL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wetten.overheid.nl</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SE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riksdagen.se</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DK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retsinformation.dk</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FI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finlex.fi</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PL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sejm.gov.pl</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BE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ejustice.just.fgov.be</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CH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fedlex.admin.ch</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DE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gesetze-im-internet.de</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bundesgerichtshof.de</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IT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normattiva.it</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AT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ris.bka.gv.at</a:t>
            </a:r>
            <a:pPr indent="0" marL="0">
              <a:spcAft>
                <a:spcPts val="100"/>
              </a:spcAft>
              <a:buNone/>
            </a:pPr>
            <a:endParaRPr lang="en-US" sz="800" dirty="0"/>
          </a:p>
          <a:p>
            <a:pPr indent="0" marL="0">
              <a:spcAft>
                <a:spcPts val="100"/>
              </a:spcAft>
              <a:buNone/>
            </a:pPr>
            <a:r>
              <a:rPr lang="en-US" sz="800" b="1" dirty="0">
                <a:solidFill>
                  <a:srgbClr val="171717"/>
                </a:solidFill>
                <a:latin typeface="Poppins" pitchFamily="34" charset="0"/>
                <a:ea typeface="Poppins" pitchFamily="34" charset="-122"/>
                <a:cs typeface="Poppins" pitchFamily="34" charset="-120"/>
              </a:rPr>
              <a:t>2  Market size  </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Eurostat sbs_sc_ovw 2024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ec.europa.eu/eurostat</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CH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bfs.admin.ch</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a:t>
            </a:r>
            <a:pPr indent="0" marL="0">
              <a:spcAft>
                <a:spcPts val="100"/>
              </a:spcAft>
              <a:buNone/>
            </a:pPr>
            <a:r>
              <a:rPr lang="en-US" sz="800" b="1" dirty="0">
                <a:solidFill>
                  <a:srgbClr val="171717"/>
                </a:solidFill>
                <a:latin typeface="Poppins" pitchFamily="34" charset="0"/>
                <a:ea typeface="Poppins" pitchFamily="34" charset="-122"/>
                <a:cs typeface="Poppins" pitchFamily="34" charset="-120"/>
              </a:rPr>
              <a:t>3  Savings potential  </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Eurostat sbs_ovw_act, tps00001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ec.europa.eu/eurostat</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BE, IT, PL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e-justice.europa.eu</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(2007)</a:t>
            </a:r>
            <a:pPr indent="0" marL="0">
              <a:spcAft>
                <a:spcPts val="100"/>
              </a:spcAft>
              <a:buNone/>
            </a:pPr>
            <a:endParaRPr lang="en-US" sz="800" dirty="0"/>
          </a:p>
          <a:p>
            <a:pPr indent="0" marL="0">
              <a:spcAft>
                <a:spcPts val="100"/>
              </a:spcAft>
              <a:buNone/>
            </a:pPr>
            <a:r>
              <a:rPr lang="en-US" sz="800" b="1" dirty="0">
                <a:solidFill>
                  <a:srgbClr val="171717"/>
                </a:solidFill>
                <a:latin typeface="Poppins" pitchFamily="34" charset="0"/>
                <a:ea typeface="Poppins" pitchFamily="34" charset="-122"/>
                <a:cs typeface="Poppins" pitchFamily="34" charset="-120"/>
              </a:rPr>
              <a:t>4  New regulation enforcement  </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NL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rdi.nl</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SE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riksdagen.se</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DK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8" invalidUrl="" action="" tgtFrame="" tooltip="" history="1" highlightClick="0" endSnd="0">
                  <a:extLst>
                    <a:ext uri="{A12FA001-AC4F-418D-AE19-62706E023703}">
                      <ahyp:hlinkClr xmlns:ahyp="http://schemas.microsoft.com/office/drawing/2018/hyperlinkcolor" val="tx"/>
                    </a:ext>
                  </a:extLst>
                </a:hlinkClick>
              </a:rPr>
              <a:t>retsinformation.dk</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FI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finlex.fi</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PL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20" invalidUrl="" action="" tgtFrame="" tooltip="" history="1" highlightClick="0" endSnd="0">
                  <a:extLst>
                    <a:ext uri="{A12FA001-AC4F-418D-AE19-62706E023703}">
                      <ahyp:hlinkClr xmlns:ahyp="http://schemas.microsoft.com/office/drawing/2018/hyperlinkcolor" val="tx"/>
                    </a:ext>
                  </a:extLst>
                </a:hlinkClick>
              </a:rPr>
              <a:t>sejm.gov.pl</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DE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bsi.bund.de</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IT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22" invalidUrl="" action="" tgtFrame="" tooltip="" history="1" highlightClick="0" endSnd="0">
                  <a:extLst>
                    <a:ext uri="{A12FA001-AC4F-418D-AE19-62706E023703}">
                      <ahyp:hlinkClr xmlns:ahyp="http://schemas.microsoft.com/office/drawing/2018/hyperlinkcolor" val="tx"/>
                    </a:ext>
                  </a:extLst>
                </a:hlinkClick>
              </a:rPr>
              <a:t>gazzettaufficiale.it</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AT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23" invalidUrl="" action="" tgtFrame="" tooltip="" history="1" highlightClick="0" endSnd="0">
                  <a:extLst>
                    <a:ext uri="{A12FA001-AC4F-418D-AE19-62706E023703}">
                      <ahyp:hlinkClr xmlns:ahyp="http://schemas.microsoft.com/office/drawing/2018/hyperlinkcolor" val="tx"/>
                    </a:ext>
                  </a:extLst>
                </a:hlinkClick>
              </a:rPr>
              <a:t>ris.bka.gv.at</a:t>
            </a:r>
            <a:pPr indent="0" marL="0">
              <a:spcAft>
                <a:spcPts val="100"/>
              </a:spcAft>
              <a:buNone/>
            </a:pPr>
            <a:r>
              <a:rPr lang="en-US" sz="800" dirty="0">
                <a:solidFill>
                  <a:srgbClr val="687075"/>
                </a:solidFill>
                <a:latin typeface="Poppins" pitchFamily="34" charset="0"/>
                <a:ea typeface="Poppins" pitchFamily="34" charset="-122"/>
                <a:cs typeface="Poppins" pitchFamily="34" charset="-120"/>
              </a:rPr>
              <a:t>  EU </a:t>
            </a:r>
            <a:pPr indent="0" marL="0">
              <a:spcAft>
                <a:spcPts val="100"/>
              </a:spcAft>
              <a:buNone/>
            </a:pPr>
            <a:r>
              <a:rPr lang="en-US" sz="800" u="sng" dirty="0">
                <a:solidFill>
                  <a:srgbClr val="687075"/>
                </a:solidFill>
                <a:latin typeface="Poppins" pitchFamily="34" charset="0"/>
                <a:ea typeface="Poppins" pitchFamily="34" charset="-122"/>
                <a:cs typeface="Poppins" pitchFamily="34" charset="-120"/>
                <a:hlinkClick r:id="rId24" invalidUrl="" action="" tgtFrame="" tooltip="" history="1" highlightClick="0" endSnd="0">
                  <a:extLst>
                    <a:ext uri="{A12FA001-AC4F-418D-AE19-62706E023703}">
                      <ahyp:hlinkClr xmlns:ahyp="http://schemas.microsoft.com/office/drawing/2018/hyperlinkcolor" val="tx"/>
                    </a:ext>
                  </a:extLst>
                </a:hlinkClick>
              </a:rPr>
              <a:t>digital-strategy.ec.europa.eu</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069848" y="1993392"/>
            <a:ext cx="9144000" cy="347472"/>
          </a:xfrm>
          <a:prstGeom prst="rect">
            <a:avLst/>
          </a:prstGeom>
          <a:noFill/>
          <a:ln/>
        </p:spPr>
        <p:txBody>
          <a:bodyPr wrap="square" lIns="0" tIns="0" rIns="0" bIns="0" rtlCol="0" anchor="t"/>
          <a:lstStyle/>
          <a:p>
            <a:pPr indent="0" marL="0">
              <a:buNone/>
            </a:pPr>
            <a:r>
              <a:rPr lang="en-US" sz="1700" b="1" spc="100" kern="0" dirty="0">
                <a:solidFill>
                  <a:srgbClr val="497078"/>
                </a:solidFill>
                <a:latin typeface="Poppins" pitchFamily="34" charset="0"/>
                <a:ea typeface="Poppins" pitchFamily="34" charset="-122"/>
                <a:cs typeface="Poppins" pitchFamily="34" charset="-120"/>
              </a:rPr>
              <a:t>MARKET ENTRY</a:t>
            </a:r>
            <a:endParaRPr lang="en-US" sz="1700" dirty="0"/>
          </a:p>
        </p:txBody>
      </p:sp>
      <p:sp>
        <p:nvSpPr>
          <p:cNvPr id="3" name="Text 1"/>
          <p:cNvSpPr txBox="1"/>
          <p:nvPr/>
        </p:nvSpPr>
        <p:spPr>
          <a:xfrm>
            <a:off x="1042416" y="2496312"/>
            <a:ext cx="16203168" cy="868680"/>
          </a:xfrm>
          <a:prstGeom prst="rect">
            <a:avLst/>
          </a:prstGeom>
          <a:noFill/>
          <a:ln/>
        </p:spPr>
        <p:txBody>
          <a:bodyPr wrap="square" lIns="0" tIns="0" rIns="0" bIns="0" rtlCol="0" anchor="t"/>
          <a:lstStyle/>
          <a:p>
            <a:pPr indent="0" marL="0">
              <a:buNone/>
            </a:pPr>
            <a:r>
              <a:rPr lang="en-US" sz="5300" b="1" spc="-100" kern="0" dirty="0">
                <a:solidFill>
                  <a:srgbClr val="171717"/>
                </a:solidFill>
                <a:latin typeface="Poppins" pitchFamily="34" charset="0"/>
                <a:ea typeface="Poppins" pitchFamily="34" charset="-122"/>
                <a:cs typeface="Poppins" pitchFamily="34" charset="-120"/>
              </a:rPr>
              <a:t>GERMANY IS THE GOAL. </a:t>
            </a:r>
            <a:pPr indent="0" marL="0">
              <a:buNone/>
            </a:pPr>
            <a:r>
              <a:rPr lang="en-US" sz="5300" b="1" spc="-100" kern="0" dirty="0">
                <a:solidFill>
                  <a:srgbClr val="497078"/>
                </a:solidFill>
                <a:latin typeface="Poppins" pitchFamily="34" charset="0"/>
                <a:ea typeface="Poppins" pitchFamily="34" charset="-122"/>
                <a:cs typeface="Poppins" pitchFamily="34" charset="-120"/>
              </a:rPr>
              <a:t>WHY NOT START THERE?</a:t>
            </a:r>
            <a:endParaRPr lang="en-US" sz="5300" dirty="0"/>
          </a:p>
        </p:txBody>
      </p:sp>
      <p:sp>
        <p:nvSpPr>
          <p:cNvPr id="4" name="Text 2"/>
          <p:cNvSpPr txBox="1"/>
          <p:nvPr/>
        </p:nvSpPr>
        <p:spPr>
          <a:xfrm>
            <a:off x="1069848" y="3557016"/>
            <a:ext cx="16203168" cy="420624"/>
          </a:xfrm>
          <a:prstGeom prst="rect">
            <a:avLst/>
          </a:prstGeom>
          <a:noFill/>
          <a:ln/>
        </p:spPr>
        <p:txBody>
          <a:bodyPr wrap="square" lIns="0" tIns="0" rIns="0" bIns="0" rtlCol="0" anchor="t"/>
          <a:lstStyle/>
          <a:p>
            <a:pPr indent="0" marL="0">
              <a:buNone/>
            </a:pPr>
            <a:r>
              <a:rPr lang="en-US" sz="1950" dirty="0">
                <a:solidFill>
                  <a:srgbClr val="687075"/>
                </a:solidFill>
                <a:latin typeface="Poppins" pitchFamily="34" charset="0"/>
                <a:ea typeface="Poppins" pitchFamily="34" charset="-122"/>
                <a:cs typeface="Poppins" pitchFamily="34" charset="-120"/>
              </a:rPr>
              <a:t>In Germany an AI adviser may not advise. Start there, and we build a product we can never test.</a:t>
            </a:r>
            <a:endParaRPr lang="en-US" sz="1950" dirty="0"/>
          </a:p>
        </p:txBody>
      </p:sp>
      <p:sp>
        <p:nvSpPr>
          <p:cNvPr id="5" name="Shape 3"/>
          <p:cNvSpPr/>
          <p:nvPr/>
        </p:nvSpPr>
        <p:spPr>
          <a:xfrm>
            <a:off x="1069848" y="4050792"/>
            <a:ext cx="16203168" cy="0"/>
          </a:xfrm>
          <a:prstGeom prst="line">
            <a:avLst/>
          </a:prstGeom>
          <a:noFill/>
          <a:ln w="9525">
            <a:solidFill>
              <a:srgbClr val="DADBD6"/>
            </a:solidFill>
            <a:prstDash val="solid"/>
          </a:ln>
        </p:spPr>
      </p:sp>
      <p:sp>
        <p:nvSpPr>
          <p:cNvPr id="7" name="Text 4"/>
          <p:cNvSpPr txBox="1"/>
          <p:nvPr/>
        </p:nvSpPr>
        <p:spPr>
          <a:xfrm>
            <a:off x="4407408" y="4315968"/>
            <a:ext cx="3033522" cy="256032"/>
          </a:xfrm>
          <a:prstGeom prst="rect">
            <a:avLst/>
          </a:prstGeom>
          <a:noFill/>
          <a:ln/>
        </p:spPr>
        <p:txBody>
          <a:bodyPr wrap="square" lIns="0" tIns="0" rIns="0" bIns="0" rtlCol="0" anchor="t"/>
          <a:lstStyle/>
          <a:p>
            <a:pPr indent="0" marL="0">
              <a:buNone/>
            </a:pPr>
            <a:r>
              <a:rPr lang="en-US" sz="1050" spc="150" kern="0" dirty="0">
                <a:solidFill>
                  <a:srgbClr val="687075"/>
                </a:solidFill>
                <a:latin typeface="Poppins" pitchFamily="34" charset="0"/>
                <a:ea typeface="Poppins" pitchFamily="34" charset="-122"/>
                <a:cs typeface="Poppins" pitchFamily="34" charset="-120"/>
              </a:rPr>
              <a:t>BUILD</a:t>
            </a:r>
            <a:endParaRPr lang="en-US" sz="1050" dirty="0"/>
          </a:p>
        </p:txBody>
      </p:sp>
      <p:sp>
        <p:nvSpPr>
          <p:cNvPr id="8" name="Text 5"/>
          <p:cNvSpPr txBox="1"/>
          <p:nvPr/>
        </p:nvSpPr>
        <p:spPr>
          <a:xfrm>
            <a:off x="7623810" y="4315968"/>
            <a:ext cx="3033522" cy="256032"/>
          </a:xfrm>
          <a:prstGeom prst="rect">
            <a:avLst/>
          </a:prstGeom>
          <a:noFill/>
          <a:ln/>
        </p:spPr>
        <p:txBody>
          <a:bodyPr wrap="square" lIns="0" tIns="0" rIns="0" bIns="0" rtlCol="0" anchor="t"/>
          <a:lstStyle/>
          <a:p>
            <a:pPr indent="0" marL="0">
              <a:buNone/>
            </a:pPr>
            <a:r>
              <a:rPr lang="en-US" sz="1050" spc="150" kern="0" dirty="0">
                <a:solidFill>
                  <a:srgbClr val="687075"/>
                </a:solidFill>
                <a:latin typeface="Poppins" pitchFamily="34" charset="0"/>
                <a:ea typeface="Poppins" pitchFamily="34" charset="-122"/>
                <a:cs typeface="Poppins" pitchFamily="34" charset="-120"/>
              </a:rPr>
              <a:t>LEARN</a:t>
            </a:r>
            <a:endParaRPr lang="en-US" sz="1050" dirty="0"/>
          </a:p>
        </p:txBody>
      </p:sp>
      <p:sp>
        <p:nvSpPr>
          <p:cNvPr id="9" name="Text 6"/>
          <p:cNvSpPr txBox="1"/>
          <p:nvPr/>
        </p:nvSpPr>
        <p:spPr>
          <a:xfrm>
            <a:off x="10840212" y="4315968"/>
            <a:ext cx="3033522" cy="256032"/>
          </a:xfrm>
          <a:prstGeom prst="rect">
            <a:avLst/>
          </a:prstGeom>
          <a:noFill/>
          <a:ln/>
        </p:spPr>
        <p:txBody>
          <a:bodyPr wrap="square" lIns="0" tIns="0" rIns="0" bIns="0" rtlCol="0" anchor="t"/>
          <a:lstStyle/>
          <a:p>
            <a:pPr indent="0" marL="0">
              <a:buNone/>
            </a:pPr>
            <a:r>
              <a:rPr lang="en-US" sz="1050" spc="150" kern="0" dirty="0">
                <a:solidFill>
                  <a:srgbClr val="687075"/>
                </a:solidFill>
                <a:latin typeface="Poppins" pitchFamily="34" charset="0"/>
                <a:ea typeface="Poppins" pitchFamily="34" charset="-122"/>
                <a:cs typeface="Poppins" pitchFamily="34" charset="-120"/>
              </a:rPr>
              <a:t>EXPAND</a:t>
            </a:r>
            <a:endParaRPr lang="en-US" sz="1050" dirty="0"/>
          </a:p>
        </p:txBody>
      </p:sp>
      <p:sp>
        <p:nvSpPr>
          <p:cNvPr id="10" name="Text 7"/>
          <p:cNvSpPr txBox="1"/>
          <p:nvPr/>
        </p:nvSpPr>
        <p:spPr>
          <a:xfrm>
            <a:off x="14056614" y="4315968"/>
            <a:ext cx="3033522" cy="256032"/>
          </a:xfrm>
          <a:prstGeom prst="rect">
            <a:avLst/>
          </a:prstGeom>
          <a:noFill/>
          <a:ln/>
        </p:spPr>
        <p:txBody>
          <a:bodyPr wrap="square" lIns="0" tIns="0" rIns="0" bIns="0" rtlCol="0" anchor="t"/>
          <a:lstStyle/>
          <a:p>
            <a:pPr indent="0" marL="0">
              <a:buNone/>
            </a:pPr>
            <a:r>
              <a:rPr lang="en-US" sz="1050" spc="150" kern="0" dirty="0">
                <a:solidFill>
                  <a:srgbClr val="687075"/>
                </a:solidFill>
                <a:latin typeface="Poppins" pitchFamily="34" charset="0"/>
                <a:ea typeface="Poppins" pitchFamily="34" charset="-122"/>
                <a:cs typeface="Poppins" pitchFamily="34" charset="-120"/>
              </a:rPr>
              <a:t>ARRIVE</a:t>
            </a:r>
            <a:endParaRPr lang="en-US" sz="1050" dirty="0"/>
          </a:p>
        </p:txBody>
      </p:sp>
      <p:sp>
        <p:nvSpPr>
          <p:cNvPr id="11" name="Shape 8"/>
          <p:cNvSpPr/>
          <p:nvPr/>
        </p:nvSpPr>
        <p:spPr>
          <a:xfrm>
            <a:off x="1069848" y="4663440"/>
            <a:ext cx="16203168" cy="1920240"/>
          </a:xfrm>
          <a:prstGeom prst="roundRect">
            <a:avLst>
              <a:gd name="adj" fmla="val 9524"/>
            </a:avLst>
          </a:prstGeom>
          <a:solidFill>
            <a:srgbClr val="E9E9E6"/>
          </a:solidFill>
          <a:ln w="9525">
            <a:solidFill>
              <a:srgbClr val="E9E9E6"/>
            </a:solidFill>
            <a:prstDash val="solid"/>
          </a:ln>
        </p:spPr>
      </p:sp>
      <p:sp>
        <p:nvSpPr>
          <p:cNvPr id="12" name="Text 9"/>
          <p:cNvSpPr txBox="1"/>
          <p:nvPr/>
        </p:nvSpPr>
        <p:spPr>
          <a:xfrm>
            <a:off x="1389888" y="5074920"/>
            <a:ext cx="2697480" cy="274320"/>
          </a:xfrm>
          <a:prstGeom prst="rect">
            <a:avLst/>
          </a:prstGeom>
          <a:noFill/>
          <a:ln/>
        </p:spPr>
        <p:txBody>
          <a:bodyPr wrap="square" lIns="0" tIns="0" rIns="0" bIns="0" rtlCol="0" anchor="t"/>
          <a:lstStyle/>
          <a:p>
            <a:pPr indent="0" marL="0">
              <a:buNone/>
            </a:pPr>
            <a:r>
              <a:rPr lang="en-US" sz="1050" spc="150" kern="0" dirty="0">
                <a:solidFill>
                  <a:srgbClr val="A95E53"/>
                </a:solidFill>
                <a:latin typeface="Poppins" pitchFamily="34" charset="0"/>
                <a:ea typeface="Poppins" pitchFamily="34" charset="-122"/>
                <a:cs typeface="Poppins" pitchFamily="34" charset="-120"/>
              </a:rPr>
              <a:t>IF WE STARTED IN GERMANY</a:t>
            </a:r>
            <a:endParaRPr lang="en-US" sz="1050" dirty="0"/>
          </a:p>
        </p:txBody>
      </p:sp>
      <p:sp>
        <p:nvSpPr>
          <p:cNvPr id="13" name="Text 10"/>
          <p:cNvSpPr txBox="1"/>
          <p:nvPr/>
        </p:nvSpPr>
        <p:spPr>
          <a:xfrm>
            <a:off x="1389888" y="5376672"/>
            <a:ext cx="2697480" cy="731520"/>
          </a:xfrm>
          <a:prstGeom prst="rect">
            <a:avLst/>
          </a:prstGeom>
          <a:noFill/>
          <a:ln/>
        </p:spPr>
        <p:txBody>
          <a:bodyPr wrap="square" lIns="0" tIns="0" rIns="0" bIns="0" rtlCol="0" anchor="t"/>
          <a:lstStyle/>
          <a:p>
            <a:pPr indent="0" marL="0">
              <a:buNone/>
            </a:pPr>
            <a:r>
              <a:rPr lang="en-US" sz="1900" b="1" strike="sngStrike" dirty="0">
                <a:solidFill>
                  <a:srgbClr val="687075"/>
                </a:solidFill>
                <a:latin typeface="Poppins" pitchFamily="34" charset="0"/>
                <a:ea typeface="Poppins" pitchFamily="34" charset="-122"/>
                <a:cs typeface="Poppins" pitchFamily="34" charset="-120"/>
              </a:rPr>
              <a:t>GERMANY FIRST</a:t>
            </a:r>
            <a:endParaRPr lang="en-US" sz="1900" dirty="0"/>
          </a:p>
        </p:txBody>
      </p:sp>
      <p:sp>
        <p:nvSpPr>
          <p:cNvPr id="14" name="Shape 11"/>
          <p:cNvSpPr/>
          <p:nvPr/>
        </p:nvSpPr>
        <p:spPr>
          <a:xfrm>
            <a:off x="4315968" y="4937760"/>
            <a:ext cx="3033522" cy="1371600"/>
          </a:xfrm>
          <a:prstGeom prst="roundRect">
            <a:avLst>
              <a:gd name="adj" fmla="val 9333"/>
            </a:avLst>
          </a:prstGeom>
          <a:solidFill>
            <a:srgbClr val="DEDEDA"/>
          </a:solidFill>
          <a:ln w="9525">
            <a:solidFill>
              <a:srgbClr val="DEDEDA"/>
            </a:solidFill>
            <a:prstDash val="solid"/>
          </a:ln>
        </p:spPr>
      </p:sp>
      <p:sp>
        <p:nvSpPr>
          <p:cNvPr id="15" name="Text 12"/>
          <p:cNvSpPr txBox="1"/>
          <p:nvPr/>
        </p:nvSpPr>
        <p:spPr>
          <a:xfrm>
            <a:off x="4590288" y="493776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5A5D5A"/>
                </a:solidFill>
                <a:latin typeface="Poppins" pitchFamily="34" charset="0"/>
                <a:ea typeface="Poppins" pitchFamily="34" charset="-122"/>
                <a:cs typeface="Poppins" pitchFamily="34" charset="-120"/>
              </a:rPr>
              <a:t>GATED ADVISER</a:t>
            </a:r>
            <a:endParaRPr lang="en-US" sz="1450" dirty="0"/>
          </a:p>
          <a:p>
            <a:pPr indent="0" marL="0">
              <a:spcAft>
                <a:spcPts val="200"/>
              </a:spcAft>
              <a:buNone/>
            </a:pPr>
            <a:r>
              <a:rPr lang="en-US" sz="1300" dirty="0">
                <a:solidFill>
                  <a:srgbClr val="5A5D5A"/>
                </a:solidFill>
                <a:latin typeface="Poppins" pitchFamily="34" charset="0"/>
                <a:ea typeface="Poppins" pitchFamily="34" charset="-122"/>
                <a:cs typeface="Poppins" pitchFamily="34" charset="-120"/>
              </a:rPr>
              <a:t>A lawyer signs every answer.</a:t>
            </a:r>
            <a:endParaRPr lang="en-US" sz="1450" dirty="0"/>
          </a:p>
        </p:txBody>
      </p:sp>
      <p:sp>
        <p:nvSpPr>
          <p:cNvPr id="16" name="Shape 13"/>
          <p:cNvSpPr/>
          <p:nvPr/>
        </p:nvSpPr>
        <p:spPr>
          <a:xfrm>
            <a:off x="7532370" y="4937760"/>
            <a:ext cx="3033522" cy="1371600"/>
          </a:xfrm>
          <a:prstGeom prst="roundRect">
            <a:avLst>
              <a:gd name="adj" fmla="val 9333"/>
            </a:avLst>
          </a:prstGeom>
          <a:solidFill>
            <a:srgbClr val="DEDEDA"/>
          </a:solidFill>
          <a:ln w="9525">
            <a:solidFill>
              <a:srgbClr val="DEDEDA"/>
            </a:solidFill>
            <a:prstDash val="solid"/>
          </a:ln>
        </p:spPr>
      </p:sp>
      <p:sp>
        <p:nvSpPr>
          <p:cNvPr id="17" name="Text 14"/>
          <p:cNvSpPr txBox="1"/>
          <p:nvPr/>
        </p:nvSpPr>
        <p:spPr>
          <a:xfrm>
            <a:off x="7806690" y="493776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5A5D5A"/>
                </a:solidFill>
                <a:latin typeface="Poppins" pitchFamily="34" charset="0"/>
                <a:ea typeface="Poppins" pitchFamily="34" charset="-122"/>
                <a:cs typeface="Poppins" pitchFamily="34" charset="-120"/>
              </a:rPr>
              <a:t>NO PROOF</a:t>
            </a:r>
            <a:endParaRPr lang="en-US" sz="1450" dirty="0"/>
          </a:p>
          <a:p>
            <a:pPr indent="0" marL="0">
              <a:spcAft>
                <a:spcPts val="200"/>
              </a:spcAft>
              <a:buNone/>
            </a:pPr>
            <a:r>
              <a:rPr lang="en-US" sz="1300" dirty="0">
                <a:solidFill>
                  <a:srgbClr val="5A5D5A"/>
                </a:solidFill>
                <a:latin typeface="Poppins" pitchFamily="34" charset="0"/>
                <a:ea typeface="Poppins" pitchFamily="34" charset="-122"/>
                <a:cs typeface="Poppins" pitchFamily="34" charset="-120"/>
              </a:rPr>
              <a:t>We never learn if the adviser sells.</a:t>
            </a:r>
            <a:endParaRPr lang="en-US" sz="1450" dirty="0"/>
          </a:p>
        </p:txBody>
      </p:sp>
      <p:sp>
        <p:nvSpPr>
          <p:cNvPr id="18" name="Text 15"/>
          <p:cNvSpPr txBox="1"/>
          <p:nvPr/>
        </p:nvSpPr>
        <p:spPr>
          <a:xfrm>
            <a:off x="7303770" y="4937760"/>
            <a:ext cx="274320" cy="1371600"/>
          </a:xfrm>
          <a:prstGeom prst="rect">
            <a:avLst/>
          </a:prstGeom>
          <a:noFill/>
          <a:ln/>
        </p:spPr>
        <p:txBody>
          <a:bodyPr wrap="square" lIns="0" tIns="0" rIns="0" bIns="0" rtlCol="0" anchor="ctr"/>
          <a:lstStyle/>
          <a:p>
            <a:pPr algn="ctr" indent="0" marL="0">
              <a:buNone/>
            </a:pPr>
            <a:r>
              <a:rPr lang="en-US" sz="1400" dirty="0">
                <a:solidFill>
                  <a:srgbClr val="687075"/>
                </a:solidFill>
                <a:latin typeface="Poppins" pitchFamily="34" charset="0"/>
                <a:ea typeface="Poppins" pitchFamily="34" charset="-122"/>
                <a:cs typeface="Poppins" pitchFamily="34" charset="-120"/>
              </a:rPr>
              <a:t>→</a:t>
            </a:r>
            <a:endParaRPr lang="en-US" sz="1400" dirty="0"/>
          </a:p>
        </p:txBody>
      </p:sp>
      <p:sp>
        <p:nvSpPr>
          <p:cNvPr id="19" name="Shape 16"/>
          <p:cNvSpPr/>
          <p:nvPr/>
        </p:nvSpPr>
        <p:spPr>
          <a:xfrm>
            <a:off x="10748772" y="4937760"/>
            <a:ext cx="3033522" cy="1371600"/>
          </a:xfrm>
          <a:prstGeom prst="roundRect">
            <a:avLst>
              <a:gd name="adj" fmla="val 9333"/>
            </a:avLst>
          </a:prstGeom>
          <a:solidFill>
            <a:srgbClr val="DEDEDA"/>
          </a:solidFill>
          <a:ln w="9525">
            <a:solidFill>
              <a:srgbClr val="DEDEDA"/>
            </a:solidFill>
            <a:prstDash val="solid"/>
          </a:ln>
        </p:spPr>
      </p:sp>
      <p:sp>
        <p:nvSpPr>
          <p:cNvPr id="20" name="Text 17"/>
          <p:cNvSpPr txBox="1"/>
          <p:nvPr/>
        </p:nvSpPr>
        <p:spPr>
          <a:xfrm>
            <a:off x="11023092" y="493776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5A5D5A"/>
                </a:solidFill>
                <a:latin typeface="Poppins" pitchFamily="34" charset="0"/>
                <a:ea typeface="Poppins" pitchFamily="34" charset="-122"/>
                <a:cs typeface="Poppins" pitchFamily="34" charset="-120"/>
              </a:rPr>
              <a:t>STUCK</a:t>
            </a:r>
            <a:endParaRPr lang="en-US" sz="1450" dirty="0"/>
          </a:p>
          <a:p>
            <a:pPr indent="0" marL="0">
              <a:spcAft>
                <a:spcPts val="200"/>
              </a:spcAft>
              <a:buNone/>
            </a:pPr>
            <a:r>
              <a:rPr lang="en-US" sz="1300" dirty="0">
                <a:solidFill>
                  <a:srgbClr val="5A5D5A"/>
                </a:solidFill>
                <a:latin typeface="Poppins" pitchFamily="34" charset="0"/>
                <a:ea typeface="Poppins" pitchFamily="34" charset="-122"/>
                <a:cs typeface="Poppins" pitchFamily="34" charset="-120"/>
              </a:rPr>
              <a:t>Built for the strictest market. Travels badly.</a:t>
            </a:r>
            <a:endParaRPr lang="en-US" sz="1450" dirty="0"/>
          </a:p>
        </p:txBody>
      </p:sp>
      <p:sp>
        <p:nvSpPr>
          <p:cNvPr id="21" name="Text 18"/>
          <p:cNvSpPr txBox="1"/>
          <p:nvPr/>
        </p:nvSpPr>
        <p:spPr>
          <a:xfrm>
            <a:off x="10520172" y="4937760"/>
            <a:ext cx="274320" cy="1371600"/>
          </a:xfrm>
          <a:prstGeom prst="rect">
            <a:avLst/>
          </a:prstGeom>
          <a:noFill/>
          <a:ln/>
        </p:spPr>
        <p:txBody>
          <a:bodyPr wrap="square" lIns="0" tIns="0" rIns="0" bIns="0" rtlCol="0" anchor="ctr"/>
          <a:lstStyle/>
          <a:p>
            <a:pPr algn="ctr" indent="0" marL="0">
              <a:buNone/>
            </a:pPr>
            <a:r>
              <a:rPr lang="en-US" sz="1400" dirty="0">
                <a:solidFill>
                  <a:srgbClr val="687075"/>
                </a:solidFill>
                <a:latin typeface="Poppins" pitchFamily="34" charset="0"/>
                <a:ea typeface="Poppins" pitchFamily="34" charset="-122"/>
                <a:cs typeface="Poppins" pitchFamily="34" charset="-120"/>
              </a:rPr>
              <a:t>→</a:t>
            </a:r>
            <a:endParaRPr lang="en-US" sz="1400" dirty="0"/>
          </a:p>
        </p:txBody>
      </p:sp>
      <p:sp>
        <p:nvSpPr>
          <p:cNvPr id="22" name="Shape 19"/>
          <p:cNvSpPr/>
          <p:nvPr/>
        </p:nvSpPr>
        <p:spPr>
          <a:xfrm>
            <a:off x="13965174" y="4937760"/>
            <a:ext cx="3033522" cy="1371600"/>
          </a:xfrm>
          <a:prstGeom prst="roundRect">
            <a:avLst>
              <a:gd name="adj" fmla="val 9333"/>
            </a:avLst>
          </a:prstGeom>
          <a:solidFill>
            <a:srgbClr val="CFCFCB"/>
          </a:solidFill>
          <a:ln w="9525">
            <a:solidFill>
              <a:srgbClr val="CFCFCB"/>
            </a:solidFill>
            <a:prstDash val="solid"/>
          </a:ln>
        </p:spPr>
      </p:sp>
      <p:sp>
        <p:nvSpPr>
          <p:cNvPr id="23" name="Text 20"/>
          <p:cNvSpPr txBox="1"/>
          <p:nvPr/>
        </p:nvSpPr>
        <p:spPr>
          <a:xfrm>
            <a:off x="14239494" y="493776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3A3A38"/>
                </a:solidFill>
                <a:latin typeface="Poppins" pitchFamily="34" charset="0"/>
                <a:ea typeface="Poppins" pitchFamily="34" charset="-122"/>
                <a:cs typeface="Poppins" pitchFamily="34" charset="-120"/>
              </a:rPr>
              <a:t>COLD START</a:t>
            </a:r>
            <a:endParaRPr lang="en-US" sz="1450" dirty="0"/>
          </a:p>
          <a:p>
            <a:pPr indent="0" marL="0">
              <a:spcAft>
                <a:spcPts val="200"/>
              </a:spcAft>
              <a:buNone/>
            </a:pPr>
            <a:r>
              <a:rPr lang="en-US" sz="1300" dirty="0">
                <a:solidFill>
                  <a:srgbClr val="3A3A38"/>
                </a:solidFill>
                <a:latin typeface="Poppins" pitchFamily="34" charset="0"/>
                <a:ea typeface="Poppins" pitchFamily="34" charset="-122"/>
                <a:cs typeface="Poppins" pitchFamily="34" charset="-120"/>
              </a:rPr>
              <a:t>No customers, no firm, no references.</a:t>
            </a:r>
            <a:endParaRPr lang="en-US" sz="1450" dirty="0"/>
          </a:p>
        </p:txBody>
      </p:sp>
      <p:sp>
        <p:nvSpPr>
          <p:cNvPr id="24" name="Text 21"/>
          <p:cNvSpPr txBox="1"/>
          <p:nvPr/>
        </p:nvSpPr>
        <p:spPr>
          <a:xfrm>
            <a:off x="13736574" y="4937760"/>
            <a:ext cx="274320" cy="1371600"/>
          </a:xfrm>
          <a:prstGeom prst="rect">
            <a:avLst/>
          </a:prstGeom>
          <a:noFill/>
          <a:ln/>
        </p:spPr>
        <p:txBody>
          <a:bodyPr wrap="square" lIns="0" tIns="0" rIns="0" bIns="0" rtlCol="0" anchor="ctr"/>
          <a:lstStyle/>
          <a:p>
            <a:pPr algn="ctr" indent="0" marL="0">
              <a:buNone/>
            </a:pPr>
            <a:r>
              <a:rPr lang="en-US" sz="1400" dirty="0">
                <a:solidFill>
                  <a:srgbClr val="687075"/>
                </a:solidFill>
                <a:latin typeface="Poppins" pitchFamily="34" charset="0"/>
                <a:ea typeface="Poppins" pitchFamily="34" charset="-122"/>
                <a:cs typeface="Poppins" pitchFamily="34" charset="-120"/>
              </a:rPr>
              <a:t>→</a:t>
            </a:r>
            <a:endParaRPr lang="en-US" sz="1400" dirty="0"/>
          </a:p>
        </p:txBody>
      </p:sp>
      <p:sp>
        <p:nvSpPr>
          <p:cNvPr id="25" name="Shape 22"/>
          <p:cNvSpPr/>
          <p:nvPr/>
        </p:nvSpPr>
        <p:spPr>
          <a:xfrm>
            <a:off x="1069848" y="6766560"/>
            <a:ext cx="16203168" cy="1920240"/>
          </a:xfrm>
          <a:prstGeom prst="roundRect">
            <a:avLst>
              <a:gd name="adj" fmla="val 9524"/>
            </a:avLst>
          </a:prstGeom>
          <a:solidFill>
            <a:srgbClr val="FFFFFF"/>
          </a:solidFill>
          <a:ln w="9525">
            <a:solidFill>
              <a:srgbClr val="DADBD6"/>
            </a:solidFill>
            <a:prstDash val="solid"/>
          </a:ln>
        </p:spPr>
      </p:sp>
      <p:sp>
        <p:nvSpPr>
          <p:cNvPr id="26" name="Text 23"/>
          <p:cNvSpPr txBox="1"/>
          <p:nvPr/>
        </p:nvSpPr>
        <p:spPr>
          <a:xfrm>
            <a:off x="1389888" y="7178040"/>
            <a:ext cx="2697480" cy="274320"/>
          </a:xfrm>
          <a:prstGeom prst="rect">
            <a:avLst/>
          </a:prstGeom>
          <a:noFill/>
          <a:ln/>
        </p:spPr>
        <p:txBody>
          <a:bodyPr wrap="square" lIns="0" tIns="0" rIns="0" bIns="0" rtlCol="0" anchor="t"/>
          <a:lstStyle/>
          <a:p>
            <a:pPr indent="0" marL="0">
              <a:buNone/>
            </a:pPr>
            <a:r>
              <a:rPr lang="en-US" sz="1050" spc="150" kern="0" dirty="0">
                <a:solidFill>
                  <a:srgbClr val="497078"/>
                </a:solidFill>
                <a:latin typeface="Poppins" pitchFamily="34" charset="0"/>
                <a:ea typeface="Poppins" pitchFamily="34" charset="-122"/>
                <a:cs typeface="Poppins" pitchFamily="34" charset="-120"/>
              </a:rPr>
              <a:t>WHAT WE DO INSTEAD</a:t>
            </a:r>
            <a:endParaRPr lang="en-US" sz="1050" dirty="0"/>
          </a:p>
        </p:txBody>
      </p:sp>
      <p:sp>
        <p:nvSpPr>
          <p:cNvPr id="27" name="Text 24"/>
          <p:cNvSpPr txBox="1"/>
          <p:nvPr/>
        </p:nvSpPr>
        <p:spPr>
          <a:xfrm>
            <a:off x="1389888" y="7479792"/>
            <a:ext cx="2697480" cy="731520"/>
          </a:xfrm>
          <a:prstGeom prst="rect">
            <a:avLst/>
          </a:prstGeom>
          <a:noFill/>
          <a:ln/>
        </p:spPr>
        <p:txBody>
          <a:bodyPr wrap="square" lIns="0" tIns="0" rIns="0" bIns="0" rtlCol="0" anchor="t"/>
          <a:lstStyle/>
          <a:p>
            <a:pPr indent="0" marL="0">
              <a:buNone/>
            </a:pPr>
            <a:r>
              <a:rPr lang="en-US" sz="1900" b="1" dirty="0">
                <a:solidFill>
                  <a:srgbClr val="171717"/>
                </a:solidFill>
                <a:latin typeface="Poppins" pitchFamily="34" charset="0"/>
                <a:ea typeface="Poppins" pitchFamily="34" charset="-122"/>
                <a:cs typeface="Poppins" pitchFamily="34" charset="-120"/>
              </a:rPr>
              <a:t>OPEN FIRST</a:t>
            </a:r>
            <a:endParaRPr lang="en-US" sz="1900" dirty="0"/>
          </a:p>
        </p:txBody>
      </p:sp>
      <p:sp>
        <p:nvSpPr>
          <p:cNvPr id="28" name="Shape 25"/>
          <p:cNvSpPr/>
          <p:nvPr/>
        </p:nvSpPr>
        <p:spPr>
          <a:xfrm>
            <a:off x="4315968" y="7040880"/>
            <a:ext cx="3033522" cy="1371600"/>
          </a:xfrm>
          <a:prstGeom prst="roundRect">
            <a:avLst>
              <a:gd name="adj" fmla="val 9333"/>
            </a:avLst>
          </a:prstGeom>
          <a:solidFill>
            <a:srgbClr val="171717"/>
          </a:solidFill>
          <a:ln w="9525">
            <a:solidFill>
              <a:srgbClr val="171717"/>
            </a:solidFill>
            <a:prstDash val="solid"/>
          </a:ln>
        </p:spPr>
      </p:sp>
      <p:sp>
        <p:nvSpPr>
          <p:cNvPr id="29" name="Text 26"/>
          <p:cNvSpPr txBox="1"/>
          <p:nvPr/>
        </p:nvSpPr>
        <p:spPr>
          <a:xfrm>
            <a:off x="4590288" y="704088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FFFFFF"/>
                </a:solidFill>
                <a:latin typeface="Poppins" pitchFamily="34" charset="0"/>
                <a:ea typeface="Poppins" pitchFamily="34" charset="-122"/>
                <a:cs typeface="Poppins" pitchFamily="34" charset="-120"/>
              </a:rPr>
              <a:t>FULL ADVISER</a:t>
            </a:r>
            <a:endParaRPr lang="en-US" sz="1450" dirty="0"/>
          </a:p>
          <a:p>
            <a:pPr indent="0" marL="0">
              <a:spcAft>
                <a:spcPts val="200"/>
              </a:spcAft>
              <a:buNone/>
            </a:pPr>
            <a:r>
              <a:rPr lang="en-US" sz="1300" dirty="0">
                <a:solidFill>
                  <a:srgbClr val="D7DEDC"/>
                </a:solidFill>
                <a:latin typeface="Poppins" pitchFamily="34" charset="0"/>
                <a:ea typeface="Poppins" pitchFamily="34" charset="-122"/>
                <a:cs typeface="Poppins" pitchFamily="34" charset="-120"/>
              </a:rPr>
              <a:t>Sold in the Netherlands, where it may speak.</a:t>
            </a:r>
            <a:endParaRPr lang="en-US" sz="1450" dirty="0"/>
          </a:p>
        </p:txBody>
      </p:sp>
      <p:sp>
        <p:nvSpPr>
          <p:cNvPr id="30" name="Shape 27"/>
          <p:cNvSpPr/>
          <p:nvPr/>
        </p:nvSpPr>
        <p:spPr>
          <a:xfrm>
            <a:off x="7532370" y="7040880"/>
            <a:ext cx="3033522" cy="1371600"/>
          </a:xfrm>
          <a:prstGeom prst="roundRect">
            <a:avLst>
              <a:gd name="adj" fmla="val 9333"/>
            </a:avLst>
          </a:prstGeom>
          <a:solidFill>
            <a:srgbClr val="171717"/>
          </a:solidFill>
          <a:ln w="9525">
            <a:solidFill>
              <a:srgbClr val="171717"/>
            </a:solidFill>
            <a:prstDash val="solid"/>
          </a:ln>
        </p:spPr>
      </p:sp>
      <p:sp>
        <p:nvSpPr>
          <p:cNvPr id="31" name="Text 28"/>
          <p:cNvSpPr txBox="1"/>
          <p:nvPr/>
        </p:nvSpPr>
        <p:spPr>
          <a:xfrm>
            <a:off x="7806690" y="704088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FFFFFF"/>
                </a:solidFill>
                <a:latin typeface="Poppins" pitchFamily="34" charset="0"/>
                <a:ea typeface="Poppins" pitchFamily="34" charset="-122"/>
                <a:cs typeface="Poppins" pitchFamily="34" charset="-120"/>
              </a:rPr>
              <a:t>PROOF</a:t>
            </a:r>
            <a:endParaRPr lang="en-US" sz="1450" dirty="0"/>
          </a:p>
          <a:p>
            <a:pPr indent="0" marL="0">
              <a:spcAft>
                <a:spcPts val="200"/>
              </a:spcAft>
              <a:buNone/>
            </a:pPr>
            <a:r>
              <a:rPr lang="en-US" sz="1300" dirty="0">
                <a:solidFill>
                  <a:srgbClr val="D7DEDC"/>
                </a:solidFill>
                <a:latin typeface="Poppins" pitchFamily="34" charset="0"/>
                <a:ea typeface="Poppins" pitchFamily="34" charset="-122"/>
                <a:cs typeface="Poppins" pitchFamily="34" charset="-120"/>
              </a:rPr>
              <a:t>Companies pay for the software itself.</a:t>
            </a:r>
            <a:endParaRPr lang="en-US" sz="1450" dirty="0"/>
          </a:p>
        </p:txBody>
      </p:sp>
      <p:sp>
        <p:nvSpPr>
          <p:cNvPr id="32" name="Text 29"/>
          <p:cNvSpPr txBox="1"/>
          <p:nvPr/>
        </p:nvSpPr>
        <p:spPr>
          <a:xfrm>
            <a:off x="7303770" y="7040880"/>
            <a:ext cx="274320" cy="1371600"/>
          </a:xfrm>
          <a:prstGeom prst="rect">
            <a:avLst/>
          </a:prstGeom>
          <a:noFill/>
          <a:ln/>
        </p:spPr>
        <p:txBody>
          <a:bodyPr wrap="square" lIns="0" tIns="0" rIns="0" bIns="0" rtlCol="0" anchor="ctr"/>
          <a:lstStyle/>
          <a:p>
            <a:pPr algn="ctr" indent="0" marL="0">
              <a:buNone/>
            </a:pPr>
            <a:r>
              <a:rPr lang="en-US" sz="1400" dirty="0">
                <a:solidFill>
                  <a:srgbClr val="687075"/>
                </a:solidFill>
                <a:latin typeface="Poppins" pitchFamily="34" charset="0"/>
                <a:ea typeface="Poppins" pitchFamily="34" charset="-122"/>
                <a:cs typeface="Poppins" pitchFamily="34" charset="-120"/>
              </a:rPr>
              <a:t>→</a:t>
            </a:r>
            <a:endParaRPr lang="en-US" sz="1400" dirty="0"/>
          </a:p>
        </p:txBody>
      </p:sp>
      <p:sp>
        <p:nvSpPr>
          <p:cNvPr id="33" name="Shape 30"/>
          <p:cNvSpPr/>
          <p:nvPr/>
        </p:nvSpPr>
        <p:spPr>
          <a:xfrm>
            <a:off x="10748772" y="7040880"/>
            <a:ext cx="3033522" cy="1371600"/>
          </a:xfrm>
          <a:prstGeom prst="roundRect">
            <a:avLst>
              <a:gd name="adj" fmla="val 9333"/>
            </a:avLst>
          </a:prstGeom>
          <a:solidFill>
            <a:srgbClr val="E8F2F2"/>
          </a:solidFill>
          <a:ln w="9525">
            <a:solidFill>
              <a:srgbClr val="E8F2F2"/>
            </a:solidFill>
            <a:prstDash val="solid"/>
          </a:ln>
        </p:spPr>
      </p:sp>
      <p:sp>
        <p:nvSpPr>
          <p:cNvPr id="34" name="Text 31"/>
          <p:cNvSpPr txBox="1"/>
          <p:nvPr/>
        </p:nvSpPr>
        <p:spPr>
          <a:xfrm>
            <a:off x="11023092" y="704088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2A3A3C"/>
                </a:solidFill>
                <a:latin typeface="Poppins" pitchFamily="34" charset="0"/>
                <a:ea typeface="Poppins" pitchFamily="34" charset="-122"/>
                <a:cs typeface="Poppins" pitchFamily="34" charset="-120"/>
              </a:rPr>
              <a:t>REPEAT</a:t>
            </a:r>
            <a:endParaRPr lang="en-US" sz="1450" dirty="0"/>
          </a:p>
          <a:p>
            <a:pPr indent="0" marL="0">
              <a:spcAft>
                <a:spcPts val="200"/>
              </a:spcAft>
              <a:buNone/>
            </a:pPr>
            <a:r>
              <a:rPr lang="en-US" sz="1300" dirty="0">
                <a:solidFill>
                  <a:srgbClr val="2A3A3C"/>
                </a:solidFill>
                <a:latin typeface="Poppins" pitchFamily="34" charset="0"/>
                <a:ea typeface="Poppins" pitchFamily="34" charset="-122"/>
                <a:cs typeface="Poppins" pitchFamily="34" charset="-120"/>
              </a:rPr>
              <a:t>New market, same product. Add a firm and a country pack.</a:t>
            </a:r>
            <a:endParaRPr lang="en-US" sz="1450" dirty="0"/>
          </a:p>
        </p:txBody>
      </p:sp>
      <p:sp>
        <p:nvSpPr>
          <p:cNvPr id="35" name="Text 32"/>
          <p:cNvSpPr txBox="1"/>
          <p:nvPr/>
        </p:nvSpPr>
        <p:spPr>
          <a:xfrm>
            <a:off x="10520172" y="7040880"/>
            <a:ext cx="274320" cy="1371600"/>
          </a:xfrm>
          <a:prstGeom prst="rect">
            <a:avLst/>
          </a:prstGeom>
          <a:noFill/>
          <a:ln/>
        </p:spPr>
        <p:txBody>
          <a:bodyPr wrap="square" lIns="0" tIns="0" rIns="0" bIns="0" rtlCol="0" anchor="ctr"/>
          <a:lstStyle/>
          <a:p>
            <a:pPr algn="ctr" indent="0" marL="0">
              <a:buNone/>
            </a:pPr>
            <a:r>
              <a:rPr lang="en-US" sz="1400" dirty="0">
                <a:solidFill>
                  <a:srgbClr val="687075"/>
                </a:solidFill>
                <a:latin typeface="Poppins" pitchFamily="34" charset="0"/>
                <a:ea typeface="Poppins" pitchFamily="34" charset="-122"/>
                <a:cs typeface="Poppins" pitchFamily="34" charset="-120"/>
              </a:rPr>
              <a:t>→</a:t>
            </a:r>
            <a:endParaRPr lang="en-US" sz="1400" dirty="0"/>
          </a:p>
        </p:txBody>
      </p:sp>
      <p:sp>
        <p:nvSpPr>
          <p:cNvPr id="36" name="Shape 33"/>
          <p:cNvSpPr/>
          <p:nvPr/>
        </p:nvSpPr>
        <p:spPr>
          <a:xfrm>
            <a:off x="13965174" y="7040880"/>
            <a:ext cx="3033522" cy="1371600"/>
          </a:xfrm>
          <a:prstGeom prst="roundRect">
            <a:avLst>
              <a:gd name="adj" fmla="val 9333"/>
            </a:avLst>
          </a:prstGeom>
          <a:solidFill>
            <a:srgbClr val="497078"/>
          </a:solidFill>
          <a:ln w="9525">
            <a:solidFill>
              <a:srgbClr val="497078"/>
            </a:solidFill>
            <a:prstDash val="solid"/>
          </a:ln>
        </p:spPr>
      </p:sp>
      <p:sp>
        <p:nvSpPr>
          <p:cNvPr id="37" name="Text 34"/>
          <p:cNvSpPr txBox="1"/>
          <p:nvPr/>
        </p:nvSpPr>
        <p:spPr>
          <a:xfrm>
            <a:off x="14239494" y="7040880"/>
            <a:ext cx="2484882" cy="1371600"/>
          </a:xfrm>
          <a:prstGeom prst="rect">
            <a:avLst/>
          </a:prstGeom>
          <a:noFill/>
          <a:ln/>
        </p:spPr>
        <p:txBody>
          <a:bodyPr wrap="square" lIns="0" tIns="0" rIns="0" bIns="0" rtlCol="0" anchor="ctr"/>
          <a:lstStyle/>
          <a:p>
            <a:pPr indent="0" marL="0">
              <a:spcAft>
                <a:spcPts val="200"/>
              </a:spcAft>
              <a:buNone/>
            </a:pPr>
            <a:r>
              <a:rPr lang="en-US" sz="1450" b="1" dirty="0">
                <a:solidFill>
                  <a:srgbClr val="FFFFFF"/>
                </a:solidFill>
                <a:latin typeface="Poppins" pitchFamily="34" charset="0"/>
                <a:ea typeface="Poppins" pitchFamily="34" charset="-122"/>
                <a:cs typeface="Poppins" pitchFamily="34" charset="-120"/>
              </a:rPr>
              <a:t>GERMANY, AS AN UPGRADE</a:t>
            </a:r>
            <a:endParaRPr lang="en-US" sz="1450" dirty="0"/>
          </a:p>
          <a:p>
            <a:pPr indent="0" marL="0">
              <a:spcAft>
                <a:spcPts val="200"/>
              </a:spcAft>
              <a:buNone/>
            </a:pPr>
            <a:r>
              <a:rPr lang="en-US" sz="1300" dirty="0">
                <a:solidFill>
                  <a:srgbClr val="E6EFF0"/>
                </a:solidFill>
                <a:latin typeface="Poppins" pitchFamily="34" charset="0"/>
                <a:ea typeface="Poppins" pitchFamily="34" charset="-122"/>
                <a:cs typeface="Poppins" pitchFamily="34" charset="-120"/>
              </a:rPr>
              <a:t>Dutch customers buy the Germany pack. Same product, German rules, a German firm signs.</a:t>
            </a:r>
            <a:endParaRPr lang="en-US" sz="1450" dirty="0"/>
          </a:p>
        </p:txBody>
      </p:sp>
      <p:sp>
        <p:nvSpPr>
          <p:cNvPr id="38" name="Text 35"/>
          <p:cNvSpPr txBox="1"/>
          <p:nvPr/>
        </p:nvSpPr>
        <p:spPr>
          <a:xfrm>
            <a:off x="13736574" y="7040880"/>
            <a:ext cx="274320" cy="1371600"/>
          </a:xfrm>
          <a:prstGeom prst="rect">
            <a:avLst/>
          </a:prstGeom>
          <a:noFill/>
          <a:ln/>
        </p:spPr>
        <p:txBody>
          <a:bodyPr wrap="square" lIns="0" tIns="0" rIns="0" bIns="0" rtlCol="0" anchor="ctr"/>
          <a:lstStyle/>
          <a:p>
            <a:pPr algn="ctr" indent="0" marL="0">
              <a:buNone/>
            </a:pPr>
            <a:r>
              <a:rPr lang="en-US" sz="1400" dirty="0">
                <a:solidFill>
                  <a:srgbClr val="687075"/>
                </a:solidFill>
                <a:latin typeface="Poppins" pitchFamily="34" charset="0"/>
                <a:ea typeface="Poppins" pitchFamily="34" charset="-122"/>
                <a:cs typeface="Poppins" pitchFamily="34" charset="-120"/>
              </a:rPr>
              <a:t>→</a:t>
            </a:r>
            <a:endParaRPr lang="en-US" sz="1400" dirty="0"/>
          </a:p>
        </p:txBody>
      </p:sp>
      <p:sp>
        <p:nvSpPr>
          <p:cNvPr id="39" name="Text 36"/>
          <p:cNvSpPr txBox="1"/>
          <p:nvPr/>
        </p:nvSpPr>
        <p:spPr>
          <a:xfrm>
            <a:off x="1069848" y="9006840"/>
            <a:ext cx="14100048" cy="365760"/>
          </a:xfrm>
          <a:prstGeom prst="rect">
            <a:avLst/>
          </a:prstGeom>
          <a:noFill/>
          <a:ln/>
        </p:spPr>
        <p:txBody>
          <a:bodyPr wrap="square" lIns="0" tIns="0" rIns="0" bIns="0" rtlCol="0" anchor="t"/>
          <a:lstStyle/>
          <a:p>
            <a:pPr indent="0" marL="0">
              <a:buNone/>
            </a:pPr>
            <a:r>
              <a:rPr lang="en-US" sz="1100" b="1" dirty="0">
                <a:solidFill>
                  <a:srgbClr val="171717"/>
                </a:solidFill>
                <a:latin typeface="Poppins" pitchFamily="34" charset="0"/>
                <a:ea typeface="Poppins" pitchFamily="34" charset="-122"/>
                <a:cs typeface="Poppins" pitchFamily="34" charset="-120"/>
              </a:rPr>
              <a:t>Germany's rule  </a:t>
            </a:r>
            <a:pPr indent="0" marL="0">
              <a:buNone/>
            </a:pPr>
            <a:r>
              <a:rPr lang="en-US" sz="1100" dirty="0">
                <a:solidFill>
                  <a:srgbClr val="687075"/>
                </a:solidFill>
                <a:latin typeface="Poppins" pitchFamily="34" charset="0"/>
                <a:ea typeface="Poppins" pitchFamily="34" charset="-122"/>
                <a:cs typeface="Poppins" pitchFamily="34" charset="-120"/>
              </a:rPr>
              <a:t>generic, rule-based tools are allowed (BGH Smartlaw, 2021). Case-specific advice stays with lawyers. </a:t>
            </a:r>
            <a:pPr indent="0" marL="0">
              <a:buNone/>
            </a:pPr>
            <a:r>
              <a:rPr lang="en-US" sz="1100" u="sng" dirty="0">
                <a:solidFill>
                  <a:srgbClr val="687075"/>
                </a:solidFill>
                <a:latin typeface="Poppins" pitchFamily="34" charset="0"/>
                <a:ea typeface="Poppins" pitchFamily="34" charset="-122"/>
                <a:cs typeface="Poppi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bundesgerichtshof.de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069848" y="1993392"/>
            <a:ext cx="9144000" cy="347472"/>
          </a:xfrm>
          <a:prstGeom prst="rect">
            <a:avLst/>
          </a:prstGeom>
          <a:noFill/>
          <a:ln/>
        </p:spPr>
        <p:txBody>
          <a:bodyPr wrap="square" lIns="0" tIns="0" rIns="0" bIns="0" rtlCol="0" anchor="t"/>
          <a:lstStyle/>
          <a:p>
            <a:pPr indent="0" marL="0">
              <a:buNone/>
            </a:pPr>
            <a:r>
              <a:rPr lang="en-US" sz="1700" b="1" spc="100" kern="0" dirty="0">
                <a:solidFill>
                  <a:srgbClr val="497078"/>
                </a:solidFill>
                <a:latin typeface="Poppins" pitchFamily="34" charset="0"/>
                <a:ea typeface="Poppins" pitchFamily="34" charset="-122"/>
                <a:cs typeface="Poppins" pitchFamily="34" charset="-120"/>
              </a:rPr>
              <a:t>MARKET ENTRY</a:t>
            </a:r>
            <a:endParaRPr lang="en-US" sz="1700" dirty="0"/>
          </a:p>
        </p:txBody>
      </p:sp>
      <p:sp>
        <p:nvSpPr>
          <p:cNvPr id="3" name="Text 1"/>
          <p:cNvSpPr txBox="1"/>
          <p:nvPr/>
        </p:nvSpPr>
        <p:spPr>
          <a:xfrm>
            <a:off x="1042416" y="2496312"/>
            <a:ext cx="16203168" cy="868680"/>
          </a:xfrm>
          <a:prstGeom prst="rect">
            <a:avLst/>
          </a:prstGeom>
          <a:noFill/>
          <a:ln/>
        </p:spPr>
        <p:txBody>
          <a:bodyPr wrap="square" lIns="0" tIns="0" rIns="0" bIns="0" rtlCol="0" anchor="t"/>
          <a:lstStyle/>
          <a:p>
            <a:pPr indent="0" marL="0">
              <a:buNone/>
            </a:pPr>
            <a:r>
              <a:rPr lang="en-US" sz="5300" b="1" spc="-100" kern="0" dirty="0">
                <a:solidFill>
                  <a:srgbClr val="171717"/>
                </a:solidFill>
                <a:latin typeface="Poppins" pitchFamily="34" charset="0"/>
                <a:ea typeface="Poppins" pitchFamily="34" charset="-122"/>
                <a:cs typeface="Poppins" pitchFamily="34" charset="-120"/>
              </a:rPr>
              <a:t>SO WE START IN </a:t>
            </a:r>
            <a:pPr indent="0" marL="0">
              <a:buNone/>
            </a:pPr>
            <a:r>
              <a:rPr lang="en-US" sz="5300" b="1" spc="-100" kern="0" dirty="0">
                <a:solidFill>
                  <a:srgbClr val="497078"/>
                </a:solidFill>
                <a:latin typeface="Poppins" pitchFamily="34" charset="0"/>
                <a:ea typeface="Poppins" pitchFamily="34" charset="-122"/>
                <a:cs typeface="Poppins" pitchFamily="34" charset="-120"/>
              </a:rPr>
              <a:t>THE NETHERLANDS.</a:t>
            </a:r>
            <a:endParaRPr lang="en-US" sz="5300" dirty="0"/>
          </a:p>
        </p:txBody>
      </p:sp>
      <p:sp>
        <p:nvSpPr>
          <p:cNvPr id="4" name="Text 2"/>
          <p:cNvSpPr txBox="1"/>
          <p:nvPr/>
        </p:nvSpPr>
        <p:spPr>
          <a:xfrm>
            <a:off x="1069848" y="3557016"/>
            <a:ext cx="16203168" cy="420624"/>
          </a:xfrm>
          <a:prstGeom prst="rect">
            <a:avLst/>
          </a:prstGeom>
          <a:noFill/>
          <a:ln/>
        </p:spPr>
        <p:txBody>
          <a:bodyPr wrap="square" lIns="0" tIns="0" rIns="0" bIns="0" rtlCol="0" anchor="t"/>
          <a:lstStyle/>
          <a:p>
            <a:pPr indent="0" marL="0">
              <a:buNone/>
            </a:pPr>
            <a:r>
              <a:rPr lang="en-US" sz="1950" dirty="0">
                <a:solidFill>
                  <a:srgbClr val="687075"/>
                </a:solidFill>
                <a:latin typeface="Poppins" pitchFamily="34" charset="0"/>
                <a:ea typeface="Poppins" pitchFamily="34" charset="-122"/>
                <a:cs typeface="Poppins" pitchFamily="34" charset="-120"/>
              </a:rPr>
              <a:t>Where the adviser may speak, the deadline is live, and the proof is clean.</a:t>
            </a:r>
            <a:endParaRPr lang="en-US" sz="1950" dirty="0"/>
          </a:p>
        </p:txBody>
      </p:sp>
      <p:sp>
        <p:nvSpPr>
          <p:cNvPr id="5" name="Shape 3"/>
          <p:cNvSpPr/>
          <p:nvPr/>
        </p:nvSpPr>
        <p:spPr>
          <a:xfrm>
            <a:off x="1069848" y="4050792"/>
            <a:ext cx="16203168" cy="0"/>
          </a:xfrm>
          <a:prstGeom prst="line">
            <a:avLst/>
          </a:prstGeom>
          <a:noFill/>
          <a:ln w="9525">
            <a:solidFill>
              <a:srgbClr val="DADBD6"/>
            </a:solidFill>
            <a:prstDash val="solid"/>
          </a:ln>
        </p:spPr>
      </p:sp>
      <p:pic>
        <p:nvPicPr>
          <p:cNvPr id="7" name="Image 0" descr="/home/andi/Dokumente/Business/Simone Business/Business/fable-andi/pitch/src/assets/map-nl.png">    </p:cNvPr>
          <p:cNvPicPr>
            <a:picLocks noChangeAspect="1"/>
          </p:cNvPicPr>
          <p:nvPr/>
        </p:nvPicPr>
        <p:blipFill>
          <a:blip r:embed="rId1"/>
          <a:stretch>
            <a:fillRect/>
          </a:stretch>
        </p:blipFill>
        <p:spPr>
          <a:xfrm>
            <a:off x="1069848" y="4297680"/>
            <a:ext cx="6583680" cy="4498225"/>
          </a:xfrm>
          <a:prstGeom prst="rect">
            <a:avLst/>
          </a:prstGeom>
        </p:spPr>
      </p:pic>
      <p:sp>
        <p:nvSpPr>
          <p:cNvPr id="8" name="Shape 4"/>
          <p:cNvSpPr/>
          <p:nvPr/>
        </p:nvSpPr>
        <p:spPr>
          <a:xfrm>
            <a:off x="1115568" y="8942209"/>
            <a:ext cx="173736" cy="173736"/>
          </a:xfrm>
          <a:prstGeom prst="roundRect">
            <a:avLst>
              <a:gd name="adj" fmla="val 21053"/>
            </a:avLst>
          </a:prstGeom>
          <a:solidFill>
            <a:srgbClr val="171717"/>
          </a:solidFill>
          <a:ln w="9525">
            <a:solidFill>
              <a:srgbClr val="171717"/>
            </a:solidFill>
            <a:prstDash val="solid"/>
          </a:ln>
        </p:spPr>
      </p:sp>
      <p:sp>
        <p:nvSpPr>
          <p:cNvPr id="9" name="Text 5"/>
          <p:cNvSpPr txBox="1"/>
          <p:nvPr/>
        </p:nvSpPr>
        <p:spPr>
          <a:xfrm>
            <a:off x="1362456" y="8905633"/>
            <a:ext cx="1906524" cy="274320"/>
          </a:xfrm>
          <a:prstGeom prst="rect">
            <a:avLst/>
          </a:prstGeom>
          <a:noFill/>
          <a:ln/>
        </p:spPr>
        <p:txBody>
          <a:bodyPr wrap="square" lIns="0" tIns="0" rIns="0" bIns="0" rtlCol="0" anchor="t"/>
          <a:lstStyle/>
          <a:p>
            <a:pPr indent="0" marL="0">
              <a:buNone/>
            </a:pPr>
            <a:r>
              <a:rPr lang="en-US" sz="1100" dirty="0">
                <a:solidFill>
                  <a:srgbClr val="3B3E3C"/>
                </a:solidFill>
                <a:latin typeface="Poppins" pitchFamily="34" charset="0"/>
                <a:ea typeface="Poppins" pitchFamily="34" charset="-122"/>
                <a:cs typeface="Poppins" pitchFamily="34" charset="-120"/>
              </a:rPr>
              <a:t>Software may advise</a:t>
            </a:r>
            <a:endParaRPr lang="en-US" sz="1100" dirty="0"/>
          </a:p>
        </p:txBody>
      </p:sp>
      <p:sp>
        <p:nvSpPr>
          <p:cNvPr id="10" name="Shape 6"/>
          <p:cNvSpPr/>
          <p:nvPr/>
        </p:nvSpPr>
        <p:spPr>
          <a:xfrm>
            <a:off x="3113532" y="8942209"/>
            <a:ext cx="173736" cy="173736"/>
          </a:xfrm>
          <a:prstGeom prst="roundRect">
            <a:avLst>
              <a:gd name="adj" fmla="val 21053"/>
            </a:avLst>
          </a:prstGeom>
          <a:solidFill>
            <a:srgbClr val="497078"/>
          </a:solidFill>
          <a:ln w="9525">
            <a:solidFill>
              <a:srgbClr val="497078"/>
            </a:solidFill>
            <a:prstDash val="solid"/>
          </a:ln>
        </p:spPr>
      </p:sp>
      <p:sp>
        <p:nvSpPr>
          <p:cNvPr id="11" name="Text 7"/>
          <p:cNvSpPr txBox="1"/>
          <p:nvPr/>
        </p:nvSpPr>
        <p:spPr>
          <a:xfrm>
            <a:off x="3360420" y="8905633"/>
            <a:ext cx="1673352" cy="274320"/>
          </a:xfrm>
          <a:prstGeom prst="rect">
            <a:avLst/>
          </a:prstGeom>
          <a:noFill/>
          <a:ln/>
        </p:spPr>
        <p:txBody>
          <a:bodyPr wrap="square" lIns="0" tIns="0" rIns="0" bIns="0" rtlCol="0" anchor="t"/>
          <a:lstStyle/>
          <a:p>
            <a:pPr indent="0" marL="0">
              <a:buNone/>
            </a:pPr>
            <a:r>
              <a:rPr lang="en-US" sz="1100" dirty="0">
                <a:solidFill>
                  <a:srgbClr val="3B3E3C"/>
                </a:solidFill>
                <a:latin typeface="Poppins" pitchFamily="34" charset="0"/>
                <a:ea typeface="Poppins" pitchFamily="34" charset="-122"/>
                <a:cs typeface="Poppins" pitchFamily="34" charset="-120"/>
              </a:rPr>
              <a:t>Lawyer must sign</a:t>
            </a:r>
            <a:endParaRPr lang="en-US" sz="1100" dirty="0"/>
          </a:p>
        </p:txBody>
      </p:sp>
      <p:sp>
        <p:nvSpPr>
          <p:cNvPr id="12" name="Shape 8"/>
          <p:cNvSpPr/>
          <p:nvPr/>
        </p:nvSpPr>
        <p:spPr>
          <a:xfrm>
            <a:off x="4878324" y="8942209"/>
            <a:ext cx="173736" cy="173736"/>
          </a:xfrm>
          <a:prstGeom prst="roundRect">
            <a:avLst>
              <a:gd name="adj" fmla="val 21053"/>
            </a:avLst>
          </a:prstGeom>
          <a:solidFill>
            <a:srgbClr val="D3D4D0"/>
          </a:solidFill>
          <a:ln w="9525">
            <a:solidFill>
              <a:srgbClr val="D3D4D0"/>
            </a:solidFill>
            <a:prstDash val="solid"/>
          </a:ln>
        </p:spPr>
      </p:sp>
      <p:sp>
        <p:nvSpPr>
          <p:cNvPr id="13" name="Text 9"/>
          <p:cNvSpPr txBox="1"/>
          <p:nvPr/>
        </p:nvSpPr>
        <p:spPr>
          <a:xfrm>
            <a:off x="5125212" y="8905633"/>
            <a:ext cx="1051560" cy="274320"/>
          </a:xfrm>
          <a:prstGeom prst="rect">
            <a:avLst/>
          </a:prstGeom>
          <a:noFill/>
          <a:ln/>
        </p:spPr>
        <p:txBody>
          <a:bodyPr wrap="square" lIns="0" tIns="0" rIns="0" bIns="0" rtlCol="0" anchor="t"/>
          <a:lstStyle/>
          <a:p>
            <a:pPr indent="0" marL="0">
              <a:buNone/>
            </a:pPr>
            <a:r>
              <a:rPr lang="en-US" sz="1100" dirty="0">
                <a:solidFill>
                  <a:srgbClr val="3B3E3C"/>
                </a:solidFill>
                <a:latin typeface="Poppins" pitchFamily="34" charset="0"/>
                <a:ea typeface="Poppins" pitchFamily="34" charset="-122"/>
                <a:cs typeface="Poppins" pitchFamily="34" charset="-120"/>
              </a:rPr>
              <a:t>Firm-led</a:t>
            </a:r>
            <a:endParaRPr lang="en-US" sz="1100" dirty="0"/>
          </a:p>
        </p:txBody>
      </p:sp>
      <p:sp>
        <p:nvSpPr>
          <p:cNvPr id="14" name="Shape 10"/>
          <p:cNvSpPr/>
          <p:nvPr/>
        </p:nvSpPr>
        <p:spPr>
          <a:xfrm>
            <a:off x="6021324" y="8942209"/>
            <a:ext cx="173736" cy="173736"/>
          </a:xfrm>
          <a:prstGeom prst="roundRect">
            <a:avLst>
              <a:gd name="adj" fmla="val 21053"/>
            </a:avLst>
          </a:prstGeom>
          <a:solidFill>
            <a:srgbClr val="F1F2EF"/>
          </a:solidFill>
          <a:ln w="9525">
            <a:solidFill>
              <a:srgbClr val="DADBD6"/>
            </a:solidFill>
            <a:prstDash val="solid"/>
          </a:ln>
        </p:spPr>
      </p:sp>
      <p:sp>
        <p:nvSpPr>
          <p:cNvPr id="15" name="Text 11"/>
          <p:cNvSpPr txBox="1"/>
          <p:nvPr/>
        </p:nvSpPr>
        <p:spPr>
          <a:xfrm>
            <a:off x="6268212" y="8905633"/>
            <a:ext cx="1906524" cy="274320"/>
          </a:xfrm>
          <a:prstGeom prst="rect">
            <a:avLst/>
          </a:prstGeom>
          <a:noFill/>
          <a:ln/>
        </p:spPr>
        <p:txBody>
          <a:bodyPr wrap="square" lIns="0" tIns="0" rIns="0" bIns="0" rtlCol="0" anchor="t"/>
          <a:lstStyle/>
          <a:p>
            <a:pPr indent="0" marL="0">
              <a:buNone/>
            </a:pPr>
            <a:r>
              <a:rPr lang="en-US" sz="1100" dirty="0">
                <a:solidFill>
                  <a:srgbClr val="3B3E3C"/>
                </a:solidFill>
                <a:latin typeface="Poppins" pitchFamily="34" charset="0"/>
                <a:ea typeface="Poppins" pitchFamily="34" charset="-122"/>
                <a:cs typeface="Poppins" pitchFamily="34" charset="-120"/>
              </a:rPr>
              <a:t>Not in the analysis</a:t>
            </a:r>
            <a:endParaRPr lang="en-US" sz="1100" dirty="0"/>
          </a:p>
        </p:txBody>
      </p:sp>
      <p:sp>
        <p:nvSpPr>
          <p:cNvPr id="16" name="Shape 12"/>
          <p:cNvSpPr/>
          <p:nvPr/>
        </p:nvSpPr>
        <p:spPr>
          <a:xfrm>
            <a:off x="8019288" y="8951353"/>
            <a:ext cx="155448" cy="155448"/>
          </a:xfrm>
          <a:prstGeom prst="ellipse">
            <a:avLst/>
          </a:prstGeom>
          <a:solidFill>
            <a:srgbClr val="C9654A"/>
          </a:solidFill>
          <a:ln w="12700">
            <a:solidFill>
              <a:srgbClr val="C9654A"/>
            </a:solidFill>
            <a:prstDash val="solid"/>
          </a:ln>
        </p:spPr>
      </p:sp>
      <p:sp>
        <p:nvSpPr>
          <p:cNvPr id="17" name="Text 13"/>
          <p:cNvSpPr txBox="1"/>
          <p:nvPr/>
        </p:nvSpPr>
        <p:spPr>
          <a:xfrm>
            <a:off x="8266176" y="8905633"/>
            <a:ext cx="1051560" cy="274320"/>
          </a:xfrm>
          <a:prstGeom prst="rect">
            <a:avLst/>
          </a:prstGeom>
          <a:noFill/>
          <a:ln/>
        </p:spPr>
        <p:txBody>
          <a:bodyPr wrap="square" lIns="0" tIns="0" rIns="0" bIns="0" rtlCol="0" anchor="t"/>
          <a:lstStyle/>
          <a:p>
            <a:pPr indent="0" marL="0">
              <a:buNone/>
            </a:pPr>
            <a:r>
              <a:rPr lang="en-US" sz="1100" dirty="0">
                <a:solidFill>
                  <a:srgbClr val="3B3E3C"/>
                </a:solidFill>
                <a:latin typeface="Poppins" pitchFamily="34" charset="0"/>
                <a:ea typeface="Poppins" pitchFamily="34" charset="-122"/>
                <a:cs typeface="Poppins" pitchFamily="34" charset="-120"/>
              </a:rPr>
              <a:t>Our path</a:t>
            </a:r>
            <a:endParaRPr lang="en-US" sz="1100" dirty="0"/>
          </a:p>
        </p:txBody>
      </p:sp>
      <p:sp>
        <p:nvSpPr>
          <p:cNvPr id="18" name="Text 14"/>
          <p:cNvSpPr txBox="1"/>
          <p:nvPr/>
        </p:nvSpPr>
        <p:spPr>
          <a:xfrm rot="16200000">
            <a:off x="8476488" y="4846320"/>
            <a:ext cx="1188720" cy="274320"/>
          </a:xfrm>
          <a:prstGeom prst="rect">
            <a:avLst/>
          </a:prstGeom>
          <a:noFill/>
          <a:ln/>
        </p:spPr>
        <p:txBody>
          <a:bodyPr wrap="square" lIns="0" tIns="0" rIns="0" bIns="0" rtlCol="0" anchor="t"/>
          <a:lstStyle/>
          <a:p>
            <a:pPr algn="ctr" indent="0" marL="0">
              <a:buNone/>
            </a:pPr>
            <a:r>
              <a:rPr lang="en-US" sz="1050" spc="150" kern="0" dirty="0">
                <a:solidFill>
                  <a:srgbClr val="497078"/>
                </a:solidFill>
                <a:latin typeface="Poppins" pitchFamily="34" charset="0"/>
                <a:ea typeface="Poppins" pitchFamily="34" charset="-122"/>
                <a:cs typeface="Poppins" pitchFamily="34" charset="-120"/>
              </a:rPr>
              <a:t>LEGAL</a:t>
            </a:r>
            <a:endParaRPr lang="en-US" sz="1050" dirty="0"/>
          </a:p>
        </p:txBody>
      </p:sp>
      <p:sp>
        <p:nvSpPr>
          <p:cNvPr id="19" name="Text 15"/>
          <p:cNvSpPr txBox="1"/>
          <p:nvPr/>
        </p:nvSpPr>
        <p:spPr>
          <a:xfrm>
            <a:off x="9162288" y="4599432"/>
            <a:ext cx="8110728" cy="457200"/>
          </a:xfrm>
          <a:prstGeom prst="rect">
            <a:avLst/>
          </a:prstGeom>
          <a:noFill/>
          <a:ln/>
        </p:spPr>
        <p:txBody>
          <a:bodyPr wrap="square" lIns="0" tIns="0" rIns="0" bIns="0" rtlCol="0" anchor="t"/>
          <a:lstStyle/>
          <a:p>
            <a:pPr indent="0" marL="0">
              <a:buNone/>
            </a:pPr>
            <a:r>
              <a:rPr lang="en-US" sz="2500" b="1" dirty="0">
                <a:solidFill>
                  <a:srgbClr val="171717"/>
                </a:solidFill>
                <a:latin typeface="Poppins" pitchFamily="34" charset="0"/>
                <a:ea typeface="Poppins" pitchFamily="34" charset="-122"/>
                <a:cs typeface="Poppins" pitchFamily="34" charset="-120"/>
              </a:rPr>
              <a:t>THE ADVISER MAY SPEAK</a:t>
            </a:r>
            <a:endParaRPr lang="en-US" sz="2500" dirty="0"/>
          </a:p>
        </p:txBody>
      </p:sp>
      <p:sp>
        <p:nvSpPr>
          <p:cNvPr id="20" name="Text 16"/>
          <p:cNvSpPr txBox="1"/>
          <p:nvPr/>
        </p:nvSpPr>
        <p:spPr>
          <a:xfrm>
            <a:off x="9162288" y="5093208"/>
            <a:ext cx="7973568" cy="731520"/>
          </a:xfrm>
          <a:prstGeom prst="rect">
            <a:avLst/>
          </a:prstGeom>
          <a:noFill/>
          <a:ln/>
        </p:spPr>
        <p:txBody>
          <a:bodyPr wrap="square" lIns="0" tIns="0" rIns="0" bIns="0" rtlCol="0" anchor="t"/>
          <a:lstStyle/>
          <a:p>
            <a:pPr indent="0" marL="0">
              <a:lnSpc>
                <a:spcPct val="105000"/>
              </a:lnSpc>
              <a:buNone/>
            </a:pPr>
            <a:r>
              <a:rPr lang="en-US" sz="1450" dirty="0">
                <a:solidFill>
                  <a:srgbClr val="3B3E3C"/>
                </a:solidFill>
                <a:latin typeface="Poppins" pitchFamily="34" charset="0"/>
                <a:ea typeface="Poppins" pitchFamily="34" charset="-122"/>
                <a:cs typeface="Poppins" pitchFamily="34" charset="-120"/>
              </a:rPr>
              <a:t>Dutch law reserves only the lawyer's title. Software may give a company its answer. In Germany and Austria it may not.</a:t>
            </a:r>
            <a:endParaRPr lang="en-US" sz="1450" dirty="0"/>
          </a:p>
        </p:txBody>
      </p:sp>
      <p:sp>
        <p:nvSpPr>
          <p:cNvPr id="21" name="Shape 17"/>
          <p:cNvSpPr/>
          <p:nvPr/>
        </p:nvSpPr>
        <p:spPr>
          <a:xfrm>
            <a:off x="8476488" y="5934456"/>
            <a:ext cx="8796528" cy="0"/>
          </a:xfrm>
          <a:prstGeom prst="line">
            <a:avLst/>
          </a:prstGeom>
          <a:noFill/>
          <a:ln w="9525">
            <a:solidFill>
              <a:srgbClr val="DADBD6"/>
            </a:solidFill>
            <a:prstDash val="solid"/>
          </a:ln>
        </p:spPr>
      </p:sp>
      <p:sp>
        <p:nvSpPr>
          <p:cNvPr id="22" name="Text 18"/>
          <p:cNvSpPr txBox="1"/>
          <p:nvPr/>
        </p:nvSpPr>
        <p:spPr>
          <a:xfrm rot="16200000">
            <a:off x="8476488" y="6492240"/>
            <a:ext cx="1188720" cy="274320"/>
          </a:xfrm>
          <a:prstGeom prst="rect">
            <a:avLst/>
          </a:prstGeom>
          <a:noFill/>
          <a:ln/>
        </p:spPr>
        <p:txBody>
          <a:bodyPr wrap="square" lIns="0" tIns="0" rIns="0" bIns="0" rtlCol="0" anchor="t"/>
          <a:lstStyle/>
          <a:p>
            <a:pPr algn="ctr" indent="0" marL="0">
              <a:buNone/>
            </a:pPr>
            <a:r>
              <a:rPr lang="en-US" sz="1050" spc="150" kern="0" dirty="0">
                <a:solidFill>
                  <a:srgbClr val="497078"/>
                </a:solidFill>
                <a:latin typeface="Poppins" pitchFamily="34" charset="0"/>
                <a:ea typeface="Poppins" pitchFamily="34" charset="-122"/>
                <a:cs typeface="Poppins" pitchFamily="34" charset="-120"/>
              </a:rPr>
              <a:t>TIMING</a:t>
            </a:r>
            <a:endParaRPr lang="en-US" sz="1050" dirty="0"/>
          </a:p>
        </p:txBody>
      </p:sp>
      <p:sp>
        <p:nvSpPr>
          <p:cNvPr id="23" name="Text 19"/>
          <p:cNvSpPr txBox="1"/>
          <p:nvPr/>
        </p:nvSpPr>
        <p:spPr>
          <a:xfrm>
            <a:off x="9162288" y="6245352"/>
            <a:ext cx="8110728" cy="457200"/>
          </a:xfrm>
          <a:prstGeom prst="rect">
            <a:avLst/>
          </a:prstGeom>
          <a:noFill/>
          <a:ln/>
        </p:spPr>
        <p:txBody>
          <a:bodyPr wrap="square" lIns="0" tIns="0" rIns="0" bIns="0" rtlCol="0" anchor="t"/>
          <a:lstStyle/>
          <a:p>
            <a:pPr indent="0" marL="0">
              <a:buNone/>
            </a:pPr>
            <a:r>
              <a:rPr lang="en-US" sz="2500" b="1" dirty="0">
                <a:solidFill>
                  <a:srgbClr val="171717"/>
                </a:solidFill>
                <a:latin typeface="Poppins" pitchFamily="34" charset="0"/>
                <a:ea typeface="Poppins" pitchFamily="34" charset="-122"/>
                <a:cs typeface="Poppins" pitchFamily="34" charset="-120"/>
              </a:rPr>
              <a:t>THE DEADLINE IS LIVE</a:t>
            </a:r>
            <a:endParaRPr lang="en-US" sz="2500" dirty="0"/>
          </a:p>
        </p:txBody>
      </p:sp>
      <p:sp>
        <p:nvSpPr>
          <p:cNvPr id="24" name="Text 20"/>
          <p:cNvSpPr txBox="1"/>
          <p:nvPr/>
        </p:nvSpPr>
        <p:spPr>
          <a:xfrm>
            <a:off x="9162288" y="6739128"/>
            <a:ext cx="7973568" cy="731520"/>
          </a:xfrm>
          <a:prstGeom prst="rect">
            <a:avLst/>
          </a:prstGeom>
          <a:noFill/>
          <a:ln/>
        </p:spPr>
        <p:txBody>
          <a:bodyPr wrap="square" lIns="0" tIns="0" rIns="0" bIns="0" rtlCol="0" anchor="t"/>
          <a:lstStyle/>
          <a:p>
            <a:pPr indent="0" marL="0">
              <a:lnSpc>
                <a:spcPct val="105000"/>
              </a:lnSpc>
              <a:buNone/>
            </a:pPr>
            <a:r>
              <a:rPr lang="en-US" sz="1450" dirty="0">
                <a:solidFill>
                  <a:srgbClr val="3B3E3C"/>
                </a:solidFill>
                <a:latin typeface="Poppins" pitchFamily="34" charset="0"/>
                <a:ea typeface="Poppins" pitchFamily="34" charset="-122"/>
                <a:cs typeface="Poppins" pitchFamily="34" charset="-120"/>
              </a:rPr>
              <a:t>NIS2 in force since August 2026. About 8,000 companies in scope, more than half not registered.</a:t>
            </a:r>
            <a:endParaRPr lang="en-US" sz="1450" dirty="0"/>
          </a:p>
        </p:txBody>
      </p:sp>
      <p:sp>
        <p:nvSpPr>
          <p:cNvPr id="25" name="Shape 21"/>
          <p:cNvSpPr/>
          <p:nvPr/>
        </p:nvSpPr>
        <p:spPr>
          <a:xfrm>
            <a:off x="8476488" y="7580376"/>
            <a:ext cx="8796528" cy="0"/>
          </a:xfrm>
          <a:prstGeom prst="line">
            <a:avLst/>
          </a:prstGeom>
          <a:noFill/>
          <a:ln w="9525">
            <a:solidFill>
              <a:srgbClr val="DADBD6"/>
            </a:solidFill>
            <a:prstDash val="solid"/>
          </a:ln>
        </p:spPr>
      </p:sp>
      <p:sp>
        <p:nvSpPr>
          <p:cNvPr id="26" name="Text 22"/>
          <p:cNvSpPr txBox="1"/>
          <p:nvPr/>
        </p:nvSpPr>
        <p:spPr>
          <a:xfrm rot="16200000">
            <a:off x="8476488" y="8138160"/>
            <a:ext cx="1188720" cy="274320"/>
          </a:xfrm>
          <a:prstGeom prst="rect">
            <a:avLst/>
          </a:prstGeom>
          <a:noFill/>
          <a:ln/>
        </p:spPr>
        <p:txBody>
          <a:bodyPr wrap="square" lIns="0" tIns="0" rIns="0" bIns="0" rtlCol="0" anchor="t"/>
          <a:lstStyle/>
          <a:p>
            <a:pPr algn="ctr" indent="0" marL="0">
              <a:buNone/>
            </a:pPr>
            <a:r>
              <a:rPr lang="en-US" sz="1050" spc="150" kern="0" dirty="0">
                <a:solidFill>
                  <a:srgbClr val="497078"/>
                </a:solidFill>
                <a:latin typeface="Poppins" pitchFamily="34" charset="0"/>
                <a:ea typeface="Poppins" pitchFamily="34" charset="-122"/>
                <a:cs typeface="Poppins" pitchFamily="34" charset="-120"/>
              </a:rPr>
              <a:t>PROOF</a:t>
            </a:r>
            <a:endParaRPr lang="en-US" sz="1050" dirty="0"/>
          </a:p>
        </p:txBody>
      </p:sp>
      <p:sp>
        <p:nvSpPr>
          <p:cNvPr id="27" name="Text 23"/>
          <p:cNvSpPr txBox="1"/>
          <p:nvPr/>
        </p:nvSpPr>
        <p:spPr>
          <a:xfrm>
            <a:off x="9162288" y="7891272"/>
            <a:ext cx="8110728" cy="457200"/>
          </a:xfrm>
          <a:prstGeom prst="rect">
            <a:avLst/>
          </a:prstGeom>
          <a:noFill/>
          <a:ln/>
        </p:spPr>
        <p:txBody>
          <a:bodyPr wrap="square" lIns="0" tIns="0" rIns="0" bIns="0" rtlCol="0" anchor="t"/>
          <a:lstStyle/>
          <a:p>
            <a:pPr indent="0" marL="0">
              <a:buNone/>
            </a:pPr>
            <a:r>
              <a:rPr lang="en-US" sz="2500" b="1" dirty="0">
                <a:solidFill>
                  <a:srgbClr val="171717"/>
                </a:solidFill>
                <a:latin typeface="Poppins" pitchFamily="34" charset="0"/>
                <a:ea typeface="Poppins" pitchFamily="34" charset="-122"/>
                <a:cs typeface="Poppins" pitchFamily="34" charset="-120"/>
              </a:rPr>
              <a:t>COMPANIES PAY FOR SOFTWARE</a:t>
            </a:r>
            <a:endParaRPr lang="en-US" sz="2500" dirty="0"/>
          </a:p>
        </p:txBody>
      </p:sp>
      <p:sp>
        <p:nvSpPr>
          <p:cNvPr id="28" name="Text 24"/>
          <p:cNvSpPr txBox="1"/>
          <p:nvPr/>
        </p:nvSpPr>
        <p:spPr>
          <a:xfrm>
            <a:off x="9162288" y="8385048"/>
            <a:ext cx="7973568" cy="731520"/>
          </a:xfrm>
          <a:prstGeom prst="rect">
            <a:avLst/>
          </a:prstGeom>
          <a:noFill/>
          <a:ln/>
        </p:spPr>
        <p:txBody>
          <a:bodyPr wrap="square" lIns="0" tIns="0" rIns="0" bIns="0" rtlCol="0" anchor="t"/>
          <a:lstStyle/>
          <a:p>
            <a:pPr indent="0" marL="0">
              <a:lnSpc>
                <a:spcPct val="105000"/>
              </a:lnSpc>
              <a:buNone/>
            </a:pPr>
            <a:r>
              <a:rPr lang="en-US" sz="1450" dirty="0">
                <a:solidFill>
                  <a:srgbClr val="3B3E3C"/>
                </a:solidFill>
                <a:latin typeface="Poppins" pitchFamily="34" charset="0"/>
                <a:ea typeface="Poppins" pitchFamily="34" charset="-122"/>
                <a:cs typeface="Poppins" pitchFamily="34" charset="-120"/>
              </a:rPr>
              <a:t>No lawyer is needed to make the sale. So we learn the one thing that matters: does the adviser sell on its own.</a:t>
            </a:r>
            <a:endParaRPr lang="en-US" sz="1450" dirty="0"/>
          </a:p>
        </p:txBody>
      </p:sp>
      <p:sp>
        <p:nvSpPr>
          <p:cNvPr id="29" name="Text 25"/>
          <p:cNvSpPr txBox="1"/>
          <p:nvPr/>
        </p:nvSpPr>
        <p:spPr>
          <a:xfrm>
            <a:off x="1069848" y="9253728"/>
            <a:ext cx="14100048" cy="274320"/>
          </a:xfrm>
          <a:prstGeom prst="rect">
            <a:avLst/>
          </a:prstGeom>
          <a:noFill/>
          <a:ln/>
        </p:spPr>
        <p:txBody>
          <a:bodyPr wrap="square" lIns="0" tIns="0" rIns="0" bIns="0" rtlCol="0" anchor="t"/>
          <a:lstStyle/>
          <a:p>
            <a:pPr indent="0" marL="0">
              <a:buNone/>
            </a:pPr>
            <a:r>
              <a:rPr lang="en-US" sz="1100" b="1" dirty="0">
                <a:solidFill>
                  <a:srgbClr val="171717"/>
                </a:solidFill>
                <a:latin typeface="Poppins" pitchFamily="34" charset="0"/>
                <a:ea typeface="Poppins" pitchFamily="34" charset="-122"/>
                <a:cs typeface="Poppins" pitchFamily="34" charset="-120"/>
              </a:rPr>
              <a:t>Sources  </a:t>
            </a:r>
            <a:pPr indent="0" marL="0">
              <a:buNone/>
            </a:pPr>
            <a:r>
              <a:rPr lang="en-US" sz="1100" u="sng" dirty="0">
                <a:solidFill>
                  <a:srgbClr val="687075"/>
                </a:solidFill>
                <a:latin typeface="Poppins" pitchFamily="34" charset="0"/>
                <a:ea typeface="Poppins" pitchFamily="34" charset="-122"/>
                <a:cs typeface="Poppi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wetten.overheid.nl</a:t>
            </a:r>
            <a:pPr indent="0" marL="0">
              <a:buNone/>
            </a:pPr>
            <a:r>
              <a:rPr lang="en-US" sz="1100" dirty="0">
                <a:solidFill>
                  <a:srgbClr val="687075"/>
                </a:solidFill>
                <a:latin typeface="Poppins" pitchFamily="34" charset="0"/>
                <a:ea typeface="Poppins" pitchFamily="34" charset="-122"/>
                <a:cs typeface="Poppins" pitchFamily="34" charset="-120"/>
              </a:rPr>
              <a:t>  ·  </a:t>
            </a:r>
            <a:pPr indent="0" marL="0">
              <a:buNone/>
            </a:pPr>
            <a:r>
              <a:rPr lang="en-US" sz="1100" u="sng" dirty="0">
                <a:solidFill>
                  <a:srgbClr val="687075"/>
                </a:solidFill>
                <a:latin typeface="Poppins" pitchFamily="34" charset="0"/>
                <a:ea typeface="Poppins" pitchFamily="34" charset="-122"/>
                <a:cs typeface="Poppi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gesetze-im-internet.de</a:t>
            </a:r>
            <a:pPr indent="0" marL="0">
              <a:buNone/>
            </a:pPr>
            <a:r>
              <a:rPr lang="en-US" sz="1100" dirty="0">
                <a:solidFill>
                  <a:srgbClr val="687075"/>
                </a:solidFill>
                <a:latin typeface="Poppins" pitchFamily="34" charset="0"/>
                <a:ea typeface="Poppins" pitchFamily="34" charset="-122"/>
                <a:cs typeface="Poppins" pitchFamily="34" charset="-120"/>
              </a:rPr>
              <a:t>  ·  </a:t>
            </a:r>
            <a:pPr indent="0" marL="0">
              <a:buNone/>
            </a:pPr>
            <a:r>
              <a:rPr lang="en-US" sz="1100" u="sng" dirty="0">
                <a:solidFill>
                  <a:srgbClr val="687075"/>
                </a:solidFill>
                <a:latin typeface="Poppins" pitchFamily="34" charset="0"/>
                <a:ea typeface="Poppins" pitchFamily="34" charset="-122"/>
                <a:cs typeface="Poppi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ris.bka.gv.at</a:t>
            </a:r>
            <a:pPr indent="0" marL="0">
              <a:buNone/>
            </a:pPr>
            <a:r>
              <a:rPr lang="en-US" sz="1100" dirty="0">
                <a:solidFill>
                  <a:srgbClr val="687075"/>
                </a:solidFill>
                <a:latin typeface="Poppins" pitchFamily="34" charset="0"/>
                <a:ea typeface="Poppins" pitchFamily="34" charset="-122"/>
                <a:cs typeface="Poppins" pitchFamily="34" charset="-120"/>
              </a:rPr>
              <a:t>  ·  </a:t>
            </a:r>
            <a:pPr indent="0" marL="0">
              <a:buNone/>
            </a:pPr>
            <a:r>
              <a:rPr lang="en-US" sz="1100" u="sng" dirty="0">
                <a:solidFill>
                  <a:srgbClr val="687075"/>
                </a:solidFill>
                <a:latin typeface="Poppins" pitchFamily="34" charset="0"/>
                <a:ea typeface="Poppins" pitchFamily="34" charset="-122"/>
                <a:cs typeface="Poppi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rdi.nl</a:t>
            </a:r>
            <a:pPr indent="0" marL="0">
              <a:buNone/>
            </a:pPr>
            <a:r>
              <a:rPr lang="en-US" sz="1100" dirty="0">
                <a:solidFill>
                  <a:srgbClr val="687075"/>
                </a:solidFill>
                <a:latin typeface="Poppins" pitchFamily="34" charset="0"/>
                <a:ea typeface="Poppins" pitchFamily="34" charset="-122"/>
                <a:cs typeface="Poppins" pitchFamily="34" charset="-120"/>
              </a:rPr>
              <a:t>  ·  </a:t>
            </a:r>
            <a:pPr indent="0" marL="0">
              <a:buNone/>
            </a:pPr>
            <a:r>
              <a:rPr lang="en-US" sz="1100" u="sng" dirty="0">
                <a:solidFill>
                  <a:srgbClr val="687075"/>
                </a:solidFill>
                <a:latin typeface="Poppins" pitchFamily="34" charset="0"/>
                <a:ea typeface="Poppins" pitchFamily="34" charset="-122"/>
                <a:cs typeface="Poppi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nctv.nl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069848" y="1993392"/>
            <a:ext cx="9144000" cy="347472"/>
          </a:xfrm>
          <a:prstGeom prst="rect">
            <a:avLst/>
          </a:prstGeom>
          <a:noFill/>
          <a:ln/>
        </p:spPr>
        <p:txBody>
          <a:bodyPr wrap="square" lIns="0" tIns="0" rIns="0" bIns="0" rtlCol="0" anchor="t"/>
          <a:lstStyle/>
          <a:p>
            <a:pPr indent="0" marL="0">
              <a:buNone/>
            </a:pPr>
            <a:r>
              <a:rPr lang="en-US" sz="1700" b="1" spc="100" kern="0" dirty="0">
                <a:solidFill>
                  <a:srgbClr val="497078"/>
                </a:solidFill>
                <a:latin typeface="Poppins" pitchFamily="34" charset="0"/>
                <a:ea typeface="Poppins" pitchFamily="34" charset="-122"/>
                <a:cs typeface="Poppins" pitchFamily="34" charset="-120"/>
              </a:rPr>
              <a:t>BUSINESS MODEL</a:t>
            </a:r>
            <a:endParaRPr lang="en-US" sz="1700" dirty="0"/>
          </a:p>
        </p:txBody>
      </p:sp>
      <p:sp>
        <p:nvSpPr>
          <p:cNvPr id="3" name="Text 1"/>
          <p:cNvSpPr txBox="1"/>
          <p:nvPr/>
        </p:nvSpPr>
        <p:spPr>
          <a:xfrm>
            <a:off x="1042416" y="2496312"/>
            <a:ext cx="16203168" cy="868680"/>
          </a:xfrm>
          <a:prstGeom prst="rect">
            <a:avLst/>
          </a:prstGeom>
          <a:noFill/>
          <a:ln/>
        </p:spPr>
        <p:txBody>
          <a:bodyPr wrap="square" lIns="0" tIns="0" rIns="0" bIns="0" rtlCol="0" anchor="t"/>
          <a:lstStyle/>
          <a:p>
            <a:pPr indent="0" marL="0">
              <a:buNone/>
            </a:pPr>
            <a:r>
              <a:rPr lang="en-US" sz="5300" b="1" spc="-100" kern="0" dirty="0">
                <a:solidFill>
                  <a:srgbClr val="171717"/>
                </a:solidFill>
                <a:latin typeface="Poppins" pitchFamily="34" charset="0"/>
                <a:ea typeface="Poppins" pitchFamily="34" charset="-122"/>
                <a:cs typeface="Poppins" pitchFamily="34" charset="-120"/>
              </a:rPr>
              <a:t>ENTER WITH NIS2. </a:t>
            </a:r>
            <a:pPr indent="0" marL="0">
              <a:buNone/>
            </a:pPr>
            <a:r>
              <a:rPr lang="en-US" sz="5300" b="1" spc="-100" kern="0" dirty="0">
                <a:solidFill>
                  <a:srgbClr val="497078"/>
                </a:solidFill>
                <a:latin typeface="Poppins" pitchFamily="34" charset="0"/>
                <a:ea typeface="Poppins" pitchFamily="34" charset="-122"/>
                <a:cs typeface="Poppins" pitchFamily="34" charset="-120"/>
              </a:rPr>
              <a:t>GROW WITH EVERY LAW.</a:t>
            </a:r>
            <a:endParaRPr lang="en-US" sz="5300" dirty="0"/>
          </a:p>
        </p:txBody>
      </p:sp>
      <p:sp>
        <p:nvSpPr>
          <p:cNvPr id="4" name="Text 2"/>
          <p:cNvSpPr txBox="1"/>
          <p:nvPr/>
        </p:nvSpPr>
        <p:spPr>
          <a:xfrm>
            <a:off x="1069848" y="3557016"/>
            <a:ext cx="16203168" cy="420624"/>
          </a:xfrm>
          <a:prstGeom prst="rect">
            <a:avLst/>
          </a:prstGeom>
          <a:noFill/>
          <a:ln/>
        </p:spPr>
        <p:txBody>
          <a:bodyPr wrap="square" lIns="0" tIns="0" rIns="0" bIns="0" rtlCol="0" anchor="t"/>
          <a:lstStyle/>
          <a:p>
            <a:pPr indent="0" marL="0">
              <a:buNone/>
            </a:pPr>
            <a:r>
              <a:rPr lang="en-US" sz="1950" dirty="0">
                <a:solidFill>
                  <a:srgbClr val="687075"/>
                </a:solidFill>
                <a:latin typeface="Poppins" pitchFamily="34" charset="0"/>
                <a:ea typeface="Poppins" pitchFamily="34" charset="-122"/>
                <a:cs typeface="Poppins" pitchFamily="34" charset="-120"/>
              </a:rPr>
              <a:t>One evidence graph. Every new regulation is a module, every new country a pack. The second sale costs almost nothing.</a:t>
            </a:r>
            <a:endParaRPr lang="en-US" sz="1950" dirty="0"/>
          </a:p>
        </p:txBody>
      </p:sp>
      <p:sp>
        <p:nvSpPr>
          <p:cNvPr id="5" name="Shape 3"/>
          <p:cNvSpPr/>
          <p:nvPr/>
        </p:nvSpPr>
        <p:spPr>
          <a:xfrm>
            <a:off x="1069848" y="4050792"/>
            <a:ext cx="16203168" cy="0"/>
          </a:xfrm>
          <a:prstGeom prst="line">
            <a:avLst/>
          </a:prstGeom>
          <a:noFill/>
          <a:ln w="9525">
            <a:solidFill>
              <a:srgbClr val="DADBD6"/>
            </a:solidFill>
            <a:prstDash val="solid"/>
          </a:ln>
        </p:spPr>
      </p:sp>
      <p:sp>
        <p:nvSpPr>
          <p:cNvPr id="7" name="Shape 4"/>
          <p:cNvSpPr/>
          <p:nvPr/>
        </p:nvSpPr>
        <p:spPr>
          <a:xfrm>
            <a:off x="1892808" y="4434840"/>
            <a:ext cx="5943600" cy="868680"/>
          </a:xfrm>
          <a:prstGeom prst="roundRect">
            <a:avLst>
              <a:gd name="adj" fmla="val 16842"/>
            </a:avLst>
          </a:prstGeom>
          <a:solidFill>
            <a:srgbClr val="E8F2F2"/>
          </a:solidFill>
          <a:ln w="9525">
            <a:solidFill>
              <a:srgbClr val="E8F2F2"/>
            </a:solidFill>
            <a:prstDash val="solid"/>
          </a:ln>
        </p:spPr>
      </p:sp>
      <p:sp>
        <p:nvSpPr>
          <p:cNvPr id="8" name="Text 5"/>
          <p:cNvSpPr txBox="1"/>
          <p:nvPr/>
        </p:nvSpPr>
        <p:spPr>
          <a:xfrm>
            <a:off x="2212848" y="4544568"/>
            <a:ext cx="3291840" cy="649224"/>
          </a:xfrm>
          <a:prstGeom prst="rect">
            <a:avLst/>
          </a:prstGeom>
          <a:noFill/>
          <a:ln/>
        </p:spPr>
        <p:txBody>
          <a:bodyPr wrap="square" lIns="0" tIns="0" rIns="0" bIns="0" rtlCol="0" anchor="t"/>
          <a:lstStyle/>
          <a:p>
            <a:pPr indent="0" marL="0">
              <a:spcAft>
                <a:spcPts val="100"/>
              </a:spcAft>
              <a:buNone/>
            </a:pPr>
            <a:r>
              <a:rPr lang="en-US" sz="1800" b="1" dirty="0">
                <a:solidFill>
                  <a:srgbClr val="2A3A3C"/>
                </a:solidFill>
                <a:latin typeface="Poppins" pitchFamily="34" charset="0"/>
                <a:ea typeface="Poppins" pitchFamily="34" charset="-122"/>
                <a:cs typeface="Poppins" pitchFamily="34" charset="-120"/>
              </a:rPr>
              <a:t>COUNTRY PACKS</a:t>
            </a:r>
            <a:endParaRPr lang="en-US" sz="1800" dirty="0"/>
          </a:p>
          <a:p>
            <a:pPr indent="0" marL="0">
              <a:spcAft>
                <a:spcPts val="100"/>
              </a:spcAft>
              <a:buNone/>
            </a:pPr>
            <a:r>
              <a:rPr lang="en-US" sz="1250" dirty="0">
                <a:solidFill>
                  <a:srgbClr val="56636A"/>
                </a:solidFill>
                <a:latin typeface="Poppins" pitchFamily="34" charset="0"/>
                <a:ea typeface="Poppins" pitchFamily="34" charset="-122"/>
                <a:cs typeface="Poppins" pitchFamily="34" charset="-120"/>
              </a:rPr>
              <a:t>Same evidence, another country's rules</a:t>
            </a:r>
            <a:endParaRPr lang="en-US" sz="1800" dirty="0"/>
          </a:p>
        </p:txBody>
      </p:sp>
      <p:sp>
        <p:nvSpPr>
          <p:cNvPr id="9" name="Text 6"/>
          <p:cNvSpPr txBox="1"/>
          <p:nvPr/>
        </p:nvSpPr>
        <p:spPr>
          <a:xfrm>
            <a:off x="5504688" y="4544568"/>
            <a:ext cx="2103120" cy="649224"/>
          </a:xfrm>
          <a:prstGeom prst="rect">
            <a:avLst/>
          </a:prstGeom>
          <a:noFill/>
          <a:ln/>
        </p:spPr>
        <p:txBody>
          <a:bodyPr wrap="square" lIns="0" tIns="0" rIns="0" bIns="0" rtlCol="0" anchor="t"/>
          <a:lstStyle/>
          <a:p>
            <a:pPr algn="r" indent="0" marL="0">
              <a:spcAft>
                <a:spcPts val="100"/>
              </a:spcAft>
              <a:buNone/>
            </a:pPr>
            <a:r>
              <a:rPr lang="en-US" sz="1800" b="1" dirty="0">
                <a:solidFill>
                  <a:srgbClr val="2A3A3C"/>
                </a:solidFill>
                <a:latin typeface="Poppins" pitchFamily="34" charset="0"/>
                <a:ea typeface="Poppins" pitchFamily="34" charset="-122"/>
                <a:cs typeface="Poppins" pitchFamily="34" charset="-120"/>
              </a:rPr>
              <a:t>from €600</a:t>
            </a:r>
            <a:endParaRPr lang="en-US" sz="1800" dirty="0"/>
          </a:p>
          <a:p>
            <a:pPr algn="r" indent="0" marL="0">
              <a:spcAft>
                <a:spcPts val="100"/>
              </a:spcAft>
              <a:buNone/>
            </a:pPr>
            <a:r>
              <a:rPr lang="en-US" sz="1050" dirty="0">
                <a:solidFill>
                  <a:srgbClr val="56636A"/>
                </a:solidFill>
                <a:latin typeface="Poppins" pitchFamily="34" charset="0"/>
                <a:ea typeface="Poppins" pitchFamily="34" charset="-122"/>
                <a:cs typeface="Poppins" pitchFamily="34" charset="-120"/>
              </a:rPr>
              <a:t>a year, per country</a:t>
            </a:r>
            <a:endParaRPr lang="en-US" sz="1800" dirty="0"/>
          </a:p>
        </p:txBody>
      </p:sp>
      <p:sp>
        <p:nvSpPr>
          <p:cNvPr id="10" name="Shape 7"/>
          <p:cNvSpPr/>
          <p:nvPr/>
        </p:nvSpPr>
        <p:spPr>
          <a:xfrm>
            <a:off x="1481328" y="5394960"/>
            <a:ext cx="6766560" cy="1783080"/>
          </a:xfrm>
          <a:prstGeom prst="roundRect">
            <a:avLst>
              <a:gd name="adj" fmla="val 8205"/>
            </a:avLst>
          </a:prstGeom>
          <a:solidFill>
            <a:srgbClr val="497078"/>
          </a:solidFill>
          <a:ln w="9525">
            <a:solidFill>
              <a:srgbClr val="497078"/>
            </a:solidFill>
            <a:prstDash val="solid"/>
          </a:ln>
        </p:spPr>
      </p:sp>
      <p:sp>
        <p:nvSpPr>
          <p:cNvPr id="11" name="Text 8"/>
          <p:cNvSpPr txBox="1"/>
          <p:nvPr/>
        </p:nvSpPr>
        <p:spPr>
          <a:xfrm>
            <a:off x="1801368" y="5504688"/>
            <a:ext cx="4114800" cy="1563624"/>
          </a:xfrm>
          <a:prstGeom prst="rect">
            <a:avLst/>
          </a:prstGeom>
          <a:noFill/>
          <a:ln/>
        </p:spPr>
        <p:txBody>
          <a:bodyPr wrap="square" lIns="0" tIns="0" rIns="0" bIns="0" rtlCol="0" anchor="t"/>
          <a:lstStyle/>
          <a:p>
            <a:pPr indent="0" marL="0">
              <a:spcAft>
                <a:spcPts val="100"/>
              </a:spcAft>
              <a:buNone/>
            </a:pPr>
            <a:r>
              <a:rPr lang="en-US" sz="1800" b="1" dirty="0">
                <a:solidFill>
                  <a:srgbClr val="FFFFFF"/>
                </a:solidFill>
                <a:latin typeface="Poppins" pitchFamily="34" charset="0"/>
                <a:ea typeface="Poppins" pitchFamily="34" charset="-122"/>
                <a:cs typeface="Poppins" pitchFamily="34" charset="-120"/>
              </a:rPr>
              <a:t>MODULES</a:t>
            </a:r>
            <a:endParaRPr lang="en-US" sz="1800" dirty="0"/>
          </a:p>
          <a:p>
            <a:pPr indent="0" marL="0">
              <a:spcAft>
                <a:spcPts val="100"/>
              </a:spcAft>
              <a:buNone/>
            </a:pPr>
            <a:r>
              <a:rPr lang="en-US" sz="1250" dirty="0">
                <a:solidFill>
                  <a:srgbClr val="E6EFF0"/>
                </a:solidFill>
                <a:latin typeface="Poppins" pitchFamily="34" charset="0"/>
                <a:ea typeface="Poppins" pitchFamily="34" charset="-122"/>
                <a:cs typeface="Poppins" pitchFamily="34" charset="-120"/>
              </a:rPr>
              <a:t>One law at a time</a:t>
            </a:r>
            <a:endParaRPr lang="en-US" sz="1800" dirty="0"/>
          </a:p>
        </p:txBody>
      </p:sp>
      <p:sp>
        <p:nvSpPr>
          <p:cNvPr id="12" name="Text 9"/>
          <p:cNvSpPr txBox="1"/>
          <p:nvPr/>
        </p:nvSpPr>
        <p:spPr>
          <a:xfrm>
            <a:off x="5916168" y="5504688"/>
            <a:ext cx="2103120" cy="1563624"/>
          </a:xfrm>
          <a:prstGeom prst="rect">
            <a:avLst/>
          </a:prstGeom>
          <a:noFill/>
          <a:ln/>
        </p:spPr>
        <p:txBody>
          <a:bodyPr wrap="square" lIns="0" tIns="0" rIns="0" bIns="0" rtlCol="0" anchor="t"/>
          <a:lstStyle/>
          <a:p>
            <a:pPr algn="r" indent="0" marL="0">
              <a:spcAft>
                <a:spcPts val="100"/>
              </a:spcAft>
              <a:buNone/>
            </a:pPr>
            <a:r>
              <a:rPr lang="en-US" sz="1800" b="1" dirty="0">
                <a:solidFill>
                  <a:srgbClr val="FFFFFF"/>
                </a:solidFill>
                <a:latin typeface="Poppins" pitchFamily="34" charset="0"/>
                <a:ea typeface="Poppins" pitchFamily="34" charset="-122"/>
                <a:cs typeface="Poppins" pitchFamily="34" charset="-120"/>
              </a:rPr>
              <a:t>from €1,800</a:t>
            </a:r>
            <a:endParaRPr lang="en-US" sz="1800" dirty="0"/>
          </a:p>
          <a:p>
            <a:pPr algn="r" indent="0" marL="0">
              <a:spcAft>
                <a:spcPts val="100"/>
              </a:spcAft>
              <a:buNone/>
            </a:pPr>
            <a:r>
              <a:rPr lang="en-US" sz="1050" dirty="0">
                <a:solidFill>
                  <a:srgbClr val="E6EFF0"/>
                </a:solidFill>
                <a:latin typeface="Poppins" pitchFamily="34" charset="0"/>
                <a:ea typeface="Poppins" pitchFamily="34" charset="-122"/>
                <a:cs typeface="Poppins" pitchFamily="34" charset="-120"/>
              </a:rPr>
              <a:t>a year, per regulation</a:t>
            </a:r>
            <a:endParaRPr lang="en-US" sz="1800" dirty="0"/>
          </a:p>
        </p:txBody>
      </p:sp>
      <p:sp>
        <p:nvSpPr>
          <p:cNvPr id="13" name="Shape 10"/>
          <p:cNvSpPr/>
          <p:nvPr/>
        </p:nvSpPr>
        <p:spPr>
          <a:xfrm>
            <a:off x="1801368" y="6263640"/>
            <a:ext cx="1325880" cy="301752"/>
          </a:xfrm>
          <a:prstGeom prst="roundRect">
            <a:avLst>
              <a:gd name="adj" fmla="val 50000"/>
            </a:avLst>
          </a:prstGeom>
          <a:solidFill>
            <a:srgbClr val="FFFFFF"/>
          </a:solidFill>
          <a:ln w="9525">
            <a:solidFill>
              <a:srgbClr val="FFFFFF"/>
            </a:solidFill>
            <a:prstDash val="solid"/>
          </a:ln>
        </p:spPr>
      </p:sp>
      <p:sp>
        <p:nvSpPr>
          <p:cNvPr id="14" name="Text 11"/>
          <p:cNvSpPr txBox="1"/>
          <p:nvPr/>
        </p:nvSpPr>
        <p:spPr>
          <a:xfrm>
            <a:off x="1801368" y="6263640"/>
            <a:ext cx="1325880" cy="301752"/>
          </a:xfrm>
          <a:prstGeom prst="rect">
            <a:avLst/>
          </a:prstGeom>
          <a:noFill/>
          <a:ln/>
        </p:spPr>
        <p:txBody>
          <a:bodyPr wrap="square" lIns="0" tIns="0" rIns="0" bIns="0" rtlCol="0" anchor="ctr"/>
          <a:lstStyle/>
          <a:p>
            <a:pPr algn="ctr" indent="0" marL="0">
              <a:buNone/>
            </a:pPr>
            <a:r>
              <a:rPr lang="en-US" sz="1050" b="1" dirty="0">
                <a:solidFill>
                  <a:srgbClr val="315D66"/>
                </a:solidFill>
                <a:latin typeface="Poppins" pitchFamily="34" charset="0"/>
                <a:ea typeface="Poppins" pitchFamily="34" charset="-122"/>
                <a:cs typeface="Poppins" pitchFamily="34" charset="-120"/>
              </a:rPr>
              <a:t>NIS2 · ENTRY</a:t>
            </a:r>
            <a:endParaRPr lang="en-US" sz="1050" dirty="0"/>
          </a:p>
        </p:txBody>
      </p:sp>
      <p:sp>
        <p:nvSpPr>
          <p:cNvPr id="15" name="Shape 12"/>
          <p:cNvSpPr/>
          <p:nvPr/>
        </p:nvSpPr>
        <p:spPr>
          <a:xfrm>
            <a:off x="3236976" y="6263640"/>
            <a:ext cx="868680" cy="301752"/>
          </a:xfrm>
          <a:prstGeom prst="roundRect">
            <a:avLst>
              <a:gd name="adj" fmla="val 50000"/>
            </a:avLst>
          </a:prstGeom>
          <a:solidFill>
            <a:srgbClr val="3A5C63"/>
          </a:solidFill>
          <a:ln w="9525">
            <a:solidFill>
              <a:srgbClr val="5A7C83"/>
            </a:solidFill>
            <a:prstDash val="solid"/>
          </a:ln>
        </p:spPr>
      </p:sp>
      <p:sp>
        <p:nvSpPr>
          <p:cNvPr id="16" name="Text 13"/>
          <p:cNvSpPr txBox="1"/>
          <p:nvPr/>
        </p:nvSpPr>
        <p:spPr>
          <a:xfrm>
            <a:off x="3236976" y="6263640"/>
            <a:ext cx="868680" cy="301752"/>
          </a:xfrm>
          <a:prstGeom prst="rect">
            <a:avLst/>
          </a:prstGeom>
          <a:noFill/>
          <a:ln/>
        </p:spPr>
        <p:txBody>
          <a:bodyPr wrap="square" lIns="0" tIns="0" rIns="0" bIns="0" rtlCol="0" anchor="ctr"/>
          <a:lstStyle/>
          <a:p>
            <a:pPr algn="ctr" indent="0" marL="0">
              <a:buNone/>
            </a:pPr>
            <a:r>
              <a:rPr lang="en-US" sz="1050" dirty="0">
                <a:solidFill>
                  <a:srgbClr val="E6EFF0"/>
                </a:solidFill>
                <a:latin typeface="Poppins" pitchFamily="34" charset="0"/>
                <a:ea typeface="Poppins" pitchFamily="34" charset="-122"/>
                <a:cs typeface="Poppins" pitchFamily="34" charset="-120"/>
              </a:rPr>
              <a:t>AI Act</a:t>
            </a:r>
            <a:endParaRPr lang="en-US" sz="1050" dirty="0"/>
          </a:p>
        </p:txBody>
      </p:sp>
      <p:sp>
        <p:nvSpPr>
          <p:cNvPr id="17" name="Shape 14"/>
          <p:cNvSpPr/>
          <p:nvPr/>
        </p:nvSpPr>
        <p:spPr>
          <a:xfrm>
            <a:off x="4215384" y="6263640"/>
            <a:ext cx="1783080" cy="301752"/>
          </a:xfrm>
          <a:prstGeom prst="roundRect">
            <a:avLst>
              <a:gd name="adj" fmla="val 50000"/>
            </a:avLst>
          </a:prstGeom>
          <a:solidFill>
            <a:srgbClr val="3A5C63"/>
          </a:solidFill>
          <a:ln w="9525">
            <a:solidFill>
              <a:srgbClr val="5A7C83"/>
            </a:solidFill>
            <a:prstDash val="solid"/>
          </a:ln>
        </p:spPr>
      </p:sp>
      <p:sp>
        <p:nvSpPr>
          <p:cNvPr id="18" name="Text 15"/>
          <p:cNvSpPr txBox="1"/>
          <p:nvPr/>
        </p:nvSpPr>
        <p:spPr>
          <a:xfrm>
            <a:off x="4215384" y="6263640"/>
            <a:ext cx="1783080" cy="301752"/>
          </a:xfrm>
          <a:prstGeom prst="rect">
            <a:avLst/>
          </a:prstGeom>
          <a:noFill/>
          <a:ln/>
        </p:spPr>
        <p:txBody>
          <a:bodyPr wrap="square" lIns="0" tIns="0" rIns="0" bIns="0" rtlCol="0" anchor="ctr"/>
          <a:lstStyle/>
          <a:p>
            <a:pPr algn="ctr" indent="0" marL="0">
              <a:buNone/>
            </a:pPr>
            <a:r>
              <a:rPr lang="en-US" sz="1050" dirty="0">
                <a:solidFill>
                  <a:srgbClr val="E6EFF0"/>
                </a:solidFill>
                <a:latin typeface="Poppins" pitchFamily="34" charset="0"/>
                <a:ea typeface="Poppins" pitchFamily="34" charset="-122"/>
                <a:cs typeface="Poppins" pitchFamily="34" charset="-120"/>
              </a:rPr>
              <a:t>Cyber Resilience Act</a:t>
            </a:r>
            <a:endParaRPr lang="en-US" sz="1050" dirty="0"/>
          </a:p>
        </p:txBody>
      </p:sp>
      <p:sp>
        <p:nvSpPr>
          <p:cNvPr id="19" name="Shape 16"/>
          <p:cNvSpPr/>
          <p:nvPr/>
        </p:nvSpPr>
        <p:spPr>
          <a:xfrm>
            <a:off x="1801368" y="6647688"/>
            <a:ext cx="777240" cy="301752"/>
          </a:xfrm>
          <a:prstGeom prst="roundRect">
            <a:avLst>
              <a:gd name="adj" fmla="val 50000"/>
            </a:avLst>
          </a:prstGeom>
          <a:solidFill>
            <a:srgbClr val="3A5C63"/>
          </a:solidFill>
          <a:ln w="9525">
            <a:solidFill>
              <a:srgbClr val="5A7C83"/>
            </a:solidFill>
            <a:prstDash val="solid"/>
          </a:ln>
        </p:spPr>
      </p:sp>
      <p:sp>
        <p:nvSpPr>
          <p:cNvPr id="20" name="Text 17"/>
          <p:cNvSpPr txBox="1"/>
          <p:nvPr/>
        </p:nvSpPr>
        <p:spPr>
          <a:xfrm>
            <a:off x="1801368" y="6647688"/>
            <a:ext cx="777240" cy="301752"/>
          </a:xfrm>
          <a:prstGeom prst="rect">
            <a:avLst/>
          </a:prstGeom>
          <a:noFill/>
          <a:ln/>
        </p:spPr>
        <p:txBody>
          <a:bodyPr wrap="square" lIns="0" tIns="0" rIns="0" bIns="0" rtlCol="0" anchor="ctr"/>
          <a:lstStyle/>
          <a:p>
            <a:pPr algn="ctr" indent="0" marL="0">
              <a:buNone/>
            </a:pPr>
            <a:r>
              <a:rPr lang="en-US" sz="1050" dirty="0">
                <a:solidFill>
                  <a:srgbClr val="E6EFF0"/>
                </a:solidFill>
                <a:latin typeface="Poppins" pitchFamily="34" charset="0"/>
                <a:ea typeface="Poppins" pitchFamily="34" charset="-122"/>
                <a:cs typeface="Poppins" pitchFamily="34" charset="-120"/>
              </a:rPr>
              <a:t>DORA</a:t>
            </a:r>
            <a:endParaRPr lang="en-US" sz="1050" dirty="0"/>
          </a:p>
        </p:txBody>
      </p:sp>
      <p:sp>
        <p:nvSpPr>
          <p:cNvPr id="21" name="Shape 18"/>
          <p:cNvSpPr/>
          <p:nvPr/>
        </p:nvSpPr>
        <p:spPr>
          <a:xfrm>
            <a:off x="2688336" y="6647688"/>
            <a:ext cx="960120" cy="301752"/>
          </a:xfrm>
          <a:prstGeom prst="roundRect">
            <a:avLst>
              <a:gd name="adj" fmla="val 50000"/>
            </a:avLst>
          </a:prstGeom>
          <a:solidFill>
            <a:srgbClr val="3A5C63"/>
          </a:solidFill>
          <a:ln w="9525">
            <a:solidFill>
              <a:srgbClr val="5A7C83"/>
            </a:solidFill>
            <a:prstDash val="solid"/>
          </a:ln>
        </p:spPr>
      </p:sp>
      <p:sp>
        <p:nvSpPr>
          <p:cNvPr id="22" name="Text 19"/>
          <p:cNvSpPr txBox="1"/>
          <p:nvPr/>
        </p:nvSpPr>
        <p:spPr>
          <a:xfrm>
            <a:off x="2688336" y="6647688"/>
            <a:ext cx="960120" cy="301752"/>
          </a:xfrm>
          <a:prstGeom prst="rect">
            <a:avLst/>
          </a:prstGeom>
          <a:noFill/>
          <a:ln/>
        </p:spPr>
        <p:txBody>
          <a:bodyPr wrap="square" lIns="0" tIns="0" rIns="0" bIns="0" rtlCol="0" anchor="ctr"/>
          <a:lstStyle/>
          <a:p>
            <a:pPr algn="ctr" indent="0" marL="0">
              <a:buNone/>
            </a:pPr>
            <a:r>
              <a:rPr lang="en-US" sz="1050" dirty="0">
                <a:solidFill>
                  <a:srgbClr val="E6EFF0"/>
                </a:solidFill>
                <a:latin typeface="Poppins" pitchFamily="34" charset="0"/>
                <a:ea typeface="Poppins" pitchFamily="34" charset="-122"/>
                <a:cs typeface="Poppins" pitchFamily="34" charset="-120"/>
              </a:rPr>
              <a:t>Data Act</a:t>
            </a:r>
            <a:endParaRPr lang="en-US" sz="1050" dirty="0"/>
          </a:p>
        </p:txBody>
      </p:sp>
      <p:sp>
        <p:nvSpPr>
          <p:cNvPr id="23" name="Shape 20"/>
          <p:cNvSpPr/>
          <p:nvPr/>
        </p:nvSpPr>
        <p:spPr>
          <a:xfrm>
            <a:off x="3758184" y="6647688"/>
            <a:ext cx="731520" cy="301752"/>
          </a:xfrm>
          <a:prstGeom prst="roundRect">
            <a:avLst>
              <a:gd name="adj" fmla="val 50000"/>
            </a:avLst>
          </a:prstGeom>
          <a:solidFill>
            <a:srgbClr val="497078"/>
          </a:solidFill>
          <a:ln w="9525">
            <a:solidFill>
              <a:srgbClr val="C5D6D8"/>
            </a:solidFill>
            <a:prstDash val="dash"/>
          </a:ln>
        </p:spPr>
      </p:sp>
      <p:sp>
        <p:nvSpPr>
          <p:cNvPr id="24" name="Text 21"/>
          <p:cNvSpPr txBox="1"/>
          <p:nvPr/>
        </p:nvSpPr>
        <p:spPr>
          <a:xfrm>
            <a:off x="3758184" y="6647688"/>
            <a:ext cx="731520" cy="301752"/>
          </a:xfrm>
          <a:prstGeom prst="rect">
            <a:avLst/>
          </a:prstGeom>
          <a:noFill/>
          <a:ln/>
        </p:spPr>
        <p:txBody>
          <a:bodyPr wrap="square" lIns="0" tIns="0" rIns="0" bIns="0" rtlCol="0" anchor="ctr"/>
          <a:lstStyle/>
          <a:p>
            <a:pPr algn="ctr" indent="0" marL="0">
              <a:buNone/>
            </a:pPr>
            <a:r>
              <a:rPr lang="en-US" sz="1050" dirty="0">
                <a:solidFill>
                  <a:srgbClr val="C5D6D8"/>
                </a:solidFill>
                <a:latin typeface="Poppins" pitchFamily="34" charset="0"/>
                <a:ea typeface="Poppins" pitchFamily="34" charset="-122"/>
                <a:cs typeface="Poppins" pitchFamily="34" charset="-120"/>
              </a:rPr>
              <a:t>more</a:t>
            </a:r>
            <a:endParaRPr lang="en-US" sz="1050" dirty="0"/>
          </a:p>
        </p:txBody>
      </p:sp>
      <p:sp>
        <p:nvSpPr>
          <p:cNvPr id="25" name="Shape 22"/>
          <p:cNvSpPr/>
          <p:nvPr/>
        </p:nvSpPr>
        <p:spPr>
          <a:xfrm>
            <a:off x="1069848" y="7269480"/>
            <a:ext cx="7589520" cy="868680"/>
          </a:xfrm>
          <a:prstGeom prst="roundRect">
            <a:avLst>
              <a:gd name="adj" fmla="val 16842"/>
            </a:avLst>
          </a:prstGeom>
          <a:solidFill>
            <a:srgbClr val="171717"/>
          </a:solidFill>
          <a:ln w="9525">
            <a:solidFill>
              <a:srgbClr val="171717"/>
            </a:solidFill>
            <a:prstDash val="solid"/>
          </a:ln>
        </p:spPr>
      </p:sp>
      <p:sp>
        <p:nvSpPr>
          <p:cNvPr id="26" name="Text 23"/>
          <p:cNvSpPr txBox="1"/>
          <p:nvPr/>
        </p:nvSpPr>
        <p:spPr>
          <a:xfrm>
            <a:off x="1389888" y="7379208"/>
            <a:ext cx="4937760" cy="649224"/>
          </a:xfrm>
          <a:prstGeom prst="rect">
            <a:avLst/>
          </a:prstGeom>
          <a:noFill/>
          <a:ln/>
        </p:spPr>
        <p:txBody>
          <a:bodyPr wrap="square" lIns="0" tIns="0" rIns="0" bIns="0" rtlCol="0" anchor="t"/>
          <a:lstStyle/>
          <a:p>
            <a:pPr indent="0" marL="0">
              <a:spcAft>
                <a:spcPts val="100"/>
              </a:spcAft>
              <a:buNone/>
            </a:pPr>
            <a:r>
              <a:rPr lang="en-US" sz="1800" b="1" dirty="0">
                <a:solidFill>
                  <a:srgbClr val="FFFFFF"/>
                </a:solidFill>
                <a:latin typeface="Poppins" pitchFamily="34" charset="0"/>
                <a:ea typeface="Poppins" pitchFamily="34" charset="-122"/>
                <a:cs typeface="Poppins" pitchFamily="34" charset="-120"/>
              </a:rPr>
              <a:t>PLATFORM</a:t>
            </a:r>
            <a:endParaRPr lang="en-US" sz="1800" dirty="0"/>
          </a:p>
          <a:p>
            <a:pPr indent="0" marL="0">
              <a:spcAft>
                <a:spcPts val="100"/>
              </a:spcAft>
              <a:buNone/>
            </a:pPr>
            <a:r>
              <a:rPr lang="en-US" sz="1250" dirty="0">
                <a:solidFill>
                  <a:srgbClr val="B9C4C2"/>
                </a:solidFill>
                <a:latin typeface="Poppins" pitchFamily="34" charset="0"/>
                <a:ea typeface="Poppins" pitchFamily="34" charset="-122"/>
                <a:cs typeface="Poppins" pitchFamily="34" charset="-120"/>
              </a:rPr>
              <a:t>Evidence graph, adviser, GDPR included</a:t>
            </a:r>
            <a:endParaRPr lang="en-US" sz="1800" dirty="0"/>
          </a:p>
        </p:txBody>
      </p:sp>
      <p:sp>
        <p:nvSpPr>
          <p:cNvPr id="27" name="Text 24"/>
          <p:cNvSpPr txBox="1"/>
          <p:nvPr/>
        </p:nvSpPr>
        <p:spPr>
          <a:xfrm>
            <a:off x="6327648" y="7379208"/>
            <a:ext cx="2103120" cy="649224"/>
          </a:xfrm>
          <a:prstGeom prst="rect">
            <a:avLst/>
          </a:prstGeom>
          <a:noFill/>
          <a:ln/>
        </p:spPr>
        <p:txBody>
          <a:bodyPr wrap="square" lIns="0" tIns="0" rIns="0" bIns="0" rtlCol="0" anchor="t"/>
          <a:lstStyle/>
          <a:p>
            <a:pPr algn="r" indent="0" marL="0">
              <a:spcAft>
                <a:spcPts val="100"/>
              </a:spcAft>
              <a:buNone/>
            </a:pPr>
            <a:r>
              <a:rPr lang="en-US" sz="1800" b="1" dirty="0">
                <a:solidFill>
                  <a:srgbClr val="FFFFFF"/>
                </a:solidFill>
                <a:latin typeface="Poppins" pitchFamily="34" charset="0"/>
                <a:ea typeface="Poppins" pitchFamily="34" charset="-122"/>
                <a:cs typeface="Poppins" pitchFamily="34" charset="-120"/>
              </a:rPr>
              <a:t>€1,800 to 7,200</a:t>
            </a:r>
            <a:endParaRPr lang="en-US" sz="1800" dirty="0"/>
          </a:p>
          <a:p>
            <a:pPr algn="r" indent="0" marL="0">
              <a:spcAft>
                <a:spcPts val="100"/>
              </a:spcAft>
              <a:buNone/>
            </a:pPr>
            <a:r>
              <a:rPr lang="en-US" sz="1050" dirty="0">
                <a:solidFill>
                  <a:srgbClr val="B9C4C2"/>
                </a:solidFill>
                <a:latin typeface="Poppins" pitchFamily="34" charset="0"/>
                <a:ea typeface="Poppins" pitchFamily="34" charset="-122"/>
                <a:cs typeface="Poppins" pitchFamily="34" charset="-120"/>
              </a:rPr>
              <a:t>a year, by company size</a:t>
            </a:r>
            <a:endParaRPr lang="en-US" sz="1800" dirty="0"/>
          </a:p>
        </p:txBody>
      </p:sp>
      <p:sp>
        <p:nvSpPr>
          <p:cNvPr id="28" name="Text 25"/>
          <p:cNvSpPr txBox="1"/>
          <p:nvPr/>
        </p:nvSpPr>
        <p:spPr>
          <a:xfrm>
            <a:off x="1069848" y="8211312"/>
            <a:ext cx="7589520" cy="256032"/>
          </a:xfrm>
          <a:prstGeom prst="rect">
            <a:avLst/>
          </a:prstGeom>
          <a:noFill/>
          <a:ln/>
        </p:spPr>
        <p:txBody>
          <a:bodyPr wrap="square" lIns="0" tIns="0" rIns="0" bIns="0" rtlCol="0" anchor="t"/>
          <a:lstStyle/>
          <a:p>
            <a:pPr algn="ctr" indent="0" marL="0">
              <a:buNone/>
            </a:pPr>
            <a:r>
              <a:rPr lang="en-US" sz="1100" dirty="0">
                <a:solidFill>
                  <a:srgbClr val="687075"/>
                </a:solidFill>
                <a:latin typeface="Poppins" pitchFamily="34" charset="0"/>
                <a:ea typeface="Poppins" pitchFamily="34" charset="-122"/>
                <a:cs typeface="Poppins" pitchFamily="34" charset="-120"/>
              </a:rPr>
              <a:t>Built once. Every layer above reuses it.</a:t>
            </a:r>
            <a:endParaRPr lang="en-US" sz="1100" dirty="0"/>
          </a:p>
        </p:txBody>
      </p:sp>
      <p:sp>
        <p:nvSpPr>
          <p:cNvPr id="29" name="Text 26"/>
          <p:cNvSpPr txBox="1"/>
          <p:nvPr/>
        </p:nvSpPr>
        <p:spPr>
          <a:xfrm>
            <a:off x="11722608" y="4343400"/>
            <a:ext cx="2798064" cy="256032"/>
          </a:xfrm>
          <a:prstGeom prst="rect">
            <a:avLst/>
          </a:prstGeom>
          <a:noFill/>
          <a:ln/>
        </p:spPr>
        <p:txBody>
          <a:bodyPr wrap="square" lIns="0" tIns="0" rIns="0" bIns="0" rtlCol="0" anchor="t"/>
          <a:lstStyle/>
          <a:p>
            <a:pPr indent="0" marL="0">
              <a:buNone/>
            </a:pPr>
            <a:r>
              <a:rPr lang="en-US" sz="1050" spc="150" kern="0" dirty="0">
                <a:solidFill>
                  <a:srgbClr val="687075"/>
                </a:solidFill>
                <a:latin typeface="Poppins" pitchFamily="34" charset="0"/>
                <a:ea typeface="Poppins" pitchFamily="34" charset="-122"/>
                <a:cs typeface="Poppins" pitchFamily="34" charset="-120"/>
              </a:rPr>
              <a:t>TODAY, WITH LAWYER HOURS</a:t>
            </a:r>
            <a:endParaRPr lang="en-US" sz="1050" dirty="0"/>
          </a:p>
        </p:txBody>
      </p:sp>
      <p:sp>
        <p:nvSpPr>
          <p:cNvPr id="30" name="Text 27"/>
          <p:cNvSpPr txBox="1"/>
          <p:nvPr/>
        </p:nvSpPr>
        <p:spPr>
          <a:xfrm>
            <a:off x="14657832" y="4343400"/>
            <a:ext cx="2798064" cy="256032"/>
          </a:xfrm>
          <a:prstGeom prst="rect">
            <a:avLst/>
          </a:prstGeom>
          <a:noFill/>
          <a:ln/>
        </p:spPr>
        <p:txBody>
          <a:bodyPr wrap="square" lIns="0" tIns="0" rIns="0" bIns="0" rtlCol="0" anchor="t"/>
          <a:lstStyle/>
          <a:p>
            <a:pPr indent="0" marL="0">
              <a:buNone/>
            </a:pPr>
            <a:r>
              <a:rPr lang="en-US" sz="1050" spc="150" kern="0" dirty="0">
                <a:solidFill>
                  <a:srgbClr val="315D66"/>
                </a:solidFill>
                <a:latin typeface="Poppins" pitchFamily="34" charset="0"/>
                <a:ea typeface="Poppins" pitchFamily="34" charset="-122"/>
                <a:cs typeface="Poppins" pitchFamily="34" charset="-120"/>
              </a:rPr>
              <a:t>WITH REGULIFT</a:t>
            </a:r>
            <a:endParaRPr lang="en-US" sz="1050" dirty="0"/>
          </a:p>
        </p:txBody>
      </p:sp>
      <p:sp>
        <p:nvSpPr>
          <p:cNvPr id="31" name="Text 28"/>
          <p:cNvSpPr txBox="1"/>
          <p:nvPr/>
        </p:nvSpPr>
        <p:spPr>
          <a:xfrm>
            <a:off x="9345168" y="4681728"/>
            <a:ext cx="2011680" cy="1078992"/>
          </a:xfrm>
          <a:prstGeom prst="rect">
            <a:avLst/>
          </a:prstGeom>
          <a:noFill/>
          <a:ln/>
        </p:spPr>
        <p:txBody>
          <a:bodyPr wrap="square" lIns="0" tIns="0" rIns="0" bIns="0" rtlCol="0" anchor="ctr"/>
          <a:lstStyle/>
          <a:p>
            <a:pPr indent="0" marL="0">
              <a:buNone/>
            </a:pPr>
            <a:r>
              <a:rPr lang="en-US" sz="1450" b="1" dirty="0">
                <a:solidFill>
                  <a:srgbClr val="171717"/>
                </a:solidFill>
                <a:latin typeface="Poppins" pitchFamily="34" charset="0"/>
                <a:ea typeface="Poppins" pitchFamily="34" charset="-122"/>
                <a:cs typeface="Poppins" pitchFamily="34" charset="-120"/>
              </a:rPr>
              <a:t>First law, first country</a:t>
            </a:r>
            <a:endParaRPr lang="en-US" sz="1450" dirty="0"/>
          </a:p>
        </p:txBody>
      </p:sp>
      <p:sp>
        <p:nvSpPr>
          <p:cNvPr id="32" name="Shape 29"/>
          <p:cNvSpPr/>
          <p:nvPr/>
        </p:nvSpPr>
        <p:spPr>
          <a:xfrm>
            <a:off x="11539728" y="4681728"/>
            <a:ext cx="2798064" cy="1078992"/>
          </a:xfrm>
          <a:prstGeom prst="roundRect">
            <a:avLst>
              <a:gd name="adj" fmla="val 11864"/>
            </a:avLst>
          </a:prstGeom>
          <a:solidFill>
            <a:srgbClr val="E9E9E6"/>
          </a:solidFill>
          <a:ln w="9525">
            <a:solidFill>
              <a:srgbClr val="E9E9E6"/>
            </a:solidFill>
            <a:prstDash val="solid"/>
          </a:ln>
        </p:spPr>
      </p:sp>
      <p:sp>
        <p:nvSpPr>
          <p:cNvPr id="33" name="Text 30"/>
          <p:cNvSpPr txBox="1"/>
          <p:nvPr/>
        </p:nvSpPr>
        <p:spPr>
          <a:xfrm>
            <a:off x="11814048" y="4681728"/>
            <a:ext cx="2340864" cy="1078992"/>
          </a:xfrm>
          <a:prstGeom prst="rect">
            <a:avLst/>
          </a:prstGeom>
          <a:noFill/>
          <a:ln/>
        </p:spPr>
        <p:txBody>
          <a:bodyPr wrap="square" lIns="0" tIns="0" rIns="0" bIns="0" rtlCol="0" anchor="ctr"/>
          <a:lstStyle/>
          <a:p>
            <a:pPr indent="0" marL="0">
              <a:spcAft>
                <a:spcPts val="200"/>
              </a:spcAft>
              <a:buNone/>
            </a:pPr>
            <a:r>
              <a:rPr lang="en-US" sz="2100" b="1" dirty="0">
                <a:solidFill>
                  <a:srgbClr val="4A4D4A"/>
                </a:solidFill>
                <a:latin typeface="Poppins" pitchFamily="34" charset="0"/>
                <a:ea typeface="Poppins" pitchFamily="34" charset="-122"/>
                <a:cs typeface="Poppins" pitchFamily="34" charset="-120"/>
              </a:rPr>
              <a:t>about €9,800</a:t>
            </a:r>
            <a:endParaRPr lang="en-US" sz="2100" dirty="0"/>
          </a:p>
          <a:p>
            <a:pPr indent="0" marL="0">
              <a:spcAft>
                <a:spcPts val="200"/>
              </a:spcAft>
              <a:buNone/>
            </a:pPr>
            <a:r>
              <a:rPr lang="en-US" sz="1200" dirty="0">
                <a:solidFill>
                  <a:srgbClr val="5A5D5A"/>
                </a:solidFill>
                <a:latin typeface="Poppins" pitchFamily="34" charset="0"/>
                <a:ea typeface="Poppins" pitchFamily="34" charset="-122"/>
                <a:cs typeface="Poppins" pitchFamily="34" charset="-120"/>
              </a:rPr>
              <a:t>40 lawyer hours, one-off.</a:t>
            </a:r>
            <a:endParaRPr lang="en-US" sz="2100" dirty="0"/>
          </a:p>
        </p:txBody>
      </p:sp>
      <p:sp>
        <p:nvSpPr>
          <p:cNvPr id="34" name="Shape 31"/>
          <p:cNvSpPr/>
          <p:nvPr/>
        </p:nvSpPr>
        <p:spPr>
          <a:xfrm>
            <a:off x="14474952" y="4681728"/>
            <a:ext cx="2798064" cy="1078992"/>
          </a:xfrm>
          <a:prstGeom prst="roundRect">
            <a:avLst>
              <a:gd name="adj" fmla="val 11864"/>
            </a:avLst>
          </a:prstGeom>
          <a:solidFill>
            <a:srgbClr val="171717"/>
          </a:solidFill>
          <a:ln w="9525">
            <a:solidFill>
              <a:srgbClr val="171717"/>
            </a:solidFill>
            <a:prstDash val="solid"/>
          </a:ln>
        </p:spPr>
      </p:sp>
      <p:sp>
        <p:nvSpPr>
          <p:cNvPr id="35" name="Text 32"/>
          <p:cNvSpPr txBox="1"/>
          <p:nvPr/>
        </p:nvSpPr>
        <p:spPr>
          <a:xfrm>
            <a:off x="14749272" y="4681728"/>
            <a:ext cx="2340864" cy="1078992"/>
          </a:xfrm>
          <a:prstGeom prst="rect">
            <a:avLst/>
          </a:prstGeom>
          <a:noFill/>
          <a:ln/>
        </p:spPr>
        <p:txBody>
          <a:bodyPr wrap="square" lIns="0" tIns="0" rIns="0" bIns="0" rtlCol="0" anchor="ctr"/>
          <a:lstStyle/>
          <a:p>
            <a:pPr indent="0" marL="0">
              <a:spcAft>
                <a:spcPts val="200"/>
              </a:spcAft>
              <a:buNone/>
            </a:pPr>
            <a:r>
              <a:rPr lang="en-US" sz="2100" b="1" dirty="0">
                <a:solidFill>
                  <a:srgbClr val="FFFFFF"/>
                </a:solidFill>
                <a:latin typeface="Poppins" pitchFamily="34" charset="0"/>
                <a:ea typeface="Poppins" pitchFamily="34" charset="-122"/>
                <a:cs typeface="Poppins" pitchFamily="34" charset="-120"/>
              </a:rPr>
              <a:t>€5,400 a year</a:t>
            </a:r>
            <a:endParaRPr lang="en-US" sz="2100" dirty="0"/>
          </a:p>
          <a:p>
            <a:pPr indent="0" marL="0">
              <a:spcAft>
                <a:spcPts val="200"/>
              </a:spcAft>
              <a:buNone/>
            </a:pPr>
            <a:r>
              <a:rPr lang="en-US" sz="1200" dirty="0">
                <a:solidFill>
                  <a:srgbClr val="E6EFF0"/>
                </a:solidFill>
                <a:latin typeface="Poppins" pitchFamily="34" charset="0"/>
                <a:ea typeface="Poppins" pitchFamily="34" charset="-122"/>
                <a:cs typeface="Poppins" pitchFamily="34" charset="-120"/>
              </a:rPr>
              <a:t>Platform plus NIS2, mid-size company.</a:t>
            </a:r>
            <a:endParaRPr lang="en-US" sz="2100" dirty="0"/>
          </a:p>
        </p:txBody>
      </p:sp>
      <p:sp>
        <p:nvSpPr>
          <p:cNvPr id="36" name="Text 33"/>
          <p:cNvSpPr txBox="1"/>
          <p:nvPr/>
        </p:nvSpPr>
        <p:spPr>
          <a:xfrm>
            <a:off x="9345168" y="5897880"/>
            <a:ext cx="2011680" cy="1078992"/>
          </a:xfrm>
          <a:prstGeom prst="rect">
            <a:avLst/>
          </a:prstGeom>
          <a:noFill/>
          <a:ln/>
        </p:spPr>
        <p:txBody>
          <a:bodyPr wrap="square" lIns="0" tIns="0" rIns="0" bIns="0" rtlCol="0" anchor="ctr"/>
          <a:lstStyle/>
          <a:p>
            <a:pPr indent="0" marL="0">
              <a:buNone/>
            </a:pPr>
            <a:r>
              <a:rPr lang="en-US" sz="1450" b="1" dirty="0">
                <a:solidFill>
                  <a:srgbClr val="171717"/>
                </a:solidFill>
                <a:latin typeface="Poppins" pitchFamily="34" charset="0"/>
                <a:ea typeface="Poppins" pitchFamily="34" charset="-122"/>
                <a:cs typeface="Poppins" pitchFamily="34" charset="-120"/>
              </a:rPr>
              <a:t>Every new law</a:t>
            </a:r>
            <a:endParaRPr lang="en-US" sz="1450" dirty="0"/>
          </a:p>
        </p:txBody>
      </p:sp>
      <p:sp>
        <p:nvSpPr>
          <p:cNvPr id="37" name="Shape 34"/>
          <p:cNvSpPr/>
          <p:nvPr/>
        </p:nvSpPr>
        <p:spPr>
          <a:xfrm>
            <a:off x="11539728" y="5897880"/>
            <a:ext cx="2798064" cy="1078992"/>
          </a:xfrm>
          <a:prstGeom prst="roundRect">
            <a:avLst>
              <a:gd name="adj" fmla="val 11864"/>
            </a:avLst>
          </a:prstGeom>
          <a:solidFill>
            <a:srgbClr val="E9E9E6"/>
          </a:solidFill>
          <a:ln w="9525">
            <a:solidFill>
              <a:srgbClr val="E9E9E6"/>
            </a:solidFill>
            <a:prstDash val="solid"/>
          </a:ln>
        </p:spPr>
      </p:sp>
      <p:sp>
        <p:nvSpPr>
          <p:cNvPr id="38" name="Text 35"/>
          <p:cNvSpPr txBox="1"/>
          <p:nvPr/>
        </p:nvSpPr>
        <p:spPr>
          <a:xfrm>
            <a:off x="11814048" y="5897880"/>
            <a:ext cx="2340864" cy="1078992"/>
          </a:xfrm>
          <a:prstGeom prst="rect">
            <a:avLst/>
          </a:prstGeom>
          <a:noFill/>
          <a:ln/>
        </p:spPr>
        <p:txBody>
          <a:bodyPr wrap="square" lIns="0" tIns="0" rIns="0" bIns="0" rtlCol="0" anchor="ctr"/>
          <a:lstStyle/>
          <a:p>
            <a:pPr indent="0" marL="0">
              <a:spcAft>
                <a:spcPts val="200"/>
              </a:spcAft>
              <a:buNone/>
            </a:pPr>
            <a:r>
              <a:rPr lang="en-US" sz="2100" b="1" dirty="0">
                <a:solidFill>
                  <a:srgbClr val="4A4D4A"/>
                </a:solidFill>
                <a:latin typeface="Poppins" pitchFamily="34" charset="0"/>
                <a:ea typeface="Poppins" pitchFamily="34" charset="-122"/>
                <a:cs typeface="Poppins" pitchFamily="34" charset="-120"/>
              </a:rPr>
              <a:t>again €9,800</a:t>
            </a:r>
            <a:endParaRPr lang="en-US" sz="2100" dirty="0"/>
          </a:p>
          <a:p>
            <a:pPr indent="0" marL="0">
              <a:spcAft>
                <a:spcPts val="200"/>
              </a:spcAft>
              <a:buNone/>
            </a:pPr>
            <a:r>
              <a:rPr lang="en-US" sz="1200" dirty="0">
                <a:solidFill>
                  <a:srgbClr val="5A5D5A"/>
                </a:solidFill>
                <a:latin typeface="Poppins" pitchFamily="34" charset="0"/>
                <a:ea typeface="Poppins" pitchFamily="34" charset="-122"/>
                <a:cs typeface="Poppins" pitchFamily="34" charset="-120"/>
              </a:rPr>
              <a:t>Same fact-finding again.</a:t>
            </a:r>
            <a:endParaRPr lang="en-US" sz="2100" dirty="0"/>
          </a:p>
        </p:txBody>
      </p:sp>
      <p:sp>
        <p:nvSpPr>
          <p:cNvPr id="39" name="Shape 36"/>
          <p:cNvSpPr/>
          <p:nvPr/>
        </p:nvSpPr>
        <p:spPr>
          <a:xfrm>
            <a:off x="14474952" y="5897880"/>
            <a:ext cx="2798064" cy="1078992"/>
          </a:xfrm>
          <a:prstGeom prst="roundRect">
            <a:avLst>
              <a:gd name="adj" fmla="val 11864"/>
            </a:avLst>
          </a:prstGeom>
          <a:solidFill>
            <a:srgbClr val="497078"/>
          </a:solidFill>
          <a:ln w="9525">
            <a:solidFill>
              <a:srgbClr val="497078"/>
            </a:solidFill>
            <a:prstDash val="solid"/>
          </a:ln>
        </p:spPr>
      </p:sp>
      <p:sp>
        <p:nvSpPr>
          <p:cNvPr id="40" name="Text 37"/>
          <p:cNvSpPr txBox="1"/>
          <p:nvPr/>
        </p:nvSpPr>
        <p:spPr>
          <a:xfrm>
            <a:off x="14749272" y="5897880"/>
            <a:ext cx="2340864" cy="1078992"/>
          </a:xfrm>
          <a:prstGeom prst="rect">
            <a:avLst/>
          </a:prstGeom>
          <a:noFill/>
          <a:ln/>
        </p:spPr>
        <p:txBody>
          <a:bodyPr wrap="square" lIns="0" tIns="0" rIns="0" bIns="0" rtlCol="0" anchor="ctr"/>
          <a:lstStyle/>
          <a:p>
            <a:pPr indent="0" marL="0">
              <a:spcAft>
                <a:spcPts val="200"/>
              </a:spcAft>
              <a:buNone/>
            </a:pPr>
            <a:r>
              <a:rPr lang="en-US" sz="2100" b="1" dirty="0">
                <a:solidFill>
                  <a:srgbClr val="FFFFFF"/>
                </a:solidFill>
                <a:latin typeface="Poppins" pitchFamily="34" charset="0"/>
                <a:ea typeface="Poppins" pitchFamily="34" charset="-122"/>
                <a:cs typeface="Poppins" pitchFamily="34" charset="-120"/>
              </a:rPr>
              <a:t>+ €1,800</a:t>
            </a:r>
            <a:endParaRPr lang="en-US" sz="2100" dirty="0"/>
          </a:p>
          <a:p>
            <a:pPr indent="0" marL="0">
              <a:spcAft>
                <a:spcPts val="200"/>
              </a:spcAft>
              <a:buNone/>
            </a:pPr>
            <a:r>
              <a:rPr lang="en-US" sz="1200" dirty="0">
                <a:solidFill>
                  <a:srgbClr val="E6EFF0"/>
                </a:solidFill>
                <a:latin typeface="Poppins" pitchFamily="34" charset="0"/>
                <a:ea typeface="Poppins" pitchFamily="34" charset="-122"/>
                <a:cs typeface="Poppins" pitchFamily="34" charset="-120"/>
              </a:rPr>
              <a:t>Same evidence, new rules.</a:t>
            </a:r>
            <a:endParaRPr lang="en-US" sz="2100" dirty="0"/>
          </a:p>
        </p:txBody>
      </p:sp>
      <p:sp>
        <p:nvSpPr>
          <p:cNvPr id="41" name="Text 38"/>
          <p:cNvSpPr txBox="1"/>
          <p:nvPr/>
        </p:nvSpPr>
        <p:spPr>
          <a:xfrm>
            <a:off x="9345168" y="7114032"/>
            <a:ext cx="2011680" cy="1078992"/>
          </a:xfrm>
          <a:prstGeom prst="rect">
            <a:avLst/>
          </a:prstGeom>
          <a:noFill/>
          <a:ln/>
        </p:spPr>
        <p:txBody>
          <a:bodyPr wrap="square" lIns="0" tIns="0" rIns="0" bIns="0" rtlCol="0" anchor="ctr"/>
          <a:lstStyle/>
          <a:p>
            <a:pPr indent="0" marL="0">
              <a:buNone/>
            </a:pPr>
            <a:r>
              <a:rPr lang="en-US" sz="1450" b="1" dirty="0">
                <a:solidFill>
                  <a:srgbClr val="171717"/>
                </a:solidFill>
                <a:latin typeface="Poppins" pitchFamily="34" charset="0"/>
                <a:ea typeface="Poppins" pitchFamily="34" charset="-122"/>
                <a:cs typeface="Poppins" pitchFamily="34" charset="-120"/>
              </a:rPr>
              <a:t>Every new country</a:t>
            </a:r>
            <a:endParaRPr lang="en-US" sz="1450" dirty="0"/>
          </a:p>
        </p:txBody>
      </p:sp>
      <p:sp>
        <p:nvSpPr>
          <p:cNvPr id="42" name="Shape 39"/>
          <p:cNvSpPr/>
          <p:nvPr/>
        </p:nvSpPr>
        <p:spPr>
          <a:xfrm>
            <a:off x="11539728" y="7114032"/>
            <a:ext cx="2798064" cy="1078992"/>
          </a:xfrm>
          <a:prstGeom prst="roundRect">
            <a:avLst>
              <a:gd name="adj" fmla="val 11864"/>
            </a:avLst>
          </a:prstGeom>
          <a:solidFill>
            <a:srgbClr val="E9E9E6"/>
          </a:solidFill>
          <a:ln w="9525">
            <a:solidFill>
              <a:srgbClr val="E9E9E6"/>
            </a:solidFill>
            <a:prstDash val="solid"/>
          </a:ln>
        </p:spPr>
      </p:sp>
      <p:sp>
        <p:nvSpPr>
          <p:cNvPr id="43" name="Text 40"/>
          <p:cNvSpPr txBox="1"/>
          <p:nvPr/>
        </p:nvSpPr>
        <p:spPr>
          <a:xfrm>
            <a:off x="11814048" y="7114032"/>
            <a:ext cx="2340864" cy="1078992"/>
          </a:xfrm>
          <a:prstGeom prst="rect">
            <a:avLst/>
          </a:prstGeom>
          <a:noFill/>
          <a:ln/>
        </p:spPr>
        <p:txBody>
          <a:bodyPr wrap="square" lIns="0" tIns="0" rIns="0" bIns="0" rtlCol="0" anchor="ctr"/>
          <a:lstStyle/>
          <a:p>
            <a:pPr indent="0" marL="0">
              <a:spcAft>
                <a:spcPts val="200"/>
              </a:spcAft>
              <a:buNone/>
            </a:pPr>
            <a:r>
              <a:rPr lang="en-US" sz="2100" b="1" dirty="0">
                <a:solidFill>
                  <a:srgbClr val="4A4D4A"/>
                </a:solidFill>
                <a:latin typeface="Poppins" pitchFamily="34" charset="0"/>
                <a:ea typeface="Poppins" pitchFamily="34" charset="-122"/>
                <a:cs typeface="Poppins" pitchFamily="34" charset="-120"/>
              </a:rPr>
              <a:t>again €9,800</a:t>
            </a:r>
            <a:endParaRPr lang="en-US" sz="2100" dirty="0"/>
          </a:p>
          <a:p>
            <a:pPr indent="0" marL="0">
              <a:spcAft>
                <a:spcPts val="200"/>
              </a:spcAft>
              <a:buNone/>
            </a:pPr>
            <a:r>
              <a:rPr lang="en-US" sz="1200" dirty="0">
                <a:solidFill>
                  <a:srgbClr val="5A5D5A"/>
                </a:solidFill>
                <a:latin typeface="Poppins" pitchFamily="34" charset="0"/>
                <a:ea typeface="Poppins" pitchFamily="34" charset="-122"/>
                <a:cs typeface="Poppins" pitchFamily="34" charset="-120"/>
              </a:rPr>
              <a:t>New firm, new review.</a:t>
            </a:r>
            <a:endParaRPr lang="en-US" sz="2100" dirty="0"/>
          </a:p>
        </p:txBody>
      </p:sp>
      <p:sp>
        <p:nvSpPr>
          <p:cNvPr id="44" name="Shape 41"/>
          <p:cNvSpPr/>
          <p:nvPr/>
        </p:nvSpPr>
        <p:spPr>
          <a:xfrm>
            <a:off x="14474952" y="7114032"/>
            <a:ext cx="2798064" cy="1078992"/>
          </a:xfrm>
          <a:prstGeom prst="roundRect">
            <a:avLst>
              <a:gd name="adj" fmla="val 11864"/>
            </a:avLst>
          </a:prstGeom>
          <a:solidFill>
            <a:srgbClr val="497078"/>
          </a:solidFill>
          <a:ln w="9525">
            <a:solidFill>
              <a:srgbClr val="497078"/>
            </a:solidFill>
            <a:prstDash val="solid"/>
          </a:ln>
        </p:spPr>
      </p:sp>
      <p:sp>
        <p:nvSpPr>
          <p:cNvPr id="45" name="Text 42"/>
          <p:cNvSpPr txBox="1"/>
          <p:nvPr/>
        </p:nvSpPr>
        <p:spPr>
          <a:xfrm>
            <a:off x="14749272" y="7114032"/>
            <a:ext cx="2340864" cy="1078992"/>
          </a:xfrm>
          <a:prstGeom prst="rect">
            <a:avLst/>
          </a:prstGeom>
          <a:noFill/>
          <a:ln/>
        </p:spPr>
        <p:txBody>
          <a:bodyPr wrap="square" lIns="0" tIns="0" rIns="0" bIns="0" rtlCol="0" anchor="ctr"/>
          <a:lstStyle/>
          <a:p>
            <a:pPr indent="0" marL="0">
              <a:spcAft>
                <a:spcPts val="200"/>
              </a:spcAft>
              <a:buNone/>
            </a:pPr>
            <a:r>
              <a:rPr lang="en-US" sz="2100" b="1" dirty="0">
                <a:solidFill>
                  <a:srgbClr val="FFFFFF"/>
                </a:solidFill>
                <a:latin typeface="Poppins" pitchFamily="34" charset="0"/>
                <a:ea typeface="Poppins" pitchFamily="34" charset="-122"/>
                <a:cs typeface="Poppins" pitchFamily="34" charset="-120"/>
              </a:rPr>
              <a:t>+ €600</a:t>
            </a:r>
            <a:endParaRPr lang="en-US" sz="2100" dirty="0"/>
          </a:p>
          <a:p>
            <a:pPr indent="0" marL="0">
              <a:spcAft>
                <a:spcPts val="200"/>
              </a:spcAft>
              <a:buNone/>
            </a:pPr>
            <a:r>
              <a:rPr lang="en-US" sz="1200" dirty="0">
                <a:solidFill>
                  <a:srgbClr val="E6EFF0"/>
                </a:solidFill>
                <a:latin typeface="Poppins" pitchFamily="34" charset="0"/>
                <a:ea typeface="Poppins" pitchFamily="34" charset="-122"/>
                <a:cs typeface="Poppins" pitchFamily="34" charset="-120"/>
              </a:rPr>
              <a:t>Same evidence, new country.</a:t>
            </a:r>
            <a:endParaRPr lang="en-US" sz="2100" dirty="0"/>
          </a:p>
        </p:txBody>
      </p:sp>
      <p:sp>
        <p:nvSpPr>
          <p:cNvPr id="46" name="Shape 43"/>
          <p:cNvSpPr/>
          <p:nvPr/>
        </p:nvSpPr>
        <p:spPr>
          <a:xfrm>
            <a:off x="1069848" y="8522208"/>
            <a:ext cx="16203168" cy="658368"/>
          </a:xfrm>
          <a:prstGeom prst="roundRect">
            <a:avLst>
              <a:gd name="adj" fmla="val 22222"/>
            </a:avLst>
          </a:prstGeom>
          <a:solidFill>
            <a:srgbClr val="E8F2F2"/>
          </a:solidFill>
          <a:ln w="9525">
            <a:solidFill>
              <a:srgbClr val="E8F2F2"/>
            </a:solidFill>
            <a:prstDash val="solid"/>
          </a:ln>
        </p:spPr>
      </p:sp>
      <p:sp>
        <p:nvSpPr>
          <p:cNvPr id="47" name="Text 44"/>
          <p:cNvSpPr txBox="1"/>
          <p:nvPr/>
        </p:nvSpPr>
        <p:spPr>
          <a:xfrm>
            <a:off x="1389888" y="8522208"/>
            <a:ext cx="2011680" cy="658368"/>
          </a:xfrm>
          <a:prstGeom prst="rect">
            <a:avLst/>
          </a:prstGeom>
          <a:noFill/>
          <a:ln/>
        </p:spPr>
        <p:txBody>
          <a:bodyPr wrap="square" lIns="0" tIns="0" rIns="0" bIns="0" rtlCol="0" anchor="ctr"/>
          <a:lstStyle/>
          <a:p>
            <a:pPr indent="0" marL="0">
              <a:buNone/>
            </a:pPr>
            <a:r>
              <a:rPr lang="en-US" sz="1050" b="1" spc="150" kern="0" dirty="0">
                <a:solidFill>
                  <a:srgbClr val="315D66"/>
                </a:solidFill>
                <a:latin typeface="Poppins" pitchFamily="34" charset="0"/>
                <a:ea typeface="Poppins" pitchFamily="34" charset="-122"/>
                <a:cs typeface="Poppins" pitchFamily="34" charset="-120"/>
              </a:rPr>
              <a:t>WHY IT MATTERS</a:t>
            </a:r>
            <a:endParaRPr lang="en-US" sz="1050" dirty="0"/>
          </a:p>
        </p:txBody>
      </p:sp>
      <p:sp>
        <p:nvSpPr>
          <p:cNvPr id="48" name="Text 45"/>
          <p:cNvSpPr txBox="1"/>
          <p:nvPr/>
        </p:nvSpPr>
        <p:spPr>
          <a:xfrm>
            <a:off x="3447288" y="8522208"/>
            <a:ext cx="13551408" cy="658368"/>
          </a:xfrm>
          <a:prstGeom prst="rect">
            <a:avLst/>
          </a:prstGeom>
          <a:noFill/>
          <a:ln/>
        </p:spPr>
        <p:txBody>
          <a:bodyPr wrap="square" lIns="0" tIns="0" rIns="0" bIns="0" rtlCol="0" anchor="ctr"/>
          <a:lstStyle/>
          <a:p>
            <a:pPr indent="0" marL="0">
              <a:buNone/>
            </a:pPr>
            <a:r>
              <a:rPr lang="en-US" sz="1500" b="1" dirty="0">
                <a:solidFill>
                  <a:srgbClr val="171717"/>
                </a:solidFill>
                <a:latin typeface="Poppins" pitchFamily="34" charset="0"/>
                <a:ea typeface="Poppins" pitchFamily="34" charset="-122"/>
                <a:cs typeface="Poppins" pitchFamily="34" charset="-120"/>
              </a:rPr>
              <a:t>Compliance that gets cheaper with every law and every border makes European companies more competitive.</a:t>
            </a:r>
            <a:endParaRPr lang="en-US" sz="1500" dirty="0"/>
          </a:p>
        </p:txBody>
      </p:sp>
      <p:sp>
        <p:nvSpPr>
          <p:cNvPr id="49" name="Text 46"/>
          <p:cNvSpPr txBox="1"/>
          <p:nvPr/>
        </p:nvSpPr>
        <p:spPr>
          <a:xfrm>
            <a:off x="1069848" y="9235440"/>
            <a:ext cx="14100048" cy="365760"/>
          </a:xfrm>
          <a:prstGeom prst="rect">
            <a:avLst/>
          </a:prstGeom>
          <a:noFill/>
          <a:ln/>
        </p:spPr>
        <p:txBody>
          <a:bodyPr wrap="square" lIns="0" tIns="0" rIns="0" bIns="0" rtlCol="0" anchor="t"/>
          <a:lstStyle/>
          <a:p>
            <a:pPr indent="0" marL="0">
              <a:buNone/>
            </a:pPr>
            <a:r>
              <a:rPr lang="en-US" sz="850" b="1" dirty="0">
                <a:solidFill>
                  <a:srgbClr val="171717"/>
                </a:solidFill>
                <a:latin typeface="Poppins" pitchFamily="34" charset="0"/>
                <a:ea typeface="Poppins" pitchFamily="34" charset="-122"/>
                <a:cs typeface="Poppins" pitchFamily="34" charset="-120"/>
              </a:rPr>
              <a:t>Prices proposed.  </a:t>
            </a:r>
            <a:pPr indent="0" marL="0">
              <a:buNone/>
            </a:pPr>
            <a:r>
              <a:rPr lang="en-US" sz="850" dirty="0">
                <a:solidFill>
                  <a:srgbClr val="687075"/>
                </a:solidFill>
                <a:latin typeface="Poppins" pitchFamily="34" charset="0"/>
                <a:ea typeface="Poppins" pitchFamily="34" charset="-122"/>
                <a:cs typeface="Poppins" pitchFamily="34" charset="-120"/>
              </a:rPr>
              <a:t>Companies pay; law firms use the workspace free, sign where the law requires it, no fee per mandate or fee share. Lawyer column illustrative: 40 hours at the German standard rate of €244 (BRAK STAR 2024, </a:t>
            </a:r>
            <a:pPr indent="0" marL="0">
              <a:buNone/>
            </a:pPr>
            <a:r>
              <a:rPr lang="en-US" sz="850" u="sng" dirty="0">
                <a:solidFill>
                  <a:srgbClr val="687075"/>
                </a:solidFill>
                <a:latin typeface="Poppins" pitchFamily="34" charset="0"/>
                <a:ea typeface="Poppins" pitchFamily="34" charset="-122"/>
                <a:cs typeface="Poppi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beck-aktuell.de</a:t>
            </a:r>
            <a:pPr indent="0" marL="0">
              <a:buNone/>
            </a:pPr>
            <a:r>
              <a:rPr lang="en-US" sz="850" dirty="0">
                <a:solidFill>
                  <a:srgbClr val="687075"/>
                </a:solidFill>
                <a:latin typeface="Poppins" pitchFamily="34" charset="0"/>
                <a:ea typeface="Poppins" pitchFamily="34" charset="-122"/>
                <a:cs typeface="Poppins" pitchFamily="34" charset="-120"/>
              </a:rPr>
              <a:t>); Dutch average €241 (Knab 2026). One NIS2 applicability opinion alone: €3,900 fixed (</a:t>
            </a:r>
            <a:pPr indent="0" marL="0">
              <a:buNone/>
            </a:pPr>
            <a:r>
              <a:rPr lang="en-US" sz="850" u="sng" dirty="0">
                <a:solidFill>
                  <a:srgbClr val="687075"/>
                </a:solidFill>
                <a:latin typeface="Poppins" pitchFamily="34" charset="0"/>
                <a:ea typeface="Poppins" pitchFamily="34" charset="-122"/>
                <a:cs typeface="Poppi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srd-rechtsanwaelte.de</a:t>
            </a:r>
            <a:pPr indent="0" marL="0">
              <a:buNone/>
            </a:pPr>
            <a:r>
              <a:rPr lang="en-US" sz="850" dirty="0">
                <a:solidFill>
                  <a:srgbClr val="687075"/>
                </a:solidFill>
                <a:latin typeface="Poppins" pitchFamily="34" charset="0"/>
                <a:ea typeface="Poppins" pitchFamily="34" charset="-122"/>
                <a:cs typeface="Poppins" pitchFamily="34" charset="-120"/>
              </a:rPr>
              <a: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069848" y="1993392"/>
            <a:ext cx="9144000" cy="347472"/>
          </a:xfrm>
          <a:prstGeom prst="rect">
            <a:avLst/>
          </a:prstGeom>
          <a:noFill/>
          <a:ln/>
        </p:spPr>
        <p:txBody>
          <a:bodyPr wrap="square" lIns="0" tIns="0" rIns="0" bIns="0" rtlCol="0" anchor="t"/>
          <a:lstStyle/>
          <a:p>
            <a:pPr indent="0" marL="0">
              <a:buNone/>
            </a:pPr>
            <a:r>
              <a:rPr lang="en-US" sz="1700" b="1" spc="100" kern="0" dirty="0">
                <a:solidFill>
                  <a:srgbClr val="497078"/>
                </a:solidFill>
                <a:latin typeface="Poppins" pitchFamily="34" charset="0"/>
                <a:ea typeface="Poppins" pitchFamily="34" charset="-122"/>
                <a:cs typeface="Poppins" pitchFamily="34" charset="-120"/>
              </a:rPr>
              <a:t>TEAM</a:t>
            </a:r>
            <a:endParaRPr lang="en-US" sz="1700" dirty="0"/>
          </a:p>
        </p:txBody>
      </p:sp>
      <p:sp>
        <p:nvSpPr>
          <p:cNvPr id="3" name="Text 1"/>
          <p:cNvSpPr txBox="1"/>
          <p:nvPr/>
        </p:nvSpPr>
        <p:spPr>
          <a:xfrm>
            <a:off x="1042416" y="2496312"/>
            <a:ext cx="16203168" cy="868680"/>
          </a:xfrm>
          <a:prstGeom prst="rect">
            <a:avLst/>
          </a:prstGeom>
          <a:noFill/>
          <a:ln/>
        </p:spPr>
        <p:txBody>
          <a:bodyPr wrap="square" lIns="0" tIns="0" rIns="0" bIns="0" rtlCol="0" anchor="t"/>
          <a:lstStyle/>
          <a:p>
            <a:pPr indent="0" marL="0">
              <a:buNone/>
            </a:pPr>
            <a:r>
              <a:rPr lang="en-US" sz="5300" b="1" spc="-100" kern="0" dirty="0">
                <a:solidFill>
                  <a:srgbClr val="171717"/>
                </a:solidFill>
                <a:latin typeface="Poppins" pitchFamily="34" charset="0"/>
                <a:ea typeface="Poppins" pitchFamily="34" charset="-122"/>
                <a:cs typeface="Poppins" pitchFamily="34" charset="-120"/>
              </a:rPr>
              <a:t>WHY </a:t>
            </a:r>
            <a:pPr indent="0" marL="0">
              <a:buNone/>
            </a:pPr>
            <a:r>
              <a:rPr lang="en-US" sz="5300" b="1" spc="-100" kern="0" dirty="0">
                <a:solidFill>
                  <a:srgbClr val="497078"/>
                </a:solidFill>
                <a:latin typeface="Poppins" pitchFamily="34" charset="0"/>
                <a:ea typeface="Poppins" pitchFamily="34" charset="-122"/>
                <a:cs typeface="Poppins" pitchFamily="34" charset="-120"/>
              </a:rPr>
              <a:t>US.</a:t>
            </a:r>
            <a:endParaRPr lang="en-US" sz="5300" dirty="0"/>
          </a:p>
        </p:txBody>
      </p:sp>
      <p:sp>
        <p:nvSpPr>
          <p:cNvPr id="4" name="Text 2"/>
          <p:cNvSpPr txBox="1"/>
          <p:nvPr/>
        </p:nvSpPr>
        <p:spPr>
          <a:xfrm>
            <a:off x="1069848" y="3557016"/>
            <a:ext cx="16203168" cy="420624"/>
          </a:xfrm>
          <a:prstGeom prst="rect">
            <a:avLst/>
          </a:prstGeom>
          <a:noFill/>
          <a:ln/>
        </p:spPr>
        <p:txBody>
          <a:bodyPr wrap="square" lIns="0" tIns="0" rIns="0" bIns="0" rtlCol="0" anchor="t"/>
          <a:lstStyle/>
          <a:p>
            <a:pPr indent="0" marL="0">
              <a:buNone/>
            </a:pPr>
            <a:r>
              <a:rPr lang="en-US" sz="1950" dirty="0">
                <a:solidFill>
                  <a:srgbClr val="687075"/>
                </a:solidFill>
                <a:latin typeface="Poppins" pitchFamily="34" charset="0"/>
                <a:ea typeface="Poppins" pitchFamily="34" charset="-122"/>
                <a:cs typeface="Poppins" pitchFamily="34" charset="-120"/>
              </a:rPr>
              <a:t>We have met this problem at work. Now we build the way out of it.</a:t>
            </a:r>
            <a:endParaRPr lang="en-US" sz="1950" dirty="0"/>
          </a:p>
        </p:txBody>
      </p:sp>
      <p:sp>
        <p:nvSpPr>
          <p:cNvPr id="5" name="Shape 3"/>
          <p:cNvSpPr/>
          <p:nvPr/>
        </p:nvSpPr>
        <p:spPr>
          <a:xfrm>
            <a:off x="1069848" y="4050792"/>
            <a:ext cx="16203168" cy="0"/>
          </a:xfrm>
          <a:prstGeom prst="line">
            <a:avLst/>
          </a:prstGeom>
          <a:noFill/>
          <a:ln w="9525">
            <a:solidFill>
              <a:srgbClr val="DADBD6"/>
            </a:solidFill>
            <a:prstDash val="solid"/>
          </a:ln>
        </p:spPr>
      </p:sp>
      <p:sp>
        <p:nvSpPr>
          <p:cNvPr id="7" name="Shape 4"/>
          <p:cNvSpPr/>
          <p:nvPr/>
        </p:nvSpPr>
        <p:spPr>
          <a:xfrm>
            <a:off x="1069848" y="4343400"/>
            <a:ext cx="7918704" cy="3886200"/>
          </a:xfrm>
          <a:prstGeom prst="roundRect">
            <a:avLst>
              <a:gd name="adj" fmla="val 4706"/>
            </a:avLst>
          </a:prstGeom>
          <a:solidFill>
            <a:srgbClr val="FFFFFF"/>
          </a:solidFill>
          <a:ln w="9525">
            <a:solidFill>
              <a:srgbClr val="DADBD6"/>
            </a:solidFill>
            <a:prstDash val="solid"/>
          </a:ln>
        </p:spPr>
      </p:sp>
      <p:pic>
        <p:nvPicPr>
          <p:cNvPr id="8" name="Image 0" descr="/home/andi/Dokumente/Business/Simone Business/Business/fable-andi/pitch/src/assets/andreas.png">    </p:cNvPr>
          <p:cNvPicPr>
            <a:picLocks noChangeAspect="1"/>
          </p:cNvPicPr>
          <p:nvPr/>
        </p:nvPicPr>
        <p:blipFill>
          <a:blip r:embed="rId1"/>
          <a:stretch>
            <a:fillRect/>
          </a:stretch>
        </p:blipFill>
        <p:spPr>
          <a:xfrm>
            <a:off x="1389888" y="4663440"/>
            <a:ext cx="2413045" cy="3246120"/>
          </a:xfrm>
          <a:prstGeom prst="rect">
            <a:avLst/>
          </a:prstGeom>
        </p:spPr>
      </p:pic>
      <p:sp>
        <p:nvSpPr>
          <p:cNvPr id="9" name="Text 5"/>
          <p:cNvSpPr txBox="1"/>
          <p:nvPr/>
        </p:nvSpPr>
        <p:spPr>
          <a:xfrm>
            <a:off x="4214413" y="5029200"/>
            <a:ext cx="4408379" cy="274320"/>
          </a:xfrm>
          <a:prstGeom prst="rect">
            <a:avLst/>
          </a:prstGeom>
          <a:noFill/>
          <a:ln/>
        </p:spPr>
        <p:txBody>
          <a:bodyPr wrap="square" lIns="0" tIns="0" rIns="0" bIns="0" rtlCol="0" anchor="t"/>
          <a:lstStyle/>
          <a:p>
            <a:pPr indent="0" marL="0">
              <a:buNone/>
            </a:pPr>
            <a:r>
              <a:rPr lang="en-US" sz="1050" spc="150" kern="0" dirty="0">
                <a:solidFill>
                  <a:srgbClr val="687075"/>
                </a:solidFill>
                <a:latin typeface="Poppins" pitchFamily="34" charset="0"/>
                <a:ea typeface="Poppins" pitchFamily="34" charset="-122"/>
                <a:cs typeface="Poppins" pitchFamily="34" charset="-120"/>
              </a:rPr>
              <a:t>BUILDS THE PRODUCT</a:t>
            </a:r>
            <a:endParaRPr lang="en-US" sz="1050" dirty="0"/>
          </a:p>
        </p:txBody>
      </p:sp>
      <p:sp>
        <p:nvSpPr>
          <p:cNvPr id="10" name="Text 6"/>
          <p:cNvSpPr txBox="1"/>
          <p:nvPr/>
        </p:nvSpPr>
        <p:spPr>
          <a:xfrm>
            <a:off x="4214413" y="5303520"/>
            <a:ext cx="4408379" cy="457200"/>
          </a:xfrm>
          <a:prstGeom prst="rect">
            <a:avLst/>
          </a:prstGeom>
          <a:noFill/>
          <a:ln/>
        </p:spPr>
        <p:txBody>
          <a:bodyPr wrap="square" lIns="0" tIns="0" rIns="0" bIns="0" rtlCol="0" anchor="t"/>
          <a:lstStyle/>
          <a:p>
            <a:pPr indent="0" marL="0">
              <a:buNone/>
            </a:pPr>
            <a:r>
              <a:rPr lang="en-US" sz="2200" b="1" dirty="0">
                <a:solidFill>
                  <a:srgbClr val="171717"/>
                </a:solidFill>
                <a:latin typeface="Poppins" pitchFamily="34" charset="0"/>
                <a:ea typeface="Poppins" pitchFamily="34" charset="-122"/>
                <a:cs typeface="Poppins" pitchFamily="34" charset="-120"/>
              </a:rPr>
              <a:t>ANDREAS HERZINGER</a:t>
            </a:r>
            <a:endParaRPr lang="en-US" sz="2200" dirty="0"/>
          </a:p>
        </p:txBody>
      </p:sp>
      <p:sp>
        <p:nvSpPr>
          <p:cNvPr id="11" name="Text 7"/>
          <p:cNvSpPr txBox="1"/>
          <p:nvPr/>
        </p:nvSpPr>
        <p:spPr>
          <a:xfrm>
            <a:off x="4214413" y="5760720"/>
            <a:ext cx="4408379" cy="320040"/>
          </a:xfrm>
          <a:prstGeom prst="rect">
            <a:avLst/>
          </a:prstGeom>
          <a:noFill/>
          <a:ln/>
        </p:spPr>
        <p:txBody>
          <a:bodyPr wrap="square" lIns="0" tIns="0" rIns="0" bIns="0" rtlCol="0" anchor="t"/>
          <a:lstStyle/>
          <a:p>
            <a:pPr indent="0" marL="0">
              <a:buNone/>
            </a:pPr>
            <a:r>
              <a:rPr lang="en-US" sz="1350" b="1" dirty="0">
                <a:solidFill>
                  <a:srgbClr val="315D66"/>
                </a:solidFill>
                <a:latin typeface="Poppins" pitchFamily="34" charset="0"/>
                <a:ea typeface="Poppins" pitchFamily="34" charset="-122"/>
                <a:cs typeface="Poppins" pitchFamily="34" charset="-120"/>
              </a:rPr>
              <a:t>Product &amp; engineering</a:t>
            </a:r>
            <a:endParaRPr lang="en-US" sz="1350" dirty="0"/>
          </a:p>
        </p:txBody>
      </p:sp>
      <p:sp>
        <p:nvSpPr>
          <p:cNvPr id="12" name="Text 8"/>
          <p:cNvSpPr txBox="1"/>
          <p:nvPr/>
        </p:nvSpPr>
        <p:spPr>
          <a:xfrm>
            <a:off x="4214413" y="6172200"/>
            <a:ext cx="4408379" cy="1737360"/>
          </a:xfrm>
          <a:prstGeom prst="rect">
            <a:avLst/>
          </a:prstGeom>
          <a:noFill/>
          <a:ln/>
        </p:spPr>
        <p:txBody>
          <a:bodyPr wrap="square" lIns="0" tIns="0" rIns="0" bIns="0" rtlCol="0" anchor="t"/>
          <a:lstStyle/>
          <a:p>
            <a:pPr indent="0" marL="0">
              <a:lnSpc>
                <a:spcPct val="108000"/>
              </a:lnSpc>
              <a:buNone/>
            </a:pPr>
            <a:r>
              <a:rPr lang="en-US" sz="1450" dirty="0">
                <a:solidFill>
                  <a:srgbClr val="3B3E3C"/>
                </a:solidFill>
                <a:latin typeface="Poppins" pitchFamily="34" charset="0"/>
                <a:ea typeface="Poppins" pitchFamily="34" charset="-122"/>
                <a:cs typeface="Poppins" pitchFamily="34" charset="-120"/>
              </a:rPr>
              <a:t>Builds AI integrations for companies: secure connectors, data to LLM, RAG in production. Has seen how compliance turns every integration into a legal question. The evidence graph is his craft.</a:t>
            </a:r>
            <a:endParaRPr lang="en-US" sz="1450" dirty="0"/>
          </a:p>
        </p:txBody>
      </p:sp>
      <p:sp>
        <p:nvSpPr>
          <p:cNvPr id="13" name="Shape 9"/>
          <p:cNvSpPr/>
          <p:nvPr/>
        </p:nvSpPr>
        <p:spPr>
          <a:xfrm>
            <a:off x="9354312" y="4343400"/>
            <a:ext cx="7918704" cy="3886200"/>
          </a:xfrm>
          <a:prstGeom prst="roundRect">
            <a:avLst>
              <a:gd name="adj" fmla="val 4706"/>
            </a:avLst>
          </a:prstGeom>
          <a:solidFill>
            <a:srgbClr val="FFFFFF"/>
          </a:solidFill>
          <a:ln w="9525">
            <a:solidFill>
              <a:srgbClr val="DADBD6"/>
            </a:solidFill>
            <a:prstDash val="solid"/>
          </a:ln>
        </p:spPr>
      </p:sp>
      <p:pic>
        <p:nvPicPr>
          <p:cNvPr id="14" name="Image 1" descr="/home/andi/Dokumente/Business/Simone Business/Business/fable-andi/pitch/src/assets/simone.png">    </p:cNvPr>
          <p:cNvPicPr>
            <a:picLocks noChangeAspect="1"/>
          </p:cNvPicPr>
          <p:nvPr/>
        </p:nvPicPr>
        <p:blipFill>
          <a:blip r:embed="rId2"/>
          <a:stretch>
            <a:fillRect/>
          </a:stretch>
        </p:blipFill>
        <p:spPr>
          <a:xfrm>
            <a:off x="9674352" y="4663440"/>
            <a:ext cx="2413045" cy="3246120"/>
          </a:xfrm>
          <a:prstGeom prst="rect">
            <a:avLst/>
          </a:prstGeom>
        </p:spPr>
      </p:pic>
      <p:sp>
        <p:nvSpPr>
          <p:cNvPr id="15" name="Text 10"/>
          <p:cNvSpPr txBox="1"/>
          <p:nvPr/>
        </p:nvSpPr>
        <p:spPr>
          <a:xfrm>
            <a:off x="12498877" y="5029200"/>
            <a:ext cx="4408379" cy="274320"/>
          </a:xfrm>
          <a:prstGeom prst="rect">
            <a:avLst/>
          </a:prstGeom>
          <a:noFill/>
          <a:ln/>
        </p:spPr>
        <p:txBody>
          <a:bodyPr wrap="square" lIns="0" tIns="0" rIns="0" bIns="0" rtlCol="0" anchor="t"/>
          <a:lstStyle/>
          <a:p>
            <a:pPr indent="0" marL="0">
              <a:buNone/>
            </a:pPr>
            <a:r>
              <a:rPr lang="en-US" sz="1050" spc="150" kern="0" dirty="0">
                <a:solidFill>
                  <a:srgbClr val="687075"/>
                </a:solidFill>
                <a:latin typeface="Poppins" pitchFamily="34" charset="0"/>
                <a:ea typeface="Poppins" pitchFamily="34" charset="-122"/>
                <a:cs typeface="Poppins" pitchFamily="34" charset="-120"/>
              </a:rPr>
              <a:t>BUILDS THE MARKET</a:t>
            </a:r>
            <a:endParaRPr lang="en-US" sz="1050" dirty="0"/>
          </a:p>
        </p:txBody>
      </p:sp>
      <p:sp>
        <p:nvSpPr>
          <p:cNvPr id="16" name="Text 11"/>
          <p:cNvSpPr txBox="1"/>
          <p:nvPr/>
        </p:nvSpPr>
        <p:spPr>
          <a:xfrm>
            <a:off x="12498877" y="5303520"/>
            <a:ext cx="4408379" cy="457200"/>
          </a:xfrm>
          <a:prstGeom prst="rect">
            <a:avLst/>
          </a:prstGeom>
          <a:noFill/>
          <a:ln/>
        </p:spPr>
        <p:txBody>
          <a:bodyPr wrap="square" lIns="0" tIns="0" rIns="0" bIns="0" rtlCol="0" anchor="t"/>
          <a:lstStyle/>
          <a:p>
            <a:pPr indent="0" marL="0">
              <a:buNone/>
            </a:pPr>
            <a:r>
              <a:rPr lang="en-US" sz="2200" b="1" dirty="0">
                <a:solidFill>
                  <a:srgbClr val="171717"/>
                </a:solidFill>
                <a:latin typeface="Poppins" pitchFamily="34" charset="0"/>
                <a:ea typeface="Poppins" pitchFamily="34" charset="-122"/>
                <a:cs typeface="Poppins" pitchFamily="34" charset="-120"/>
              </a:rPr>
              <a:t>SIMONE MATTIOLI</a:t>
            </a:r>
            <a:endParaRPr lang="en-US" sz="2200" dirty="0"/>
          </a:p>
        </p:txBody>
      </p:sp>
      <p:sp>
        <p:nvSpPr>
          <p:cNvPr id="17" name="Text 12"/>
          <p:cNvSpPr txBox="1"/>
          <p:nvPr/>
        </p:nvSpPr>
        <p:spPr>
          <a:xfrm>
            <a:off x="12498877" y="5760720"/>
            <a:ext cx="4408379" cy="320040"/>
          </a:xfrm>
          <a:prstGeom prst="rect">
            <a:avLst/>
          </a:prstGeom>
          <a:noFill/>
          <a:ln/>
        </p:spPr>
        <p:txBody>
          <a:bodyPr wrap="square" lIns="0" tIns="0" rIns="0" bIns="0" rtlCol="0" anchor="t"/>
          <a:lstStyle/>
          <a:p>
            <a:pPr indent="0" marL="0">
              <a:buNone/>
            </a:pPr>
            <a:r>
              <a:rPr lang="en-US" sz="1350" b="1" dirty="0">
                <a:solidFill>
                  <a:srgbClr val="315D66"/>
                </a:solidFill>
                <a:latin typeface="Poppins" pitchFamily="34" charset="0"/>
                <a:ea typeface="Poppins" pitchFamily="34" charset="-122"/>
                <a:cs typeface="Poppins" pitchFamily="34" charset="-120"/>
              </a:rPr>
              <a:t>AI &amp; product development</a:t>
            </a:r>
            <a:endParaRPr lang="en-US" sz="1350" dirty="0"/>
          </a:p>
        </p:txBody>
      </p:sp>
      <p:sp>
        <p:nvSpPr>
          <p:cNvPr id="18" name="Text 13"/>
          <p:cNvSpPr txBox="1"/>
          <p:nvPr/>
        </p:nvSpPr>
        <p:spPr>
          <a:xfrm>
            <a:off x="12498877" y="6172200"/>
            <a:ext cx="4408379" cy="1737360"/>
          </a:xfrm>
          <a:prstGeom prst="rect">
            <a:avLst/>
          </a:prstGeom>
          <a:noFill/>
          <a:ln/>
        </p:spPr>
        <p:txBody>
          <a:bodyPr wrap="square" lIns="0" tIns="0" rIns="0" bIns="0" rtlCol="0" anchor="t"/>
          <a:lstStyle/>
          <a:p>
            <a:pPr indent="0" marL="0">
              <a:lnSpc>
                <a:spcPct val="108000"/>
              </a:lnSpc>
              <a:buNone/>
            </a:pPr>
            <a:r>
              <a:rPr lang="en-US" sz="1450" dirty="0">
                <a:solidFill>
                  <a:srgbClr val="3B3E3C"/>
                </a:solidFill>
                <a:latin typeface="Poppins" pitchFamily="34" charset="0"/>
                <a:ea typeface="Poppins" pitchFamily="34" charset="-122"/>
                <a:cs typeface="Poppins" pitchFamily="34" charset="-120"/>
              </a:rPr>
              <a:t>Customers, partners and discovery. EIT Digital Master School. The first year is interviews, one Dutch firm and two design partners, which is his ground.</a:t>
            </a:r>
            <a:endParaRPr lang="en-US" sz="1450" dirty="0"/>
          </a:p>
        </p:txBody>
      </p:sp>
      <p:sp>
        <p:nvSpPr>
          <p:cNvPr id="19" name="Shape 14"/>
          <p:cNvSpPr/>
          <p:nvPr/>
        </p:nvSpPr>
        <p:spPr>
          <a:xfrm>
            <a:off x="1069848" y="8458200"/>
            <a:ext cx="16203168" cy="868680"/>
          </a:xfrm>
          <a:prstGeom prst="roundRect">
            <a:avLst>
              <a:gd name="adj" fmla="val 16842"/>
            </a:avLst>
          </a:prstGeom>
          <a:solidFill>
            <a:srgbClr val="171717"/>
          </a:solidFill>
          <a:ln w="9525">
            <a:solidFill>
              <a:srgbClr val="171717"/>
            </a:solidFill>
            <a:prstDash val="solid"/>
          </a:ln>
        </p:spPr>
      </p:sp>
      <p:sp>
        <p:nvSpPr>
          <p:cNvPr id="20" name="Text 15"/>
          <p:cNvSpPr txBox="1"/>
          <p:nvPr/>
        </p:nvSpPr>
        <p:spPr>
          <a:xfrm>
            <a:off x="1389888" y="8458200"/>
            <a:ext cx="2011680" cy="868680"/>
          </a:xfrm>
          <a:prstGeom prst="rect">
            <a:avLst/>
          </a:prstGeom>
          <a:noFill/>
          <a:ln/>
        </p:spPr>
        <p:txBody>
          <a:bodyPr wrap="square" lIns="0" tIns="0" rIns="0" bIns="0" rtlCol="0" anchor="ctr"/>
          <a:lstStyle/>
          <a:p>
            <a:pPr indent="0" marL="0">
              <a:buNone/>
            </a:pPr>
            <a:r>
              <a:rPr lang="en-US" sz="1050" b="1" spc="150" kern="0" dirty="0">
                <a:solidFill>
                  <a:srgbClr val="B9C4C2"/>
                </a:solidFill>
                <a:latin typeface="Poppins" pitchFamily="34" charset="0"/>
                <a:ea typeface="Poppins" pitchFamily="34" charset="-122"/>
                <a:cs typeface="Poppins" pitchFamily="34" charset="-120"/>
              </a:rPr>
              <a:t>WHY WE DO IT</a:t>
            </a:r>
            <a:endParaRPr lang="en-US" sz="1050" dirty="0"/>
          </a:p>
        </p:txBody>
      </p:sp>
      <p:sp>
        <p:nvSpPr>
          <p:cNvPr id="21" name="Text 16"/>
          <p:cNvSpPr txBox="1"/>
          <p:nvPr/>
        </p:nvSpPr>
        <p:spPr>
          <a:xfrm>
            <a:off x="3447288" y="8458200"/>
            <a:ext cx="13551408" cy="868680"/>
          </a:xfrm>
          <a:prstGeom prst="rect">
            <a:avLst/>
          </a:prstGeom>
          <a:noFill/>
          <a:ln/>
        </p:spPr>
        <p:txBody>
          <a:bodyPr wrap="square" lIns="0" tIns="0" rIns="0" bIns="0" rtlCol="0" anchor="ctr"/>
          <a:lstStyle/>
          <a:p>
            <a:pPr indent="0" marL="0">
              <a:buNone/>
            </a:pPr>
            <a:r>
              <a:rPr lang="en-US" sz="1450" dirty="0">
                <a:solidFill>
                  <a:srgbClr val="FFFFFF"/>
                </a:solidFill>
                <a:latin typeface="Poppins" pitchFamily="34" charset="0"/>
                <a:ea typeface="Poppins" pitchFamily="34" charset="-122"/>
                <a:cs typeface="Poppins" pitchFamily="34" charset="-120"/>
              </a:rPr>
              <a:t>We are a European generation that wants to bring something forward. Cheaper compliance makes Europe's companies more competitive, and we bring the professional experience to make it happen.</a:t>
            </a:r>
            <a:endParaRPr lang="en-US" sz="1450" dirty="0"/>
          </a:p>
        </p:txBody>
      </p:sp>
    </p:spTree>
  </p:cSld>
  <p:clrMapOvr>
    <a:masterClrMapping/>
  </p:clrMapOvr>
</p:sld>
</file>

<file path=ppt/theme/theme1.xml><?xml version="1.0" encoding="utf-8"?>
<a:theme xmlns:a="http://schemas.openxmlformats.org/drawingml/2006/main" name="Regulift">
  <a:themeElements>
    <a:clrScheme name="Regulift">
      <a:dk1>
        <a:srgbClr val="171717"/>
      </a:dk1>
      <a:lt1>
        <a:srgbClr val="FBFBFB"/>
      </a:lt1>
      <a:dk2>
        <a:srgbClr val="687075"/>
      </a:dk2>
      <a:lt2>
        <a:srgbClr val="E8F2F2"/>
      </a:lt2>
      <a:accent1>
        <a:srgbClr val="497078"/>
      </a:accent1>
      <a:accent2>
        <a:srgbClr val="A95E53"/>
      </a:accent2>
      <a:accent3>
        <a:srgbClr val="DADBD6"/>
      </a:accent3>
      <a:accent4>
        <a:srgbClr val="E9E9E6"/>
      </a:accent4>
      <a:accent5>
        <a:srgbClr val="FFFFFF"/>
      </a:accent5>
      <a:accent6>
        <a:srgbClr val="315D66"/>
      </a:accent6>
      <a:hlink>
        <a:srgbClr val="497078"/>
      </a:hlink>
      <a:folHlink>
        <a:srgbClr val="687075"/>
      </a:folHlink>
    </a:clrScheme>
    <a:fontScheme name="Regulift">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Regulift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Regulift. Strategy slides.</dc:title>
  <dc:subject>PptxGenJS Presentation</dc:subject>
  <dc:creator>Simone Mattioli, Andreas Herzinger</dc:creator>
  <cp:lastModifiedBy>Simone Mattioli, Andreas Herzinger</cp:lastModifiedBy>
  <cp:revision>1</cp:revision>
  <dcterms:created xsi:type="dcterms:W3CDTF">2026-10-19T22:49:29Z</dcterms:created>
  <dcterms:modified xsi:type="dcterms:W3CDTF">2026-10-19T22:49:29Z</dcterms:modified>
</cp:coreProperties>
</file>